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</p:sldIdLst>
  <p:sldSz cy="5143500" cx="9144000"/>
  <p:notesSz cx="6858000" cy="9144000"/>
  <p:embeddedFontLst>
    <p:embeddedFont>
      <p:font typeface="Plus Jakarta Sans"/>
      <p:regular r:id="rId7"/>
      <p:bold r:id="rId8"/>
      <p:italic r:id="rId9"/>
      <p:boldItalic r:id="rId10"/>
    </p:embeddedFont>
    <p:embeddedFont>
      <p:font typeface="Plus Jakarta Sans Light"/>
      <p:regular r:id="rId11"/>
      <p:bold r:id="rId12"/>
      <p:italic r:id="rId13"/>
      <p:boldItalic r:id="rId14"/>
    </p:embeddedFont>
    <p:embeddedFont>
      <p:font typeface="Helvetica Neue Light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PlusJakartaSansLight-regular.fntdata"/><Relationship Id="rId10" Type="http://schemas.openxmlformats.org/officeDocument/2006/relationships/font" Target="fonts/PlusJakartaSans-boldItalic.fntdata"/><Relationship Id="rId13" Type="http://schemas.openxmlformats.org/officeDocument/2006/relationships/font" Target="fonts/PlusJakartaSansLight-italic.fntdata"/><Relationship Id="rId12" Type="http://schemas.openxmlformats.org/officeDocument/2006/relationships/font" Target="fonts/PlusJakartaSansLight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PlusJakartaSans-italic.fntdata"/><Relationship Id="rId15" Type="http://schemas.openxmlformats.org/officeDocument/2006/relationships/font" Target="fonts/HelveticaNeueLight-regular.fntdata"/><Relationship Id="rId14" Type="http://schemas.openxmlformats.org/officeDocument/2006/relationships/font" Target="fonts/PlusJakartaSansLight-boldItalic.fntdata"/><Relationship Id="rId17" Type="http://schemas.openxmlformats.org/officeDocument/2006/relationships/font" Target="fonts/HelveticaNeueLight-italic.fntdata"/><Relationship Id="rId16" Type="http://schemas.openxmlformats.org/officeDocument/2006/relationships/font" Target="fonts/HelveticaNeueLight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font" Target="fonts/HelveticaNeueLight-boldItalic.fntdata"/><Relationship Id="rId7" Type="http://schemas.openxmlformats.org/officeDocument/2006/relationships/font" Target="fonts/PlusJakartaSans-regular.fntdata"/><Relationship Id="rId8" Type="http://schemas.openxmlformats.org/officeDocument/2006/relationships/font" Target="fonts/PlusJakartaSans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h14e91dfdc76cf4c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h14e91dfdc76cf4c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awitPRO Template 1">
  <p:cSld name="SawitPRO Template 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oogle Shape;175;p50" id="51" name="Google Shape;51;p13"/>
          <p:cNvPicPr preferRelativeResize="0"/>
          <p:nvPr/>
        </p:nvPicPr>
        <p:blipFill rotWithShape="1">
          <a:blip r:embed="rId2">
            <a:alphaModFix amt="50000"/>
          </a:blip>
          <a:srcRect b="0" l="0" r="0" t="0"/>
          <a:stretch/>
        </p:blipFill>
        <p:spPr>
          <a:xfrm>
            <a:off x="277066" y="275519"/>
            <a:ext cx="8589869" cy="4592461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3"/>
          <p:cNvSpPr/>
          <p:nvPr/>
        </p:nvSpPr>
        <p:spPr>
          <a:xfrm>
            <a:off x="277118" y="4772807"/>
            <a:ext cx="8589900" cy="95100"/>
          </a:xfrm>
          <a:prstGeom prst="rect">
            <a:avLst/>
          </a:prstGeom>
          <a:solidFill>
            <a:srgbClr val="F5D34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Helvetica Neue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Google Shape;177;p50" id="53" name="Google Shape;53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83486" y="275518"/>
            <a:ext cx="783346" cy="7833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oogle Shape;178;p50" id="54" name="Google Shape;54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10800000">
            <a:off x="277066" y="4512013"/>
            <a:ext cx="365570" cy="365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oogle Shape;179;p50" id="55" name="Google Shape;55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63934" y="4380002"/>
            <a:ext cx="783346" cy="825657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290008" y="4921298"/>
            <a:ext cx="1167900" cy="29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Plus Jakarta Sans Light"/>
              <a:buNone/>
            </a:pPr>
            <a:r>
              <a:rPr b="0" i="0" lang="en-GB" sz="800" u="none" cap="none" strike="noStrike">
                <a:solidFill>
                  <a:srgbClr val="000000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MATERI MILIK </a:t>
            </a:r>
            <a:r>
              <a:rPr b="1" i="0" lang="en-GB" sz="8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SAWITPRO</a:t>
            </a:r>
            <a:endParaRPr sz="1100"/>
          </a:p>
        </p:txBody>
      </p:sp>
      <p:sp>
        <p:nvSpPr>
          <p:cNvPr id="57" name="Google Shape;57;p13"/>
          <p:cNvSpPr txBox="1"/>
          <p:nvPr/>
        </p:nvSpPr>
        <p:spPr>
          <a:xfrm>
            <a:off x="4711387" y="4900132"/>
            <a:ext cx="3940500" cy="37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3875" lIns="33875" spcFirstLastPara="1" rIns="33875" wrap="square" tIns="33875">
            <a:spAutoFit/>
          </a:bodyPr>
          <a:lstStyle/>
          <a:p>
            <a:pPr indent="0" lvl="0" marL="0" marR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Plus Jakarta Sans Light"/>
              <a:buNone/>
            </a:pPr>
            <a:r>
              <a:rPr b="0" i="0" lang="en-GB" sz="800" u="none" cap="none" strike="noStrike">
                <a:solidFill>
                  <a:srgbClr val="000000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Dilarang mempergunakan dan menyebarkan isi materi ini tanpa izin dari pihak SawitPRO</a:t>
            </a:r>
            <a:endParaRPr sz="1100"/>
          </a:p>
        </p:txBody>
      </p:sp>
      <p:pic>
        <p:nvPicPr>
          <p:cNvPr descr="Logo SawitPRO-Main Logo.png" id="58" name="Google Shape;58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246641" y="221981"/>
            <a:ext cx="672959" cy="672960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13"/>
          <p:cNvSpPr txBox="1"/>
          <p:nvPr>
            <p:ph idx="12" type="sldNum"/>
          </p:nvPr>
        </p:nvSpPr>
        <p:spPr>
          <a:xfrm>
            <a:off x="4482256" y="4905375"/>
            <a:ext cx="174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19050" lIns="19050" spcFirstLastPara="1" rIns="19050" wrap="square" tIns="1905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b="0" i="0" sz="900" u="none" cap="none" strike="noStrike"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9675" y="1744925"/>
            <a:ext cx="1507726" cy="163015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417392" y="1785182"/>
            <a:ext cx="16464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300">
                <a:solidFill>
                  <a:srgbClr val="F6B91A"/>
                </a:solidFill>
              </a:rPr>
              <a:t>1 Day</a:t>
            </a:r>
            <a:r>
              <a:rPr lang="en-GB" sz="1300">
                <a:solidFill>
                  <a:schemeClr val="dk1"/>
                </a:solidFill>
              </a:rPr>
              <a:t> </a:t>
            </a:r>
            <a:endParaRPr sz="1300"/>
          </a:p>
        </p:txBody>
      </p:sp>
      <p:sp>
        <p:nvSpPr>
          <p:cNvPr id="66" name="Google Shape;66;p14"/>
          <p:cNvSpPr txBox="1"/>
          <p:nvPr/>
        </p:nvSpPr>
        <p:spPr>
          <a:xfrm>
            <a:off x="410496" y="2063650"/>
            <a:ext cx="1590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854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200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SALES ORDER</a:t>
            </a:r>
            <a:endParaRPr b="1" sz="1200">
              <a:solidFill>
                <a:schemeClr val="dk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410477" y="2386421"/>
            <a:ext cx="15909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95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Pesanan Barang dari Customer (Farmers, Est. Owner or KUD)</a:t>
            </a:r>
            <a:endParaRPr sz="1000">
              <a:solidFill>
                <a:schemeClr val="lt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pic>
        <p:nvPicPr>
          <p:cNvPr id="68" name="Google Shape;68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69319" y="2415439"/>
            <a:ext cx="740325" cy="46668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11850" y="1717451"/>
            <a:ext cx="2042041" cy="163015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4"/>
          <p:cNvSpPr txBox="1"/>
          <p:nvPr/>
        </p:nvSpPr>
        <p:spPr>
          <a:xfrm>
            <a:off x="3021468" y="1778914"/>
            <a:ext cx="18033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300">
                <a:solidFill>
                  <a:srgbClr val="F6B91A"/>
                </a:solidFill>
              </a:rPr>
              <a:t>7 Days</a:t>
            </a:r>
            <a:r>
              <a:rPr b="1" lang="en-GB" sz="1300">
                <a:solidFill>
                  <a:schemeClr val="dk1"/>
                </a:solidFill>
              </a:rPr>
              <a:t> </a:t>
            </a:r>
            <a:endParaRPr b="1" sz="1300"/>
          </a:p>
        </p:txBody>
      </p:sp>
      <p:sp>
        <p:nvSpPr>
          <p:cNvPr id="71" name="Google Shape;71;p14"/>
          <p:cNvSpPr txBox="1"/>
          <p:nvPr/>
        </p:nvSpPr>
        <p:spPr>
          <a:xfrm>
            <a:off x="2910582" y="2068550"/>
            <a:ext cx="18717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854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100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PROCUREMENT PROCES</a:t>
            </a:r>
            <a:endParaRPr b="1" sz="900">
              <a:solidFill>
                <a:schemeClr val="dk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2935748" y="2321371"/>
            <a:ext cx="1803300" cy="6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95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Proses Pembelian barang oleh Purchasing</a:t>
            </a:r>
            <a:endParaRPr sz="1100">
              <a:solidFill>
                <a:schemeClr val="lt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56099" y="2353607"/>
            <a:ext cx="754001" cy="475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4" name="Google Shape;74;p14"/>
          <p:cNvGrpSpPr/>
          <p:nvPr/>
        </p:nvGrpSpPr>
        <p:grpSpPr>
          <a:xfrm>
            <a:off x="5967990" y="1668726"/>
            <a:ext cx="2297912" cy="2059301"/>
            <a:chOff x="4254442" y="1600616"/>
            <a:chExt cx="1460475" cy="1454925"/>
          </a:xfrm>
        </p:grpSpPr>
        <p:pic>
          <p:nvPicPr>
            <p:cNvPr id="75" name="Google Shape;75;p1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254442" y="1600616"/>
              <a:ext cx="1460475" cy="14549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6" name="Google Shape;76;p14"/>
            <p:cNvSpPr txBox="1"/>
            <p:nvPr/>
          </p:nvSpPr>
          <p:spPr>
            <a:xfrm>
              <a:off x="4279853" y="1605095"/>
              <a:ext cx="1341900" cy="308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12675" lIns="112675" spcFirstLastPara="1" rIns="112675" wrap="square" tIns="11267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356">
                  <a:solidFill>
                    <a:srgbClr val="F6B91A"/>
                  </a:solidFill>
                </a:rPr>
                <a:t>6 Days</a:t>
              </a:r>
              <a:r>
                <a:rPr b="1" lang="en-GB" sz="1356">
                  <a:solidFill>
                    <a:schemeClr val="dk1"/>
                  </a:solidFill>
                </a:rPr>
                <a:t> </a:t>
              </a:r>
              <a:endParaRPr b="1" sz="1356"/>
            </a:p>
          </p:txBody>
        </p:sp>
        <p:sp>
          <p:nvSpPr>
            <p:cNvPr id="77" name="Google Shape;77;p14"/>
            <p:cNvSpPr txBox="1"/>
            <p:nvPr/>
          </p:nvSpPr>
          <p:spPr>
            <a:xfrm>
              <a:off x="4274198" y="1890344"/>
              <a:ext cx="1392900" cy="289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12675" lIns="112675" spcFirstLastPara="1" rIns="112675" wrap="square" tIns="112675">
              <a:spAutoFit/>
            </a:bodyPr>
            <a:lstStyle/>
            <a:p>
              <a:pPr indent="0" lvl="0" marL="0" rtl="0" algn="l">
                <a:lnSpc>
                  <a:spcPct val="18545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86">
                  <a:solidFill>
                    <a:schemeClr val="dk1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DELIVERY to CUSTOMERS</a:t>
              </a:r>
              <a:endParaRPr b="1" sz="939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</p:txBody>
        </p:sp>
        <p:sp>
          <p:nvSpPr>
            <p:cNvPr id="78" name="Google Shape;78;p14"/>
            <p:cNvSpPr txBox="1"/>
            <p:nvPr/>
          </p:nvSpPr>
          <p:spPr>
            <a:xfrm>
              <a:off x="4313732" y="2131789"/>
              <a:ext cx="1341900" cy="460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12675" lIns="112675" spcFirstLastPara="1" rIns="112675" wrap="square" tIns="112675">
              <a:spAutoFit/>
            </a:bodyPr>
            <a:lstStyle/>
            <a:p>
              <a:pPr indent="0" lvl="0" marL="0" rtl="0" algn="l">
                <a:lnSpc>
                  <a:spcPct val="1595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63">
                  <a:solidFill>
                    <a:schemeClr val="lt1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Proses Pengiriman barang ke Customer</a:t>
              </a:r>
              <a:endParaRPr sz="939"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</p:txBody>
        </p:sp>
      </p:grpSp>
      <p:cxnSp>
        <p:nvCxnSpPr>
          <p:cNvPr id="79" name="Google Shape;79;p14"/>
          <p:cNvCxnSpPr/>
          <p:nvPr/>
        </p:nvCxnSpPr>
        <p:spPr>
          <a:xfrm flipH="1" rot="10800000">
            <a:off x="503450" y="1346275"/>
            <a:ext cx="7313400" cy="59400"/>
          </a:xfrm>
          <a:prstGeom prst="straightConnector1">
            <a:avLst/>
          </a:prstGeom>
          <a:noFill/>
          <a:ln cap="flat" cmpd="sng" w="38100">
            <a:solidFill>
              <a:srgbClr val="6AA84F"/>
            </a:solidFill>
            <a:prstDash val="dash"/>
            <a:round/>
            <a:headEnd len="med" w="med" type="diamond"/>
            <a:tailEnd len="med" w="med" type="diamond"/>
          </a:ln>
        </p:spPr>
      </p:cxnSp>
      <p:sp>
        <p:nvSpPr>
          <p:cNvPr id="80" name="Google Shape;80;p14"/>
          <p:cNvSpPr txBox="1"/>
          <p:nvPr/>
        </p:nvSpPr>
        <p:spPr>
          <a:xfrm>
            <a:off x="283109" y="250546"/>
            <a:ext cx="75312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653B"/>
              </a:buClr>
              <a:buSzPts val="2400"/>
              <a:buFont typeface="Plus Jakarta Sans"/>
              <a:buNone/>
            </a:pPr>
            <a:r>
              <a:rPr b="1" lang="en-GB" sz="2400">
                <a:solidFill>
                  <a:srgbClr val="4A65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Flow proposal for 14 days delivery SLA</a:t>
            </a:r>
            <a:endParaRPr b="1" sz="2400">
              <a:solidFill>
                <a:srgbClr val="4A653B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pic>
        <p:nvPicPr>
          <p:cNvPr id="81" name="Google Shape;81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81813" y="1115925"/>
            <a:ext cx="1228975" cy="4617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4"/>
          <p:cNvSpPr txBox="1"/>
          <p:nvPr/>
        </p:nvSpPr>
        <p:spPr>
          <a:xfrm>
            <a:off x="3324188" y="1096879"/>
            <a:ext cx="1144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6B91A"/>
                </a:solidFill>
              </a:rPr>
              <a:t>14 Days</a:t>
            </a:r>
            <a:r>
              <a:rPr lang="en-GB" sz="1800">
                <a:solidFill>
                  <a:schemeClr val="dk1"/>
                </a:solidFill>
              </a:rPr>
              <a:t> </a:t>
            </a:r>
            <a:endParaRPr sz="1800"/>
          </a:p>
        </p:txBody>
      </p:sp>
      <p:pic>
        <p:nvPicPr>
          <p:cNvPr id="83" name="Google Shape;83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961675" y="3842825"/>
            <a:ext cx="2372950" cy="82980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4"/>
          <p:cNvSpPr txBox="1"/>
          <p:nvPr/>
        </p:nvSpPr>
        <p:spPr>
          <a:xfrm>
            <a:off x="5937372" y="3826051"/>
            <a:ext cx="2141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100">
                <a:solidFill>
                  <a:srgbClr val="F6B91A"/>
                </a:solidFill>
              </a:rPr>
              <a:t>Delivery Issue: </a:t>
            </a:r>
            <a:r>
              <a:rPr lang="en-GB" sz="1100">
                <a:solidFill>
                  <a:schemeClr val="dk1"/>
                </a:solidFill>
              </a:rPr>
              <a:t> </a:t>
            </a:r>
            <a:endParaRPr sz="1100"/>
          </a:p>
        </p:txBody>
      </p:sp>
      <p:sp>
        <p:nvSpPr>
          <p:cNvPr id="85" name="Google Shape;85;p14"/>
          <p:cNvSpPr txBox="1"/>
          <p:nvPr/>
        </p:nvSpPr>
        <p:spPr>
          <a:xfrm>
            <a:off x="5947975" y="4074139"/>
            <a:ext cx="2204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Delayed Fulfillment to Customer</a:t>
            </a:r>
            <a:endParaRPr sz="1100">
              <a:solidFill>
                <a:schemeClr val="lt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pic>
        <p:nvPicPr>
          <p:cNvPr id="86" name="Google Shape;86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719878" y="3620379"/>
            <a:ext cx="2372947" cy="1059571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4"/>
          <p:cNvSpPr txBox="1"/>
          <p:nvPr/>
        </p:nvSpPr>
        <p:spPr>
          <a:xfrm>
            <a:off x="2695575" y="3606125"/>
            <a:ext cx="2141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200">
                <a:solidFill>
                  <a:srgbClr val="F6B91A"/>
                </a:solidFill>
              </a:rPr>
              <a:t>Procurement Issue:</a:t>
            </a:r>
            <a:r>
              <a:rPr b="1" lang="en-GB" sz="1100">
                <a:solidFill>
                  <a:srgbClr val="F6B91A"/>
                </a:solidFill>
              </a:rPr>
              <a:t> </a:t>
            </a:r>
            <a:r>
              <a:rPr lang="en-GB" sz="1100">
                <a:solidFill>
                  <a:schemeClr val="dk1"/>
                </a:solidFill>
              </a:rPr>
              <a:t> </a:t>
            </a:r>
            <a:endParaRPr sz="1100"/>
          </a:p>
        </p:txBody>
      </p:sp>
      <p:sp>
        <p:nvSpPr>
          <p:cNvPr id="88" name="Google Shape;88;p14"/>
          <p:cNvSpPr txBox="1"/>
          <p:nvPr/>
        </p:nvSpPr>
        <p:spPr>
          <a:xfrm>
            <a:off x="2706178" y="3882771"/>
            <a:ext cx="2204700" cy="8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857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Plus Jakarta Sans"/>
              <a:buAutoNum type="arabicPeriod"/>
            </a:pPr>
            <a:r>
              <a:rPr lang="en-GB" sz="900"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Lengthy Procurement Approval Process</a:t>
            </a:r>
            <a:endParaRPr sz="900">
              <a:solidFill>
                <a:schemeClr val="lt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Plus Jakarta Sans"/>
              <a:buAutoNum type="arabicPeriod"/>
            </a:pPr>
            <a:r>
              <a:rPr lang="en-GB" sz="900"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Multilayer approval Bottleneck</a:t>
            </a:r>
            <a:endParaRPr sz="900">
              <a:solidFill>
                <a:schemeClr val="lt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