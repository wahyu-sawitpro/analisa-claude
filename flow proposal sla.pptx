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lus Jakarta Sans"/>
      <p:regular r:id="rId8"/>
      <p:bold r:id="rId9"/>
      <p:italic r:id="rId10"/>
      <p:boldItalic r:id="rId11"/>
    </p:embeddedFont>
    <p:embeddedFont>
      <p:font typeface="Plus Jakarta Sans Light"/>
      <p:regular r:id="rId12"/>
      <p:bold r:id="rId13"/>
      <p:italic r:id="rId14"/>
      <p:boldItalic r:id="rId15"/>
    </p:embeddedFont>
    <p:embeddedFont>
      <p:font typeface="Helvetica Neue Ligh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boldItalic.fntdata"/><Relationship Id="rId10" Type="http://schemas.openxmlformats.org/officeDocument/2006/relationships/font" Target="fonts/PlusJakartaSans-italic.fntdata"/><Relationship Id="rId13" Type="http://schemas.openxmlformats.org/officeDocument/2006/relationships/font" Target="fonts/PlusJakartaSansLight-bold.fntdata"/><Relationship Id="rId12" Type="http://schemas.openxmlformats.org/officeDocument/2006/relationships/font" Target="fonts/PlusJakartaSans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usJakartaSans-bold.fntdata"/><Relationship Id="rId15" Type="http://schemas.openxmlformats.org/officeDocument/2006/relationships/font" Target="fonts/PlusJakartaSansLight-boldItalic.fntdata"/><Relationship Id="rId14" Type="http://schemas.openxmlformats.org/officeDocument/2006/relationships/font" Target="fonts/PlusJakartaSansLight-italic.fntdata"/><Relationship Id="rId17" Type="http://schemas.openxmlformats.org/officeDocument/2006/relationships/font" Target="fonts/HelveticaNeueLight-bold.fntdata"/><Relationship Id="rId16" Type="http://schemas.openxmlformats.org/officeDocument/2006/relationships/font" Target="fonts/HelveticaNeue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Light-italic.fntdata"/><Relationship Id="rId7" Type="http://schemas.openxmlformats.org/officeDocument/2006/relationships/slide" Target="slides/slide2.xml"/><Relationship Id="rId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14e91dfdc76cf4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14e91dfdc76cf4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14e91dfdc76cf4c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14e91dfdc76cf4c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witPRO Template 1">
  <p:cSld name="SawitPRO Template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75;p50" id="51" name="Google Shape;51;p1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277066" y="275519"/>
            <a:ext cx="8589869" cy="45924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277118" y="4772807"/>
            <a:ext cx="8589900" cy="95100"/>
          </a:xfrm>
          <a:prstGeom prst="rect">
            <a:avLst/>
          </a:prstGeom>
          <a:solidFill>
            <a:srgbClr val="F5D34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177;p50"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3486" y="275518"/>
            <a:ext cx="783346" cy="78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8;p50" id="54" name="Google Shape;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277066" y="4512013"/>
            <a:ext cx="365570" cy="365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9;p50" id="55" name="Google Shape;5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3934" y="4380002"/>
            <a:ext cx="783346" cy="82565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90008" y="4921298"/>
            <a:ext cx="11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lus Jakarta Sans Light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MATERI MILIK </a:t>
            </a:r>
            <a:r>
              <a:rPr b="1" i="0" lang="en-GB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SAWITPRO</a:t>
            </a:r>
            <a:endParaRPr sz="1100"/>
          </a:p>
        </p:txBody>
      </p:sp>
      <p:sp>
        <p:nvSpPr>
          <p:cNvPr id="57" name="Google Shape;57;p13"/>
          <p:cNvSpPr txBox="1"/>
          <p:nvPr/>
        </p:nvSpPr>
        <p:spPr>
          <a:xfrm>
            <a:off x="4711387" y="4900132"/>
            <a:ext cx="39405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75" lIns="33875" spcFirstLastPara="1" rIns="33875" wrap="square" tIns="338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lus Jakarta Sans Light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Dilarang mempergunakan dan menyebarkan isi materi ini tanpa izin dari pihak SawitPRO</a:t>
            </a:r>
            <a:endParaRPr sz="1100"/>
          </a:p>
        </p:txBody>
      </p:sp>
      <p:pic>
        <p:nvPicPr>
          <p:cNvPr descr="Logo SawitPRO-Main Logo.png" id="58" name="Google Shape;5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6641" y="221981"/>
            <a:ext cx="672959" cy="672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4482256" y="4905375"/>
            <a:ext cx="174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i="0" sz="900" u="none" cap="none" strike="noStrike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75" y="1744925"/>
            <a:ext cx="1507726" cy="163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17392" y="1785182"/>
            <a:ext cx="164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6B91A"/>
                </a:solidFill>
              </a:rPr>
              <a:t>1 Day</a:t>
            </a:r>
            <a:r>
              <a:rPr lang="en-GB" sz="1300">
                <a:solidFill>
                  <a:schemeClr val="dk1"/>
                </a:solidFill>
              </a:rPr>
              <a:t> </a:t>
            </a:r>
            <a:endParaRPr sz="1300"/>
          </a:p>
        </p:txBody>
      </p:sp>
      <p:sp>
        <p:nvSpPr>
          <p:cNvPr id="66" name="Google Shape;66;p14"/>
          <p:cNvSpPr txBox="1"/>
          <p:nvPr/>
        </p:nvSpPr>
        <p:spPr>
          <a:xfrm>
            <a:off x="410496" y="2063650"/>
            <a:ext cx="15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8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SALES ORDER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10477" y="2386421"/>
            <a:ext cx="15909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Pesanan Barang dari Customer (Farmers, Est. Owner or KUD)</a:t>
            </a:r>
            <a:endParaRPr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319" y="2415439"/>
            <a:ext cx="740325" cy="46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1850" y="1717451"/>
            <a:ext cx="2042041" cy="163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021468" y="1778914"/>
            <a:ext cx="180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6B91A"/>
                </a:solidFill>
              </a:rPr>
              <a:t>7 Days</a:t>
            </a:r>
            <a:r>
              <a:rPr b="1" lang="en-GB" sz="1300">
                <a:solidFill>
                  <a:schemeClr val="dk1"/>
                </a:solidFill>
              </a:rPr>
              <a:t> </a:t>
            </a:r>
            <a:endParaRPr b="1" sz="1300"/>
          </a:p>
        </p:txBody>
      </p:sp>
      <p:sp>
        <p:nvSpPr>
          <p:cNvPr id="71" name="Google Shape;71;p14"/>
          <p:cNvSpPr txBox="1"/>
          <p:nvPr/>
        </p:nvSpPr>
        <p:spPr>
          <a:xfrm>
            <a:off x="2910582" y="2068550"/>
            <a:ext cx="187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8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PROCUREMENT PROCES</a:t>
            </a:r>
            <a:endParaRPr b="1"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935748" y="2321371"/>
            <a:ext cx="18033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Proses Pembelian barang oleh Purchasing</a:t>
            </a:r>
            <a:endParaRPr sz="11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6099" y="2353607"/>
            <a:ext cx="754001" cy="4757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4"/>
          <p:cNvGrpSpPr/>
          <p:nvPr/>
        </p:nvGrpSpPr>
        <p:grpSpPr>
          <a:xfrm>
            <a:off x="5967990" y="1668726"/>
            <a:ext cx="2297912" cy="2059301"/>
            <a:chOff x="4254442" y="1600616"/>
            <a:chExt cx="1460475" cy="1454925"/>
          </a:xfrm>
        </p:grpSpPr>
        <p:pic>
          <p:nvPicPr>
            <p:cNvPr id="75" name="Google Shape;75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54442" y="1600616"/>
              <a:ext cx="1460475" cy="1454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4"/>
            <p:cNvSpPr txBox="1"/>
            <p:nvPr/>
          </p:nvSpPr>
          <p:spPr>
            <a:xfrm>
              <a:off x="4279853" y="1605095"/>
              <a:ext cx="13419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675" lIns="112675" spcFirstLastPara="1" rIns="112675" wrap="square" tIns="1126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56">
                  <a:solidFill>
                    <a:srgbClr val="F6B91A"/>
                  </a:solidFill>
                </a:rPr>
                <a:t>6 Days</a:t>
              </a:r>
              <a:r>
                <a:rPr b="1" lang="en-GB" sz="1356">
                  <a:solidFill>
                    <a:schemeClr val="dk1"/>
                  </a:solidFill>
                </a:rPr>
                <a:t> </a:t>
              </a:r>
              <a:endParaRPr b="1" sz="1356"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4274198" y="1890344"/>
              <a:ext cx="13929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675" lIns="112675" spcFirstLastPara="1" rIns="112675" wrap="square" tIns="112675">
              <a:spAutoFit/>
            </a:bodyPr>
            <a:lstStyle/>
            <a:p>
              <a:pPr indent="0" lvl="0" marL="0" rtl="0" algn="l">
                <a:lnSpc>
                  <a:spcPct val="1854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86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DELIVERY to CUSTOMERS</a:t>
              </a:r>
              <a:endParaRPr b="1" sz="939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4313732" y="2131789"/>
              <a:ext cx="1341900" cy="4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675" lIns="112675" spcFirstLastPara="1" rIns="112675" wrap="square" tIns="112675">
              <a:spAutoFit/>
            </a:bodyPr>
            <a:lstStyle/>
            <a:p>
              <a:pPr indent="0" lvl="0" marL="0" rtl="0" algn="l">
                <a:lnSpc>
                  <a:spcPct val="1595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63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Proses Pengiriman barang ke Customer</a:t>
              </a:r>
              <a:endParaRPr sz="939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cxnSp>
        <p:nvCxnSpPr>
          <p:cNvPr id="79" name="Google Shape;79;p14"/>
          <p:cNvCxnSpPr/>
          <p:nvPr/>
        </p:nvCxnSpPr>
        <p:spPr>
          <a:xfrm flipH="1" rot="10800000">
            <a:off x="503450" y="1346275"/>
            <a:ext cx="7313400" cy="5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80" name="Google Shape;80;p14"/>
          <p:cNvSpPr txBox="1"/>
          <p:nvPr/>
        </p:nvSpPr>
        <p:spPr>
          <a:xfrm>
            <a:off x="283109" y="250546"/>
            <a:ext cx="75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53B"/>
              </a:buClr>
              <a:buSzPts val="2400"/>
              <a:buFont typeface="Plus Jakarta Sans"/>
              <a:buNone/>
            </a:pPr>
            <a:r>
              <a:rPr b="1" lang="en-GB" sz="2400">
                <a:solidFill>
                  <a:srgbClr val="4A6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Flow proposal for 14 days delivery SLA</a:t>
            </a:r>
            <a:endParaRPr b="1" sz="2400">
              <a:solidFill>
                <a:srgbClr val="4A65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813" y="1115925"/>
            <a:ext cx="1228975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3324188" y="1096879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6B91A"/>
                </a:solidFill>
              </a:rPr>
              <a:t>14 Days</a:t>
            </a:r>
            <a:r>
              <a:rPr lang="en-GB" sz="1800">
                <a:solidFill>
                  <a:schemeClr val="dk1"/>
                </a:solidFill>
              </a:rPr>
              <a:t> </a:t>
            </a:r>
            <a:endParaRPr sz="1800"/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1675" y="3842825"/>
            <a:ext cx="2372950" cy="8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5937372" y="3826051"/>
            <a:ext cx="214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B91A"/>
                </a:solidFill>
              </a:rPr>
              <a:t>Delivery Issue: 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/>
          </a:p>
        </p:txBody>
      </p:sp>
      <p:sp>
        <p:nvSpPr>
          <p:cNvPr id="85" name="Google Shape;85;p14"/>
          <p:cNvSpPr txBox="1"/>
          <p:nvPr/>
        </p:nvSpPr>
        <p:spPr>
          <a:xfrm>
            <a:off x="5947975" y="4074139"/>
            <a:ext cx="2204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Fulfillment to Customer</a:t>
            </a:r>
            <a:endParaRPr sz="11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9878" y="3620379"/>
            <a:ext cx="2372947" cy="10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2695575" y="3606125"/>
            <a:ext cx="214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6B91A"/>
                </a:solidFill>
              </a:rPr>
              <a:t>Procurement Issue:</a:t>
            </a:r>
            <a:r>
              <a:rPr b="1" lang="en-GB" sz="1100">
                <a:solidFill>
                  <a:srgbClr val="F6B91A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/>
          </a:p>
        </p:txBody>
      </p:sp>
      <p:sp>
        <p:nvSpPr>
          <p:cNvPr id="88" name="Google Shape;88;p14"/>
          <p:cNvSpPr txBox="1"/>
          <p:nvPr/>
        </p:nvSpPr>
        <p:spPr>
          <a:xfrm>
            <a:off x="2706178" y="3882771"/>
            <a:ext cx="22047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"/>
              <a:buAutoNum type="arabicPeriod"/>
            </a:pPr>
            <a:r>
              <a:rPr lang="en-GB"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Lengthy Procurement Approval Process</a:t>
            </a:r>
            <a:endParaRPr sz="9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"/>
              <a:buAutoNum type="arabicPeriod"/>
            </a:pPr>
            <a:r>
              <a:rPr lang="en-GB"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Multilayer approval Bottleneck</a:t>
            </a:r>
            <a:endParaRPr sz="9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title="WhatsApp Image 2026-10-19 at 16.56.0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171450"/>
            <a:ext cx="8259224" cy="22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667800" y="2564350"/>
            <a:ext cx="79248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Ringkasan SLA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UcPeriod"/>
            </a:pPr>
            <a:r>
              <a:rPr i="1" lang="en-GB" sz="1800">
                <a:solidFill>
                  <a:schemeClr val="dk2"/>
                </a:solidFill>
              </a:rPr>
              <a:t>PO creation, approval, and payment </a:t>
            </a:r>
            <a:r>
              <a:rPr lang="en-GB" sz="1800">
                <a:solidFill>
                  <a:schemeClr val="dk2"/>
                </a:solidFill>
              </a:rPr>
              <a:t>: 4 Hari Kalender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UcPeriod"/>
            </a:pPr>
            <a:r>
              <a:rPr i="1" lang="en-GB" sz="1800">
                <a:solidFill>
                  <a:schemeClr val="dk2"/>
                </a:solidFill>
              </a:rPr>
              <a:t>Vendor fulfillment </a:t>
            </a:r>
            <a:r>
              <a:rPr lang="en-GB" sz="1800">
                <a:solidFill>
                  <a:schemeClr val="dk2"/>
                </a:solidFill>
              </a:rPr>
              <a:t> : 7 Hari Kalender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UcPeriod"/>
            </a:pPr>
            <a:r>
              <a:rPr i="1" lang="en-GB" sz="1800">
                <a:solidFill>
                  <a:schemeClr val="dk2"/>
                </a:solidFill>
              </a:rPr>
              <a:t>Ready to Delivery </a:t>
            </a:r>
            <a:r>
              <a:rPr lang="en-GB" sz="1800">
                <a:solidFill>
                  <a:schemeClr val="dk2"/>
                </a:solidFill>
              </a:rPr>
              <a:t>: 3 Hari Kalender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