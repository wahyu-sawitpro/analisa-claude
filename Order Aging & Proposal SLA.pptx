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</p:sldIdLst>
  <p:sldSz cy="5143500" cx="9144000"/>
  <p:notesSz cx="6858000" cy="9144000"/>
  <p:embeddedFontLst>
    <p:embeddedFont>
      <p:font typeface="Plus Jakarta Sans"/>
      <p:regular r:id="rId8"/>
      <p:bold r:id="rId9"/>
      <p:italic r:id="rId10"/>
      <p:boldItalic r:id="rId11"/>
    </p:embeddedFont>
    <p:embeddedFont>
      <p:font typeface="Plus Jakarta Sans Light"/>
      <p:regular r:id="rId12"/>
      <p:bold r:id="rId13"/>
      <p:italic r:id="rId14"/>
      <p:boldItalic r:id="rId15"/>
    </p:embeddedFont>
    <p:embeddedFont>
      <p:font typeface="Helvetica Neue Ligh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font" Target="fonts/PlusJakartaSans-regular.fntdata"/><Relationship Id="rId9" Type="http://schemas.openxmlformats.org/officeDocument/2006/relationships/font" Target="fonts/PlusJakartaSans-bold.fntdata"/><Relationship Id="rId10" Type="http://schemas.openxmlformats.org/officeDocument/2006/relationships/font" Target="fonts/PlusJakartaSans-italic.fntdata"/><Relationship Id="rId11" Type="http://schemas.openxmlformats.org/officeDocument/2006/relationships/font" Target="fonts/PlusJakartaSans-boldItalic.fntdata"/><Relationship Id="rId12" Type="http://schemas.openxmlformats.org/officeDocument/2006/relationships/font" Target="fonts/PlusJakartaSansLight-regular.fntdata"/><Relationship Id="rId13" Type="http://schemas.openxmlformats.org/officeDocument/2006/relationships/font" Target="fonts/PlusJakartaSansLight-bold.fntdata"/><Relationship Id="rId14" Type="http://schemas.openxmlformats.org/officeDocument/2006/relationships/font" Target="fonts/PlusJakartaSansLight-italic.fntdata"/><Relationship Id="rId15" Type="http://schemas.openxmlformats.org/officeDocument/2006/relationships/font" Target="fonts/PlusJakartaSansLight-boldItalic.fntdata"/><Relationship Id="rId16" Type="http://schemas.openxmlformats.org/officeDocument/2006/relationships/font" Target="fonts/HelveticaNeueLight-regular.fntdata"/><Relationship Id="rId17" Type="http://schemas.openxmlformats.org/officeDocument/2006/relationships/font" Target="fonts/HelveticaNeueLight-bold.fntdata"/><Relationship Id="rId18" Type="http://schemas.openxmlformats.org/officeDocument/2006/relationships/font" Target="fonts/HelveticaNeueLight-italic.fntdata"/><Relationship Id="rId19" Type="http://schemas.openxmlformats.org/officeDocument/2006/relationships/font" Target="fonts/HelveticaNeueLight-boldItalic.fntdata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222222"/>
                </a:solidFill>
                <a:latin typeface="Plus Jakarta Sans"/>
              </a:rPr>
              <a:t>Nilai sales aging per PIC (Rp juta)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(Rp juta)</c:v>
                </c:pt>
              </c:strCache>
            </c:strRef>
          </c:tx>
          <c:spPr>
            <a:solidFill>
              <a:srgbClr val="1E5A3C"/>
            </a:solidFill>
          </c:spPr>
          <c:cat>
            <c:strRef>
              <c:f>Sheet1!$A$2:$A$6</c:f>
              <c:strCache>
                <c:ptCount val="5"/>
                <c:pt idx="0">
                  <c:v>Joko Prestiwo</c:v>
                </c:pt>
                <c:pt idx="1">
                  <c:v>Muhammad Abdul Wahab</c:v>
                </c:pt>
                <c:pt idx="2">
                  <c:v>Simon Sutrado Simanjuntak</c:v>
                </c:pt>
                <c:pt idx="3">
                  <c:v>Deby Zea Efendi</c:v>
                </c:pt>
                <c:pt idx="4">
                  <c:v>Rudi Nirwana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32.9</c:v>
                </c:pt>
                <c:pt idx="1">
                  <c:v>52.1</c:v>
                </c:pt>
                <c:pt idx="2">
                  <c:v>73.6</c:v>
                </c:pt>
                <c:pt idx="3">
                  <c:v>123.3</c:v>
                </c:pt>
                <c:pt idx="4">
                  <c:v>166.0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00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F5F5F"/>
          </a:solidFill>
          <a:latin typeface="Plus Jakarta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witPRO Template 1">
  <p:cSld name="SawitPRO Template 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175;p50" id="51" name="Google Shape;51;p13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277066" y="275519"/>
            <a:ext cx="8589869" cy="459246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277118" y="4772807"/>
            <a:ext cx="8589900" cy="95100"/>
          </a:xfrm>
          <a:prstGeom prst="rect">
            <a:avLst/>
          </a:prstGeom>
          <a:solidFill>
            <a:srgbClr val="F5D34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177;p50" id="53" name="Google Shape;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3486" y="275518"/>
            <a:ext cx="783346" cy="783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78;p50" id="54" name="Google Shape;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277066" y="4512013"/>
            <a:ext cx="365570" cy="365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79;p50" id="55" name="Google Shape;5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63934" y="4380002"/>
            <a:ext cx="783346" cy="82565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90008" y="4921298"/>
            <a:ext cx="11679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lus Jakarta Sans Light"/>
              <a:buNone/>
            </a:pPr>
            <a:r>
              <a:rPr b="0" i="0" lang="en-GB" sz="8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MATERI MILIK </a:t>
            </a:r>
            <a:r>
              <a:rPr b="1" i="0" lang="en-GB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SAWITPRO</a:t>
            </a:r>
            <a:endParaRPr sz="1100"/>
          </a:p>
        </p:txBody>
      </p:sp>
      <p:sp>
        <p:nvSpPr>
          <p:cNvPr id="57" name="Google Shape;57;p13"/>
          <p:cNvSpPr txBox="1"/>
          <p:nvPr/>
        </p:nvSpPr>
        <p:spPr>
          <a:xfrm>
            <a:off x="4711387" y="4900132"/>
            <a:ext cx="39405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875" lIns="33875" spcFirstLastPara="1" rIns="33875" wrap="square" tIns="3387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lus Jakarta Sans Light"/>
              <a:buNone/>
            </a:pPr>
            <a:r>
              <a:rPr b="0" i="0" lang="en-GB" sz="8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Dilarang mempergunakan dan menyebarkan isi materi ini tanpa izin dari pihak SawitPRO</a:t>
            </a:r>
            <a:endParaRPr sz="1100"/>
          </a:p>
        </p:txBody>
      </p:sp>
      <p:pic>
        <p:nvPicPr>
          <p:cNvPr descr="Logo SawitPRO-Main Logo.png" id="58" name="Google Shape;5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46641" y="221981"/>
            <a:ext cx="672959" cy="67296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4482256" y="4905375"/>
            <a:ext cx="174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b="0" i="0" sz="900" u="none" cap="none" strike="noStrike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 card"/>
          <p:cNvSpPr/>
          <p:nvPr/>
        </p:nvSpPr>
        <p:spPr>
          <a:xfrm>
            <a:off x="502920" y="1143000"/>
            <a:ext cx="5669280" cy="2514600"/>
          </a:xfrm>
          <a:prstGeom prst="roundRect">
            <a:avLst>
              <a:gd name="adj" fmla="val 8000"/>
            </a:avLst>
          </a:prstGeom>
          <a:solidFill>
            <a:srgbClr val="1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6B91A"/>
                </a:solidFill>
                <a:latin typeface="Plus Jakarta Sans"/>
              </a:rPr>
              <a:t>SLA DELIVERY REVIEW  ·  OKTOBER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lus Jakarta Sans"/>
              </a:rPr>
              <a:t>Order Aging &gt;14 Hari &amp; Proposal SLA Delivery 14 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1752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lus Jakarta Sans"/>
              </a:rPr>
              <a:t>Status order belum terkirim lebih dari 14 hari dan usulan alur SLA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92608"/>
            <a:ext cx="7223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4A653B"/>
                </a:solidFill>
                <a:latin typeface="Plus Jakarta Sans"/>
              </a:rPr>
              <a:t>10 order tertahan lebih dari 14 hari</a:t>
            </a:r>
          </a:p>
        </p:txBody>
      </p:sp>
      <p:sp>
        <p:nvSpPr>
          <p:cNvPr id="3" name="Stat 1"/>
          <p:cNvSpPr/>
          <p:nvPr/>
        </p:nvSpPr>
        <p:spPr>
          <a:xfrm>
            <a:off x="457200" y="1097280"/>
            <a:ext cx="3017520" cy="676656"/>
          </a:xfrm>
          <a:prstGeom prst="roundRect">
            <a:avLst>
              <a:gd name="adj" fmla="val 8000"/>
            </a:avLst>
          </a:prstGeom>
          <a:solidFill>
            <a:srgbClr val="1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6B91A"/>
                </a:solidFill>
                <a:latin typeface="Plus Jakarta San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99616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order (20 line item)</a:t>
            </a:r>
          </a:p>
        </p:txBody>
      </p:sp>
      <p:sp>
        <p:nvSpPr>
          <p:cNvPr id="6" name="Stat 2"/>
          <p:cNvSpPr/>
          <p:nvPr/>
        </p:nvSpPr>
        <p:spPr>
          <a:xfrm>
            <a:off x="457200" y="1883664"/>
            <a:ext cx="3017520" cy="676656"/>
          </a:xfrm>
          <a:prstGeom prst="roundRect">
            <a:avLst>
              <a:gd name="adj" fmla="val 8000"/>
            </a:avLst>
          </a:prstGeom>
          <a:solidFill>
            <a:srgbClr val="1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95681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6B91A"/>
                </a:solidFill>
                <a:latin typeface="Plus Jakarta Sans"/>
              </a:rPr>
              <a:t>Rp 447,9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28600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nilai sales tertahan</a:t>
            </a:r>
          </a:p>
        </p:txBody>
      </p:sp>
      <p:sp>
        <p:nvSpPr>
          <p:cNvPr id="9" name="Stat 3"/>
          <p:cNvSpPr/>
          <p:nvPr/>
        </p:nvSpPr>
        <p:spPr>
          <a:xfrm>
            <a:off x="457200" y="2670048"/>
            <a:ext cx="3017520" cy="676656"/>
          </a:xfrm>
          <a:prstGeom prst="roundRect">
            <a:avLst>
              <a:gd name="adj" fmla="val 8000"/>
            </a:avLst>
          </a:prstGeom>
          <a:solidFill>
            <a:srgbClr val="1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74320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6B91A"/>
                </a:solidFill>
                <a:latin typeface="Plus Jakarta Sans"/>
              </a:rPr>
              <a:t>31 hari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07238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aging tertinggi · rata-rata 23 hari</a:t>
            </a:r>
          </a:p>
        </p:txBody>
      </p:sp>
      <p:sp>
        <p:nvSpPr>
          <p:cNvPr id="12" name="Stat 4"/>
          <p:cNvSpPr/>
          <p:nvPr/>
        </p:nvSpPr>
        <p:spPr>
          <a:xfrm>
            <a:off x="457200" y="3456432"/>
            <a:ext cx="3017520" cy="676656"/>
          </a:xfrm>
          <a:prstGeom prst="roundRect">
            <a:avLst>
              <a:gd name="adj" fmla="val 8000"/>
            </a:avLst>
          </a:prstGeom>
          <a:solidFill>
            <a:srgbClr val="1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52958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6B91A"/>
                </a:solidFill>
                <a:latin typeface="Plus Jakarta Sans"/>
              </a:rPr>
              <a:t>Rp 242,1 jt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85876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masih PARTIAL_PAID (5 order)</a:t>
            </a:r>
          </a:p>
        </p:txBody>
      </p:sp>
      <p:graphicFrame>
        <p:nvGraphicFramePr>
          <p:cNvPr id="15" name="Chart sales per PIC"/>
          <p:cNvGraphicFramePr>
            <a:graphicFrameLocks noGrp="1"/>
          </p:cNvGraphicFramePr>
          <p:nvPr/>
        </p:nvGraphicFramePr>
        <p:xfrm>
          <a:off x="3749039" y="1051560"/>
          <a:ext cx="45720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92608"/>
            <a:ext cx="7223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4A653B"/>
                </a:solidFill>
                <a:latin typeface="Plus Jakarta Sans"/>
              </a:rPr>
              <a:t>Daftar order aging &gt;14 hari (per order)</a:t>
            </a:r>
          </a:p>
        </p:txBody>
      </p:sp>
      <p:graphicFrame>
        <p:nvGraphicFramePr>
          <p:cNvPr id="3" name="Tabel order"/>
          <p:cNvGraphicFramePr>
            <a:graphicFrameLocks noGrp="1"/>
          </p:cNvGraphicFramePr>
          <p:nvPr/>
        </p:nvGraphicFramePr>
        <p:xfrm>
          <a:off x="411480" y="1005840"/>
          <a:ext cx="758952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005840"/>
                <a:gridCol w="2103120"/>
                <a:gridCol w="1188720"/>
                <a:gridCol w="457200"/>
                <a:gridCol w="1371600"/>
                <a:gridCol w="68580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lus Jakarta Sans"/>
                        </a:rPr>
                        <a:t>Tgl SO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lus Jakarta Sans"/>
                        </a:rPr>
                        <a:t>Customer Ref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lus Jakarta Sans"/>
                        </a:rPr>
                        <a:t>PIC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lus Jakarta Sans"/>
                        </a:rPr>
                        <a:t>Invoice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lus Jakarta Sans"/>
                        </a:rPr>
                        <a:t>Item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lus Jakarta Sans"/>
                        </a:rPr>
                        <a:t>Sales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lus Jakarta Sans"/>
                        </a:rPr>
                        <a:t>Aging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18/9/2026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#B2C25175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Muhammad Abdul Wahab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PAID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Rp 10.986.000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B3261E"/>
                          </a:solidFill>
                          <a:latin typeface="Plus Jakarta Sans"/>
                        </a:rPr>
                        <a:t>31 hari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22/9/2026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#B2C25295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Deby Zea Efendi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PAID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Rp 61.825.500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B3261E"/>
                          </a:solidFill>
                          <a:latin typeface="Plus Jakarta Sans"/>
                        </a:rPr>
                        <a:t>27 hari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22/9/2026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#B2C25303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Joko Prestiwo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PARTIAL_PAID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Rp 32.902.500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B3261E"/>
                          </a:solidFill>
                          <a:latin typeface="Plus Jakarta Sans"/>
                        </a:rPr>
                        <a:t>27 hari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24/9/2026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#B2C25386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Deby Zea Efendi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PARTIAL_PAID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Rp 35.553.600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B3261E"/>
                          </a:solidFill>
                          <a:latin typeface="Plus Jakarta Sans"/>
                        </a:rPr>
                        <a:t>25 hari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24/9/2026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#B2C25387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Deby Zea Efendi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PARTIAL_PAID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Rp 25.910.760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B3261E"/>
                          </a:solidFill>
                          <a:latin typeface="Plus Jakarta Sans"/>
                        </a:rPr>
                        <a:t>25 hari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29/9/2026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#B2C25587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Muhammad Abdul Wahab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PAID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Rp 41.151.360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Plus Jakarta Sans"/>
                        </a:rPr>
                        <a:t>20 hari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29/9/2026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#B2C25563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Rudi Nirwana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PAID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Rp 18.278.520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Plus Jakarta Sans"/>
                        </a:rPr>
                        <a:t>20 hari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1/10/2026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#B2C25671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Rudi Nirwana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PARTIAL_PAID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Rp 110.140.000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Plus Jakarta Sans"/>
                        </a:rPr>
                        <a:t>18 hari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2/10/2026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#B2C25720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Simon Sutrado Simanjuntak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PAID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Rp 73.616.000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Plus Jakarta Sans"/>
                        </a:rPr>
                        <a:t>17 hari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3/10/2026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#B2C25745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Rudi Nirwana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PARTIAL_PAID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222222"/>
                          </a:solidFill>
                          <a:latin typeface="Plus Jakarta Sans"/>
                        </a:rPr>
                        <a:t>Rp 37.553.160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222222"/>
                          </a:solidFill>
                          <a:latin typeface="Plus Jakarta Sans"/>
                        </a:rPr>
                        <a:t>16 hari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3977639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Plus Jakarta Sans"/>
              </a:rPr>
              <a:t>Total Rp 447.917.400 · semua sale_order_status = NEW · merah = aging &gt;21 hari (lebih dari 1,5× SLA)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92608"/>
            <a:ext cx="7223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4A653B"/>
                </a:solidFill>
                <a:latin typeface="Plus Jakarta Sans"/>
              </a:rPr>
              <a:t>Detail line item (1/2)</a:t>
            </a:r>
          </a:p>
        </p:txBody>
      </p:sp>
      <p:graphicFrame>
        <p:nvGraphicFramePr>
          <p:cNvPr id="3" name="Tabel detail 1"/>
          <p:cNvGraphicFramePr>
            <a:graphicFrameLocks noGrp="1"/>
          </p:cNvGraphicFramePr>
          <p:nvPr/>
        </p:nvGraphicFramePr>
        <p:xfrm>
          <a:off x="411480" y="1005840"/>
          <a:ext cx="777240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2194560"/>
                <a:gridCol w="960120"/>
                <a:gridCol w="1600200"/>
                <a:gridCol w="868680"/>
                <a:gridCol w="50292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lus Jakarta Sans"/>
                        </a:rPr>
                        <a:t>Tgl SO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lus Jakarta Sans"/>
                        </a:rPr>
                        <a:t>Customer Ref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lus Jakarta Sans"/>
                        </a:rPr>
                        <a:t>Item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lus Jakarta Sans"/>
                        </a:rPr>
                        <a:t>Kategori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lus Jakarta Sans"/>
                        </a:rPr>
                        <a:t>PIC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Plus Jakarta Sans"/>
                        </a:rPr>
                        <a:t>Sales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Plus Jakarta Sans"/>
                        </a:rPr>
                        <a:t>Aging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18/9/2026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#B2C25175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NPK Mahkota 13-8-27-4 0.5 B 50kg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Muhammad Abdul Wahab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10.986.000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31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22/9/2026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#B2C25295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MOP/KCL Mentari 50kg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Deby Zea Efendi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61.825.500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22/9/2026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#B2C25303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NPK Mahkota 13-6-27-4 0.65 B 50kg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Joko Prestiwo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10.230.413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27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22/9/2026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#B2C25303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Urea Nitrea 46% N 50kg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Joko Prestiwo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14.146.743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22/9/2026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#B2C25303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MOP/KCL Canada Cap Mahkota 50kg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Joko Prestiwo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8.525.344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27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24/9/2026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#B2C25386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NPK Mahkota 13-6-27-4 0.65 B 50kg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Deby Zea Efendi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10.142.919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24/9/2026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#B2C25386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MOP/KCL Canada Cap Mahkota 50kg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Deby Zea Efendi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17.082.811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24/9/2026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#B2C25386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MOP/KCL Mentari 50kg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Deby Zea Efendi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8.327.870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24/9/2026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#B2C25387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MOP/KCL Canada Cap Mahkota 50kg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Deby Zea Efendi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9.039.951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24/9/2026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#B2C25387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RP Sasco 50kg - Egypt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Deby Zea Efendi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2.485.987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3977639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Plus Jakarta Sans"/>
              </a:rPr>
              <a:t>Sales dalam Rupiah · Aging dalam hari · sumber: list order aging more 14 days.csv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92608"/>
            <a:ext cx="7223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4A653B"/>
                </a:solidFill>
                <a:latin typeface="Plus Jakarta Sans"/>
              </a:rPr>
              <a:t>Detail line item (2/2)</a:t>
            </a:r>
          </a:p>
        </p:txBody>
      </p:sp>
      <p:graphicFrame>
        <p:nvGraphicFramePr>
          <p:cNvPr id="3" name="Tabel detail 2"/>
          <p:cNvGraphicFramePr>
            <a:graphicFrameLocks noGrp="1"/>
          </p:cNvGraphicFramePr>
          <p:nvPr/>
        </p:nvGraphicFramePr>
        <p:xfrm>
          <a:off x="411480" y="1005840"/>
          <a:ext cx="777240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2194560"/>
                <a:gridCol w="960120"/>
                <a:gridCol w="1600200"/>
                <a:gridCol w="868680"/>
                <a:gridCol w="50292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lus Jakarta Sans"/>
                        </a:rPr>
                        <a:t>Tgl SO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lus Jakarta Sans"/>
                        </a:rPr>
                        <a:t>Customer Ref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lus Jakarta Sans"/>
                        </a:rPr>
                        <a:t>Item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lus Jakarta Sans"/>
                        </a:rPr>
                        <a:t>Kategori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lus Jakarta Sans"/>
                        </a:rPr>
                        <a:t>PIC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Plus Jakarta Sans"/>
                        </a:rPr>
                        <a:t>Sales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Plus Jakarta Sans"/>
                        </a:rPr>
                        <a:t>Aging</a:t>
                      </a:r>
                    </a:p>
                  </a:txBody>
                  <a:tcPr marL="54864" marR="54864" marT="18288" marB="18288" anchor="ctr">
                    <a:solidFill>
                      <a:srgbClr val="1E5A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24/9/2026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#B2C25387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RP Mahkota 50kg - Egypt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Deby Zea Efendi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7.152.861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24/9/2026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#B2C25387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ZA Cap Daun 50kg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Deby Zea Efendi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7.231.961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29/9/2026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#B2C25563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RP Mahkota 50kg - Egypt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Rudi Nirwana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7.947.417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29/9/2026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#B2C25563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ZA Cap Daun 50kg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Rudi Nirwana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10.331.103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29/9/2026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#B2C25587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RP Mahkota 50kg - Egypt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Muhammad Abdul Wahab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18.056.391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29/9/2026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#B2C25587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Borate Dunia Subur 25kg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Toko Keliling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Muhammad Abdul Wahab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23.094.969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1/10/2026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#B2C25671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NPK DGW 13-8-27-4 TE 50kg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Pupuk Grosir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Rudi Nirwana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110.140.000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2/10/2026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#B2C25720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Urea Nitrea 46% N 50kg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Simon Sutrado Simanjuntak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47.741.256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2/10/2026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#B2C25720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RP Mahkota 50kg - Peru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Pupuk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Simon Sutrado Simanjuntak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25.874.744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EE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3/10/2026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#B2C25745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NPK DGW 13-8-27-4 TE 50kg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Khusus Petani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Rudi Nirwana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37.553.160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lus Jakarta Sans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3977639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Plus Jakarta Sans"/>
              </a:rPr>
              <a:t>Sales dalam Rupiah · Aging dalam hari · sumber: list order aging more 14 days.csv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92608"/>
            <a:ext cx="7223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4A653B"/>
                </a:solidFill>
                <a:latin typeface="Plus Jakarta Sans"/>
              </a:rPr>
              <a:t>Current Condition: SLA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F5F5F"/>
                </a:solidFill>
                <a:latin typeface="Plus Jakarta Sans"/>
              </a:rPr>
              <a:t>CURRENT CONDITION  ·  14 CALENDAR DAYS</a:t>
            </a:r>
          </a:p>
        </p:txBody>
      </p:sp>
      <p:sp>
        <p:nvSpPr>
          <p:cNvPr id="4" name="Bar PO &amp; Payment"/>
          <p:cNvSpPr/>
          <p:nvPr/>
        </p:nvSpPr>
        <p:spPr>
          <a:xfrm>
            <a:off x="457200" y="1344168"/>
            <a:ext cx="2194560" cy="384048"/>
          </a:xfrm>
          <a:prstGeom prst="rect">
            <a:avLst/>
          </a:prstGeom>
          <a:solidFill>
            <a:srgbClr val="1E5A3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Plus Jakarta Sans"/>
              </a:rPr>
              <a:t>4 days</a:t>
            </a:r>
          </a:p>
        </p:txBody>
      </p:sp>
      <p:sp>
        <p:nvSpPr>
          <p:cNvPr id="5" name="Bar Vendor Fulfillment"/>
          <p:cNvSpPr/>
          <p:nvPr/>
        </p:nvSpPr>
        <p:spPr>
          <a:xfrm>
            <a:off x="2651760" y="1344168"/>
            <a:ext cx="3840480" cy="384048"/>
          </a:xfrm>
          <a:prstGeom prst="rect">
            <a:avLst/>
          </a:prstGeom>
          <a:solidFill>
            <a:srgbClr val="6AA84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Plus Jakarta Sans"/>
              </a:rPr>
              <a:t>7 days</a:t>
            </a:r>
          </a:p>
        </p:txBody>
      </p:sp>
      <p:sp>
        <p:nvSpPr>
          <p:cNvPr id="6" name="Bar Ready to Delivery"/>
          <p:cNvSpPr/>
          <p:nvPr/>
        </p:nvSpPr>
        <p:spPr>
          <a:xfrm>
            <a:off x="6492240" y="1344168"/>
            <a:ext cx="1645920" cy="384048"/>
          </a:xfrm>
          <a:prstGeom prst="rect">
            <a:avLst/>
          </a:prstGeom>
          <a:solidFill>
            <a:srgbClr val="F6B91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222222"/>
                </a:solidFill>
                <a:latin typeface="Plus Jakarta Sans"/>
              </a:rPr>
              <a:t>3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6479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Plus Jakarta Sans"/>
              </a:rPr>
              <a:t>Day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76479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Plus Jakarta Sans"/>
              </a:rPr>
              <a:t>Day 14</a:t>
            </a:r>
          </a:p>
        </p:txBody>
      </p:sp>
      <p:sp>
        <p:nvSpPr>
          <p:cNvPr id="9" name="Card PO &amp; Payment"/>
          <p:cNvSpPr/>
          <p:nvPr/>
        </p:nvSpPr>
        <p:spPr>
          <a:xfrm>
            <a:off x="457200" y="205740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167128"/>
            <a:ext cx="20482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6B91A"/>
                </a:solidFill>
                <a:latin typeface="Plus Jakarta Sans"/>
              </a:rPr>
              <a:t>4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04872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lus Jakarta Sans"/>
              </a:rPr>
              <a:t>PO &amp; 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15768"/>
            <a:ext cx="2048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lus Jakarta Sans"/>
              </a:rPr>
              <a:t>PO creation, approval, and payment</a:t>
            </a:r>
          </a:p>
        </p:txBody>
      </p:sp>
      <p:sp>
        <p:nvSpPr>
          <p:cNvPr id="13" name="Arrow 1"/>
          <p:cNvSpPr/>
          <p:nvPr/>
        </p:nvSpPr>
        <p:spPr>
          <a:xfrm>
            <a:off x="2889504" y="2564891"/>
            <a:ext cx="164592" cy="219456"/>
          </a:xfrm>
          <a:prstGeom prst="chevron">
            <a:avLst/>
          </a:prstGeom>
          <a:solidFill>
            <a:srgbClr val="F6B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Vendor Fulfillment"/>
          <p:cNvSpPr/>
          <p:nvPr/>
        </p:nvSpPr>
        <p:spPr>
          <a:xfrm>
            <a:off x="3108960" y="205740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2167128"/>
            <a:ext cx="20482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6B91A"/>
                </a:solidFill>
                <a:latin typeface="Plus Jakarta Sans"/>
              </a:rPr>
              <a:t>7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2404872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lus Jakarta Sans"/>
              </a:rPr>
              <a:t>Vendor Fulfillment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715768"/>
            <a:ext cx="2048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lus Jakarta Sans"/>
              </a:rPr>
              <a:t>Vendor prepares and fulfills the goods</a:t>
            </a:r>
          </a:p>
        </p:txBody>
      </p:sp>
      <p:sp>
        <p:nvSpPr>
          <p:cNvPr id="18" name="Arrow 2"/>
          <p:cNvSpPr/>
          <p:nvPr/>
        </p:nvSpPr>
        <p:spPr>
          <a:xfrm>
            <a:off x="5541264" y="2564891"/>
            <a:ext cx="164592" cy="219456"/>
          </a:xfrm>
          <a:prstGeom prst="chevron">
            <a:avLst/>
          </a:prstGeom>
          <a:solidFill>
            <a:srgbClr val="F6B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Ready to Delivery"/>
          <p:cNvSpPr/>
          <p:nvPr/>
        </p:nvSpPr>
        <p:spPr>
          <a:xfrm>
            <a:off x="5760720" y="205740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25312" y="2167128"/>
            <a:ext cx="20482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6B91A"/>
                </a:solidFill>
                <a:latin typeface="Plus Jakarta Sans"/>
              </a:rPr>
              <a:t>3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2404872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lus Jakarta Sans"/>
              </a:rPr>
              <a:t>Ready to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2715768"/>
            <a:ext cx="2048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lus Jakarta Sans"/>
              </a:rPr>
              <a:t>Goods prepared and ready to be delivered</a:t>
            </a:r>
          </a:p>
        </p:txBody>
      </p:sp>
      <p:sp>
        <p:nvSpPr>
          <p:cNvPr id="23" name="Scope note"/>
          <p:cNvSpPr/>
          <p:nvPr/>
        </p:nvSpPr>
        <p:spPr>
          <a:xfrm>
            <a:off x="457200" y="3520440"/>
            <a:ext cx="7680960" cy="502920"/>
          </a:xfrm>
          <a:prstGeom prst="roundRect">
            <a:avLst>
              <a:gd name="adj" fmla="val 8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2044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653B"/>
                </a:solidFill>
                <a:latin typeface="Plus Jakarta Sans"/>
              </a:rPr>
              <a:t>Scope:  </a:t>
            </a:r>
            <a:r>
              <a:rPr sz="1200" b="0">
                <a:solidFill>
                  <a:srgbClr val="222222"/>
                </a:solidFill>
                <a:latin typeface="Plus Jakarta Sans"/>
              </a:rPr>
              <a:t>starts at PO creation and ends when goods are ready to deliver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92608"/>
            <a:ext cx="7223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4A653B"/>
                </a:solidFill>
                <a:latin typeface="Plus Jakarta Sans"/>
              </a:rPr>
              <a:t>Proposed Flow: 14-Day Delivery SLA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F5F5F"/>
                </a:solidFill>
                <a:latin typeface="Plus Jakarta Sans"/>
              </a:rPr>
              <a:t>PROPOSED  ·  ORDER TO DELIVERY IN 14 DAYS</a:t>
            </a:r>
          </a:p>
        </p:txBody>
      </p:sp>
      <p:sp>
        <p:nvSpPr>
          <p:cNvPr id="4" name="Bar Sales Order"/>
          <p:cNvSpPr/>
          <p:nvPr/>
        </p:nvSpPr>
        <p:spPr>
          <a:xfrm>
            <a:off x="457200" y="1344168"/>
            <a:ext cx="548640" cy="384048"/>
          </a:xfrm>
          <a:prstGeom prst="rect">
            <a:avLst/>
          </a:prstGeom>
          <a:solidFill>
            <a:srgbClr val="1E5A3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Plus Jakarta Sans"/>
              </a:rPr>
              <a:t>1 day</a:t>
            </a:r>
          </a:p>
        </p:txBody>
      </p:sp>
      <p:sp>
        <p:nvSpPr>
          <p:cNvPr id="5" name="Bar Procurement"/>
          <p:cNvSpPr/>
          <p:nvPr/>
        </p:nvSpPr>
        <p:spPr>
          <a:xfrm>
            <a:off x="1005840" y="1344168"/>
            <a:ext cx="3840480" cy="384048"/>
          </a:xfrm>
          <a:prstGeom prst="rect">
            <a:avLst/>
          </a:prstGeom>
          <a:solidFill>
            <a:srgbClr val="6AA84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Plus Jakarta Sans"/>
              </a:rPr>
              <a:t>7 days</a:t>
            </a:r>
          </a:p>
        </p:txBody>
      </p:sp>
      <p:sp>
        <p:nvSpPr>
          <p:cNvPr id="6" name="Bar Delivery"/>
          <p:cNvSpPr/>
          <p:nvPr/>
        </p:nvSpPr>
        <p:spPr>
          <a:xfrm>
            <a:off x="4846320" y="1344168"/>
            <a:ext cx="3291840" cy="384048"/>
          </a:xfrm>
          <a:prstGeom prst="rect">
            <a:avLst/>
          </a:prstGeom>
          <a:solidFill>
            <a:srgbClr val="F6B91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222222"/>
                </a:solidFill>
                <a:latin typeface="Plus Jakarta Sans"/>
              </a:rPr>
              <a:t>6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6479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Plus Jakarta Sans"/>
              </a:rPr>
              <a:t>Day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76479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F5F5F"/>
                </a:solidFill>
                <a:latin typeface="Plus Jakarta Sans"/>
              </a:rPr>
              <a:t>Day 14</a:t>
            </a:r>
          </a:p>
        </p:txBody>
      </p:sp>
      <p:sp>
        <p:nvSpPr>
          <p:cNvPr id="9" name="Card Sales Order"/>
          <p:cNvSpPr/>
          <p:nvPr/>
        </p:nvSpPr>
        <p:spPr>
          <a:xfrm>
            <a:off x="457200" y="205740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167128"/>
            <a:ext cx="20482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6B91A"/>
                </a:solidFill>
                <a:latin typeface="Plus Jakarta Sans"/>
              </a:rPr>
              <a:t>1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04872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lus Jakarta Sans"/>
              </a:rPr>
              <a:t>Sales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15768"/>
            <a:ext cx="2048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lus Jakarta Sans"/>
              </a:rPr>
              <a:t>Order from customer (farmers, estate owners, or KUD)</a:t>
            </a:r>
          </a:p>
        </p:txBody>
      </p:sp>
      <p:sp>
        <p:nvSpPr>
          <p:cNvPr id="13" name="Arrow 1"/>
          <p:cNvSpPr/>
          <p:nvPr/>
        </p:nvSpPr>
        <p:spPr>
          <a:xfrm>
            <a:off x="2889504" y="2564891"/>
            <a:ext cx="164592" cy="219456"/>
          </a:xfrm>
          <a:prstGeom prst="chevron">
            <a:avLst/>
          </a:prstGeom>
          <a:solidFill>
            <a:srgbClr val="F6B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Procurement"/>
          <p:cNvSpPr/>
          <p:nvPr/>
        </p:nvSpPr>
        <p:spPr>
          <a:xfrm>
            <a:off x="3108960" y="205740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2167128"/>
            <a:ext cx="20482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6B91A"/>
                </a:solidFill>
                <a:latin typeface="Plus Jakarta Sans"/>
              </a:rPr>
              <a:t>7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2404872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lus Jakarta Sans"/>
              </a:rPr>
              <a:t>Procurement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715768"/>
            <a:ext cx="2048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lus Jakarta Sans"/>
              </a:rPr>
              <a:t>Goods purchased by the Purchasing team</a:t>
            </a:r>
          </a:p>
        </p:txBody>
      </p:sp>
      <p:sp>
        <p:nvSpPr>
          <p:cNvPr id="18" name="Arrow 2"/>
          <p:cNvSpPr/>
          <p:nvPr/>
        </p:nvSpPr>
        <p:spPr>
          <a:xfrm>
            <a:off x="5541264" y="2564891"/>
            <a:ext cx="164592" cy="219456"/>
          </a:xfrm>
          <a:prstGeom prst="chevron">
            <a:avLst/>
          </a:prstGeom>
          <a:solidFill>
            <a:srgbClr val="F6B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Delivery"/>
          <p:cNvSpPr/>
          <p:nvPr/>
        </p:nvSpPr>
        <p:spPr>
          <a:xfrm>
            <a:off x="5760720" y="205740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25312" y="2167128"/>
            <a:ext cx="204825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6B91A"/>
                </a:solidFill>
                <a:latin typeface="Plus Jakarta Sans"/>
              </a:rPr>
              <a:t>6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2404872"/>
            <a:ext cx="2048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lus Jakarta Sans"/>
              </a:rPr>
              <a:t>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2715768"/>
            <a:ext cx="2048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lus Jakarta Sans"/>
              </a:rPr>
              <a:t>Goods shipped to the customer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29584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653B"/>
                </a:solidFill>
                <a:latin typeface="Plus Jakarta Sans"/>
              </a:rPr>
              <a:t>Issues to solve</a:t>
            </a:r>
          </a:p>
        </p:txBody>
      </p:sp>
      <p:sp>
        <p:nvSpPr>
          <p:cNvPr id="24" name="Issue Procurement issues"/>
          <p:cNvSpPr/>
          <p:nvPr/>
        </p:nvSpPr>
        <p:spPr>
          <a:xfrm>
            <a:off x="3108960" y="3474720"/>
            <a:ext cx="2377440" cy="731520"/>
          </a:xfrm>
          <a:prstGeom prst="roundRect">
            <a:avLst>
              <a:gd name="adj" fmla="val 8000"/>
            </a:avLst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3547872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6B91A"/>
                </a:solidFill>
                <a:latin typeface="Plus Jakarta Sans"/>
              </a:rPr>
              <a:t>Procurement issues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767328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– Lengthy approval process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– Multilayer approval bottleneck</a:t>
            </a:r>
          </a:p>
        </p:txBody>
      </p:sp>
      <p:sp>
        <p:nvSpPr>
          <p:cNvPr id="27" name="Issue Delivery issue"/>
          <p:cNvSpPr/>
          <p:nvPr/>
        </p:nvSpPr>
        <p:spPr>
          <a:xfrm>
            <a:off x="5760720" y="3474720"/>
            <a:ext cx="2377440" cy="731520"/>
          </a:xfrm>
          <a:prstGeom prst="roundRect">
            <a:avLst>
              <a:gd name="adj" fmla="val 8000"/>
            </a:avLst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3547872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6B91A"/>
                </a:solidFill>
                <a:latin typeface="Plus Jakarta Sans"/>
              </a:rPr>
              <a:t>Delivery issue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3767328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lus Jakarta Sans"/>
              </a:rPr>
              <a:t>– Delayed fulfillment to customer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47472" y="292608"/>
            <a:ext cx="7223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4A653B"/>
                </a:solidFill>
                <a:latin typeface="Plus Jakarta Sans"/>
              </a:rPr>
              <a:t>Aging saat ini vs target SLA 14 hari</a:t>
            </a:r>
          </a:p>
        </p:txBody>
      </p:sp>
      <p:sp>
        <p:nvSpPr>
          <p:cNvPr id="3" name="Bucket 15–21 hari"/>
          <p:cNvSpPr/>
          <p:nvPr/>
        </p:nvSpPr>
        <p:spPr>
          <a:xfrm>
            <a:off x="457200" y="109728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1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6B91A"/>
                </a:solidFill>
                <a:latin typeface="Plus Jakarta Sans"/>
              </a:rPr>
              <a:t>15–21 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lus Jakarta Sans"/>
              </a:rPr>
              <a:t>5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lus Jakarta Sans"/>
              </a:rPr>
              <a:t>8 item · Rp 280,7 jt</a:t>
            </a:r>
          </a:p>
        </p:txBody>
      </p:sp>
      <p:sp>
        <p:nvSpPr>
          <p:cNvPr id="7" name="Bucket 22–28 hari"/>
          <p:cNvSpPr/>
          <p:nvPr/>
        </p:nvSpPr>
        <p:spPr>
          <a:xfrm>
            <a:off x="3154680" y="109728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1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20700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6B91A"/>
                </a:solidFill>
                <a:latin typeface="Plus Jakarta Sans"/>
              </a:rPr>
              <a:t>22–28 hari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536192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lus Jakarta Sans"/>
              </a:rPr>
              <a:t>4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9933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lus Jakarta Sans"/>
              </a:rPr>
              <a:t>11 item · Rp 156,2 jt</a:t>
            </a:r>
          </a:p>
        </p:txBody>
      </p:sp>
      <p:sp>
        <p:nvSpPr>
          <p:cNvPr id="11" name="Bucket &gt;28 hari"/>
          <p:cNvSpPr/>
          <p:nvPr/>
        </p:nvSpPr>
        <p:spPr>
          <a:xfrm>
            <a:off x="5852160" y="1097280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1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20700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6B91A"/>
                </a:solidFill>
                <a:latin typeface="Plus Jakarta Sans"/>
              </a:rPr>
              <a:t>&gt;28 hari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536192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lus Jakarta Sans"/>
              </a:rPr>
              <a:t>1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9933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lus Jakarta Sans"/>
              </a:rPr>
              <a:t>1 item · Rp 11,0 jt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7680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A653B"/>
                </a:solidFill>
                <a:latin typeface="Plus Jakarta Sans"/>
              </a:rPr>
              <a:t>Usulan tindak lanjut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7680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Plus Jakarta Sans"/>
              </a:rPr>
              <a:t>1.  Eskalasi 10 order aging ke Purchasing &amp; tim delivery, prioritaskan aging &gt;21 hari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Plus Jakarta Sans"/>
              </a:rPr>
              <a:t>2.  Terapkan flow usulan: sales order 1 hari, procurement 7 hari, delivery 6 hari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22222"/>
                </a:solidFill>
                <a:latin typeface="Plus Jakarta Sans"/>
              </a:rPr>
              <a:t>3.  Pangkas approval berlapis di proses procurement sebagai bottleneck utama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