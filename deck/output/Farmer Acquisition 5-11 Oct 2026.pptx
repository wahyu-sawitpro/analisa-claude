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 Last Week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5–11 Oct 2026 · vs 28 Sep – 4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 farmers joined last week, −103 (−22%); 99% came without a Duta and none through a real Duta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5–11 Oct, −103 (−22%) on 28 Sep – 4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372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−99 (−21%)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(−50%); all from test Duta accounts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real Dutas last week; 1 in 7 weeks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drop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 (−95), 92% of the 103 fewer farmers. The “organic” campaign alone went 111 → 47.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Duta is test accounts, not Dutas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of 4 under-Duta farmers last week and 8 of 8 the week before sit under test Duta accounts. Only 1 farmer in 7 weeks came through a real Duta.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channels held up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 101 → 111; “App-Register-Campaign-DG” added +36 farmers.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was a peak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 farmers with 95 on one day; last week is −8% on the 4-week average of 407, still +129% on the week of 24 Aug.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channels bring 99% of farmers; the Duta channel has not yet brought real farmers. Win back organic registrations and start real Dutas.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registration week (minggu_register). The week of 12 Oct is in progress and left out. Under Duta = akuisisi_type “Under Duta”; test = is_test_duta 1 or “Test” in the Duta name.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 farmers joined last week, −103 (−22%) on the week before; none came through a real Duta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57450" cy="800100"/>
          </a:xfrm>
          <a:prstGeom prst="roundRect">
            <a:avLst>
              <a:gd name="adj" fmla="val 13714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52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526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5–11 Oct (479 the week before, −22%)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57450" cy="80010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52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372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526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(98.9% of farmers), −99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57450" cy="80010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52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526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Duta, −4 on the week before; 4 from test Duta accounts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57450" cy="80010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52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526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real Dutas last week; 1 in all 7 weeks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2647950"/>
            <a:ext cx="5998029" cy="2609850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2800350"/>
            <a:ext cx="56170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52500" y="3028950"/>
            <a:ext cx="56170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 – 4 Oct vs 5–11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314700"/>
          <a:ext cx="5693229" cy="914400"/>
        </p:xfrm>
        <a:graphic>
          <a:graphicData uri="http://schemas.openxmlformats.org/drawingml/2006/table">
            <a:tbl>
              <a:tblPr/>
              <a:tblGrid>
                <a:gridCol w="1856488"/>
                <a:gridCol w="804478"/>
                <a:gridCol w="804478"/>
                <a:gridCol w="742595"/>
                <a:gridCol w="680712"/>
                <a:gridCol w="80447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before (28 Sep)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Last week (5 Oct)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of which test Duta accounts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of which real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98.9%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1"/>
          <p:cNvSpPr/>
          <p:nvPr/>
        </p:nvSpPr>
        <p:spPr>
          <a:xfrm>
            <a:off x="6912429" y="2647950"/>
            <a:ext cx="4136571" cy="2609850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02929" y="2800350"/>
            <a:ext cx="37555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Under-Duta farmers by week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7102929" y="3028950"/>
            <a:ext cx="375557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 Duta accounts vs real Dutas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7121979" y="334327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274379" y="3314700"/>
            <a:ext cx="11761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Test Duta account</a:t>
            </a:r>
            <a:endParaRPr lang="en-US" sz="860" dirty="0"/>
          </a:p>
        </p:txBody>
      </p:sp>
      <p:sp>
        <p:nvSpPr>
          <p:cNvPr id="32" name="Shape 26"/>
          <p:cNvSpPr/>
          <p:nvPr/>
        </p:nvSpPr>
        <p:spPr>
          <a:xfrm>
            <a:off x="8450526" y="334327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602926" y="3314700"/>
            <a:ext cx="6854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Duta</a:t>
            </a:r>
            <a:endParaRPr lang="en-US" sz="860" dirty="0"/>
          </a:p>
        </p:txBody>
      </p:sp>
      <p:sp>
        <p:nvSpPr>
          <p:cNvPr id="34" name="Shape 28"/>
          <p:cNvSpPr/>
          <p:nvPr/>
        </p:nvSpPr>
        <p:spPr>
          <a:xfrm>
            <a:off x="7222881" y="4752975"/>
            <a:ext cx="329262" cy="142875"/>
          </a:xfrm>
          <a:prstGeom prst="roundRect">
            <a:avLst>
              <a:gd name="adj" fmla="val 20000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006512" y="4581525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860" dirty="0"/>
          </a:p>
        </p:txBody>
      </p:sp>
      <p:sp>
        <p:nvSpPr>
          <p:cNvPr id="36" name="Text 30"/>
          <p:cNvSpPr txBox="1"/>
          <p:nvPr/>
        </p:nvSpPr>
        <p:spPr>
          <a:xfrm>
            <a:off x="7131504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24 Aug</a:t>
            </a:r>
            <a:endParaRPr lang="en-US" sz="830" dirty="0"/>
          </a:p>
        </p:txBody>
      </p:sp>
      <p:sp>
        <p:nvSpPr>
          <p:cNvPr id="37" name="Shape 31"/>
          <p:cNvSpPr/>
          <p:nvPr/>
        </p:nvSpPr>
        <p:spPr>
          <a:xfrm>
            <a:off x="7753949" y="4467225"/>
            <a:ext cx="329262" cy="428625"/>
          </a:xfrm>
          <a:prstGeom prst="roundRect">
            <a:avLst>
              <a:gd name="adj" fmla="val 8678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7753949" y="4467225"/>
            <a:ext cx="32926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800" dirty="0"/>
          </a:p>
        </p:txBody>
      </p:sp>
      <p:sp>
        <p:nvSpPr>
          <p:cNvPr id="39" name="Text 33"/>
          <p:cNvSpPr txBox="1"/>
          <p:nvPr/>
        </p:nvSpPr>
        <p:spPr>
          <a:xfrm>
            <a:off x="7537580" y="4295775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860" dirty="0"/>
          </a:p>
        </p:txBody>
      </p:sp>
      <p:sp>
        <p:nvSpPr>
          <p:cNvPr id="40" name="Text 34"/>
          <p:cNvSpPr txBox="1"/>
          <p:nvPr/>
        </p:nvSpPr>
        <p:spPr>
          <a:xfrm>
            <a:off x="7662571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41" name="Shape 35"/>
          <p:cNvSpPr/>
          <p:nvPr/>
        </p:nvSpPr>
        <p:spPr>
          <a:xfrm>
            <a:off x="8285016" y="4752975"/>
            <a:ext cx="329262" cy="142875"/>
          </a:xfrm>
          <a:prstGeom prst="roundRect">
            <a:avLst>
              <a:gd name="adj" fmla="val 20000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8285016" y="4610100"/>
            <a:ext cx="329262" cy="123825"/>
          </a:xfrm>
          <a:prstGeom prst="roundRect">
            <a:avLst>
              <a:gd name="adj" fmla="val 23077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8068647" y="44386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860" dirty="0"/>
          </a:p>
        </p:txBody>
      </p:sp>
      <p:sp>
        <p:nvSpPr>
          <p:cNvPr id="44" name="Text 38"/>
          <p:cNvSpPr txBox="1"/>
          <p:nvPr/>
        </p:nvSpPr>
        <p:spPr>
          <a:xfrm>
            <a:off x="8193638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45" name="Shape 39"/>
          <p:cNvSpPr/>
          <p:nvPr/>
        </p:nvSpPr>
        <p:spPr>
          <a:xfrm>
            <a:off x="8816083" y="4610100"/>
            <a:ext cx="329262" cy="285750"/>
          </a:xfrm>
          <a:prstGeom prst="roundRect">
            <a:avLst>
              <a:gd name="adj" fmla="val 10000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816083" y="4610100"/>
            <a:ext cx="32926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800" dirty="0"/>
          </a:p>
        </p:txBody>
      </p:sp>
      <p:sp>
        <p:nvSpPr>
          <p:cNvPr id="47" name="Text 41"/>
          <p:cNvSpPr txBox="1"/>
          <p:nvPr/>
        </p:nvSpPr>
        <p:spPr>
          <a:xfrm>
            <a:off x="8599714" y="44386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860" dirty="0"/>
          </a:p>
        </p:txBody>
      </p:sp>
      <p:sp>
        <p:nvSpPr>
          <p:cNvPr id="48" name="Text 42"/>
          <p:cNvSpPr txBox="1"/>
          <p:nvPr/>
        </p:nvSpPr>
        <p:spPr>
          <a:xfrm>
            <a:off x="8724706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49" name="Shape 43"/>
          <p:cNvSpPr/>
          <p:nvPr/>
        </p:nvSpPr>
        <p:spPr>
          <a:xfrm>
            <a:off x="9347151" y="4610100"/>
            <a:ext cx="329262" cy="285750"/>
          </a:xfrm>
          <a:prstGeom prst="roundRect">
            <a:avLst>
              <a:gd name="adj" fmla="val 10000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347151" y="4610100"/>
            <a:ext cx="32926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800" dirty="0"/>
          </a:p>
        </p:txBody>
      </p:sp>
      <p:sp>
        <p:nvSpPr>
          <p:cNvPr id="51" name="Text 45"/>
          <p:cNvSpPr txBox="1"/>
          <p:nvPr/>
        </p:nvSpPr>
        <p:spPr>
          <a:xfrm>
            <a:off x="9130782" y="443865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860" dirty="0"/>
          </a:p>
        </p:txBody>
      </p:sp>
      <p:sp>
        <p:nvSpPr>
          <p:cNvPr id="52" name="Text 46"/>
          <p:cNvSpPr txBox="1"/>
          <p:nvPr/>
        </p:nvSpPr>
        <p:spPr>
          <a:xfrm>
            <a:off x="9255773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53" name="Shape 47"/>
          <p:cNvSpPr/>
          <p:nvPr/>
        </p:nvSpPr>
        <p:spPr>
          <a:xfrm>
            <a:off x="9878218" y="3752850"/>
            <a:ext cx="329262" cy="1143000"/>
          </a:xfrm>
          <a:prstGeom prst="roundRect">
            <a:avLst>
              <a:gd name="adj" fmla="val 8678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878218" y="3752850"/>
            <a:ext cx="32926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800" dirty="0"/>
          </a:p>
        </p:txBody>
      </p:sp>
      <p:sp>
        <p:nvSpPr>
          <p:cNvPr id="55" name="Text 49"/>
          <p:cNvSpPr txBox="1"/>
          <p:nvPr/>
        </p:nvSpPr>
        <p:spPr>
          <a:xfrm>
            <a:off x="9661849" y="35814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860" dirty="0"/>
          </a:p>
        </p:txBody>
      </p:sp>
      <p:sp>
        <p:nvSpPr>
          <p:cNvPr id="56" name="Text 50"/>
          <p:cNvSpPr txBox="1"/>
          <p:nvPr/>
        </p:nvSpPr>
        <p:spPr>
          <a:xfrm>
            <a:off x="9786840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57" name="Shape 51"/>
          <p:cNvSpPr/>
          <p:nvPr/>
        </p:nvSpPr>
        <p:spPr>
          <a:xfrm>
            <a:off x="10409285" y="4324350"/>
            <a:ext cx="329262" cy="571500"/>
          </a:xfrm>
          <a:prstGeom prst="roundRect">
            <a:avLst>
              <a:gd name="adj" fmla="val 8678"/>
            </a:avLst>
          </a:prstGeom>
          <a:solidFill>
            <a:srgbClr val="B9C2B0"/>
          </a:solidFill>
          <a:ln w="12700">
            <a:solidFill>
              <a:srgbClr val="B9C2B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0409285" y="4324350"/>
            <a:ext cx="32926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800" dirty="0"/>
          </a:p>
        </p:txBody>
      </p:sp>
      <p:sp>
        <p:nvSpPr>
          <p:cNvPr id="59" name="Text 53"/>
          <p:cNvSpPr txBox="1"/>
          <p:nvPr/>
        </p:nvSpPr>
        <p:spPr>
          <a:xfrm>
            <a:off x="10192916" y="4152900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860" dirty="0"/>
          </a:p>
        </p:txBody>
      </p:sp>
      <p:sp>
        <p:nvSpPr>
          <p:cNvPr id="60" name="Text 54"/>
          <p:cNvSpPr txBox="1"/>
          <p:nvPr/>
        </p:nvSpPr>
        <p:spPr>
          <a:xfrm>
            <a:off x="10317908" y="4943475"/>
            <a:ext cx="5120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61" name="Shape 55"/>
          <p:cNvSpPr/>
          <p:nvPr/>
        </p:nvSpPr>
        <p:spPr>
          <a:xfrm>
            <a:off x="7121979" y="4895850"/>
            <a:ext cx="371747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62" name="Shape 56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Duta is a test channel today: 4 of the 4 under-Duta farmers last week and 8 of 8 the week before sit under Duta accounts flagged as test (is_test_duta = 1 or “Test” in the name); their status was Sale 1 / Leads 3 (week before 6 / 2). Across 7 weeks only 1 farmer came through a real Duta.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12 Oct (227 farmers to 14 Oct) is still in progress, so last week is 5–11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92% of the drop (−95); GADN +10 grew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(utm_source)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2590800"/>
            <a:ext cx="398417" cy="468495"/>
          </a:xfrm>
          <a:prstGeom prst="roundRect">
            <a:avLst>
              <a:gd name="adj" fmla="val 7172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−95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059295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059295"/>
            <a:ext cx="398417" cy="44384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2887845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103678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103678"/>
            <a:ext cx="398417" cy="24658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2932228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−5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128336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128336"/>
            <a:ext cx="398417" cy="19726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2956886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148062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3098747"/>
            <a:ext cx="398417" cy="49315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3098747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3098747"/>
            <a:ext cx="398417" cy="1854253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 (utm_source_name);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8201025" y="246697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629525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−64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 Purchase Campaign</a:t>
            </a: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- DG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8615065" y="2790825"/>
            <a:ext cx="60513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043565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−38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App-Purchase-DG-Kali…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8997255" y="3114675"/>
            <a:ext cx="22294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5755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−14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013180" y="3438525"/>
            <a:ext cx="207020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441680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−13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fb4a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029105" y="3762375"/>
            <a:ext cx="19109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457605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−12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Online_Komunitas_Dow…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19050" cy="15240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296400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broadcast_500k_farmer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143321" cy="152400"/>
          </a:xfrm>
          <a:prstGeom prst="roundRect">
            <a:avLst>
              <a:gd name="adj" fmla="val 19938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9420671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+9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573286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9850636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+36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218; inside it the largest single drop is “organic” (111 → 47).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acquisition held up: GADN 101 → 111; the largest campaign gain is “App-Register-Campaign-DG” (+36).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−8% on the 4-week average (407); the peak was 492 in the week of 21 Sep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Weeks start on Monday (minggu_register); the week of 12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1115656" y="4359856"/>
            <a:ext cx="470239" cy="535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115656" y="4359856"/>
            <a:ext cx="470239" cy="53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127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1115656" y="4212141"/>
            <a:ext cx="470239" cy="128665"/>
          </a:xfrm>
          <a:prstGeom prst="roundRect">
            <a:avLst>
              <a:gd name="adj" fmla="val 222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115656" y="4193091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115656" y="417404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69775" y="400259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60" dirty="0"/>
          </a:p>
        </p:txBody>
      </p:sp>
      <p:sp>
        <p:nvSpPr>
          <p:cNvPr id="30" name="Text 25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24 Aug</a:t>
            </a:r>
            <a:endParaRPr lang="en-US" sz="830" dirty="0"/>
          </a:p>
        </p:txBody>
      </p:sp>
      <p:sp>
        <p:nvSpPr>
          <p:cNvPr id="31" name="Shape 26"/>
          <p:cNvSpPr/>
          <p:nvPr/>
        </p:nvSpPr>
        <p:spPr>
          <a:xfrm>
            <a:off x="1874106" y="4342974"/>
            <a:ext cx="470239" cy="5528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874106" y="4342974"/>
            <a:ext cx="470239" cy="55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131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1874106" y="4182598"/>
            <a:ext cx="470239" cy="141326"/>
          </a:xfrm>
          <a:prstGeom prst="roundRect">
            <a:avLst>
              <a:gd name="adj" fmla="val 2021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874106" y="4182598"/>
            <a:ext cx="470239" cy="160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38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1874106" y="4072867"/>
            <a:ext cx="470239" cy="90681"/>
          </a:xfrm>
          <a:prstGeom prst="roundRect">
            <a:avLst>
              <a:gd name="adj" fmla="val 315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874106" y="40538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874106" y="40347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728225" y="38633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199</a:t>
            </a:r>
            <a:endParaRPr lang="en-US" sz="860" dirty="0"/>
          </a:p>
        </p:txBody>
      </p:sp>
      <p:sp>
        <p:nvSpPr>
          <p:cNvPr id="39" name="Text 34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40" name="Shape 35"/>
          <p:cNvSpPr/>
          <p:nvPr/>
        </p:nvSpPr>
        <p:spPr>
          <a:xfrm>
            <a:off x="2632556" y="4203700"/>
            <a:ext cx="470239" cy="692150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2632556" y="4203700"/>
            <a:ext cx="470239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2632556" y="3840743"/>
            <a:ext cx="470239" cy="343907"/>
          </a:xfrm>
          <a:prstGeom prst="roundRect">
            <a:avLst>
              <a:gd name="adj" fmla="val 83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2632556" y="3840743"/>
            <a:ext cx="470239" cy="362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632556" y="3671926"/>
            <a:ext cx="470239" cy="149767"/>
          </a:xfrm>
          <a:prstGeom prst="roundRect">
            <a:avLst>
              <a:gd name="adj" fmla="val 1908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3671926"/>
            <a:ext cx="470239" cy="16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652876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2632556" y="3633826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486676" y="346237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50" name="Shape 45"/>
          <p:cNvSpPr/>
          <p:nvPr/>
        </p:nvSpPr>
        <p:spPr>
          <a:xfrm>
            <a:off x="3391006" y="4039103"/>
            <a:ext cx="470239" cy="856747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3391006" y="4039103"/>
            <a:ext cx="470239" cy="856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203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3391006" y="3642383"/>
            <a:ext cx="470239" cy="377670"/>
          </a:xfrm>
          <a:prstGeom prst="roundRect">
            <a:avLst>
              <a:gd name="adj" fmla="val 756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3391006" y="3642383"/>
            <a:ext cx="470239" cy="39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3391006" y="3401819"/>
            <a:ext cx="470239" cy="221514"/>
          </a:xfrm>
          <a:prstGeom prst="roundRect">
            <a:avLst>
              <a:gd name="adj" fmla="val 129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401819"/>
            <a:ext cx="470239" cy="240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3807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3391006" y="33616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3245126" y="31902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60" dirty="0"/>
          </a:p>
        </p:txBody>
      </p:sp>
      <p:sp>
        <p:nvSpPr>
          <p:cNvPr id="59" name="Text 54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60" name="Shape 55"/>
          <p:cNvSpPr/>
          <p:nvPr/>
        </p:nvSpPr>
        <p:spPr>
          <a:xfrm>
            <a:off x="4149457" y="3482007"/>
            <a:ext cx="470239" cy="141384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4149457" y="3482007"/>
            <a:ext cx="470239" cy="1413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335</a:t>
            </a:r>
            <a:endParaRPr lang="en-US" sz="800" dirty="0"/>
          </a:p>
        </p:txBody>
      </p:sp>
      <p:sp>
        <p:nvSpPr>
          <p:cNvPr id="62" name="Shape 57"/>
          <p:cNvSpPr/>
          <p:nvPr/>
        </p:nvSpPr>
        <p:spPr>
          <a:xfrm>
            <a:off x="4149457" y="3081066"/>
            <a:ext cx="470239" cy="381891"/>
          </a:xfrm>
          <a:prstGeom prst="roundRect">
            <a:avLst>
              <a:gd name="adj" fmla="val 7483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4149457" y="3081066"/>
            <a:ext cx="470239" cy="400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4149457" y="2924911"/>
            <a:ext cx="470239" cy="137106"/>
          </a:xfrm>
          <a:prstGeom prst="roundRect">
            <a:avLst>
              <a:gd name="adj" fmla="val 2084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4149457" y="2924911"/>
            <a:ext cx="470239" cy="156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4149457" y="2827841"/>
            <a:ext cx="470239" cy="78020"/>
          </a:xfrm>
          <a:prstGeom prst="roundRect">
            <a:avLst>
              <a:gd name="adj" fmla="val 3662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149457" y="280879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4003576" y="263734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60" dirty="0"/>
          </a:p>
        </p:txBody>
      </p:sp>
      <p:sp>
        <p:nvSpPr>
          <p:cNvPr id="69" name="Text 64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70" name="Shape 65"/>
          <p:cNvSpPr/>
          <p:nvPr/>
        </p:nvSpPr>
        <p:spPr>
          <a:xfrm>
            <a:off x="4907907" y="3574856"/>
            <a:ext cx="470239" cy="1320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907907" y="3574856"/>
            <a:ext cx="470239" cy="1320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313</a:t>
            </a:r>
            <a:endParaRPr lang="en-US" sz="800" dirty="0"/>
          </a:p>
        </p:txBody>
      </p:sp>
      <p:sp>
        <p:nvSpPr>
          <p:cNvPr id="72" name="Shape 67"/>
          <p:cNvSpPr/>
          <p:nvPr/>
        </p:nvSpPr>
        <p:spPr>
          <a:xfrm>
            <a:off x="4907907" y="3148593"/>
            <a:ext cx="470239" cy="407213"/>
          </a:xfrm>
          <a:prstGeom prst="roundRect">
            <a:avLst>
              <a:gd name="adj" fmla="val 701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3148593"/>
            <a:ext cx="470239" cy="426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043083"/>
            <a:ext cx="470239" cy="86461"/>
          </a:xfrm>
          <a:prstGeom prst="roundRect">
            <a:avLst>
              <a:gd name="adj" fmla="val 3305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4907907" y="2908029"/>
            <a:ext cx="470239" cy="116004"/>
          </a:xfrm>
          <a:prstGeom prst="roundRect">
            <a:avLst>
              <a:gd name="adj" fmla="val 2463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4907907" y="2874266"/>
            <a:ext cx="470239" cy="14713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7" name="Text 72"/>
          <p:cNvSpPr txBox="1"/>
          <p:nvPr/>
        </p:nvSpPr>
        <p:spPr>
          <a:xfrm>
            <a:off x="4762027" y="270281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78" name="Text 73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9" name="Shape 74"/>
          <p:cNvSpPr/>
          <p:nvPr/>
        </p:nvSpPr>
        <p:spPr>
          <a:xfrm>
            <a:off x="5666357" y="3975797"/>
            <a:ext cx="470239" cy="92005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0" name="Text 75"/>
          <p:cNvSpPr txBox="1"/>
          <p:nvPr/>
        </p:nvSpPr>
        <p:spPr>
          <a:xfrm>
            <a:off x="5666357" y="3975797"/>
            <a:ext cx="470239" cy="9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218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5666357" y="3507330"/>
            <a:ext cx="470239" cy="449417"/>
          </a:xfrm>
          <a:prstGeom prst="roundRect">
            <a:avLst>
              <a:gd name="adj" fmla="val 63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507330"/>
            <a:ext cx="470239" cy="468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3439803"/>
            <a:ext cx="470239" cy="48477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5666357" y="3325851"/>
            <a:ext cx="470239" cy="94902"/>
          </a:xfrm>
          <a:prstGeom prst="roundRect">
            <a:avLst>
              <a:gd name="adj" fmla="val 3011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5666357" y="330680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86" name="Text 81"/>
          <p:cNvSpPr txBox="1"/>
          <p:nvPr/>
        </p:nvSpPr>
        <p:spPr>
          <a:xfrm>
            <a:off x="5520477" y="31353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87" name="Text 82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8" name="Shape 83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1" name="Text 86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2" name="Shape 87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7004602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(28 Sep)</a:t>
            </a:r>
            <a:endParaRPr lang="en-US" sz="860" dirty="0"/>
          </a:p>
        </p:txBody>
      </p:sp>
      <p:sp>
        <p:nvSpPr>
          <p:cNvPr id="94" name="Shape 89"/>
          <p:cNvSpPr/>
          <p:nvPr/>
        </p:nvSpPr>
        <p:spPr>
          <a:xfrm>
            <a:off x="836477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5" name="Text 90"/>
          <p:cNvSpPr txBox="1"/>
          <p:nvPr/>
        </p:nvSpPr>
        <p:spPr>
          <a:xfrm>
            <a:off x="8517172" y="2381250"/>
            <a:ext cx="11761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(5 Oct)</a:t>
            </a:r>
            <a:endParaRPr lang="en-US" sz="860" dirty="0"/>
          </a:p>
        </p:txBody>
      </p:sp>
      <p:sp>
        <p:nvSpPr>
          <p:cNvPr id="96" name="Shape 91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Shape 93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55</a:t>
            </a:r>
            <a:endParaRPr lang="en-US" sz="800" dirty="0"/>
          </a:p>
        </p:txBody>
      </p:sp>
      <p:sp>
        <p:nvSpPr>
          <p:cNvPr id="100" name="Shape 95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1" name="Text 96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2" name="Shape 97"/>
          <p:cNvSpPr/>
          <p:nvPr/>
        </p:nvSpPr>
        <p:spPr>
          <a:xfrm>
            <a:off x="7309402" y="3486150"/>
            <a:ext cx="556591" cy="3048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 flipV="1">
            <a:off x="7865993" y="3429000"/>
            <a:ext cx="556591" cy="3619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 flipV="1">
            <a:off x="8422585" y="3105150"/>
            <a:ext cx="556591" cy="3238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979176" y="3105150"/>
            <a:ext cx="556591" cy="6667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 flipV="1">
            <a:off x="9535767" y="373380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10092359" y="3733800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7266540" y="3443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823131" y="374808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379722" y="33861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936314" y="3062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Text 107"/>
          <p:cNvSpPr txBox="1"/>
          <p:nvPr/>
        </p:nvSpPr>
        <p:spPr>
          <a:xfrm>
            <a:off x="8550551" y="2876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60" dirty="0"/>
          </a:p>
        </p:txBody>
      </p:sp>
      <p:sp>
        <p:nvSpPr>
          <p:cNvPr id="113" name="Shape 108"/>
          <p:cNvSpPr/>
          <p:nvPr/>
        </p:nvSpPr>
        <p:spPr>
          <a:xfrm>
            <a:off x="9492905" y="3729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10049496" y="36909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606088" y="39195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 flipV="1">
            <a:off x="7309402" y="3676650"/>
            <a:ext cx="556591" cy="476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7865993" y="3676650"/>
            <a:ext cx="556591" cy="571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8422585" y="36385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979176" y="3638550"/>
            <a:ext cx="556591" cy="2857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 flipV="1">
            <a:off x="9535767" y="38290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10092359" y="3829050"/>
            <a:ext cx="556591" cy="4572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7266540" y="41100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6880777" y="39243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60" dirty="0"/>
          </a:p>
        </p:txBody>
      </p:sp>
      <p:sp>
        <p:nvSpPr>
          <p:cNvPr id="124" name="Shape 119"/>
          <p:cNvSpPr/>
          <p:nvPr/>
        </p:nvSpPr>
        <p:spPr>
          <a:xfrm>
            <a:off x="7823131" y="36337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5" name="Text 120"/>
          <p:cNvSpPr txBox="1"/>
          <p:nvPr/>
        </p:nvSpPr>
        <p:spPr>
          <a:xfrm>
            <a:off x="7437368" y="34480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65</a:t>
            </a:r>
            <a:endParaRPr lang="en-US" sz="860" dirty="0"/>
          </a:p>
        </p:txBody>
      </p:sp>
      <p:sp>
        <p:nvSpPr>
          <p:cNvPr id="126" name="Shape 121"/>
          <p:cNvSpPr/>
          <p:nvPr/>
        </p:nvSpPr>
        <p:spPr>
          <a:xfrm>
            <a:off x="8379722" y="3690937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7" name="Text 122"/>
          <p:cNvSpPr txBox="1"/>
          <p:nvPr/>
        </p:nvSpPr>
        <p:spPr>
          <a:xfrm>
            <a:off x="7993960" y="3505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62</a:t>
            </a:r>
            <a:endParaRPr lang="en-US" sz="860" dirty="0"/>
          </a:p>
        </p:txBody>
      </p:sp>
      <p:sp>
        <p:nvSpPr>
          <p:cNvPr id="128" name="Shape 123"/>
          <p:cNvSpPr/>
          <p:nvPr/>
        </p:nvSpPr>
        <p:spPr>
          <a:xfrm>
            <a:off x="8936314" y="35956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8550551" y="34099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30" name="Shape 125"/>
          <p:cNvSpPr/>
          <p:nvPr/>
        </p:nvSpPr>
        <p:spPr>
          <a:xfrm>
            <a:off x="9492905" y="3881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9107142" y="3695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52</a:t>
            </a:r>
            <a:endParaRPr lang="en-US" sz="860" dirty="0"/>
          </a:p>
        </p:txBody>
      </p:sp>
      <p:sp>
        <p:nvSpPr>
          <p:cNvPr id="132" name="Shape 127"/>
          <p:cNvSpPr/>
          <p:nvPr/>
        </p:nvSpPr>
        <p:spPr>
          <a:xfrm>
            <a:off x="10049496" y="3786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3" name="Text 128"/>
          <p:cNvSpPr txBox="1"/>
          <p:nvPr/>
        </p:nvSpPr>
        <p:spPr>
          <a:xfrm>
            <a:off x="9663734" y="3600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60" dirty="0"/>
          </a:p>
        </p:txBody>
      </p:sp>
      <p:sp>
        <p:nvSpPr>
          <p:cNvPr id="134" name="Shape 129"/>
          <p:cNvSpPr/>
          <p:nvPr/>
        </p:nvSpPr>
        <p:spPr>
          <a:xfrm>
            <a:off x="10606088" y="42433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10220325" y="40576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860" dirty="0"/>
          </a:p>
        </p:txBody>
      </p:sp>
      <p:sp>
        <p:nvSpPr>
          <p:cNvPr id="136" name="Text 131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7" name="Text 132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3" name="Shape 138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had a mid-week spike: 95 farmers on Thu, against a high of 67 on any day last week. Last week's days were flatter (33–67 a day).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of 5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utm_source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(7 Sep, 14 Sep, 21 Sep, 28 Sep).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utm_source_name, largest last week first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(no campaign)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broadcast_500k_farmer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8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107 of 376 farmers last week (28%) and 124 of 479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Take test Duta accounts out of the acquisition count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farmers in 7 weeks sit under test Duta accounts. Exclude is_test_duta = 1 from the report, or move these farmers to their real channel, so Under Duta shows real Dutas only.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target for real Duta acquisition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real-Duta farmer in 7 weeks. Agree how many active Dutas register farmers each week, and track it in this deck.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why Organic fell −95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313 → 218, mostly “organic” (111 → 47). Check what drove the 28 Sep peak (a broadcast, a post, an app release) and repeat it.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Keep funding “App-Register-Campaign-DG”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 added +36 farmers (19 → 55). Compare its cost per farmer with the other campaigns before shifting budget.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(107)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Duta vs Non-Duta Last Week</dc:title>
  <dc:subject>PptxGenJS Presentation</dc:subject>
  <dc:creator>PptxGenJS</dc:creator>
  <cp:lastModifiedBy>PptxGenJS</cp:lastModifiedBy>
  <cp:revision>1</cp:revision>
  <dcterms:created xsi:type="dcterms:W3CDTF">2026-10-14T07:28:36Z</dcterms:created>
  <dcterms:modified xsi:type="dcterms:W3CDTF">2026-10-14T07:28:36Z</dcterms:modified>
</cp:coreProperties>
</file>