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590550"/>
            <a:ext cx="2352675" cy="771525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743450" y="3448050"/>
            <a:ext cx="7448550" cy="2447925"/>
          </a:xfrm>
          <a:prstGeom prst="rect">
            <a:avLst/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5" name="Shape 1"/>
          <p:cNvSpPr/>
          <p:nvPr/>
        </p:nvSpPr>
        <p:spPr>
          <a:xfrm>
            <a:off x="3533775" y="3448050"/>
            <a:ext cx="2447925" cy="2447925"/>
          </a:xfrm>
          <a:prstGeom prst="ellipse">
            <a:avLst/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pic>
        <p:nvPicPr>
          <p:cNvPr id="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700" y="3609975"/>
            <a:ext cx="2114550" cy="211455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6210300" y="3619500"/>
            <a:ext cx="56197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 Acquisition</a:t>
            </a:r>
            <a:endParaRPr lang="en-US" sz="2600" dirty="0"/>
          </a:p>
        </p:txBody>
      </p:sp>
      <p:sp>
        <p:nvSpPr>
          <p:cNvPr id="8" name="Text 3"/>
          <p:cNvSpPr txBox="1"/>
          <p:nvPr/>
        </p:nvSpPr>
        <p:spPr>
          <a:xfrm>
            <a:off x="6210300" y="4095750"/>
            <a:ext cx="561975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 vs Non-Duta, 5–11 Oct</a:t>
            </a:r>
            <a:endParaRPr lang="en-US" sz="3400" dirty="0"/>
          </a:p>
        </p:txBody>
      </p:sp>
      <p:sp>
        <p:nvSpPr>
          <p:cNvPr id="9" name="Text 4"/>
          <p:cNvSpPr txBox="1"/>
          <p:nvPr/>
        </p:nvSpPr>
        <p:spPr>
          <a:xfrm>
            <a:off x="6210300" y="6000750"/>
            <a:ext cx="5715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of 5–11 Oct 2026 · vs 28 Sep – 4 Oct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 farmers joined last week, −103 (−22%): 4 through Dutas (−4) and 372 without (−99)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4A653B"/>
          </a:solidFill>
          <a:ln w="12700">
            <a:solidFill>
              <a:srgbClr val="4A653B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1440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1440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E4ECDD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5–11 Oct, −103 (−22%) on 28 Sep – 4 Oct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337185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52425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372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6" name="Text 11"/>
          <p:cNvSpPr txBox="1"/>
          <p:nvPr/>
        </p:nvSpPr>
        <p:spPr>
          <a:xfrm>
            <a:off x="352425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non-Duta: −99 (−21%) on the week before</a:t>
            </a:r>
            <a:endParaRPr lang="en-US" sz="950" dirty="0"/>
          </a:p>
        </p:txBody>
      </p:sp>
      <p:sp>
        <p:nvSpPr>
          <p:cNvPr id="17" name="Shape 12"/>
          <p:cNvSpPr/>
          <p:nvPr/>
        </p:nvSpPr>
        <p:spPr>
          <a:xfrm>
            <a:off x="598170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613410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pPr indent="0" marL="0">
              <a:buNone/>
            </a:pP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613410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under a Duta: −4 (−50%) on the week before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8591550" y="1714500"/>
            <a:ext cx="2438400" cy="1123950"/>
          </a:xfrm>
          <a:prstGeom prst="roundRect">
            <a:avLst>
              <a:gd name="adj" fmla="val 97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743950" y="1828800"/>
            <a:ext cx="213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pPr indent="0" marL="0">
              <a:buNone/>
            </a:pPr>
            <a:r>
              <a:rPr lang="en-US" sz="14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/8</a:t>
            </a:r>
            <a:endParaRPr lang="en-US" sz="2800" dirty="0"/>
          </a:p>
        </p:txBody>
      </p:sp>
      <p:sp>
        <p:nvSpPr>
          <p:cNvPr id="22" name="Text 17"/>
          <p:cNvSpPr txBox="1"/>
          <p:nvPr/>
        </p:nvSpPr>
        <p:spPr>
          <a:xfrm>
            <a:off x="8743950" y="2247900"/>
            <a:ext cx="2133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registered a farmer last week (Rudi, Satria K, Sazali Wandana)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762000" y="3009900"/>
            <a:ext cx="6191250" cy="3105150"/>
          </a:xfrm>
          <a:prstGeom prst="roundRect">
            <a:avLst>
              <a:gd name="adj" fmla="val 35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52500" y="3181350"/>
            <a:ext cx="5829300" cy="2781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drove the drop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fell from 313 to 218 (−95), 92% of the 103 fewer farmers. The “organic” campaign alone went 111 → 47.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halved, from a small base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 → 4 farmers (1.1% of all). 3 of 8 Dutas registered a farmer last week; Rudi leads with 9 in 7 weeks. 7 of the 8 are internal team, external Dutas brought 1.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Paid channels held up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 101 → 111; “App-Register-Campaign-DG” added +36 farmers.</a:t>
            </a:r>
            <a:endParaRPr lang="en-US" sz="1300" dirty="0"/>
          </a:p>
          <a:p>
            <a:pPr marL="342900" indent="-342900">
              <a:buSzPct val="100000"/>
              <a:buChar char="●"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week before was a peak</a:t>
            </a:r>
            <a:endParaRPr lang="en-US" sz="1300" dirty="0"/>
          </a:p>
          <a:p>
            <a:pPr lvl="1"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 farmers with 95 on one day; last week is −8% on the 4-week average of 407, still +129% on the week of 24 Aug.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7143750" y="3009900"/>
            <a:ext cx="3905250" cy="3105150"/>
          </a:xfrm>
          <a:prstGeom prst="roundRect">
            <a:avLst>
              <a:gd name="adj" fmla="val 3534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7372350" y="3219450"/>
            <a:ext cx="3448050" cy="27241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950" b="1" spc="200" kern="0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BOTTOM LINE</a:t>
            </a:r>
            <a:endParaRPr lang="en-US" sz="95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 channels bring 99% of farmers. Win back organic registrations, and get every Duta registering farmers each week.</a:t>
            </a:r>
            <a:endParaRPr lang="en-US" sz="950" dirty="0"/>
          </a:p>
          <a:p>
            <a:pPr indent="0" marL="0">
              <a:buNone/>
            </a:pPr>
            <a:r>
              <a:rPr lang="en-US" sz="1050" dirty="0">
                <a:solidFill>
                  <a:srgbClr val="D8E3C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counted by the week they registered. The week of 12 Oct is in progress and left out. Duta covers internal-team and external Dutas alike.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DUTA VS NON-DUTA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brought 4 farmers last week (−4), 1.1% of 376; non-Duta 372 (−99)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308600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 vs non-Duta, last week vs the week before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 – 4 Oct vs 5–11 Oct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003800" cy="914400"/>
        </p:xfrm>
        <a:graphic>
          <a:graphicData uri="http://schemas.openxmlformats.org/drawingml/2006/table">
            <a:tbl>
              <a:tblPr/>
              <a:tblGrid>
                <a:gridCol w="1631674"/>
                <a:gridCol w="707059"/>
                <a:gridCol w="707059"/>
                <a:gridCol w="652670"/>
                <a:gridCol w="598280"/>
                <a:gridCol w="70705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28 Sep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Share last week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−50%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1.1%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Internal-team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−50%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   External Dutas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Non 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−99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−21%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98.9%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 farmers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−22%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223000" y="1714500"/>
            <a:ext cx="4826000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6413500" y="18669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Duta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6413500" y="2095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first; 7 weeks = 24 Aug – 5 Oct</a:t>
            </a:r>
            <a:endParaRPr lang="en-US" sz="9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2381250"/>
          <a:ext cx="4521200" cy="914400"/>
        </p:xfrm>
        <a:graphic>
          <a:graphicData uri="http://schemas.openxmlformats.org/drawingml/2006/table">
            <a:tbl>
              <a:tblPr/>
              <a:tblGrid>
                <a:gridCol w="1446784"/>
                <a:gridCol w="1085088"/>
                <a:gridCol w="678180"/>
                <a:gridCol w="678180"/>
                <a:gridCol w="6329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Type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28 Sep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7 weeks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Rudi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Satria K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Sazali Wandana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Edi Sutarsan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Hendrik Budianto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Simon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Wahab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Internal team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Meri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External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–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Shape 12"/>
          <p:cNvSpPr/>
          <p:nvPr/>
        </p:nvSpPr>
        <p:spPr>
          <a:xfrm>
            <a:off x="762000" y="539115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20" name="Text 13"/>
          <p:cNvSpPr txBox="1"/>
          <p:nvPr/>
        </p:nvSpPr>
        <p:spPr>
          <a:xfrm>
            <a:off x="933450" y="547687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Dutas: 4 farmers last week came through 3 Dutas (Rudi 2, Satria K 1, Sazali Wandana 1), all from internal-team Dutas. 7 of the 8 Dutas with farmers in 7 weeks are internal team; external Dutas brought 1.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left out: the week of 12 Oct (227 farmers to 14 Oct) is still in progress, so last week is 5–11 Oct.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WHAT MOVED THE TOTAL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explains 92% of the drop (−95); GADN +10 grew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0673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From the week before to last week,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registered, by acquisition channel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1104356" y="2590800"/>
            <a:ext cx="398417" cy="2362200"/>
          </a:xfrm>
          <a:prstGeom prst="roundRect">
            <a:avLst>
              <a:gd name="adj" fmla="val 7172"/>
            </a:avLst>
          </a:prstGeom>
          <a:solidFill>
            <a:srgbClr val="274E13"/>
          </a:solidFill>
          <a:ln w="12700">
            <a:solidFill>
              <a:srgbClr val="274E13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27314" y="24193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</a:t>
            </a:r>
            <a:endParaRPr lang="en-US" sz="860" dirty="0"/>
          </a:p>
        </p:txBody>
      </p:sp>
      <p:sp>
        <p:nvSpPr>
          <p:cNvPr id="16" name="Shape 11"/>
          <p:cNvSpPr/>
          <p:nvPr/>
        </p:nvSpPr>
        <p:spPr>
          <a:xfrm>
            <a:off x="1502773" y="2590800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17" name="Text 12"/>
          <p:cNvSpPr txBox="1"/>
          <p:nvPr/>
        </p:nvSpPr>
        <p:spPr>
          <a:xfrm>
            <a:off x="981075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before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18" name="Shape 13"/>
          <p:cNvSpPr/>
          <p:nvPr/>
        </p:nvSpPr>
        <p:spPr>
          <a:xfrm>
            <a:off x="1768384" y="2590800"/>
            <a:ext cx="398417" cy="468495"/>
          </a:xfrm>
          <a:prstGeom prst="roundRect">
            <a:avLst>
              <a:gd name="adj" fmla="val 7172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1491343" y="2419350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−95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2166801" y="3059295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1" name="Text 16"/>
          <p:cNvSpPr txBox="1"/>
          <p:nvPr/>
        </p:nvSpPr>
        <p:spPr>
          <a:xfrm>
            <a:off x="1645104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30" dirty="0"/>
          </a:p>
        </p:txBody>
      </p:sp>
      <p:sp>
        <p:nvSpPr>
          <p:cNvPr id="22" name="Shape 17"/>
          <p:cNvSpPr/>
          <p:nvPr/>
        </p:nvSpPr>
        <p:spPr>
          <a:xfrm>
            <a:off x="2432413" y="3059295"/>
            <a:ext cx="398417" cy="44384"/>
          </a:xfrm>
          <a:prstGeom prst="roundRect">
            <a:avLst>
              <a:gd name="adj" fmla="val 5000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2155371" y="2887845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−9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2830830" y="3103678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5" name="Text 20"/>
          <p:cNvSpPr txBox="1"/>
          <p:nvPr/>
        </p:nvSpPr>
        <p:spPr>
          <a:xfrm>
            <a:off x="2309132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30" dirty="0"/>
          </a:p>
        </p:txBody>
      </p:sp>
      <p:sp>
        <p:nvSpPr>
          <p:cNvPr id="26" name="Shape 21"/>
          <p:cNvSpPr/>
          <p:nvPr/>
        </p:nvSpPr>
        <p:spPr>
          <a:xfrm>
            <a:off x="3096441" y="3103678"/>
            <a:ext cx="398417" cy="24658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2819400" y="2932228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−5</a:t>
            </a:r>
            <a:endParaRPr lang="en-US" sz="860" dirty="0"/>
          </a:p>
        </p:txBody>
      </p:sp>
      <p:sp>
        <p:nvSpPr>
          <p:cNvPr id="28" name="Shape 23"/>
          <p:cNvSpPr/>
          <p:nvPr/>
        </p:nvSpPr>
        <p:spPr>
          <a:xfrm>
            <a:off x="3494859" y="3128336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29" name="Text 24"/>
          <p:cNvSpPr txBox="1"/>
          <p:nvPr/>
        </p:nvSpPr>
        <p:spPr>
          <a:xfrm>
            <a:off x="2973161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Campaigns</a:t>
            </a:r>
            <a:endParaRPr lang="en-US" sz="830" dirty="0"/>
          </a:p>
        </p:txBody>
      </p:sp>
      <p:sp>
        <p:nvSpPr>
          <p:cNvPr id="30" name="Shape 25"/>
          <p:cNvSpPr/>
          <p:nvPr/>
        </p:nvSpPr>
        <p:spPr>
          <a:xfrm>
            <a:off x="3760470" y="3128336"/>
            <a:ext cx="398417" cy="19726"/>
          </a:xfrm>
          <a:prstGeom prst="rect">
            <a:avLst/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31" name="Text 26"/>
          <p:cNvSpPr txBox="1"/>
          <p:nvPr/>
        </p:nvSpPr>
        <p:spPr>
          <a:xfrm>
            <a:off x="3483429" y="2956886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−4</a:t>
            </a:r>
            <a:endParaRPr lang="en-US" sz="860" dirty="0"/>
          </a:p>
        </p:txBody>
      </p:sp>
      <p:sp>
        <p:nvSpPr>
          <p:cNvPr id="32" name="Shape 27"/>
          <p:cNvSpPr/>
          <p:nvPr/>
        </p:nvSpPr>
        <p:spPr>
          <a:xfrm>
            <a:off x="4158887" y="3148062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3" name="Text 28"/>
          <p:cNvSpPr txBox="1"/>
          <p:nvPr/>
        </p:nvSpPr>
        <p:spPr>
          <a:xfrm>
            <a:off x="3637189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30" dirty="0"/>
          </a:p>
        </p:txBody>
      </p:sp>
      <p:sp>
        <p:nvSpPr>
          <p:cNvPr id="34" name="Shape 29"/>
          <p:cNvSpPr/>
          <p:nvPr/>
        </p:nvSpPr>
        <p:spPr>
          <a:xfrm>
            <a:off x="4424499" y="3098747"/>
            <a:ext cx="398417" cy="49315"/>
          </a:xfrm>
          <a:prstGeom prst="roundRect">
            <a:avLst>
              <a:gd name="adj" fmla="val 5000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5" name="Text 30"/>
          <p:cNvSpPr txBox="1"/>
          <p:nvPr/>
        </p:nvSpPr>
        <p:spPr>
          <a:xfrm>
            <a:off x="4147457" y="2927297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+10</a:t>
            </a:r>
            <a:endParaRPr lang="en-US" sz="860" dirty="0"/>
          </a:p>
        </p:txBody>
      </p:sp>
      <p:sp>
        <p:nvSpPr>
          <p:cNvPr id="36" name="Shape 31"/>
          <p:cNvSpPr/>
          <p:nvPr/>
        </p:nvSpPr>
        <p:spPr>
          <a:xfrm>
            <a:off x="4822916" y="3098747"/>
            <a:ext cx="265611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dash"/>
          </a:ln>
        </p:spPr>
      </p:sp>
      <p:sp>
        <p:nvSpPr>
          <p:cNvPr id="37" name="Text 32"/>
          <p:cNvSpPr txBox="1"/>
          <p:nvPr/>
        </p:nvSpPr>
        <p:spPr>
          <a:xfrm>
            <a:off x="4301218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</a:t>
            </a:r>
            <a:endParaRPr lang="en-US" sz="830" dirty="0"/>
          </a:p>
        </p:txBody>
      </p:sp>
      <p:sp>
        <p:nvSpPr>
          <p:cNvPr id="38" name="Shape 33"/>
          <p:cNvSpPr/>
          <p:nvPr/>
        </p:nvSpPr>
        <p:spPr>
          <a:xfrm>
            <a:off x="5088527" y="3098747"/>
            <a:ext cx="398417" cy="1854253"/>
          </a:xfrm>
          <a:prstGeom prst="roundRect">
            <a:avLst>
              <a:gd name="adj" fmla="val 717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9" name="Text 34"/>
          <p:cNvSpPr txBox="1"/>
          <p:nvPr/>
        </p:nvSpPr>
        <p:spPr>
          <a:xfrm>
            <a:off x="4811486" y="2927297"/>
            <a:ext cx="952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</a:t>
            </a:r>
            <a:endParaRPr lang="en-US" sz="860" dirty="0"/>
          </a:p>
        </p:txBody>
      </p:sp>
      <p:sp>
        <p:nvSpPr>
          <p:cNvPr id="40" name="Text 35"/>
          <p:cNvSpPr txBox="1"/>
          <p:nvPr/>
        </p:nvSpPr>
        <p:spPr>
          <a:xfrm>
            <a:off x="4965246" y="5000625"/>
            <a:ext cx="644979" cy="295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</a:t>
            </a:r>
            <a:endParaRPr lang="en-US" sz="830" dirty="0"/>
          </a:p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41" name="Shape 36"/>
          <p:cNvSpPr/>
          <p:nvPr/>
        </p:nvSpPr>
        <p:spPr>
          <a:xfrm>
            <a:off x="971550" y="4953000"/>
            <a:ext cx="4648200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2" name="Shape 37"/>
          <p:cNvSpPr/>
          <p:nvPr/>
        </p:nvSpPr>
        <p:spPr>
          <a:xfrm>
            <a:off x="5981700" y="1714500"/>
            <a:ext cx="50673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6172200" y="1866900"/>
            <a:ext cx="4686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Largest moves by campaign, non-Duta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6172200" y="2095500"/>
            <a:ext cx="4686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Change in farmers; hover for week before → last week</a:t>
            </a:r>
            <a:endParaRPr lang="en-US" sz="950" dirty="0"/>
          </a:p>
        </p:txBody>
      </p:sp>
      <p:sp>
        <p:nvSpPr>
          <p:cNvPr id="45" name="Shape 40"/>
          <p:cNvSpPr/>
          <p:nvPr/>
        </p:nvSpPr>
        <p:spPr>
          <a:xfrm>
            <a:off x="9229725" y="2381250"/>
            <a:ext cx="0" cy="259080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46" name="Text 41"/>
          <p:cNvSpPr txBox="1"/>
          <p:nvPr/>
        </p:nvSpPr>
        <p:spPr>
          <a:xfrm>
            <a:off x="6191250" y="23812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900" dirty="0"/>
          </a:p>
        </p:txBody>
      </p:sp>
      <p:sp>
        <p:nvSpPr>
          <p:cNvPr id="47" name="Shape 42"/>
          <p:cNvSpPr/>
          <p:nvPr/>
        </p:nvSpPr>
        <p:spPr>
          <a:xfrm>
            <a:off x="8201025" y="2466975"/>
            <a:ext cx="1019175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7629525" y="23812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−64</a:t>
            </a:r>
            <a:endParaRPr lang="en-US" sz="860" dirty="0"/>
          </a:p>
        </p:txBody>
      </p:sp>
      <p:sp>
        <p:nvSpPr>
          <p:cNvPr id="49" name="Text 44"/>
          <p:cNvSpPr txBox="1"/>
          <p:nvPr/>
        </p:nvSpPr>
        <p:spPr>
          <a:xfrm>
            <a:off x="6191250" y="27051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 Purchase Campaign</a:t>
            </a:r>
            <a:endParaRPr lang="en-US" sz="9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- DG</a:t>
            </a:r>
            <a:endParaRPr lang="en-US" sz="900" dirty="0"/>
          </a:p>
        </p:txBody>
      </p:sp>
      <p:sp>
        <p:nvSpPr>
          <p:cNvPr id="50" name="Shape 45"/>
          <p:cNvSpPr/>
          <p:nvPr/>
        </p:nvSpPr>
        <p:spPr>
          <a:xfrm>
            <a:off x="8615065" y="2790825"/>
            <a:ext cx="605135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8043565" y="27051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−38</a:t>
            </a:r>
            <a:endParaRPr lang="en-US" sz="860" dirty="0"/>
          </a:p>
        </p:txBody>
      </p:sp>
      <p:sp>
        <p:nvSpPr>
          <p:cNvPr id="52" name="Text 47"/>
          <p:cNvSpPr txBox="1"/>
          <p:nvPr/>
        </p:nvSpPr>
        <p:spPr>
          <a:xfrm>
            <a:off x="6191250" y="30289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App-Purchase-DG-Kali…</a:t>
            </a:r>
            <a:endParaRPr lang="en-US" sz="900" dirty="0"/>
          </a:p>
        </p:txBody>
      </p:sp>
      <p:sp>
        <p:nvSpPr>
          <p:cNvPr id="53" name="Shape 48"/>
          <p:cNvSpPr/>
          <p:nvPr/>
        </p:nvSpPr>
        <p:spPr>
          <a:xfrm>
            <a:off x="8997255" y="3114675"/>
            <a:ext cx="222945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4" name="Text 49"/>
          <p:cNvSpPr txBox="1"/>
          <p:nvPr/>
        </p:nvSpPr>
        <p:spPr>
          <a:xfrm>
            <a:off x="8425755" y="30289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−14</a:t>
            </a:r>
            <a:endParaRPr lang="en-US" sz="860" dirty="0"/>
          </a:p>
        </p:txBody>
      </p:sp>
      <p:sp>
        <p:nvSpPr>
          <p:cNvPr id="55" name="Text 50"/>
          <p:cNvSpPr txBox="1"/>
          <p:nvPr/>
        </p:nvSpPr>
        <p:spPr>
          <a:xfrm>
            <a:off x="6191250" y="33528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petaniproapp</a:t>
            </a:r>
            <a:endParaRPr lang="en-US" sz="900" dirty="0"/>
          </a:p>
        </p:txBody>
      </p:sp>
      <p:sp>
        <p:nvSpPr>
          <p:cNvPr id="56" name="Shape 51"/>
          <p:cNvSpPr/>
          <p:nvPr/>
        </p:nvSpPr>
        <p:spPr>
          <a:xfrm>
            <a:off x="9013180" y="3438525"/>
            <a:ext cx="207020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57" name="Text 52"/>
          <p:cNvSpPr txBox="1"/>
          <p:nvPr/>
        </p:nvSpPr>
        <p:spPr>
          <a:xfrm>
            <a:off x="8441680" y="33528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−13</a:t>
            </a:r>
            <a:endParaRPr lang="en-US" sz="860" dirty="0"/>
          </a:p>
        </p:txBody>
      </p:sp>
      <p:sp>
        <p:nvSpPr>
          <p:cNvPr id="58" name="Text 53"/>
          <p:cNvSpPr txBox="1"/>
          <p:nvPr/>
        </p:nvSpPr>
        <p:spPr>
          <a:xfrm>
            <a:off x="6191250" y="36766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fb4a</a:t>
            </a:r>
            <a:endParaRPr lang="en-US" sz="900" dirty="0"/>
          </a:p>
        </p:txBody>
      </p:sp>
      <p:sp>
        <p:nvSpPr>
          <p:cNvPr id="59" name="Shape 54"/>
          <p:cNvSpPr/>
          <p:nvPr/>
        </p:nvSpPr>
        <p:spPr>
          <a:xfrm>
            <a:off x="9029105" y="3762375"/>
            <a:ext cx="191095" cy="152400"/>
          </a:xfrm>
          <a:prstGeom prst="roundRect">
            <a:avLst>
              <a:gd name="adj" fmla="val 18750"/>
            </a:avLst>
          </a:prstGeom>
          <a:solidFill>
            <a:srgbClr val="A23B72"/>
          </a:solidFill>
          <a:ln w="12700">
            <a:solidFill>
              <a:srgbClr val="A23B72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8457605" y="36766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A23B72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−12</a:t>
            </a:r>
            <a:endParaRPr lang="en-US" sz="860" dirty="0"/>
          </a:p>
        </p:txBody>
      </p:sp>
      <p:sp>
        <p:nvSpPr>
          <p:cNvPr id="61" name="Text 56"/>
          <p:cNvSpPr txBox="1"/>
          <p:nvPr/>
        </p:nvSpPr>
        <p:spPr>
          <a:xfrm>
            <a:off x="6191250" y="40005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Online Komunitas</a:t>
            </a:r>
            <a:endParaRPr lang="en-US" sz="900" dirty="0"/>
          </a:p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DownloadPSP</a:t>
            </a:r>
            <a:endParaRPr lang="en-US" sz="900" dirty="0"/>
          </a:p>
        </p:txBody>
      </p:sp>
      <p:sp>
        <p:nvSpPr>
          <p:cNvPr id="62" name="Shape 57"/>
          <p:cNvSpPr/>
          <p:nvPr/>
        </p:nvSpPr>
        <p:spPr>
          <a:xfrm>
            <a:off x="9239250" y="4086225"/>
            <a:ext cx="19050" cy="152400"/>
          </a:xfrm>
          <a:prstGeom prst="rect">
            <a:avLst/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9296400" y="40005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+1</a:t>
            </a:r>
            <a:endParaRPr lang="en-US" sz="860" dirty="0"/>
          </a:p>
        </p:txBody>
      </p:sp>
      <p:sp>
        <p:nvSpPr>
          <p:cNvPr id="64" name="Text 59"/>
          <p:cNvSpPr txBox="1"/>
          <p:nvPr/>
        </p:nvSpPr>
        <p:spPr>
          <a:xfrm>
            <a:off x="6191250" y="432435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broadcast 500k farmer</a:t>
            </a:r>
            <a:endParaRPr lang="en-US" sz="900" dirty="0"/>
          </a:p>
        </p:txBody>
      </p:sp>
      <p:sp>
        <p:nvSpPr>
          <p:cNvPr id="65" name="Shape 60"/>
          <p:cNvSpPr/>
          <p:nvPr/>
        </p:nvSpPr>
        <p:spPr>
          <a:xfrm>
            <a:off x="9239250" y="4410075"/>
            <a:ext cx="143321" cy="152400"/>
          </a:xfrm>
          <a:prstGeom prst="roundRect">
            <a:avLst>
              <a:gd name="adj" fmla="val 19938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6" name="Text 61"/>
          <p:cNvSpPr txBox="1"/>
          <p:nvPr/>
        </p:nvSpPr>
        <p:spPr>
          <a:xfrm>
            <a:off x="9420671" y="432435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+9</a:t>
            </a:r>
            <a:endParaRPr lang="en-US" sz="860" dirty="0"/>
          </a:p>
        </p:txBody>
      </p:sp>
      <p:sp>
        <p:nvSpPr>
          <p:cNvPr id="67" name="Text 62"/>
          <p:cNvSpPr txBox="1"/>
          <p:nvPr/>
        </p:nvSpPr>
        <p:spPr>
          <a:xfrm>
            <a:off x="6191250" y="4648200"/>
            <a:ext cx="13525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90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App-Register-Campaig…</a:t>
            </a:r>
            <a:endParaRPr lang="en-US" sz="900" dirty="0"/>
          </a:p>
        </p:txBody>
      </p:sp>
      <p:sp>
        <p:nvSpPr>
          <p:cNvPr id="68" name="Shape 63"/>
          <p:cNvSpPr/>
          <p:nvPr/>
        </p:nvSpPr>
        <p:spPr>
          <a:xfrm>
            <a:off x="9239250" y="4733925"/>
            <a:ext cx="573286" cy="152400"/>
          </a:xfrm>
          <a:prstGeom prst="roundRect">
            <a:avLst>
              <a:gd name="adj" fmla="val 18750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9" name="Text 64"/>
          <p:cNvSpPr txBox="1"/>
          <p:nvPr/>
        </p:nvSpPr>
        <p:spPr>
          <a:xfrm>
            <a:off x="9850636" y="4648200"/>
            <a:ext cx="533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3E7B2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+36</a:t>
            </a:r>
            <a:endParaRPr lang="en-US" sz="860" dirty="0"/>
          </a:p>
        </p:txBody>
      </p:sp>
      <p:sp>
        <p:nvSpPr>
          <p:cNvPr id="70" name="Shape 65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fell from 313 to 218; inside it the largest single drop is “organic” (111 → 47).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Paid acquisition held up: GADN 101 → 111; the largest campaign gain is “App-Register-Campaign-DG” (+36).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7-WEEK TREND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is −8% on the 4-week average (407); the peak was 492 in the week of 21 Sep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728252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53472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registered per week,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53472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Registration weeks start on Monday; the week of 12 Oct is left out</a:t>
            </a:r>
            <a:endParaRPr lang="en-US" sz="950" dirty="0"/>
          </a:p>
        </p:txBody>
      </p:sp>
      <p:sp>
        <p:nvSpPr>
          <p:cNvPr id="14" name="Shape 9"/>
          <p:cNvSpPr/>
          <p:nvPr/>
        </p:nvSpPr>
        <p:spPr>
          <a:xfrm>
            <a:off x="971550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1123950" y="2381250"/>
            <a:ext cx="56273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</a:t>
            </a:r>
            <a:endParaRPr lang="en-US" sz="860" dirty="0"/>
          </a:p>
        </p:txBody>
      </p:sp>
      <p:sp>
        <p:nvSpPr>
          <p:cNvPr id="16" name="Shape 11"/>
          <p:cNvSpPr/>
          <p:nvPr/>
        </p:nvSpPr>
        <p:spPr>
          <a:xfrm>
            <a:off x="1686687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1839087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GADN</a:t>
            </a:r>
            <a:endParaRPr lang="en-US" sz="860" dirty="0"/>
          </a:p>
        </p:txBody>
      </p:sp>
      <p:sp>
        <p:nvSpPr>
          <p:cNvPr id="18" name="Shape 13"/>
          <p:cNvSpPr/>
          <p:nvPr/>
        </p:nvSpPr>
        <p:spPr>
          <a:xfrm>
            <a:off x="2217801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2370201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Meta</a:t>
            </a:r>
            <a:endParaRPr lang="en-US" sz="860" dirty="0"/>
          </a:p>
        </p:txBody>
      </p:sp>
      <p:sp>
        <p:nvSpPr>
          <p:cNvPr id="20" name="Shape 15"/>
          <p:cNvSpPr/>
          <p:nvPr/>
        </p:nvSpPr>
        <p:spPr>
          <a:xfrm>
            <a:off x="2748915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2901315" y="2381250"/>
            <a:ext cx="13601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Identified Campaigns</a:t>
            </a:r>
            <a:endParaRPr lang="en-US" sz="860" dirty="0"/>
          </a:p>
        </p:txBody>
      </p:sp>
      <p:sp>
        <p:nvSpPr>
          <p:cNvPr id="22" name="Shape 17"/>
          <p:cNvSpPr/>
          <p:nvPr/>
        </p:nvSpPr>
        <p:spPr>
          <a:xfrm>
            <a:off x="4261485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4413885" y="2381250"/>
            <a:ext cx="378714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</a:t>
            </a:r>
            <a:endParaRPr lang="en-US" sz="860" dirty="0"/>
          </a:p>
        </p:txBody>
      </p:sp>
      <p:sp>
        <p:nvSpPr>
          <p:cNvPr id="24" name="Shape 19"/>
          <p:cNvSpPr/>
          <p:nvPr/>
        </p:nvSpPr>
        <p:spPr>
          <a:xfrm>
            <a:off x="1115656" y="4359856"/>
            <a:ext cx="470239" cy="535994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1115656" y="4359856"/>
            <a:ext cx="470239" cy="535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127</a:t>
            </a:r>
            <a:endParaRPr lang="en-US" sz="800" dirty="0"/>
          </a:p>
        </p:txBody>
      </p:sp>
      <p:sp>
        <p:nvSpPr>
          <p:cNvPr id="26" name="Shape 21"/>
          <p:cNvSpPr/>
          <p:nvPr/>
        </p:nvSpPr>
        <p:spPr>
          <a:xfrm>
            <a:off x="1115656" y="4212141"/>
            <a:ext cx="470239" cy="128665"/>
          </a:xfrm>
          <a:prstGeom prst="roundRect">
            <a:avLst>
              <a:gd name="adj" fmla="val 22209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1115656" y="4193091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1115656" y="4174041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969775" y="400259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164</a:t>
            </a:r>
            <a:endParaRPr lang="en-US" sz="860" dirty="0"/>
          </a:p>
        </p:txBody>
      </p:sp>
      <p:sp>
        <p:nvSpPr>
          <p:cNvPr id="30" name="Text 25"/>
          <p:cNvSpPr txBox="1"/>
          <p:nvPr/>
        </p:nvSpPr>
        <p:spPr>
          <a:xfrm>
            <a:off x="981075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24 Aug</a:t>
            </a:r>
            <a:endParaRPr lang="en-US" sz="830" dirty="0"/>
          </a:p>
        </p:txBody>
      </p:sp>
      <p:sp>
        <p:nvSpPr>
          <p:cNvPr id="31" name="Shape 26"/>
          <p:cNvSpPr/>
          <p:nvPr/>
        </p:nvSpPr>
        <p:spPr>
          <a:xfrm>
            <a:off x="1874106" y="4342974"/>
            <a:ext cx="470239" cy="552876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1874106" y="4342974"/>
            <a:ext cx="470239" cy="5528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131</a:t>
            </a:r>
            <a:endParaRPr lang="en-US" sz="800" dirty="0"/>
          </a:p>
        </p:txBody>
      </p:sp>
      <p:sp>
        <p:nvSpPr>
          <p:cNvPr id="33" name="Shape 28"/>
          <p:cNvSpPr/>
          <p:nvPr/>
        </p:nvSpPr>
        <p:spPr>
          <a:xfrm>
            <a:off x="1874106" y="4182598"/>
            <a:ext cx="470239" cy="141326"/>
          </a:xfrm>
          <a:prstGeom prst="roundRect">
            <a:avLst>
              <a:gd name="adj" fmla="val 20219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34" name="Text 29"/>
          <p:cNvSpPr txBox="1"/>
          <p:nvPr/>
        </p:nvSpPr>
        <p:spPr>
          <a:xfrm>
            <a:off x="1874106" y="4182598"/>
            <a:ext cx="470239" cy="160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38</a:t>
            </a:r>
            <a:endParaRPr lang="en-US" sz="800" dirty="0"/>
          </a:p>
        </p:txBody>
      </p:sp>
      <p:sp>
        <p:nvSpPr>
          <p:cNvPr id="35" name="Shape 30"/>
          <p:cNvSpPr/>
          <p:nvPr/>
        </p:nvSpPr>
        <p:spPr>
          <a:xfrm>
            <a:off x="1874106" y="4072867"/>
            <a:ext cx="470239" cy="90681"/>
          </a:xfrm>
          <a:prstGeom prst="roundRect">
            <a:avLst>
              <a:gd name="adj" fmla="val 3151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1874106" y="4053817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37" name="Shape 32"/>
          <p:cNvSpPr/>
          <p:nvPr/>
        </p:nvSpPr>
        <p:spPr>
          <a:xfrm>
            <a:off x="1874106" y="4034767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38" name="Text 33"/>
          <p:cNvSpPr txBox="1"/>
          <p:nvPr/>
        </p:nvSpPr>
        <p:spPr>
          <a:xfrm>
            <a:off x="1728225" y="3863317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199</a:t>
            </a:r>
            <a:endParaRPr lang="en-US" sz="860" dirty="0"/>
          </a:p>
        </p:txBody>
      </p:sp>
      <p:sp>
        <p:nvSpPr>
          <p:cNvPr id="39" name="Text 34"/>
          <p:cNvSpPr txBox="1"/>
          <p:nvPr/>
        </p:nvSpPr>
        <p:spPr>
          <a:xfrm>
            <a:off x="1739525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 Aug</a:t>
            </a:r>
            <a:endParaRPr lang="en-US" sz="830" dirty="0"/>
          </a:p>
        </p:txBody>
      </p:sp>
      <p:sp>
        <p:nvSpPr>
          <p:cNvPr id="40" name="Shape 35"/>
          <p:cNvSpPr/>
          <p:nvPr/>
        </p:nvSpPr>
        <p:spPr>
          <a:xfrm>
            <a:off x="2632556" y="4203700"/>
            <a:ext cx="470239" cy="692150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2632556" y="4203700"/>
            <a:ext cx="470239" cy="6921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164</a:t>
            </a:r>
            <a:endParaRPr lang="en-US" sz="800" dirty="0"/>
          </a:p>
        </p:txBody>
      </p:sp>
      <p:sp>
        <p:nvSpPr>
          <p:cNvPr id="42" name="Shape 37"/>
          <p:cNvSpPr/>
          <p:nvPr/>
        </p:nvSpPr>
        <p:spPr>
          <a:xfrm>
            <a:off x="2632556" y="3840743"/>
            <a:ext cx="470239" cy="343907"/>
          </a:xfrm>
          <a:prstGeom prst="roundRect">
            <a:avLst>
              <a:gd name="adj" fmla="val 8309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43" name="Text 38"/>
          <p:cNvSpPr txBox="1"/>
          <p:nvPr/>
        </p:nvSpPr>
        <p:spPr>
          <a:xfrm>
            <a:off x="2632556" y="3840743"/>
            <a:ext cx="470239" cy="36295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86</a:t>
            </a:r>
            <a:endParaRPr lang="en-US" sz="800" dirty="0"/>
          </a:p>
        </p:txBody>
      </p:sp>
      <p:sp>
        <p:nvSpPr>
          <p:cNvPr id="44" name="Shape 39"/>
          <p:cNvSpPr/>
          <p:nvPr/>
        </p:nvSpPr>
        <p:spPr>
          <a:xfrm>
            <a:off x="2632556" y="3671926"/>
            <a:ext cx="470239" cy="149767"/>
          </a:xfrm>
          <a:prstGeom prst="roundRect">
            <a:avLst>
              <a:gd name="adj" fmla="val 1908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45" name="Text 40"/>
          <p:cNvSpPr txBox="1"/>
          <p:nvPr/>
        </p:nvSpPr>
        <p:spPr>
          <a:xfrm>
            <a:off x="2632556" y="3671926"/>
            <a:ext cx="470239" cy="16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40</a:t>
            </a:r>
            <a:endParaRPr lang="en-US" sz="800" dirty="0"/>
          </a:p>
        </p:txBody>
      </p:sp>
      <p:sp>
        <p:nvSpPr>
          <p:cNvPr id="46" name="Shape 41"/>
          <p:cNvSpPr/>
          <p:nvPr/>
        </p:nvSpPr>
        <p:spPr>
          <a:xfrm>
            <a:off x="2632556" y="3652876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47" name="Shape 42"/>
          <p:cNvSpPr/>
          <p:nvPr/>
        </p:nvSpPr>
        <p:spPr>
          <a:xfrm>
            <a:off x="2632556" y="3633826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48" name="Text 43"/>
          <p:cNvSpPr txBox="1"/>
          <p:nvPr/>
        </p:nvSpPr>
        <p:spPr>
          <a:xfrm>
            <a:off x="2486676" y="3462376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295</a:t>
            </a:r>
            <a:endParaRPr lang="en-US" sz="860" dirty="0"/>
          </a:p>
        </p:txBody>
      </p:sp>
      <p:sp>
        <p:nvSpPr>
          <p:cNvPr id="49" name="Text 44"/>
          <p:cNvSpPr txBox="1"/>
          <p:nvPr/>
        </p:nvSpPr>
        <p:spPr>
          <a:xfrm>
            <a:off x="249797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Sep</a:t>
            </a:r>
            <a:endParaRPr lang="en-US" sz="830" dirty="0"/>
          </a:p>
        </p:txBody>
      </p:sp>
      <p:sp>
        <p:nvSpPr>
          <p:cNvPr id="50" name="Shape 45"/>
          <p:cNvSpPr/>
          <p:nvPr/>
        </p:nvSpPr>
        <p:spPr>
          <a:xfrm>
            <a:off x="3391006" y="4039103"/>
            <a:ext cx="470239" cy="856747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51" name="Text 46"/>
          <p:cNvSpPr txBox="1"/>
          <p:nvPr/>
        </p:nvSpPr>
        <p:spPr>
          <a:xfrm>
            <a:off x="3391006" y="4039103"/>
            <a:ext cx="470239" cy="85674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203</a:t>
            </a:r>
            <a:endParaRPr lang="en-US" sz="800" dirty="0"/>
          </a:p>
        </p:txBody>
      </p:sp>
      <p:sp>
        <p:nvSpPr>
          <p:cNvPr id="52" name="Shape 47"/>
          <p:cNvSpPr/>
          <p:nvPr/>
        </p:nvSpPr>
        <p:spPr>
          <a:xfrm>
            <a:off x="3391006" y="3642383"/>
            <a:ext cx="470239" cy="377670"/>
          </a:xfrm>
          <a:prstGeom prst="roundRect">
            <a:avLst>
              <a:gd name="adj" fmla="val 7566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53" name="Text 48"/>
          <p:cNvSpPr txBox="1"/>
          <p:nvPr/>
        </p:nvSpPr>
        <p:spPr>
          <a:xfrm>
            <a:off x="3391006" y="3642383"/>
            <a:ext cx="470239" cy="396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94</a:t>
            </a:r>
            <a:endParaRPr lang="en-US" sz="800" dirty="0"/>
          </a:p>
        </p:txBody>
      </p:sp>
      <p:sp>
        <p:nvSpPr>
          <p:cNvPr id="54" name="Shape 49"/>
          <p:cNvSpPr/>
          <p:nvPr/>
        </p:nvSpPr>
        <p:spPr>
          <a:xfrm>
            <a:off x="3391006" y="3401819"/>
            <a:ext cx="470239" cy="221514"/>
          </a:xfrm>
          <a:prstGeom prst="roundRect">
            <a:avLst>
              <a:gd name="adj" fmla="val 1290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55" name="Text 50"/>
          <p:cNvSpPr txBox="1"/>
          <p:nvPr/>
        </p:nvSpPr>
        <p:spPr>
          <a:xfrm>
            <a:off x="3391006" y="3401819"/>
            <a:ext cx="470239" cy="2405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57</a:t>
            </a:r>
            <a:endParaRPr lang="en-US" sz="800" dirty="0"/>
          </a:p>
        </p:txBody>
      </p:sp>
      <p:sp>
        <p:nvSpPr>
          <p:cNvPr id="56" name="Shape 51"/>
          <p:cNvSpPr/>
          <p:nvPr/>
        </p:nvSpPr>
        <p:spPr>
          <a:xfrm>
            <a:off x="3391006" y="3380717"/>
            <a:ext cx="470239" cy="14288"/>
          </a:xfrm>
          <a:prstGeom prst="rect">
            <a:avLst/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57" name="Shape 52"/>
          <p:cNvSpPr/>
          <p:nvPr/>
        </p:nvSpPr>
        <p:spPr>
          <a:xfrm>
            <a:off x="3391006" y="3361667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58" name="Text 53"/>
          <p:cNvSpPr txBox="1"/>
          <p:nvPr/>
        </p:nvSpPr>
        <p:spPr>
          <a:xfrm>
            <a:off x="3245126" y="3190217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361</a:t>
            </a:r>
            <a:endParaRPr lang="en-US" sz="860" dirty="0"/>
          </a:p>
        </p:txBody>
      </p:sp>
      <p:sp>
        <p:nvSpPr>
          <p:cNvPr id="59" name="Text 54"/>
          <p:cNvSpPr txBox="1"/>
          <p:nvPr/>
        </p:nvSpPr>
        <p:spPr>
          <a:xfrm>
            <a:off x="325642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14 Sep</a:t>
            </a:r>
            <a:endParaRPr lang="en-US" sz="830" dirty="0"/>
          </a:p>
        </p:txBody>
      </p:sp>
      <p:sp>
        <p:nvSpPr>
          <p:cNvPr id="60" name="Shape 55"/>
          <p:cNvSpPr/>
          <p:nvPr/>
        </p:nvSpPr>
        <p:spPr>
          <a:xfrm>
            <a:off x="4149457" y="3482007"/>
            <a:ext cx="470239" cy="141384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61" name="Text 56"/>
          <p:cNvSpPr txBox="1"/>
          <p:nvPr/>
        </p:nvSpPr>
        <p:spPr>
          <a:xfrm>
            <a:off x="4149457" y="3482007"/>
            <a:ext cx="470239" cy="14138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335</a:t>
            </a:r>
            <a:endParaRPr lang="en-US" sz="800" dirty="0"/>
          </a:p>
        </p:txBody>
      </p:sp>
      <p:sp>
        <p:nvSpPr>
          <p:cNvPr id="62" name="Shape 57"/>
          <p:cNvSpPr/>
          <p:nvPr/>
        </p:nvSpPr>
        <p:spPr>
          <a:xfrm>
            <a:off x="4149457" y="3081066"/>
            <a:ext cx="470239" cy="381891"/>
          </a:xfrm>
          <a:prstGeom prst="roundRect">
            <a:avLst>
              <a:gd name="adj" fmla="val 7483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63" name="Text 58"/>
          <p:cNvSpPr txBox="1"/>
          <p:nvPr/>
        </p:nvSpPr>
        <p:spPr>
          <a:xfrm>
            <a:off x="4149457" y="3081066"/>
            <a:ext cx="470239" cy="4009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95</a:t>
            </a:r>
            <a:endParaRPr lang="en-US" sz="800" dirty="0"/>
          </a:p>
        </p:txBody>
      </p:sp>
      <p:sp>
        <p:nvSpPr>
          <p:cNvPr id="64" name="Shape 59"/>
          <p:cNvSpPr/>
          <p:nvPr/>
        </p:nvSpPr>
        <p:spPr>
          <a:xfrm>
            <a:off x="4149457" y="2924911"/>
            <a:ext cx="470239" cy="137106"/>
          </a:xfrm>
          <a:prstGeom prst="roundRect">
            <a:avLst>
              <a:gd name="adj" fmla="val 20842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4149457" y="2924911"/>
            <a:ext cx="470239" cy="156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</a:t>
            </a:r>
            <a:endParaRPr lang="en-US" sz="800" dirty="0"/>
          </a:p>
        </p:txBody>
      </p:sp>
      <p:sp>
        <p:nvSpPr>
          <p:cNvPr id="66" name="Shape 61"/>
          <p:cNvSpPr/>
          <p:nvPr/>
        </p:nvSpPr>
        <p:spPr>
          <a:xfrm>
            <a:off x="4149457" y="2827841"/>
            <a:ext cx="470239" cy="78020"/>
          </a:xfrm>
          <a:prstGeom prst="roundRect">
            <a:avLst>
              <a:gd name="adj" fmla="val 36625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67" name="Shape 62"/>
          <p:cNvSpPr/>
          <p:nvPr/>
        </p:nvSpPr>
        <p:spPr>
          <a:xfrm>
            <a:off x="4149457" y="2808791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68" name="Text 63"/>
          <p:cNvSpPr txBox="1"/>
          <p:nvPr/>
        </p:nvSpPr>
        <p:spPr>
          <a:xfrm>
            <a:off x="4003576" y="263734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492</a:t>
            </a:r>
            <a:endParaRPr lang="en-US" sz="860" dirty="0"/>
          </a:p>
        </p:txBody>
      </p:sp>
      <p:sp>
        <p:nvSpPr>
          <p:cNvPr id="69" name="Text 64"/>
          <p:cNvSpPr txBox="1"/>
          <p:nvPr/>
        </p:nvSpPr>
        <p:spPr>
          <a:xfrm>
            <a:off x="4014876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 Sep</a:t>
            </a:r>
            <a:endParaRPr lang="en-US" sz="830" dirty="0"/>
          </a:p>
        </p:txBody>
      </p:sp>
      <p:sp>
        <p:nvSpPr>
          <p:cNvPr id="70" name="Shape 65"/>
          <p:cNvSpPr/>
          <p:nvPr/>
        </p:nvSpPr>
        <p:spPr>
          <a:xfrm>
            <a:off x="4907907" y="3574856"/>
            <a:ext cx="470239" cy="1320994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71" name="Text 66"/>
          <p:cNvSpPr txBox="1"/>
          <p:nvPr/>
        </p:nvSpPr>
        <p:spPr>
          <a:xfrm>
            <a:off x="4907907" y="3574856"/>
            <a:ext cx="470239" cy="13209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313</a:t>
            </a:r>
            <a:endParaRPr lang="en-US" sz="800" dirty="0"/>
          </a:p>
        </p:txBody>
      </p:sp>
      <p:sp>
        <p:nvSpPr>
          <p:cNvPr id="72" name="Shape 67"/>
          <p:cNvSpPr/>
          <p:nvPr/>
        </p:nvSpPr>
        <p:spPr>
          <a:xfrm>
            <a:off x="4907907" y="3148593"/>
            <a:ext cx="470239" cy="407213"/>
          </a:xfrm>
          <a:prstGeom prst="roundRect">
            <a:avLst>
              <a:gd name="adj" fmla="val 7017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73" name="Text 68"/>
          <p:cNvSpPr txBox="1"/>
          <p:nvPr/>
        </p:nvSpPr>
        <p:spPr>
          <a:xfrm>
            <a:off x="4907907" y="3148593"/>
            <a:ext cx="470239" cy="4262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101</a:t>
            </a:r>
            <a:endParaRPr lang="en-US" sz="800" dirty="0"/>
          </a:p>
        </p:txBody>
      </p:sp>
      <p:sp>
        <p:nvSpPr>
          <p:cNvPr id="74" name="Shape 69"/>
          <p:cNvSpPr/>
          <p:nvPr/>
        </p:nvSpPr>
        <p:spPr>
          <a:xfrm>
            <a:off x="4907907" y="3043083"/>
            <a:ext cx="470239" cy="86461"/>
          </a:xfrm>
          <a:prstGeom prst="roundRect">
            <a:avLst>
              <a:gd name="adj" fmla="val 3305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75" name="Shape 70"/>
          <p:cNvSpPr/>
          <p:nvPr/>
        </p:nvSpPr>
        <p:spPr>
          <a:xfrm>
            <a:off x="4907907" y="2908029"/>
            <a:ext cx="470239" cy="116004"/>
          </a:xfrm>
          <a:prstGeom prst="roundRect">
            <a:avLst>
              <a:gd name="adj" fmla="val 24633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76" name="Shape 71"/>
          <p:cNvSpPr/>
          <p:nvPr/>
        </p:nvSpPr>
        <p:spPr>
          <a:xfrm>
            <a:off x="4907907" y="2874266"/>
            <a:ext cx="470239" cy="14713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77" name="Text 72"/>
          <p:cNvSpPr txBox="1"/>
          <p:nvPr/>
        </p:nvSpPr>
        <p:spPr>
          <a:xfrm>
            <a:off x="4762027" y="2702816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479</a:t>
            </a:r>
            <a:endParaRPr lang="en-US" sz="860" dirty="0"/>
          </a:p>
        </p:txBody>
      </p:sp>
      <p:sp>
        <p:nvSpPr>
          <p:cNvPr id="78" name="Text 73"/>
          <p:cNvSpPr txBox="1"/>
          <p:nvPr/>
        </p:nvSpPr>
        <p:spPr>
          <a:xfrm>
            <a:off x="4773327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 Sep</a:t>
            </a:r>
            <a:endParaRPr lang="en-US" sz="830" dirty="0"/>
          </a:p>
        </p:txBody>
      </p:sp>
      <p:sp>
        <p:nvSpPr>
          <p:cNvPr id="79" name="Shape 74"/>
          <p:cNvSpPr/>
          <p:nvPr/>
        </p:nvSpPr>
        <p:spPr>
          <a:xfrm>
            <a:off x="5666357" y="3975797"/>
            <a:ext cx="470239" cy="920053"/>
          </a:xfrm>
          <a:prstGeom prst="roundRect">
            <a:avLst>
              <a:gd name="adj" fmla="val 6077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80" name="Text 75"/>
          <p:cNvSpPr txBox="1"/>
          <p:nvPr/>
        </p:nvSpPr>
        <p:spPr>
          <a:xfrm>
            <a:off x="5666357" y="3975797"/>
            <a:ext cx="470239" cy="9200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218</a:t>
            </a:r>
            <a:endParaRPr lang="en-US" sz="800" dirty="0"/>
          </a:p>
        </p:txBody>
      </p:sp>
      <p:sp>
        <p:nvSpPr>
          <p:cNvPr id="81" name="Shape 76"/>
          <p:cNvSpPr/>
          <p:nvPr/>
        </p:nvSpPr>
        <p:spPr>
          <a:xfrm>
            <a:off x="5666357" y="3507330"/>
            <a:ext cx="470239" cy="449417"/>
          </a:xfrm>
          <a:prstGeom prst="roundRect">
            <a:avLst>
              <a:gd name="adj" fmla="val 6358"/>
            </a:avLst>
          </a:prstGeom>
          <a:solidFill>
            <a:srgbClr val="2B7BB0"/>
          </a:solidFill>
          <a:ln w="12700">
            <a:solidFill>
              <a:srgbClr val="2B7BB0"/>
            </a:solidFill>
            <a:prstDash val="solid"/>
          </a:ln>
        </p:spPr>
      </p:sp>
      <p:sp>
        <p:nvSpPr>
          <p:cNvPr id="82" name="Text 77"/>
          <p:cNvSpPr txBox="1"/>
          <p:nvPr/>
        </p:nvSpPr>
        <p:spPr>
          <a:xfrm>
            <a:off x="5666357" y="3507330"/>
            <a:ext cx="470239" cy="4684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111</a:t>
            </a:r>
            <a:endParaRPr lang="en-US" sz="800" dirty="0"/>
          </a:p>
        </p:txBody>
      </p:sp>
      <p:sp>
        <p:nvSpPr>
          <p:cNvPr id="83" name="Shape 78"/>
          <p:cNvSpPr/>
          <p:nvPr/>
        </p:nvSpPr>
        <p:spPr>
          <a:xfrm>
            <a:off x="5666357" y="3439803"/>
            <a:ext cx="470239" cy="48477"/>
          </a:xfrm>
          <a:prstGeom prst="roundRect">
            <a:avLst>
              <a:gd name="adj" fmla="val 50000"/>
            </a:avLst>
          </a:prstGeom>
          <a:solidFill>
            <a:srgbClr val="7B4FB0"/>
          </a:solidFill>
          <a:ln w="12700">
            <a:solidFill>
              <a:srgbClr val="7B4FB0"/>
            </a:solidFill>
            <a:prstDash val="solid"/>
          </a:ln>
        </p:spPr>
      </p:sp>
      <p:sp>
        <p:nvSpPr>
          <p:cNvPr id="84" name="Shape 79"/>
          <p:cNvSpPr/>
          <p:nvPr/>
        </p:nvSpPr>
        <p:spPr>
          <a:xfrm>
            <a:off x="5666357" y="3325851"/>
            <a:ext cx="470239" cy="94902"/>
          </a:xfrm>
          <a:prstGeom prst="roundRect">
            <a:avLst>
              <a:gd name="adj" fmla="val 30110"/>
            </a:avLst>
          </a:prstGeom>
          <a:solidFill>
            <a:srgbClr val="D9A21B"/>
          </a:solidFill>
          <a:ln w="12700">
            <a:solidFill>
              <a:srgbClr val="D9A21B"/>
            </a:solidFill>
            <a:prstDash val="solid"/>
          </a:ln>
        </p:spPr>
      </p:sp>
      <p:sp>
        <p:nvSpPr>
          <p:cNvPr id="85" name="Shape 80"/>
          <p:cNvSpPr/>
          <p:nvPr/>
        </p:nvSpPr>
        <p:spPr>
          <a:xfrm>
            <a:off x="5666357" y="3306801"/>
            <a:ext cx="470239" cy="14288"/>
          </a:xfrm>
          <a:prstGeom prst="rect">
            <a:avLst/>
          </a:prstGeom>
          <a:solidFill>
            <a:srgbClr val="B85A28"/>
          </a:solidFill>
          <a:ln w="12700">
            <a:solidFill>
              <a:srgbClr val="B85A28"/>
            </a:solidFill>
            <a:prstDash val="solid"/>
          </a:ln>
        </p:spPr>
      </p:sp>
      <p:sp>
        <p:nvSpPr>
          <p:cNvPr id="86" name="Text 81"/>
          <p:cNvSpPr txBox="1"/>
          <p:nvPr/>
        </p:nvSpPr>
        <p:spPr>
          <a:xfrm>
            <a:off x="5520477" y="3135351"/>
            <a:ext cx="76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376</a:t>
            </a:r>
            <a:endParaRPr lang="en-US" sz="860" dirty="0"/>
          </a:p>
        </p:txBody>
      </p:sp>
      <p:sp>
        <p:nvSpPr>
          <p:cNvPr id="87" name="Text 82"/>
          <p:cNvSpPr txBox="1"/>
          <p:nvPr/>
        </p:nvSpPr>
        <p:spPr>
          <a:xfrm>
            <a:off x="5531777" y="4943475"/>
            <a:ext cx="739400" cy="1809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30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Oct</a:t>
            </a:r>
            <a:endParaRPr lang="en-US" sz="830" dirty="0"/>
          </a:p>
        </p:txBody>
      </p:sp>
      <p:sp>
        <p:nvSpPr>
          <p:cNvPr id="88" name="Shape 83"/>
          <p:cNvSpPr/>
          <p:nvPr/>
        </p:nvSpPr>
        <p:spPr>
          <a:xfrm>
            <a:off x="971550" y="4895850"/>
            <a:ext cx="5309152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89" name="Shape 84"/>
          <p:cNvSpPr/>
          <p:nvPr/>
        </p:nvSpPr>
        <p:spPr>
          <a:xfrm>
            <a:off x="6642652" y="1714500"/>
            <a:ext cx="4406348" cy="3543300"/>
          </a:xfrm>
          <a:prstGeom prst="roundRect">
            <a:avLst>
              <a:gd name="adj" fmla="val 309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5"/>
          <p:cNvSpPr txBox="1"/>
          <p:nvPr/>
        </p:nvSpPr>
        <p:spPr>
          <a:xfrm>
            <a:off x="6833152" y="1866900"/>
            <a:ext cx="4025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per day, last week vs the week before</a:t>
            </a:r>
            <a:endParaRPr lang="en-US" sz="1300" dirty="0"/>
          </a:p>
        </p:txBody>
      </p:sp>
      <p:sp>
        <p:nvSpPr>
          <p:cNvPr id="91" name="Text 86"/>
          <p:cNvSpPr txBox="1"/>
          <p:nvPr/>
        </p:nvSpPr>
        <p:spPr>
          <a:xfrm>
            <a:off x="6833152" y="2095500"/>
            <a:ext cx="40253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By join date</a:t>
            </a:r>
            <a:endParaRPr lang="en-US" sz="950" dirty="0"/>
          </a:p>
        </p:txBody>
      </p:sp>
      <p:sp>
        <p:nvSpPr>
          <p:cNvPr id="92" name="Shape 87"/>
          <p:cNvSpPr/>
          <p:nvPr/>
        </p:nvSpPr>
        <p:spPr>
          <a:xfrm>
            <a:off x="6852202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9AA592"/>
          </a:solidFill>
          <a:ln w="12700">
            <a:solidFill>
              <a:srgbClr val="9AA592"/>
            </a:solidFill>
            <a:prstDash val="solid"/>
          </a:ln>
        </p:spPr>
      </p:sp>
      <p:sp>
        <p:nvSpPr>
          <p:cNvPr id="93" name="Text 88"/>
          <p:cNvSpPr txBox="1"/>
          <p:nvPr/>
        </p:nvSpPr>
        <p:spPr>
          <a:xfrm>
            <a:off x="7004602" y="2381250"/>
            <a:ext cx="1360170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Week before (28 Sep)</a:t>
            </a:r>
            <a:endParaRPr lang="en-US" sz="860" dirty="0"/>
          </a:p>
        </p:txBody>
      </p:sp>
      <p:sp>
        <p:nvSpPr>
          <p:cNvPr id="94" name="Shape 89"/>
          <p:cNvSpPr/>
          <p:nvPr/>
        </p:nvSpPr>
        <p:spPr>
          <a:xfrm>
            <a:off x="8364772" y="2409825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E7B27"/>
          </a:solidFill>
          <a:ln w="12700">
            <a:solidFill>
              <a:srgbClr val="3E7B27"/>
            </a:solidFill>
            <a:prstDash val="solid"/>
          </a:ln>
        </p:spPr>
      </p:sp>
      <p:sp>
        <p:nvSpPr>
          <p:cNvPr id="95" name="Text 90"/>
          <p:cNvSpPr txBox="1"/>
          <p:nvPr/>
        </p:nvSpPr>
        <p:spPr>
          <a:xfrm>
            <a:off x="8517172" y="2381250"/>
            <a:ext cx="117614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6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Last week (5 Oct)</a:t>
            </a:r>
            <a:endParaRPr lang="en-US" sz="860" dirty="0"/>
          </a:p>
        </p:txBody>
      </p:sp>
      <p:sp>
        <p:nvSpPr>
          <p:cNvPr id="96" name="Shape 91"/>
          <p:cNvSpPr/>
          <p:nvPr/>
        </p:nvSpPr>
        <p:spPr>
          <a:xfrm>
            <a:off x="7233202" y="4914900"/>
            <a:ext cx="3491948" cy="0"/>
          </a:xfrm>
          <a:prstGeom prst="line">
            <a:avLst/>
          </a:prstGeom>
          <a:noFill/>
          <a:ln w="9525">
            <a:solidFill>
              <a:srgbClr val="B9C2B0"/>
            </a:solidFill>
            <a:prstDash val="solid"/>
          </a:ln>
        </p:spPr>
      </p:sp>
      <p:sp>
        <p:nvSpPr>
          <p:cNvPr id="97" name="Text 92"/>
          <p:cNvSpPr txBox="1"/>
          <p:nvPr/>
        </p:nvSpPr>
        <p:spPr>
          <a:xfrm>
            <a:off x="6852202" y="48387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</a:t>
            </a:r>
            <a:endParaRPr lang="en-US" sz="800" dirty="0"/>
          </a:p>
        </p:txBody>
      </p:sp>
      <p:sp>
        <p:nvSpPr>
          <p:cNvPr id="98" name="Shape 93"/>
          <p:cNvSpPr/>
          <p:nvPr/>
        </p:nvSpPr>
        <p:spPr>
          <a:xfrm>
            <a:off x="7233202" y="386715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99" name="Text 94"/>
          <p:cNvSpPr txBox="1"/>
          <p:nvPr/>
        </p:nvSpPr>
        <p:spPr>
          <a:xfrm>
            <a:off x="6852202" y="379095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55</a:t>
            </a:r>
            <a:endParaRPr lang="en-US" sz="800" dirty="0"/>
          </a:p>
        </p:txBody>
      </p:sp>
      <p:sp>
        <p:nvSpPr>
          <p:cNvPr id="100" name="Shape 95"/>
          <p:cNvSpPr/>
          <p:nvPr/>
        </p:nvSpPr>
        <p:spPr>
          <a:xfrm>
            <a:off x="7233202" y="2819400"/>
            <a:ext cx="3491948" cy="0"/>
          </a:xfrm>
          <a:prstGeom prst="line">
            <a:avLst/>
          </a:prstGeom>
          <a:noFill/>
          <a:ln w="9525">
            <a:solidFill>
              <a:srgbClr val="E3E8DE"/>
            </a:solidFill>
            <a:prstDash val="solid"/>
          </a:ln>
        </p:spPr>
      </p:sp>
      <p:sp>
        <p:nvSpPr>
          <p:cNvPr id="101" name="Text 96"/>
          <p:cNvSpPr txBox="1"/>
          <p:nvPr/>
        </p:nvSpPr>
        <p:spPr>
          <a:xfrm>
            <a:off x="6852202" y="2743200"/>
            <a:ext cx="3238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110</a:t>
            </a:r>
            <a:endParaRPr lang="en-US" sz="800" dirty="0"/>
          </a:p>
        </p:txBody>
      </p:sp>
      <p:sp>
        <p:nvSpPr>
          <p:cNvPr id="102" name="Shape 97"/>
          <p:cNvSpPr/>
          <p:nvPr/>
        </p:nvSpPr>
        <p:spPr>
          <a:xfrm>
            <a:off x="7309402" y="3486150"/>
            <a:ext cx="556591" cy="3048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3" name="Shape 98"/>
          <p:cNvSpPr/>
          <p:nvPr/>
        </p:nvSpPr>
        <p:spPr>
          <a:xfrm flipV="1">
            <a:off x="7865993" y="3429000"/>
            <a:ext cx="556591" cy="36195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4" name="Shape 99"/>
          <p:cNvSpPr/>
          <p:nvPr/>
        </p:nvSpPr>
        <p:spPr>
          <a:xfrm flipV="1">
            <a:off x="8422585" y="3105150"/>
            <a:ext cx="556591" cy="32385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5" name="Shape 100"/>
          <p:cNvSpPr/>
          <p:nvPr/>
        </p:nvSpPr>
        <p:spPr>
          <a:xfrm>
            <a:off x="8979176" y="3105150"/>
            <a:ext cx="556591" cy="66675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6" name="Shape 101"/>
          <p:cNvSpPr/>
          <p:nvPr/>
        </p:nvSpPr>
        <p:spPr>
          <a:xfrm flipV="1">
            <a:off x="9535767" y="3733800"/>
            <a:ext cx="556591" cy="381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7" name="Shape 102"/>
          <p:cNvSpPr/>
          <p:nvPr/>
        </p:nvSpPr>
        <p:spPr>
          <a:xfrm>
            <a:off x="10092359" y="3733800"/>
            <a:ext cx="556591" cy="228600"/>
          </a:xfrm>
          <a:prstGeom prst="line">
            <a:avLst/>
          </a:prstGeom>
          <a:noFill/>
          <a:ln w="23813">
            <a:solidFill>
              <a:srgbClr val="9AA592"/>
            </a:solidFill>
            <a:prstDash val="solid"/>
          </a:ln>
        </p:spPr>
      </p:sp>
      <p:sp>
        <p:nvSpPr>
          <p:cNvPr id="108" name="Shape 103"/>
          <p:cNvSpPr/>
          <p:nvPr/>
        </p:nvSpPr>
        <p:spPr>
          <a:xfrm>
            <a:off x="7266540" y="344328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09" name="Shape 104"/>
          <p:cNvSpPr/>
          <p:nvPr/>
        </p:nvSpPr>
        <p:spPr>
          <a:xfrm>
            <a:off x="7823131" y="3748087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0" name="Shape 105"/>
          <p:cNvSpPr/>
          <p:nvPr/>
        </p:nvSpPr>
        <p:spPr>
          <a:xfrm>
            <a:off x="8379722" y="338613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1" name="Shape 106"/>
          <p:cNvSpPr/>
          <p:nvPr/>
        </p:nvSpPr>
        <p:spPr>
          <a:xfrm>
            <a:off x="8936314" y="306228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2" name="Text 107"/>
          <p:cNvSpPr txBox="1"/>
          <p:nvPr/>
        </p:nvSpPr>
        <p:spPr>
          <a:xfrm>
            <a:off x="8550551" y="28765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95</a:t>
            </a:r>
            <a:endParaRPr lang="en-US" sz="860" dirty="0"/>
          </a:p>
        </p:txBody>
      </p:sp>
      <p:sp>
        <p:nvSpPr>
          <p:cNvPr id="113" name="Shape 108"/>
          <p:cNvSpPr/>
          <p:nvPr/>
        </p:nvSpPr>
        <p:spPr>
          <a:xfrm>
            <a:off x="9492905" y="3729038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4" name="Shape 109"/>
          <p:cNvSpPr/>
          <p:nvPr/>
        </p:nvSpPr>
        <p:spPr>
          <a:xfrm>
            <a:off x="10049496" y="3690937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5" name="Shape 110"/>
          <p:cNvSpPr/>
          <p:nvPr/>
        </p:nvSpPr>
        <p:spPr>
          <a:xfrm>
            <a:off x="10606088" y="3919537"/>
            <a:ext cx="85725" cy="85725"/>
          </a:xfrm>
          <a:prstGeom prst="ellipse">
            <a:avLst/>
          </a:prstGeom>
          <a:solidFill>
            <a:srgbClr val="9AA59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16" name="Shape 111"/>
          <p:cNvSpPr/>
          <p:nvPr/>
        </p:nvSpPr>
        <p:spPr>
          <a:xfrm flipV="1">
            <a:off x="7309402" y="3676650"/>
            <a:ext cx="556591" cy="4762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7" name="Shape 112"/>
          <p:cNvSpPr/>
          <p:nvPr/>
        </p:nvSpPr>
        <p:spPr>
          <a:xfrm>
            <a:off x="7865993" y="3676650"/>
            <a:ext cx="556591" cy="571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8" name="Shape 113"/>
          <p:cNvSpPr/>
          <p:nvPr/>
        </p:nvSpPr>
        <p:spPr>
          <a:xfrm flipV="1">
            <a:off x="8422585" y="3638550"/>
            <a:ext cx="556591" cy="952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19" name="Shape 114"/>
          <p:cNvSpPr/>
          <p:nvPr/>
        </p:nvSpPr>
        <p:spPr>
          <a:xfrm>
            <a:off x="8979176" y="3638550"/>
            <a:ext cx="556591" cy="2857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0" name="Shape 115"/>
          <p:cNvSpPr/>
          <p:nvPr/>
        </p:nvSpPr>
        <p:spPr>
          <a:xfrm flipV="1">
            <a:off x="9535767" y="3829050"/>
            <a:ext cx="556591" cy="9525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1" name="Shape 116"/>
          <p:cNvSpPr/>
          <p:nvPr/>
        </p:nvSpPr>
        <p:spPr>
          <a:xfrm>
            <a:off x="10092359" y="3829050"/>
            <a:ext cx="556591" cy="457200"/>
          </a:xfrm>
          <a:prstGeom prst="line">
            <a:avLst/>
          </a:prstGeom>
          <a:noFill/>
          <a:ln w="23813">
            <a:solidFill>
              <a:srgbClr val="3E7B27"/>
            </a:solidFill>
            <a:prstDash val="solid"/>
          </a:ln>
        </p:spPr>
      </p:sp>
      <p:sp>
        <p:nvSpPr>
          <p:cNvPr id="122" name="Shape 117"/>
          <p:cNvSpPr/>
          <p:nvPr/>
        </p:nvSpPr>
        <p:spPr>
          <a:xfrm>
            <a:off x="7266540" y="41100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3" name="Text 118"/>
          <p:cNvSpPr txBox="1"/>
          <p:nvPr/>
        </p:nvSpPr>
        <p:spPr>
          <a:xfrm>
            <a:off x="6880777" y="39243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40</a:t>
            </a:r>
            <a:endParaRPr lang="en-US" sz="860" dirty="0"/>
          </a:p>
        </p:txBody>
      </p:sp>
      <p:sp>
        <p:nvSpPr>
          <p:cNvPr id="124" name="Shape 119"/>
          <p:cNvSpPr/>
          <p:nvPr/>
        </p:nvSpPr>
        <p:spPr>
          <a:xfrm>
            <a:off x="7823131" y="36337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5" name="Text 120"/>
          <p:cNvSpPr txBox="1"/>
          <p:nvPr/>
        </p:nvSpPr>
        <p:spPr>
          <a:xfrm>
            <a:off x="7437368" y="34480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65</a:t>
            </a:r>
            <a:endParaRPr lang="en-US" sz="860" dirty="0"/>
          </a:p>
        </p:txBody>
      </p:sp>
      <p:sp>
        <p:nvSpPr>
          <p:cNvPr id="126" name="Shape 121"/>
          <p:cNvSpPr/>
          <p:nvPr/>
        </p:nvSpPr>
        <p:spPr>
          <a:xfrm>
            <a:off x="8379722" y="3690937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7" name="Text 122"/>
          <p:cNvSpPr txBox="1"/>
          <p:nvPr/>
        </p:nvSpPr>
        <p:spPr>
          <a:xfrm>
            <a:off x="7993960" y="35052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62</a:t>
            </a:r>
            <a:endParaRPr lang="en-US" sz="860" dirty="0"/>
          </a:p>
        </p:txBody>
      </p:sp>
      <p:sp>
        <p:nvSpPr>
          <p:cNvPr id="128" name="Shape 123"/>
          <p:cNvSpPr/>
          <p:nvPr/>
        </p:nvSpPr>
        <p:spPr>
          <a:xfrm>
            <a:off x="8936314" y="35956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9" name="Text 124"/>
          <p:cNvSpPr txBox="1"/>
          <p:nvPr/>
        </p:nvSpPr>
        <p:spPr>
          <a:xfrm>
            <a:off x="8550551" y="34099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67</a:t>
            </a:r>
            <a:endParaRPr lang="en-US" sz="860" dirty="0"/>
          </a:p>
        </p:txBody>
      </p:sp>
      <p:sp>
        <p:nvSpPr>
          <p:cNvPr id="130" name="Shape 125"/>
          <p:cNvSpPr/>
          <p:nvPr/>
        </p:nvSpPr>
        <p:spPr>
          <a:xfrm>
            <a:off x="9492905" y="388143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1" name="Text 126"/>
          <p:cNvSpPr txBox="1"/>
          <p:nvPr/>
        </p:nvSpPr>
        <p:spPr>
          <a:xfrm>
            <a:off x="9107142" y="369570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52</a:t>
            </a:r>
            <a:endParaRPr lang="en-US" sz="860" dirty="0"/>
          </a:p>
        </p:txBody>
      </p:sp>
      <p:sp>
        <p:nvSpPr>
          <p:cNvPr id="132" name="Shape 127"/>
          <p:cNvSpPr/>
          <p:nvPr/>
        </p:nvSpPr>
        <p:spPr>
          <a:xfrm>
            <a:off x="10049496" y="37861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3" name="Text 128"/>
          <p:cNvSpPr txBox="1"/>
          <p:nvPr/>
        </p:nvSpPr>
        <p:spPr>
          <a:xfrm>
            <a:off x="9663734" y="36004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57</a:t>
            </a:r>
            <a:endParaRPr lang="en-US" sz="860" dirty="0"/>
          </a:p>
        </p:txBody>
      </p:sp>
      <p:sp>
        <p:nvSpPr>
          <p:cNvPr id="134" name="Shape 129"/>
          <p:cNvSpPr/>
          <p:nvPr/>
        </p:nvSpPr>
        <p:spPr>
          <a:xfrm>
            <a:off x="10606088" y="4243388"/>
            <a:ext cx="85725" cy="85725"/>
          </a:xfrm>
          <a:prstGeom prst="ellipse">
            <a:avLst/>
          </a:prstGeom>
          <a:solidFill>
            <a:srgbClr val="3E7B2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5" name="Text 130"/>
          <p:cNvSpPr txBox="1"/>
          <p:nvPr/>
        </p:nvSpPr>
        <p:spPr>
          <a:xfrm>
            <a:off x="10220325" y="4057650"/>
            <a:ext cx="857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60" b="1" dirty="0">
                <a:solidFill>
                  <a:srgbClr val="2B2F2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33</a:t>
            </a:r>
            <a:endParaRPr lang="en-US" sz="860" dirty="0"/>
          </a:p>
        </p:txBody>
      </p:sp>
      <p:sp>
        <p:nvSpPr>
          <p:cNvPr id="136" name="Text 131"/>
          <p:cNvSpPr txBox="1"/>
          <p:nvPr/>
        </p:nvSpPr>
        <p:spPr>
          <a:xfrm>
            <a:off x="6928402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Mon</a:t>
            </a:r>
            <a:endParaRPr lang="en-US" sz="800" dirty="0"/>
          </a:p>
        </p:txBody>
      </p:sp>
      <p:sp>
        <p:nvSpPr>
          <p:cNvPr id="137" name="Text 132"/>
          <p:cNvSpPr txBox="1"/>
          <p:nvPr/>
        </p:nvSpPr>
        <p:spPr>
          <a:xfrm>
            <a:off x="7484993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Tue</a:t>
            </a:r>
            <a:endParaRPr lang="en-US" sz="800" dirty="0"/>
          </a:p>
        </p:txBody>
      </p:sp>
      <p:sp>
        <p:nvSpPr>
          <p:cNvPr id="138" name="Text 133"/>
          <p:cNvSpPr txBox="1"/>
          <p:nvPr/>
        </p:nvSpPr>
        <p:spPr>
          <a:xfrm>
            <a:off x="8041585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Wed</a:t>
            </a:r>
            <a:endParaRPr lang="en-US" sz="800" dirty="0"/>
          </a:p>
        </p:txBody>
      </p:sp>
      <p:sp>
        <p:nvSpPr>
          <p:cNvPr id="139" name="Text 134"/>
          <p:cNvSpPr txBox="1"/>
          <p:nvPr/>
        </p:nvSpPr>
        <p:spPr>
          <a:xfrm>
            <a:off x="8598176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Thu</a:t>
            </a:r>
            <a:endParaRPr lang="en-US" sz="800" dirty="0"/>
          </a:p>
        </p:txBody>
      </p:sp>
      <p:sp>
        <p:nvSpPr>
          <p:cNvPr id="140" name="Text 135"/>
          <p:cNvSpPr txBox="1"/>
          <p:nvPr/>
        </p:nvSpPr>
        <p:spPr>
          <a:xfrm>
            <a:off x="9154767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Fri</a:t>
            </a:r>
            <a:endParaRPr lang="en-US" sz="800" dirty="0"/>
          </a:p>
        </p:txBody>
      </p:sp>
      <p:sp>
        <p:nvSpPr>
          <p:cNvPr id="141" name="Text 136"/>
          <p:cNvSpPr txBox="1"/>
          <p:nvPr/>
        </p:nvSpPr>
        <p:spPr>
          <a:xfrm>
            <a:off x="9711359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Sat</a:t>
            </a:r>
            <a:endParaRPr lang="en-US" sz="800" dirty="0"/>
          </a:p>
        </p:txBody>
      </p:sp>
      <p:sp>
        <p:nvSpPr>
          <p:cNvPr id="142" name="Text 137"/>
          <p:cNvSpPr txBox="1"/>
          <p:nvPr/>
        </p:nvSpPr>
        <p:spPr>
          <a:xfrm>
            <a:off x="10267950" y="4962525"/>
            <a:ext cx="762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8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Sun</a:t>
            </a:r>
            <a:endParaRPr lang="en-US" sz="800" dirty="0"/>
          </a:p>
        </p:txBody>
      </p:sp>
      <p:sp>
        <p:nvSpPr>
          <p:cNvPr id="143" name="Shape 138"/>
          <p:cNvSpPr/>
          <p:nvPr/>
        </p:nvSpPr>
        <p:spPr>
          <a:xfrm>
            <a:off x="762000" y="5391150"/>
            <a:ext cx="10287000" cy="723900"/>
          </a:xfrm>
          <a:prstGeom prst="roundRect">
            <a:avLst>
              <a:gd name="adj" fmla="val 15158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144" name="Text 139"/>
          <p:cNvSpPr txBox="1"/>
          <p:nvPr/>
        </p:nvSpPr>
        <p:spPr>
          <a:xfrm>
            <a:off x="933450" y="5476875"/>
            <a:ext cx="99441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week before had a mid-week spike: 95 farmers on Thu, against a high of 67 on any day last week. Last week's days were flatter (33–67 a day).</a:t>
            </a:r>
            <a:endParaRPr lang="en-US" sz="10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Days: the file's weeks run from Monday morning to the next Monday morning; registrations before the cut on the next Monday are counted as Monday, so each day is a full 24 hours.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· CHANNELS IN DETAIL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of 5 channels fell last week; 28% of new farmers have no phone number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53086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52500" y="1866900"/>
            <a:ext cx="492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channel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952500" y="2095500"/>
            <a:ext cx="492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Acquisition channel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5003800" cy="914400"/>
        </p:xfrm>
        <a:graphic>
          <a:graphicData uri="http://schemas.openxmlformats.org/drawingml/2006/table">
            <a:tbl>
              <a:tblPr/>
              <a:tblGrid>
                <a:gridCol w="1531776"/>
                <a:gridCol w="714829"/>
                <a:gridCol w="714829"/>
                <a:gridCol w="663769"/>
                <a:gridCol w="663769"/>
                <a:gridCol w="71482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Channel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28 Sep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 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4-week avg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218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−95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−30%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254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GADN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101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+10%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Meta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−36%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Identified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−16%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Duta (under Duta)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−50%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Total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376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−103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−22%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407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9"/>
          <p:cNvSpPr txBox="1"/>
          <p:nvPr/>
        </p:nvSpPr>
        <p:spPr>
          <a:xfrm>
            <a:off x="952500" y="5038725"/>
            <a:ext cx="492760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4-week avg = the 4 weeks before last week (7 Sep, 14 Sep, 21 Sep, 28 Sep).</a:t>
            </a:r>
            <a:endParaRPr lang="en-US" sz="1000" dirty="0"/>
          </a:p>
        </p:txBody>
      </p:sp>
      <p:sp>
        <p:nvSpPr>
          <p:cNvPr id="16" name="Shape 10"/>
          <p:cNvSpPr/>
          <p:nvPr/>
        </p:nvSpPr>
        <p:spPr>
          <a:xfrm>
            <a:off x="6223000" y="1714500"/>
            <a:ext cx="4826000" cy="3714750"/>
          </a:xfrm>
          <a:prstGeom prst="roundRect">
            <a:avLst>
              <a:gd name="adj" fmla="val 295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413500" y="1866900"/>
            <a:ext cx="4445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Non-Duta farmers by campaign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6413500" y="20955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Largest last week first</a:t>
            </a:r>
            <a:endParaRPr lang="en-US" sz="9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75400" y="2381250"/>
          <a:ext cx="4521200" cy="914400"/>
        </p:xfrm>
        <a:graphic>
          <a:graphicData uri="http://schemas.openxmlformats.org/drawingml/2006/table">
            <a:tbl>
              <a:tblPr/>
              <a:tblGrid>
                <a:gridCol w="2079752"/>
                <a:gridCol w="813816"/>
                <a:gridCol w="813816"/>
                <a:gridCol w="8138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Campaign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28 Sep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Week of 5 Oct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Change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65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 Purchase Campaign - 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−38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App-Register-Campaign-DG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+36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direct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51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48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organic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111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−64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No campaign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App-Purchase-DG-Kalimantan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45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31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fb4a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15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−12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broadcast 500k farmer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0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274E13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+9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Other 8 campaigns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27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14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2B2F28"/>
                          </a:solidFill>
                          <a:latin typeface="Plus Jakarta Sans" pitchFamily="34" charset="0"/>
                          <a:ea typeface="Plus Jakarta Sans" pitchFamily="34" charset="-122"/>
                          <a:cs typeface="Plus Jakarta Sans" pitchFamily="34" charset="-120"/>
                        </a:rPr>
                        <a:t>−13</a:t>
                      </a:r>
                      <a:endParaRPr lang="en-US" sz="900" dirty="0">
                        <a:latin typeface="Plus Jakarta Sans" charset="0"/>
                        <a:ea typeface="Plus Jakarta Sans" charset="0"/>
                        <a:cs typeface="Plus Jakarta Sans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2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0" name="Shape 13"/>
          <p:cNvSpPr/>
          <p:nvPr/>
        </p:nvSpPr>
        <p:spPr>
          <a:xfrm>
            <a:off x="762000" y="5562600"/>
            <a:ext cx="10287000" cy="552450"/>
          </a:xfrm>
          <a:prstGeom prst="roundRect">
            <a:avLst>
              <a:gd name="adj" fmla="val 19862"/>
            </a:avLst>
          </a:prstGeom>
          <a:solidFill>
            <a:srgbClr val="FBEFC4"/>
          </a:solidFill>
          <a:ln w="12700">
            <a:solidFill>
              <a:srgbClr val="FBEFC4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933450" y="5648325"/>
            <a:ext cx="9944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spcAft>
                <a:spcPts val="300"/>
              </a:spcAft>
              <a:buNone/>
            </a:pPr>
            <a:r>
              <a:rPr lang="en-US" sz="1000" dirty="0">
                <a:solidFill>
                  <a:srgbClr val="5A46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Phone numbers: 107 of 376 farmers last week (28%) and 124 of 479 the week before registered without a phone number, so sales and Dutas cannot follow them up.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1950" y="361950"/>
            <a:ext cx="11468100" cy="61341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1950" y="6238875"/>
            <a:ext cx="10991850" cy="123825"/>
          </a:xfrm>
          <a:prstGeom prst="rect">
            <a:avLst/>
          </a:prstGeom>
          <a:solidFill>
            <a:srgbClr val="F5D347"/>
          </a:solidFill>
          <a:ln w="12700">
            <a:solidFill>
              <a:srgbClr val="F5D347"/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15700" y="5772150"/>
            <a:ext cx="800100" cy="83820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0" y="285750"/>
            <a:ext cx="895350" cy="89535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381000" y="6572250"/>
            <a:ext cx="542925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Farmers by registration week · last week vs the week before · data to 14 Oct 2026</a:t>
            </a:r>
            <a:endParaRPr lang="en-US" sz="900" dirty="0"/>
          </a:p>
        </p:txBody>
      </p:sp>
      <p:sp>
        <p:nvSpPr>
          <p:cNvPr id="7" name="Text 2"/>
          <p:cNvSpPr txBox="1"/>
          <p:nvPr/>
        </p:nvSpPr>
        <p:spPr>
          <a:xfrm>
            <a:off x="5905500" y="657225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6667500" y="6572250"/>
            <a:ext cx="51435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7A837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Do not use or distribute without permission from SawitPRO</a:t>
            </a:r>
            <a:endParaRPr lang="en-US" sz="900" dirty="0"/>
          </a:p>
        </p:txBody>
      </p:sp>
      <p:sp>
        <p:nvSpPr>
          <p:cNvPr id="9" name="Text 4"/>
          <p:cNvSpPr txBox="1"/>
          <p:nvPr/>
        </p:nvSpPr>
        <p:spPr>
          <a:xfrm>
            <a:off x="781050" y="609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10" name="Text 5"/>
          <p:cNvSpPr txBox="1"/>
          <p:nvPr/>
        </p:nvSpPr>
        <p:spPr>
          <a:xfrm>
            <a:off x="762000" y="838200"/>
            <a:ext cx="990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4A653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draft actions to grow farmer acquisition; owners and dates to be agreed</a:t>
            </a:r>
            <a:endParaRPr lang="en-US" sz="2300" dirty="0"/>
          </a:p>
        </p:txBody>
      </p:sp>
      <p:sp>
        <p:nvSpPr>
          <p:cNvPr id="11" name="Shape 6"/>
          <p:cNvSpPr/>
          <p:nvPr/>
        </p:nvSpPr>
        <p:spPr>
          <a:xfrm>
            <a:off x="76200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93345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1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Find out why Organic fell −95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93345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Organic went 313 → 218, mostly “organic” (111 → 47). Check what drove the 28 Sep peak (a broadcast, a post, an app release) and repeat it.</a:t>
            </a:r>
            <a:endParaRPr lang="en-US" sz="950" dirty="0"/>
          </a:p>
        </p:txBody>
      </p:sp>
      <p:sp>
        <p:nvSpPr>
          <p:cNvPr id="14" name="Text 9"/>
          <p:cNvSpPr txBox="1"/>
          <p:nvPr/>
        </p:nvSpPr>
        <p:spPr>
          <a:xfrm>
            <a:off x="93345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423545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40690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Set a weekly farmer target per Duta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40690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Dutas brought 4 farmers last week (8 the week before). Edi Sutarsan, Hendrik Budianto, Simon, Wahab, Meri registered none last week. Agree a weekly number per Duta and track it in this deck.</a:t>
            </a:r>
            <a:endParaRPr lang="en-US" sz="950" dirty="0"/>
          </a:p>
        </p:txBody>
      </p:sp>
      <p:sp>
        <p:nvSpPr>
          <p:cNvPr id="18" name="Text 13"/>
          <p:cNvSpPr txBox="1"/>
          <p:nvPr/>
        </p:nvSpPr>
        <p:spPr>
          <a:xfrm>
            <a:off x="440690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7708900" y="1714500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7880350" y="1847850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3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Grow the external Duta network</a:t>
            </a:r>
            <a:endParaRPr lang="en-US" sz="1200" dirty="0"/>
          </a:p>
        </p:txBody>
      </p:sp>
      <p:sp>
        <p:nvSpPr>
          <p:cNvPr id="21" name="Text 16"/>
          <p:cNvSpPr txBox="1"/>
          <p:nvPr/>
        </p:nvSpPr>
        <p:spPr>
          <a:xfrm>
            <a:off x="7880350" y="2247900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7 of the 8 Dutas with farmers are internal team; external Dutas brought 1 farmer in 7 weeks (Meri). Recruit and activate external Dutas in the main areas.</a:t>
            </a:r>
            <a:endParaRPr lang="en-US" sz="950" dirty="0"/>
          </a:p>
        </p:txBody>
      </p:sp>
      <p:sp>
        <p:nvSpPr>
          <p:cNvPr id="22" name="Text 17"/>
          <p:cNvSpPr txBox="1"/>
          <p:nvPr/>
        </p:nvSpPr>
        <p:spPr>
          <a:xfrm>
            <a:off x="7880350" y="3200400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3" name="Shape 18"/>
          <p:cNvSpPr/>
          <p:nvPr/>
        </p:nvSpPr>
        <p:spPr>
          <a:xfrm>
            <a:off x="762000" y="3667125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33450" y="380047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4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Keep funding “App-Register-Campaign-DG”</a:t>
            </a:r>
            <a:endParaRPr lang="en-US" sz="1200" dirty="0"/>
          </a:p>
        </p:txBody>
      </p:sp>
      <p:sp>
        <p:nvSpPr>
          <p:cNvPr id="25" name="Text 20"/>
          <p:cNvSpPr txBox="1"/>
          <p:nvPr/>
        </p:nvSpPr>
        <p:spPr>
          <a:xfrm>
            <a:off x="933450" y="420052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It added +36 farmers (19 → 55). Compare its cost per farmer with the other campaigns before shifting budget.</a:t>
            </a:r>
            <a:endParaRPr lang="en-US" sz="950" dirty="0"/>
          </a:p>
        </p:txBody>
      </p:sp>
      <p:sp>
        <p:nvSpPr>
          <p:cNvPr id="26" name="Text 21"/>
          <p:cNvSpPr txBox="1"/>
          <p:nvPr/>
        </p:nvSpPr>
        <p:spPr>
          <a:xfrm>
            <a:off x="933450" y="515302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  <p:sp>
        <p:nvSpPr>
          <p:cNvPr id="27" name="Shape 22"/>
          <p:cNvSpPr/>
          <p:nvPr/>
        </p:nvSpPr>
        <p:spPr>
          <a:xfrm>
            <a:off x="4235450" y="3667125"/>
            <a:ext cx="3340100" cy="1809750"/>
          </a:xfrm>
          <a:prstGeom prst="roundRect">
            <a:avLst>
              <a:gd name="adj" fmla="val 606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406900" y="3800475"/>
            <a:ext cx="2997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D9A21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  </a:t>
            </a:r>
            <a:pPr indent="0" marL="0">
              <a:buNone/>
            </a:pPr>
            <a:r>
              <a:rPr lang="en-US" sz="12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[DRAFT] Make the phone number required at registration</a:t>
            </a:r>
            <a:endParaRPr lang="en-US" sz="1200" dirty="0"/>
          </a:p>
        </p:txBody>
      </p:sp>
      <p:sp>
        <p:nvSpPr>
          <p:cNvPr id="29" name="Text 24"/>
          <p:cNvSpPr txBox="1"/>
          <p:nvPr/>
        </p:nvSpPr>
        <p:spPr>
          <a:xfrm>
            <a:off x="4406900" y="4200525"/>
            <a:ext cx="29972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53535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28% of last week's farmers (107) have no phone number, so they cannot be followed up by sales or a Duta.</a:t>
            </a:r>
            <a:endParaRPr lang="en-US" sz="950" dirty="0"/>
          </a:p>
        </p:txBody>
      </p:sp>
      <p:sp>
        <p:nvSpPr>
          <p:cNvPr id="30" name="Text 25"/>
          <p:cNvSpPr txBox="1"/>
          <p:nvPr/>
        </p:nvSpPr>
        <p:spPr>
          <a:xfrm>
            <a:off x="4406900" y="5153025"/>
            <a:ext cx="299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74E13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Owner: [to be agreed]</a:t>
            </a:r>
            <a:pPr indent="0" marL="0">
              <a:buNone/>
            </a:pPr>
            <a:r>
              <a:rPr lang="en-US" sz="900" b="1" dirty="0">
                <a:solidFill>
                  <a:srgbClr val="9A6F00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  ·  [date to be agreed]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35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590550"/>
            <a:ext cx="2352675" cy="771525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0350" y="457200"/>
            <a:ext cx="1143000" cy="11430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0" y="276225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7" name="Text 2"/>
          <p:cNvSpPr txBox="1"/>
          <p:nvPr/>
        </p:nvSpPr>
        <p:spPr>
          <a:xfrm>
            <a:off x="0" y="381000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D347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#TerusTumbuh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SawitPRO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Duta vs Non-Duta, 5–11 Oct</dc:title>
  <dc:subject>PptxGenJS Presentation</dc:subject>
  <dc:creator>PptxGenJS</dc:creator>
  <cp:lastModifiedBy>PptxGenJS</cp:lastModifiedBy>
  <cp:revision>1</cp:revision>
  <dcterms:created xsi:type="dcterms:W3CDTF">2026-10-18T13:17:07Z</dcterms:created>
  <dcterms:modified xsi:type="dcterms:W3CDTF">2026-10-18T13:17:07Z</dcterms:modified>
</cp:coreProperties>
</file>