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43450" y="3448050"/>
            <a:ext cx="7448550" cy="2447925"/>
          </a:xfrm>
          <a:prstGeom prst="rect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533775" y="3448050"/>
            <a:ext cx="2447925" cy="2447925"/>
          </a:xfrm>
          <a:prstGeom prst="ellipse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3609975"/>
            <a:ext cx="2114550" cy="21145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10300" y="3619500"/>
            <a:ext cx="561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Acquisition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6210300" y="4095750"/>
            <a:ext cx="56197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 vs Non-Duta Last Week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6210300" y="60007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of 5–11 Oct 2026 · vs 28 Sep – 4 Oct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376 farmers joined last week, −103 (−22%): 4 through Dutas (−4) and 372 without (−99)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376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4ECD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5–11 Oct, −103 (−22%) on 28 Sep – 4 Oct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3718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5242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372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35242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non-Duta: −99 (−21%) on the week before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9817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341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1341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 a Duta: −4 (−50%) on the week before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915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439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pPr indent="0" marL="0">
              <a:buNone/>
            </a:pPr>
            <a:r>
              <a:rPr lang="en-US" sz="14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/8</a:t>
            </a: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87439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registered a farmer last week (Rudi, Satria K, Sazali Wandana)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62000" y="3009900"/>
            <a:ext cx="6191250" cy="310515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2500" y="3181350"/>
            <a:ext cx="58293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drove the drop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fell from 313 to 218 (−95), 92% of the 103 fewer farmers. The “organic” campaign alone went 111 → 47.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halved, from a small base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→ 4 farmers (1.1% of all). 3 of 8 Dutas registered a farmer last week; Rudi leads with 9 in 7 weeks. 7 of the 8 are internal team, external Dutas brought 1.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Paid channels held up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GADN 101 → 111; “App-Register-Campaign-DG” added +36 farmers.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week before was a peak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479 farmers with 95 on one day; last week is −8% on the 4-week average of 407, still +129% on the week of 24 Aug.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143750" y="3009900"/>
            <a:ext cx="3905250" cy="3105150"/>
          </a:xfrm>
          <a:prstGeom prst="roundRect">
            <a:avLst>
              <a:gd name="adj" fmla="val 3534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72350" y="3219450"/>
            <a:ext cx="3448050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950" b="1" spc="200" kern="0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LINE</a:t>
            </a:r>
            <a:endParaRPr lang="en-US" sz="9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 channels bring 99% of farmers. Win back organic registrations, and get every Duta registering farmers each week.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D8E3C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counted by the week they registered. The week of 12 Oct is in progress and left out. Duta covers internal-team and external Dutas alike.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DUTA VS NON-DUTA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4 farmers last week (−4), 1.1% of 376; non-Duta 372 (−99)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 vs non-Duta, last week vs the week before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 – 4 Oct vs 5–11 Oct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631674"/>
                <a:gridCol w="707059"/>
                <a:gridCol w="707059"/>
                <a:gridCol w="652670"/>
                <a:gridCol w="598280"/>
                <a:gridCol w="7070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28 Sep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Share last week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−50%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Internal-team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−50%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External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−99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98.9%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−22%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223000" y="1714500"/>
            <a:ext cx="4826000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Duta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first; 7 weeks = 24 Aug – 5 Oct</a:t>
            </a:r>
            <a:endParaRPr lang="en-US" sz="9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1446784"/>
                <a:gridCol w="1085088"/>
                <a:gridCol w="678180"/>
                <a:gridCol w="678180"/>
                <a:gridCol w="6329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Type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28 Sep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 weeks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Rudi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Satria 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Sazali Wandana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Edi Sutarsan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Hendrik Budianto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Simon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Wahab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Meri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762000" y="5391150"/>
            <a:ext cx="10287000" cy="723900"/>
          </a:xfrm>
          <a:prstGeom prst="roundRect">
            <a:avLst>
              <a:gd name="adj" fmla="val 15158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33450" y="5476875"/>
            <a:ext cx="9944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Dutas: 4 farmers last week came through 3 Dutas (Rudi 2, Satria K 1, Sazali Wandana 1), all from internal-team Dutas. 7 of the 8 Dutas with farmers in 7 weeks are internal team; external Dutas brought 1.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left out: the week of 12 Oct (227 farmers to 14 Oct) is still in progress, so last week is 5–11 Oct.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WHAT MOVED THE TOTAL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explains 92% of the drop (−95); GADN +10 grew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 week before to last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registered, by acquisition channel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104356" y="2590800"/>
            <a:ext cx="398417" cy="2362200"/>
          </a:xfrm>
          <a:prstGeom prst="roundRect">
            <a:avLst>
              <a:gd name="adj" fmla="val 7172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7314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479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502773" y="2590800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981075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18" name="Shape 13"/>
          <p:cNvSpPr/>
          <p:nvPr/>
        </p:nvSpPr>
        <p:spPr>
          <a:xfrm>
            <a:off x="1768384" y="2590800"/>
            <a:ext cx="398417" cy="468495"/>
          </a:xfrm>
          <a:prstGeom prst="roundRect">
            <a:avLst>
              <a:gd name="adj" fmla="val 7172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491343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−95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2166801" y="3059295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1645104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30" dirty="0"/>
          </a:p>
        </p:txBody>
      </p:sp>
      <p:sp>
        <p:nvSpPr>
          <p:cNvPr id="22" name="Shape 17"/>
          <p:cNvSpPr/>
          <p:nvPr/>
        </p:nvSpPr>
        <p:spPr>
          <a:xfrm>
            <a:off x="2432413" y="3059295"/>
            <a:ext cx="398417" cy="44384"/>
          </a:xfrm>
          <a:prstGeom prst="roundRect">
            <a:avLst>
              <a:gd name="adj" fmla="val 5000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155371" y="2887845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−9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2830830" y="3103678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2309132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30" dirty="0"/>
          </a:p>
        </p:txBody>
      </p:sp>
      <p:sp>
        <p:nvSpPr>
          <p:cNvPr id="26" name="Shape 21"/>
          <p:cNvSpPr/>
          <p:nvPr/>
        </p:nvSpPr>
        <p:spPr>
          <a:xfrm>
            <a:off x="3096441" y="3103678"/>
            <a:ext cx="398417" cy="2465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819400" y="2932228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−5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3494859" y="3128336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9" name="Text 24"/>
          <p:cNvSpPr txBox="1"/>
          <p:nvPr/>
        </p:nvSpPr>
        <p:spPr>
          <a:xfrm>
            <a:off x="2973161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Campaigns</a:t>
            </a:r>
            <a:endParaRPr lang="en-US" sz="830" dirty="0"/>
          </a:p>
        </p:txBody>
      </p:sp>
      <p:sp>
        <p:nvSpPr>
          <p:cNvPr id="30" name="Shape 25"/>
          <p:cNvSpPr/>
          <p:nvPr/>
        </p:nvSpPr>
        <p:spPr>
          <a:xfrm>
            <a:off x="3760470" y="3128336"/>
            <a:ext cx="398417" cy="19726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483429" y="2956886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4158887" y="3148062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3" name="Text 28"/>
          <p:cNvSpPr txBox="1"/>
          <p:nvPr/>
        </p:nvSpPr>
        <p:spPr>
          <a:xfrm>
            <a:off x="3637189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4424499" y="3098747"/>
            <a:ext cx="398417" cy="49315"/>
          </a:xfrm>
          <a:prstGeom prst="roundRect">
            <a:avLst>
              <a:gd name="adj" fmla="val 5000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147457" y="2927297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+10</a:t>
            </a:r>
            <a:endParaRPr lang="en-US" sz="860" dirty="0"/>
          </a:p>
        </p:txBody>
      </p:sp>
      <p:sp>
        <p:nvSpPr>
          <p:cNvPr id="36" name="Shape 31"/>
          <p:cNvSpPr/>
          <p:nvPr/>
        </p:nvSpPr>
        <p:spPr>
          <a:xfrm>
            <a:off x="4822916" y="3098747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7" name="Text 32"/>
          <p:cNvSpPr txBox="1"/>
          <p:nvPr/>
        </p:nvSpPr>
        <p:spPr>
          <a:xfrm>
            <a:off x="4301218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GADN</a:t>
            </a:r>
            <a:endParaRPr lang="en-US" sz="830" dirty="0"/>
          </a:p>
        </p:txBody>
      </p:sp>
      <p:sp>
        <p:nvSpPr>
          <p:cNvPr id="38" name="Shape 33"/>
          <p:cNvSpPr/>
          <p:nvPr/>
        </p:nvSpPr>
        <p:spPr>
          <a:xfrm>
            <a:off x="5088527" y="3098747"/>
            <a:ext cx="398417" cy="1854253"/>
          </a:xfrm>
          <a:prstGeom prst="roundRect">
            <a:avLst>
              <a:gd name="adj" fmla="val 717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811486" y="2927297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376</a:t>
            </a:r>
            <a:endParaRPr lang="en-US" sz="860" dirty="0"/>
          </a:p>
        </p:txBody>
      </p:sp>
      <p:sp>
        <p:nvSpPr>
          <p:cNvPr id="40" name="Text 35"/>
          <p:cNvSpPr txBox="1"/>
          <p:nvPr/>
        </p:nvSpPr>
        <p:spPr>
          <a:xfrm>
            <a:off x="4965246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41" name="Shape 36"/>
          <p:cNvSpPr/>
          <p:nvPr/>
        </p:nvSpPr>
        <p:spPr>
          <a:xfrm>
            <a:off x="971550" y="4953000"/>
            <a:ext cx="464820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9817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1722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moves by campaign, non-Duta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1722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Change in farmers; hover for week before → last week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9229725" y="2381250"/>
            <a:ext cx="0" cy="259080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191250" y="23812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8201025" y="2466975"/>
            <a:ext cx="1019175" cy="152400"/>
          </a:xfrm>
          <a:prstGeom prst="roundRect">
            <a:avLst>
              <a:gd name="adj" fmla="val 1875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629525" y="23812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−64</a:t>
            </a:r>
            <a:endParaRPr lang="en-US" sz="860" dirty="0"/>
          </a:p>
        </p:txBody>
      </p:sp>
      <p:sp>
        <p:nvSpPr>
          <p:cNvPr id="49" name="Text 44"/>
          <p:cNvSpPr txBox="1"/>
          <p:nvPr/>
        </p:nvSpPr>
        <p:spPr>
          <a:xfrm>
            <a:off x="6191250" y="27051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 Purchase Campaign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DG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8615065" y="2790825"/>
            <a:ext cx="605135" cy="152400"/>
          </a:xfrm>
          <a:prstGeom prst="roundRect">
            <a:avLst>
              <a:gd name="adj" fmla="val 1875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043565" y="27051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−38</a:t>
            </a:r>
            <a:endParaRPr lang="en-US" sz="860" dirty="0"/>
          </a:p>
        </p:txBody>
      </p:sp>
      <p:sp>
        <p:nvSpPr>
          <p:cNvPr id="52" name="Text 47"/>
          <p:cNvSpPr txBox="1"/>
          <p:nvPr/>
        </p:nvSpPr>
        <p:spPr>
          <a:xfrm>
            <a:off x="6191250" y="30289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App-Purchase-DG-Kali…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8997255" y="3114675"/>
            <a:ext cx="222945" cy="152400"/>
          </a:xfrm>
          <a:prstGeom prst="roundRect">
            <a:avLst>
              <a:gd name="adj" fmla="val 1875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425755" y="30289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−14</a:t>
            </a:r>
            <a:endParaRPr lang="en-US" sz="860" dirty="0"/>
          </a:p>
        </p:txBody>
      </p:sp>
      <p:sp>
        <p:nvSpPr>
          <p:cNvPr id="55" name="Text 50"/>
          <p:cNvSpPr txBox="1"/>
          <p:nvPr/>
        </p:nvSpPr>
        <p:spPr>
          <a:xfrm>
            <a:off x="6191250" y="33528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petaniproapp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9013180" y="3438525"/>
            <a:ext cx="207020" cy="152400"/>
          </a:xfrm>
          <a:prstGeom prst="roundRect">
            <a:avLst>
              <a:gd name="adj" fmla="val 1875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441680" y="33528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−13</a:t>
            </a:r>
            <a:endParaRPr lang="en-US" sz="860" dirty="0"/>
          </a:p>
        </p:txBody>
      </p:sp>
      <p:sp>
        <p:nvSpPr>
          <p:cNvPr id="58" name="Text 53"/>
          <p:cNvSpPr txBox="1"/>
          <p:nvPr/>
        </p:nvSpPr>
        <p:spPr>
          <a:xfrm>
            <a:off x="6191250" y="36766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fb4a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9029105" y="3762375"/>
            <a:ext cx="191095" cy="152400"/>
          </a:xfrm>
          <a:prstGeom prst="roundRect">
            <a:avLst>
              <a:gd name="adj" fmla="val 1875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8457605" y="36766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−12</a:t>
            </a:r>
            <a:endParaRPr lang="en-US" sz="860" dirty="0"/>
          </a:p>
        </p:txBody>
      </p:sp>
      <p:sp>
        <p:nvSpPr>
          <p:cNvPr id="61" name="Text 56"/>
          <p:cNvSpPr txBox="1"/>
          <p:nvPr/>
        </p:nvSpPr>
        <p:spPr>
          <a:xfrm>
            <a:off x="6191250" y="40005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Online Komunitas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DownloadPSP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9239250" y="4086225"/>
            <a:ext cx="19050" cy="15240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296400" y="40005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</a:t>
            </a:r>
            <a:endParaRPr lang="en-US" sz="860" dirty="0"/>
          </a:p>
        </p:txBody>
      </p:sp>
      <p:sp>
        <p:nvSpPr>
          <p:cNvPr id="64" name="Text 59"/>
          <p:cNvSpPr txBox="1"/>
          <p:nvPr/>
        </p:nvSpPr>
        <p:spPr>
          <a:xfrm>
            <a:off x="6191250" y="43243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broadcast 500k farmer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9239250" y="4410075"/>
            <a:ext cx="143321" cy="152400"/>
          </a:xfrm>
          <a:prstGeom prst="roundRect">
            <a:avLst>
              <a:gd name="adj" fmla="val 19938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9420671" y="43243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+9</a:t>
            </a:r>
            <a:endParaRPr lang="en-US" sz="860" dirty="0"/>
          </a:p>
        </p:txBody>
      </p:sp>
      <p:sp>
        <p:nvSpPr>
          <p:cNvPr id="67" name="Text 62"/>
          <p:cNvSpPr txBox="1"/>
          <p:nvPr/>
        </p:nvSpPr>
        <p:spPr>
          <a:xfrm>
            <a:off x="6191250" y="46482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App-Register-Campaig…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9239250" y="4733925"/>
            <a:ext cx="573286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9850636" y="46482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+36</a:t>
            </a:r>
            <a:endParaRPr lang="en-US" sz="860" dirty="0"/>
          </a:p>
        </p:txBody>
      </p:sp>
      <p:sp>
        <p:nvSpPr>
          <p:cNvPr id="70" name="Shape 65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fell from 313 to 218; inside it the largest single drop is “organic” (111 → 47).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Paid acquisition held up: GADN 101 → 111; the largest campaign gain is “App-Register-Campaign-DG” (+36).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7-WEEK TREND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is −8% on the 4-week average (407); the peak was 492 in the week of 21 Sep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728252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5347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per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5347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 weeks start on Monday; the week of 12 Oct is left out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971550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23950" y="2381250"/>
            <a:ext cx="56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686687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839087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GADN</a:t>
            </a:r>
            <a:endParaRPr lang="en-US" sz="860" dirty="0"/>
          </a:p>
        </p:txBody>
      </p:sp>
      <p:sp>
        <p:nvSpPr>
          <p:cNvPr id="18" name="Shape 13"/>
          <p:cNvSpPr/>
          <p:nvPr/>
        </p:nvSpPr>
        <p:spPr>
          <a:xfrm>
            <a:off x="2217801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370201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274891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901315" y="2381250"/>
            <a:ext cx="1360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 Campaigns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426148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13885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1115656" y="4359856"/>
            <a:ext cx="470239" cy="535994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115656" y="4359856"/>
            <a:ext cx="470239" cy="53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127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1115656" y="4212141"/>
            <a:ext cx="470239" cy="128665"/>
          </a:xfrm>
          <a:prstGeom prst="roundRect">
            <a:avLst>
              <a:gd name="adj" fmla="val 22209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15656" y="4193091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115656" y="4174041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69775" y="4002591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164</a:t>
            </a:r>
            <a:endParaRPr lang="en-US" sz="860" dirty="0"/>
          </a:p>
        </p:txBody>
      </p:sp>
      <p:sp>
        <p:nvSpPr>
          <p:cNvPr id="30" name="Text 25"/>
          <p:cNvSpPr txBox="1"/>
          <p:nvPr/>
        </p:nvSpPr>
        <p:spPr>
          <a:xfrm>
            <a:off x="98107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 Aug</a:t>
            </a:r>
            <a:endParaRPr lang="en-US" sz="830" dirty="0"/>
          </a:p>
        </p:txBody>
      </p:sp>
      <p:sp>
        <p:nvSpPr>
          <p:cNvPr id="31" name="Shape 26"/>
          <p:cNvSpPr/>
          <p:nvPr/>
        </p:nvSpPr>
        <p:spPr>
          <a:xfrm>
            <a:off x="1874106" y="4342974"/>
            <a:ext cx="470239" cy="552876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874106" y="4342974"/>
            <a:ext cx="470239" cy="55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131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874106" y="4182598"/>
            <a:ext cx="470239" cy="141326"/>
          </a:xfrm>
          <a:prstGeom prst="roundRect">
            <a:avLst>
              <a:gd name="adj" fmla="val 20219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874106" y="4182598"/>
            <a:ext cx="470239" cy="160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38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1874106" y="4072867"/>
            <a:ext cx="470239" cy="90681"/>
          </a:xfrm>
          <a:prstGeom prst="roundRect">
            <a:avLst>
              <a:gd name="adj" fmla="val 3151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874106" y="4053817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874106" y="4034767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728225" y="3863317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199</a:t>
            </a:r>
            <a:endParaRPr lang="en-US" sz="860" dirty="0"/>
          </a:p>
        </p:txBody>
      </p:sp>
      <p:sp>
        <p:nvSpPr>
          <p:cNvPr id="39" name="Text 34"/>
          <p:cNvSpPr txBox="1"/>
          <p:nvPr/>
        </p:nvSpPr>
        <p:spPr>
          <a:xfrm>
            <a:off x="173952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 Aug</a:t>
            </a:r>
            <a:endParaRPr lang="en-US" sz="830" dirty="0"/>
          </a:p>
        </p:txBody>
      </p:sp>
      <p:sp>
        <p:nvSpPr>
          <p:cNvPr id="40" name="Shape 35"/>
          <p:cNvSpPr/>
          <p:nvPr/>
        </p:nvSpPr>
        <p:spPr>
          <a:xfrm>
            <a:off x="2632556" y="4203700"/>
            <a:ext cx="470239" cy="692150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632556" y="4203700"/>
            <a:ext cx="470239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164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2632556" y="3840743"/>
            <a:ext cx="470239" cy="343907"/>
          </a:xfrm>
          <a:prstGeom prst="roundRect">
            <a:avLst>
              <a:gd name="adj" fmla="val 8309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2632556" y="3840743"/>
            <a:ext cx="470239" cy="36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86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2632556" y="3671926"/>
            <a:ext cx="470239" cy="149767"/>
          </a:xfrm>
          <a:prstGeom prst="roundRect">
            <a:avLst>
              <a:gd name="adj" fmla="val 1908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2632556" y="3671926"/>
            <a:ext cx="470239" cy="16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40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2632556" y="3652876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2632556" y="3633826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2486676" y="3462376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60" dirty="0"/>
          </a:p>
        </p:txBody>
      </p:sp>
      <p:sp>
        <p:nvSpPr>
          <p:cNvPr id="49" name="Text 44"/>
          <p:cNvSpPr txBox="1"/>
          <p:nvPr/>
        </p:nvSpPr>
        <p:spPr>
          <a:xfrm>
            <a:off x="24979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Sep</a:t>
            </a:r>
            <a:endParaRPr lang="en-US" sz="830" dirty="0"/>
          </a:p>
        </p:txBody>
      </p:sp>
      <p:sp>
        <p:nvSpPr>
          <p:cNvPr id="50" name="Shape 45"/>
          <p:cNvSpPr/>
          <p:nvPr/>
        </p:nvSpPr>
        <p:spPr>
          <a:xfrm>
            <a:off x="3391006" y="4039103"/>
            <a:ext cx="470239" cy="856747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3391006" y="4039103"/>
            <a:ext cx="470239" cy="85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203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3391006" y="3642383"/>
            <a:ext cx="470239" cy="377670"/>
          </a:xfrm>
          <a:prstGeom prst="roundRect">
            <a:avLst>
              <a:gd name="adj" fmla="val 7566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3391006" y="3642383"/>
            <a:ext cx="470239" cy="3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94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3391006" y="3401819"/>
            <a:ext cx="470239" cy="221514"/>
          </a:xfrm>
          <a:prstGeom prst="roundRect">
            <a:avLst>
              <a:gd name="adj" fmla="val 1290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3391006" y="3401819"/>
            <a:ext cx="470239" cy="24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57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3391006" y="3380717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91006" y="3361667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3245126" y="3190217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361</a:t>
            </a:r>
            <a:endParaRPr lang="en-US" sz="860" dirty="0"/>
          </a:p>
        </p:txBody>
      </p:sp>
      <p:sp>
        <p:nvSpPr>
          <p:cNvPr id="59" name="Text 54"/>
          <p:cNvSpPr txBox="1"/>
          <p:nvPr/>
        </p:nvSpPr>
        <p:spPr>
          <a:xfrm>
            <a:off x="325642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Sep</a:t>
            </a:r>
            <a:endParaRPr lang="en-US" sz="830" dirty="0"/>
          </a:p>
        </p:txBody>
      </p:sp>
      <p:sp>
        <p:nvSpPr>
          <p:cNvPr id="60" name="Shape 55"/>
          <p:cNvSpPr/>
          <p:nvPr/>
        </p:nvSpPr>
        <p:spPr>
          <a:xfrm>
            <a:off x="4149457" y="3482007"/>
            <a:ext cx="470239" cy="141384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4149457" y="3482007"/>
            <a:ext cx="470239" cy="141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335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149457" y="3081066"/>
            <a:ext cx="470239" cy="381891"/>
          </a:xfrm>
          <a:prstGeom prst="roundRect">
            <a:avLst>
              <a:gd name="adj" fmla="val 7483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4149457" y="3081066"/>
            <a:ext cx="470239" cy="40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4149457" y="2924911"/>
            <a:ext cx="470239" cy="137106"/>
          </a:xfrm>
          <a:prstGeom prst="roundRect">
            <a:avLst>
              <a:gd name="adj" fmla="val 2084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4149457" y="2924911"/>
            <a:ext cx="470239" cy="15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4149457" y="2827841"/>
            <a:ext cx="470239" cy="78020"/>
          </a:xfrm>
          <a:prstGeom prst="roundRect">
            <a:avLst>
              <a:gd name="adj" fmla="val 36625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4149457" y="2808791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4003576" y="2637341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492</a:t>
            </a:r>
            <a:endParaRPr lang="en-US" sz="860" dirty="0"/>
          </a:p>
        </p:txBody>
      </p:sp>
      <p:sp>
        <p:nvSpPr>
          <p:cNvPr id="69" name="Text 64"/>
          <p:cNvSpPr txBox="1"/>
          <p:nvPr/>
        </p:nvSpPr>
        <p:spPr>
          <a:xfrm>
            <a:off x="40148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Sep</a:t>
            </a:r>
            <a:endParaRPr lang="en-US" sz="830" dirty="0"/>
          </a:p>
        </p:txBody>
      </p:sp>
      <p:sp>
        <p:nvSpPr>
          <p:cNvPr id="70" name="Shape 65"/>
          <p:cNvSpPr/>
          <p:nvPr/>
        </p:nvSpPr>
        <p:spPr>
          <a:xfrm>
            <a:off x="4907907" y="3574856"/>
            <a:ext cx="470239" cy="1320994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4907907" y="3574856"/>
            <a:ext cx="470239" cy="132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313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4907907" y="3148593"/>
            <a:ext cx="470239" cy="407213"/>
          </a:xfrm>
          <a:prstGeom prst="roundRect">
            <a:avLst>
              <a:gd name="adj" fmla="val 7017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4907907" y="3148593"/>
            <a:ext cx="470239" cy="42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101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4907907" y="3043083"/>
            <a:ext cx="470239" cy="86461"/>
          </a:xfrm>
          <a:prstGeom prst="roundRect">
            <a:avLst>
              <a:gd name="adj" fmla="val 3305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4907907" y="2908029"/>
            <a:ext cx="470239" cy="116004"/>
          </a:xfrm>
          <a:prstGeom prst="roundRect">
            <a:avLst>
              <a:gd name="adj" fmla="val 24633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4907907" y="2874266"/>
            <a:ext cx="470239" cy="14713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4762027" y="2702816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479</a:t>
            </a:r>
            <a:endParaRPr lang="en-US" sz="860" dirty="0"/>
          </a:p>
        </p:txBody>
      </p:sp>
      <p:sp>
        <p:nvSpPr>
          <p:cNvPr id="78" name="Text 73"/>
          <p:cNvSpPr txBox="1"/>
          <p:nvPr/>
        </p:nvSpPr>
        <p:spPr>
          <a:xfrm>
            <a:off x="477332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79" name="Shape 74"/>
          <p:cNvSpPr/>
          <p:nvPr/>
        </p:nvSpPr>
        <p:spPr>
          <a:xfrm>
            <a:off x="5666357" y="3975797"/>
            <a:ext cx="470239" cy="92005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5666357" y="3975797"/>
            <a:ext cx="470239" cy="920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218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5666357" y="3507330"/>
            <a:ext cx="470239" cy="449417"/>
          </a:xfrm>
          <a:prstGeom prst="roundRect">
            <a:avLst>
              <a:gd name="adj" fmla="val 6358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5666357" y="3507330"/>
            <a:ext cx="470239" cy="46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111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5666357" y="3439803"/>
            <a:ext cx="470239" cy="48477"/>
          </a:xfrm>
          <a:prstGeom prst="roundRect">
            <a:avLst>
              <a:gd name="adj" fmla="val 5000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5666357" y="3325851"/>
            <a:ext cx="470239" cy="94902"/>
          </a:xfrm>
          <a:prstGeom prst="roundRect">
            <a:avLst>
              <a:gd name="adj" fmla="val 30110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5666357" y="3306801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86" name="Text 81"/>
          <p:cNvSpPr txBox="1"/>
          <p:nvPr/>
        </p:nvSpPr>
        <p:spPr>
          <a:xfrm>
            <a:off x="5520477" y="3135351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376</a:t>
            </a:r>
            <a:endParaRPr lang="en-US" sz="860" dirty="0"/>
          </a:p>
        </p:txBody>
      </p:sp>
      <p:sp>
        <p:nvSpPr>
          <p:cNvPr id="87" name="Text 82"/>
          <p:cNvSpPr txBox="1"/>
          <p:nvPr/>
        </p:nvSpPr>
        <p:spPr>
          <a:xfrm>
            <a:off x="553177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88" name="Shape 83"/>
          <p:cNvSpPr/>
          <p:nvPr/>
        </p:nvSpPr>
        <p:spPr>
          <a:xfrm>
            <a:off x="971550" y="4895850"/>
            <a:ext cx="5309152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6642652" y="1714500"/>
            <a:ext cx="4406348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5"/>
          <p:cNvSpPr txBox="1"/>
          <p:nvPr/>
        </p:nvSpPr>
        <p:spPr>
          <a:xfrm>
            <a:off x="6833152" y="1866900"/>
            <a:ext cx="4025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per day, last week vs the week before</a:t>
            </a:r>
            <a:endParaRPr lang="en-US" sz="1300" dirty="0"/>
          </a:p>
        </p:txBody>
      </p:sp>
      <p:sp>
        <p:nvSpPr>
          <p:cNvPr id="91" name="Text 86"/>
          <p:cNvSpPr txBox="1"/>
          <p:nvPr/>
        </p:nvSpPr>
        <p:spPr>
          <a:xfrm>
            <a:off x="6833152" y="2095500"/>
            <a:ext cx="4025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By join date</a:t>
            </a:r>
            <a:endParaRPr lang="en-US" sz="950" dirty="0"/>
          </a:p>
        </p:txBody>
      </p:sp>
      <p:sp>
        <p:nvSpPr>
          <p:cNvPr id="92" name="Shape 87"/>
          <p:cNvSpPr/>
          <p:nvPr/>
        </p:nvSpPr>
        <p:spPr>
          <a:xfrm>
            <a:off x="6852202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9AA592"/>
          </a:solidFill>
          <a:ln w="12700">
            <a:solidFill>
              <a:srgbClr val="9AA592"/>
            </a:solidFill>
            <a:prstDash val="solid"/>
          </a:ln>
        </p:spPr>
      </p:sp>
      <p:sp>
        <p:nvSpPr>
          <p:cNvPr id="93" name="Text 88"/>
          <p:cNvSpPr txBox="1"/>
          <p:nvPr/>
        </p:nvSpPr>
        <p:spPr>
          <a:xfrm>
            <a:off x="7004602" y="2381250"/>
            <a:ext cx="1360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before (28 Sep)</a:t>
            </a:r>
            <a:endParaRPr lang="en-US" sz="860" dirty="0"/>
          </a:p>
        </p:txBody>
      </p:sp>
      <p:sp>
        <p:nvSpPr>
          <p:cNvPr id="94" name="Shape 89"/>
          <p:cNvSpPr/>
          <p:nvPr/>
        </p:nvSpPr>
        <p:spPr>
          <a:xfrm>
            <a:off x="8364772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8517172" y="2381250"/>
            <a:ext cx="11761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(5 Oct)</a:t>
            </a:r>
            <a:endParaRPr lang="en-US" sz="860" dirty="0"/>
          </a:p>
        </p:txBody>
      </p:sp>
      <p:sp>
        <p:nvSpPr>
          <p:cNvPr id="96" name="Shape 91"/>
          <p:cNvSpPr/>
          <p:nvPr/>
        </p:nvSpPr>
        <p:spPr>
          <a:xfrm>
            <a:off x="7233202" y="4914900"/>
            <a:ext cx="3491948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6852202" y="48387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7233202" y="386715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99" name="Text 94"/>
          <p:cNvSpPr txBox="1"/>
          <p:nvPr/>
        </p:nvSpPr>
        <p:spPr>
          <a:xfrm>
            <a:off x="6852202" y="37909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55</a:t>
            </a:r>
            <a:endParaRPr lang="en-US" sz="800" dirty="0"/>
          </a:p>
        </p:txBody>
      </p:sp>
      <p:sp>
        <p:nvSpPr>
          <p:cNvPr id="100" name="Shape 95"/>
          <p:cNvSpPr/>
          <p:nvPr/>
        </p:nvSpPr>
        <p:spPr>
          <a:xfrm>
            <a:off x="7233202" y="281940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101" name="Text 96"/>
          <p:cNvSpPr txBox="1"/>
          <p:nvPr/>
        </p:nvSpPr>
        <p:spPr>
          <a:xfrm>
            <a:off x="6852202" y="2743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110</a:t>
            </a:r>
            <a:endParaRPr lang="en-US" sz="800" dirty="0"/>
          </a:p>
        </p:txBody>
      </p:sp>
      <p:sp>
        <p:nvSpPr>
          <p:cNvPr id="102" name="Shape 97"/>
          <p:cNvSpPr/>
          <p:nvPr/>
        </p:nvSpPr>
        <p:spPr>
          <a:xfrm>
            <a:off x="7309402" y="3486150"/>
            <a:ext cx="556591" cy="30480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 flipV="1">
            <a:off x="7865993" y="3429000"/>
            <a:ext cx="556591" cy="36195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 flipV="1">
            <a:off x="8422585" y="3105150"/>
            <a:ext cx="556591" cy="32385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79176" y="3105150"/>
            <a:ext cx="556591" cy="66675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 flipV="1">
            <a:off x="9535767" y="3733800"/>
            <a:ext cx="556591" cy="3810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10092359" y="3733800"/>
            <a:ext cx="556591" cy="22860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7266540" y="344328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7823131" y="3748087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8379722" y="338613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8936314" y="306228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2" name="Text 107"/>
          <p:cNvSpPr txBox="1"/>
          <p:nvPr/>
        </p:nvSpPr>
        <p:spPr>
          <a:xfrm>
            <a:off x="8550551" y="28765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</a:t>
            </a:r>
            <a:endParaRPr lang="en-US" sz="860" dirty="0"/>
          </a:p>
        </p:txBody>
      </p:sp>
      <p:sp>
        <p:nvSpPr>
          <p:cNvPr id="113" name="Shape 108"/>
          <p:cNvSpPr/>
          <p:nvPr/>
        </p:nvSpPr>
        <p:spPr>
          <a:xfrm>
            <a:off x="9492905" y="372903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10049496" y="3690937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10606088" y="3919537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 flipV="1">
            <a:off x="7309402" y="3676650"/>
            <a:ext cx="556591" cy="47625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7865993" y="3676650"/>
            <a:ext cx="556591" cy="5715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 flipV="1">
            <a:off x="8422585" y="3638550"/>
            <a:ext cx="556591" cy="9525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8979176" y="3638550"/>
            <a:ext cx="556591" cy="28575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 flipV="1">
            <a:off x="9535767" y="3829050"/>
            <a:ext cx="556591" cy="9525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10092359" y="3829050"/>
            <a:ext cx="556591" cy="45720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7266540" y="411003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6880777" y="39243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40</a:t>
            </a:r>
            <a:endParaRPr lang="en-US" sz="860" dirty="0"/>
          </a:p>
        </p:txBody>
      </p:sp>
      <p:sp>
        <p:nvSpPr>
          <p:cNvPr id="124" name="Shape 119"/>
          <p:cNvSpPr/>
          <p:nvPr/>
        </p:nvSpPr>
        <p:spPr>
          <a:xfrm>
            <a:off x="7823131" y="36337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5" name="Text 120"/>
          <p:cNvSpPr txBox="1"/>
          <p:nvPr/>
        </p:nvSpPr>
        <p:spPr>
          <a:xfrm>
            <a:off x="7437368" y="34480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65</a:t>
            </a:r>
            <a:endParaRPr lang="en-US" sz="860" dirty="0"/>
          </a:p>
        </p:txBody>
      </p:sp>
      <p:sp>
        <p:nvSpPr>
          <p:cNvPr id="126" name="Shape 121"/>
          <p:cNvSpPr/>
          <p:nvPr/>
        </p:nvSpPr>
        <p:spPr>
          <a:xfrm>
            <a:off x="8379722" y="3690937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7" name="Text 122"/>
          <p:cNvSpPr txBox="1"/>
          <p:nvPr/>
        </p:nvSpPr>
        <p:spPr>
          <a:xfrm>
            <a:off x="7993960" y="35052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</a:t>
            </a:r>
            <a:endParaRPr lang="en-US" sz="860" dirty="0"/>
          </a:p>
        </p:txBody>
      </p:sp>
      <p:sp>
        <p:nvSpPr>
          <p:cNvPr id="128" name="Shape 123"/>
          <p:cNvSpPr/>
          <p:nvPr/>
        </p:nvSpPr>
        <p:spPr>
          <a:xfrm>
            <a:off x="8936314" y="35956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9" name="Text 124"/>
          <p:cNvSpPr txBox="1"/>
          <p:nvPr/>
        </p:nvSpPr>
        <p:spPr>
          <a:xfrm>
            <a:off x="8550551" y="34099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67</a:t>
            </a:r>
            <a:endParaRPr lang="en-US" sz="860" dirty="0"/>
          </a:p>
        </p:txBody>
      </p:sp>
      <p:sp>
        <p:nvSpPr>
          <p:cNvPr id="130" name="Shape 125"/>
          <p:cNvSpPr/>
          <p:nvPr/>
        </p:nvSpPr>
        <p:spPr>
          <a:xfrm>
            <a:off x="9492905" y="388143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1" name="Text 126"/>
          <p:cNvSpPr txBox="1"/>
          <p:nvPr/>
        </p:nvSpPr>
        <p:spPr>
          <a:xfrm>
            <a:off x="9107142" y="36957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52</a:t>
            </a:r>
            <a:endParaRPr lang="en-US" sz="860" dirty="0"/>
          </a:p>
        </p:txBody>
      </p:sp>
      <p:sp>
        <p:nvSpPr>
          <p:cNvPr id="132" name="Shape 127"/>
          <p:cNvSpPr/>
          <p:nvPr/>
        </p:nvSpPr>
        <p:spPr>
          <a:xfrm>
            <a:off x="10049496" y="37861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28"/>
          <p:cNvSpPr txBox="1"/>
          <p:nvPr/>
        </p:nvSpPr>
        <p:spPr>
          <a:xfrm>
            <a:off x="9663734" y="36004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57</a:t>
            </a:r>
            <a:endParaRPr lang="en-US" sz="860" dirty="0"/>
          </a:p>
        </p:txBody>
      </p:sp>
      <p:sp>
        <p:nvSpPr>
          <p:cNvPr id="134" name="Shape 129"/>
          <p:cNvSpPr/>
          <p:nvPr/>
        </p:nvSpPr>
        <p:spPr>
          <a:xfrm>
            <a:off x="10606088" y="42433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5" name="Text 130"/>
          <p:cNvSpPr txBox="1"/>
          <p:nvPr/>
        </p:nvSpPr>
        <p:spPr>
          <a:xfrm>
            <a:off x="10220325" y="40576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</a:t>
            </a:r>
            <a:endParaRPr lang="en-US" sz="860" dirty="0"/>
          </a:p>
        </p:txBody>
      </p:sp>
      <p:sp>
        <p:nvSpPr>
          <p:cNvPr id="136" name="Text 131"/>
          <p:cNvSpPr txBox="1"/>
          <p:nvPr/>
        </p:nvSpPr>
        <p:spPr>
          <a:xfrm>
            <a:off x="6928402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</a:t>
            </a:r>
            <a:endParaRPr lang="en-US" sz="800" dirty="0"/>
          </a:p>
        </p:txBody>
      </p:sp>
      <p:sp>
        <p:nvSpPr>
          <p:cNvPr id="137" name="Text 132"/>
          <p:cNvSpPr txBox="1"/>
          <p:nvPr/>
        </p:nvSpPr>
        <p:spPr>
          <a:xfrm>
            <a:off x="7484993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Tue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8041585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Wed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8598176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Thu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9154767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Fri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9711359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</a:t>
            </a:r>
            <a:endParaRPr lang="en-US" sz="800" dirty="0"/>
          </a:p>
        </p:txBody>
      </p:sp>
      <p:sp>
        <p:nvSpPr>
          <p:cNvPr id="142" name="Text 137"/>
          <p:cNvSpPr txBox="1"/>
          <p:nvPr/>
        </p:nvSpPr>
        <p:spPr>
          <a:xfrm>
            <a:off x="10267950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Sun</a:t>
            </a:r>
            <a:endParaRPr lang="en-US" sz="800" dirty="0"/>
          </a:p>
        </p:txBody>
      </p:sp>
      <p:sp>
        <p:nvSpPr>
          <p:cNvPr id="143" name="Shape 138"/>
          <p:cNvSpPr/>
          <p:nvPr/>
        </p:nvSpPr>
        <p:spPr>
          <a:xfrm>
            <a:off x="762000" y="5391150"/>
            <a:ext cx="10287000" cy="723900"/>
          </a:xfrm>
          <a:prstGeom prst="roundRect">
            <a:avLst>
              <a:gd name="adj" fmla="val 15158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4" name="Text 139"/>
          <p:cNvSpPr txBox="1"/>
          <p:nvPr/>
        </p:nvSpPr>
        <p:spPr>
          <a:xfrm>
            <a:off x="933450" y="5476875"/>
            <a:ext cx="9944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week before had a mid-week spike: 95 farmers on Thu, against a high of 67 on any day last week. Last week's days were flatter (33–67 a day).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Days: the file's weeks run from Monday morning to the next Monday morning; registrations before the cut on the next Monday are counted as Monday, so each day is a full 24 hours.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CHANNELS IN DETAIL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of 5 channels fell last week; 28% of new farmers have no phone number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channel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531776"/>
                <a:gridCol w="714829"/>
                <a:gridCol w="714829"/>
                <a:gridCol w="663769"/>
                <a:gridCol w="663769"/>
                <a:gridCol w="7148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Channel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28 Sep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4-week avg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−95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−30%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254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GADN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−36%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Identified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 (under Duta)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−50%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−22%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407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952500" y="5038725"/>
            <a:ext cx="4927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4-week avg = the 4 weeks before last week (7 Sep, 14 Sep, 21 Sep, 28 Sep).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23000" y="1714500"/>
            <a:ext cx="4826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 farmers by campaign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last week first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2079752"/>
                <a:gridCol w="813816"/>
                <a:gridCol w="813816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28 Sep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 Purchase Campaign - 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−38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App-Register-Campaign-DG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direct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−64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App-Purchase-DG-Kalimantan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fb4a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broadcast 500k 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Other 8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3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Phone numbers: 107 of 376 farmers last week (28%) and 124 of 479 the week before registered without a phone number, so sales and Dutas cannot follow them up.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14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draft actions to grow farmer acquisition; owners and dates to be agreed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34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Find out why Organic fell −95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34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313 → 218, mostly “organic” (111 → 47). Check what drove the 28 Sep peak (a broadcast, a post, an app release) and repeat it.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9334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3545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0690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Set a weekly farmer target per Duta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40690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4 farmers last week (8 the week before). Edi Sutarsan, Hendrik Budianto, Simon, Wahab, Meri registered none last week. Agree a weekly number per Duta and track it in this deck.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40690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7089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8803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Grow the external Duta network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8803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of the 8 Dutas with farmers are internal team; external Dutas brought 1 farmer in 7 weeks (Meri). Recruit and activate external Dutas in the main areas.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8803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6200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345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Keep funding “App-Register-Campaign-DG”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3345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added +36 farmers (19 → 55). Compare its cost per farmer with the other campaigns before shifting budget.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93345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23545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40690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Make the phone number required at registration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40690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28% of last week's farmers (107) have no phone number, so they cannot be followed up by sales or a Duta.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40690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457200"/>
            <a:ext cx="1143000" cy="1143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0" y="276225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2"/>
          <p:cNvSpPr txBox="1"/>
          <p:nvPr/>
        </p:nvSpPr>
        <p:spPr>
          <a:xfrm>
            <a:off x="0" y="3810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#TerusTumbuh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SawitPRO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Duta vs Non-Duta Last Week</dc:title>
  <dc:subject>PptxGenJS Presentation</dc:subject>
  <dc:creator>PptxGenJS</dc:creator>
  <cp:lastModifiedBy>PptxGenJS</cp:lastModifiedBy>
  <cp:revision>1</cp:revision>
  <dcterms:created xsi:type="dcterms:W3CDTF">2026-10-14T07:56:18Z</dcterms:created>
  <dcterms:modified xsi:type="dcterms:W3CDTF">2026-10-14T07:56:18Z</dcterms:modified>
</cp:coreProperties>
</file>