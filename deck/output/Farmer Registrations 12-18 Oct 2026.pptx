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590550"/>
            <a:ext cx="2352675" cy="771525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743450" y="3448050"/>
            <a:ext cx="7448550" cy="2447925"/>
          </a:xfrm>
          <a:prstGeom prst="rect">
            <a:avLst/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3533775" y="3448050"/>
            <a:ext cx="2447925" cy="2447925"/>
          </a:xfrm>
          <a:prstGeom prst="ellipse">
            <a:avLst/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3609975"/>
            <a:ext cx="2114550" cy="211455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210300" y="3619500"/>
            <a:ext cx="5619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 Acquisition</a:t>
            </a:r>
            <a:endParaRPr lang="en-US" sz="2600" dirty="0"/>
          </a:p>
        </p:txBody>
      </p:sp>
      <p:sp>
        <p:nvSpPr>
          <p:cNvPr id="8" name="Text 3"/>
          <p:cNvSpPr txBox="1"/>
          <p:nvPr/>
        </p:nvSpPr>
        <p:spPr>
          <a:xfrm>
            <a:off x="6210300" y="4095750"/>
            <a:ext cx="561975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 Registrations, 12–18 Oct</a:t>
            </a:r>
            <a:endParaRPr lang="en-US" sz="3400" dirty="0"/>
          </a:p>
        </p:txBody>
      </p:sp>
      <p:sp>
        <p:nvSpPr>
          <p:cNvPr id="9" name="Text 4"/>
          <p:cNvSpPr txBox="1"/>
          <p:nvPr/>
        </p:nvSpPr>
        <p:spPr>
          <a:xfrm>
            <a:off x="6210300" y="6000750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of 12–18 Oct 2026 · vs 5–11 Oct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 farmers joined last week, +223 (+59%): 0 through Dutas (−4) and 600 without (+227)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1440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1440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E4ECD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12–18 Oct, +223 (+59%) on 5–11 Oct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337185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52425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6" name="Text 11"/>
          <p:cNvSpPr txBox="1"/>
          <p:nvPr/>
        </p:nvSpPr>
        <p:spPr>
          <a:xfrm>
            <a:off x="352425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non-Duta: +227 (+61%) on the week before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598170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13410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613410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under a Duta: −4 (−100%) on the week before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59155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74395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22" name="Text 17"/>
          <p:cNvSpPr txBox="1"/>
          <p:nvPr/>
        </p:nvSpPr>
        <p:spPr>
          <a:xfrm>
            <a:off x="874395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users above 100 ha (4 the week before); 34% added a farm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762000" y="3009900"/>
            <a:ext cx="6191250" cy="3105150"/>
          </a:xfrm>
          <a:prstGeom prst="roundRect">
            <a:avLst>
              <a:gd name="adj" fmla="val 35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52500" y="3181350"/>
            <a:ext cx="5829300" cy="278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drove the rise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went 219 → 422 (+203), 91% of the 223 more farmers. “direct” 49 → 153, “organic” 47 → 124.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farmer came through a Duta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→ 0 under a Duta (0.0% of all). 0 of 8 Dutas registered a farmer last week; Rudi leads with 9 in 7 weeks. 6 of the 8 are internal team.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All farmers, 0 estate owners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 farmers (377 the week before); every role other than estate owner counts as a farmer. 34% added a farm (median 2 ha); 395 have no farm or location yet.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 users above 100 ha; Kalimantan grows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the week before (+7). Riau 53, Kalimantan Tengah 23 lead on location; Kalimantan 13 → 64. Hectares are as entered by users, not yet validated.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7143750" y="3009900"/>
            <a:ext cx="3905250" cy="3105150"/>
          </a:xfrm>
          <a:prstGeom prst="roundRect">
            <a:avLst>
              <a:gd name="adj" fmla="val 3534"/>
            </a:avLst>
          </a:prstGeom>
          <a:solidFill>
            <a:srgbClr val="274E13"/>
          </a:solidFill>
          <a:ln w="12700">
            <a:solidFill>
              <a:srgbClr val="274E1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372350" y="3219450"/>
            <a:ext cx="3448050" cy="2724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950" b="1" spc="200" kern="0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BOTTOM LINE</a:t>
            </a:r>
            <a:endParaRPr lang="en-US" sz="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carried the week: find what drove it and repeat it. Then get new users to add a farm, and get every Duta registering farmers each week.</a:t>
            </a:r>
            <a:endParaRPr lang="en-US" sz="950" dirty="0"/>
          </a:p>
          <a:p>
            <a:pPr indent="0" marL="0">
              <a:buNone/>
            </a:pPr>
            <a:r>
              <a:rPr lang="en-US" sz="1050" dirty="0">
                <a:solidFill>
                  <a:srgbClr val="D8E3C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counted by the week they registered. The week of 19 Oct is in progress and left out. Duta covers internal-team and external Dutas alike; estate owner = the ESTATE_OWNER role, every other role is a farmer; location = the user's first farm.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DUTA VS NON-DUTA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farmer came through a Duta last week (4 the week before); non-Duta 600 (+227)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3086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92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 vs non-Duta, last week vs the week before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92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5–11 Oct vs 12–18 Oct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5003800" cy="914400"/>
        </p:xfrm>
        <a:graphic>
          <a:graphicData uri="http://schemas.openxmlformats.org/drawingml/2006/table">
            <a:tbl>
              <a:tblPr/>
              <a:tblGrid>
                <a:gridCol w="1631674"/>
                <a:gridCol w="707059"/>
                <a:gridCol w="707059"/>
                <a:gridCol w="652670"/>
                <a:gridCol w="598280"/>
                <a:gridCol w="70705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Share last week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0.0%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Internal-team Dutas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External Dutas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Non 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100.0%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+223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+59%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223000" y="1714500"/>
            <a:ext cx="48260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413500" y="1866900"/>
            <a:ext cx="44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Duta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6413500" y="20955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first; 7 weeks = 31 Aug – 12 Oct</a:t>
            </a:r>
            <a:endParaRPr lang="en-US" sz="95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75400" y="2381250"/>
          <a:ext cx="4521200" cy="914400"/>
        </p:xfrm>
        <a:graphic>
          <a:graphicData uri="http://schemas.openxmlformats.org/drawingml/2006/table">
            <a:tbl>
              <a:tblPr/>
              <a:tblGrid>
                <a:gridCol w="1446784"/>
                <a:gridCol w="1085088"/>
                <a:gridCol w="678180"/>
                <a:gridCol w="678180"/>
                <a:gridCol w="6329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Type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 weeks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Rudi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Edi Sutarsan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Hendrik Budianto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Simon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Meri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External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Muhammad Abdul Wahab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External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Satria 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Sazali Wandana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2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Dutas: no farmer came through a Duta last week. 6 of the 8 Dutas with farmers in 7 weeks are internal team; external Dutas brought 2.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left out: the week of 19 Oct (101 farmers to 20 Oct) is still in progress, so last week is 12–18 Oct.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FARMERS VS ESTATE OWNERS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 farmers and 0 estate owners last week (377 and 0 the week before); 34% added a farm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420833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50398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By user role, last week vs the week before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50398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5–11 Oct vs 12–18 Oct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5116033" cy="914400"/>
        </p:xfrm>
        <a:graphic>
          <a:graphicData uri="http://schemas.openxmlformats.org/drawingml/2006/table">
            <a:tbl>
              <a:tblPr/>
              <a:tblGrid>
                <a:gridCol w="1762189"/>
                <a:gridCol w="738982"/>
                <a:gridCol w="738982"/>
                <a:gridCol w="682138"/>
                <a:gridCol w="625293"/>
                <a:gridCol w="56844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Users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Share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+223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+59%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Estate owners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Added a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+102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+99%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No farm yet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395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+121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+44%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Median farm size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2.5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335233" y="1714500"/>
            <a:ext cx="4713767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525733" y="1866900"/>
            <a:ext cx="43327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by role, per week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6525733" y="2095500"/>
            <a:ext cx="43327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Estate owner = the ESTATE_OWNER role; every other role is a farmer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6544783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697183" y="2381250"/>
            <a:ext cx="5013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</a:t>
            </a:r>
            <a:endParaRPr lang="en-US" sz="860" dirty="0"/>
          </a:p>
        </p:txBody>
      </p:sp>
      <p:sp>
        <p:nvSpPr>
          <p:cNvPr id="20" name="Shape 14"/>
          <p:cNvSpPr/>
          <p:nvPr/>
        </p:nvSpPr>
        <p:spPr>
          <a:xfrm>
            <a:off x="7198579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50979" y="2381250"/>
            <a:ext cx="8694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Estate owner</a:t>
            </a:r>
            <a:endParaRPr lang="en-US" sz="860" dirty="0"/>
          </a:p>
        </p:txBody>
      </p:sp>
      <p:sp>
        <p:nvSpPr>
          <p:cNvPr id="22" name="Shape 16"/>
          <p:cNvSpPr/>
          <p:nvPr/>
        </p:nvSpPr>
        <p:spPr>
          <a:xfrm>
            <a:off x="6661352" y="4203700"/>
            <a:ext cx="380385" cy="692150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661352" y="4203700"/>
            <a:ext cx="380385" cy="692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4" name="Shape 18"/>
          <p:cNvSpPr/>
          <p:nvPr/>
        </p:nvSpPr>
        <p:spPr>
          <a:xfrm>
            <a:off x="6661352" y="4184650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470545" y="401320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201</a:t>
            </a:r>
            <a:endParaRPr lang="en-US" sz="860" dirty="0"/>
          </a:p>
        </p:txBody>
      </p:sp>
      <p:sp>
        <p:nvSpPr>
          <p:cNvPr id="26" name="Text 20"/>
          <p:cNvSpPr txBox="1"/>
          <p:nvPr/>
        </p:nvSpPr>
        <p:spPr>
          <a:xfrm>
            <a:off x="6554308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 Aug</a:t>
            </a:r>
            <a:endParaRPr lang="en-US" sz="830" dirty="0"/>
          </a:p>
        </p:txBody>
      </p:sp>
      <p:sp>
        <p:nvSpPr>
          <p:cNvPr id="27" name="Shape 21"/>
          <p:cNvSpPr/>
          <p:nvPr/>
        </p:nvSpPr>
        <p:spPr>
          <a:xfrm>
            <a:off x="7274876" y="3874929"/>
            <a:ext cx="380385" cy="1020921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274876" y="3874929"/>
            <a:ext cx="380385" cy="1020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295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7084068" y="3703479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295</a:t>
            </a:r>
            <a:endParaRPr lang="en-US" sz="860" dirty="0"/>
          </a:p>
        </p:txBody>
      </p:sp>
      <p:sp>
        <p:nvSpPr>
          <p:cNvPr id="30" name="Text 24"/>
          <p:cNvSpPr txBox="1"/>
          <p:nvPr/>
        </p:nvSpPr>
        <p:spPr>
          <a:xfrm>
            <a:off x="7167831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 Sep</a:t>
            </a:r>
            <a:endParaRPr lang="en-US" sz="830" dirty="0"/>
          </a:p>
        </p:txBody>
      </p:sp>
      <p:sp>
        <p:nvSpPr>
          <p:cNvPr id="31" name="Shape 25"/>
          <p:cNvSpPr/>
          <p:nvPr/>
        </p:nvSpPr>
        <p:spPr>
          <a:xfrm>
            <a:off x="7888400" y="3646519"/>
            <a:ext cx="380385" cy="1249331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888400" y="3646519"/>
            <a:ext cx="380385" cy="1249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361</a:t>
            </a:r>
            <a:endParaRPr lang="en-US" sz="800" dirty="0"/>
          </a:p>
        </p:txBody>
      </p:sp>
      <p:sp>
        <p:nvSpPr>
          <p:cNvPr id="33" name="Shape 27"/>
          <p:cNvSpPr/>
          <p:nvPr/>
        </p:nvSpPr>
        <p:spPr>
          <a:xfrm>
            <a:off x="7888400" y="3627469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697592" y="3456019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362</a:t>
            </a:r>
            <a:endParaRPr lang="en-US" sz="860" dirty="0"/>
          </a:p>
        </p:txBody>
      </p:sp>
      <p:sp>
        <p:nvSpPr>
          <p:cNvPr id="35" name="Text 29"/>
          <p:cNvSpPr txBox="1"/>
          <p:nvPr/>
        </p:nvSpPr>
        <p:spPr>
          <a:xfrm>
            <a:off x="7781355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 Sep</a:t>
            </a:r>
            <a:endParaRPr lang="en-US" sz="830" dirty="0"/>
          </a:p>
        </p:txBody>
      </p:sp>
      <p:sp>
        <p:nvSpPr>
          <p:cNvPr id="36" name="Shape 30"/>
          <p:cNvSpPr/>
          <p:nvPr/>
        </p:nvSpPr>
        <p:spPr>
          <a:xfrm>
            <a:off x="8501924" y="3193161"/>
            <a:ext cx="380385" cy="1702689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8501924" y="3193161"/>
            <a:ext cx="380385" cy="17026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492</a:t>
            </a:r>
            <a:endParaRPr lang="en-US" sz="800" dirty="0"/>
          </a:p>
        </p:txBody>
      </p:sp>
      <p:sp>
        <p:nvSpPr>
          <p:cNvPr id="38" name="Shape 32"/>
          <p:cNvSpPr/>
          <p:nvPr/>
        </p:nvSpPr>
        <p:spPr>
          <a:xfrm>
            <a:off x="8501924" y="3174111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8311116" y="300266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494</a:t>
            </a:r>
            <a:endParaRPr lang="en-US" sz="860" dirty="0"/>
          </a:p>
        </p:txBody>
      </p:sp>
      <p:sp>
        <p:nvSpPr>
          <p:cNvPr id="40" name="Text 34"/>
          <p:cNvSpPr txBox="1"/>
          <p:nvPr/>
        </p:nvSpPr>
        <p:spPr>
          <a:xfrm>
            <a:off x="8394879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 Sep</a:t>
            </a:r>
            <a:endParaRPr lang="en-US" sz="830" dirty="0"/>
          </a:p>
        </p:txBody>
      </p:sp>
      <p:sp>
        <p:nvSpPr>
          <p:cNvPr id="41" name="Shape 35"/>
          <p:cNvSpPr/>
          <p:nvPr/>
        </p:nvSpPr>
        <p:spPr>
          <a:xfrm>
            <a:off x="9115448" y="3238151"/>
            <a:ext cx="380385" cy="1657699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9115448" y="3238151"/>
            <a:ext cx="380385" cy="1657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479</a:t>
            </a:r>
            <a:endParaRPr lang="en-US" sz="800" dirty="0"/>
          </a:p>
        </p:txBody>
      </p:sp>
      <p:sp>
        <p:nvSpPr>
          <p:cNvPr id="43" name="Shape 37"/>
          <p:cNvSpPr/>
          <p:nvPr/>
        </p:nvSpPr>
        <p:spPr>
          <a:xfrm>
            <a:off x="9115448" y="3219101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8924640" y="304765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480</a:t>
            </a:r>
            <a:endParaRPr lang="en-US" sz="860" dirty="0"/>
          </a:p>
        </p:txBody>
      </p:sp>
      <p:sp>
        <p:nvSpPr>
          <p:cNvPr id="45" name="Text 39"/>
          <p:cNvSpPr txBox="1"/>
          <p:nvPr/>
        </p:nvSpPr>
        <p:spPr>
          <a:xfrm>
            <a:off x="9008403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</a:t>
            </a:r>
            <a:endParaRPr lang="en-US" sz="830" dirty="0"/>
          </a:p>
        </p:txBody>
      </p:sp>
      <p:sp>
        <p:nvSpPr>
          <p:cNvPr id="46" name="Shape 40"/>
          <p:cNvSpPr/>
          <p:nvPr/>
        </p:nvSpPr>
        <p:spPr>
          <a:xfrm>
            <a:off x="9728972" y="3591147"/>
            <a:ext cx="380385" cy="1304703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9728972" y="3591147"/>
            <a:ext cx="380385" cy="1304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377</a:t>
            </a:r>
            <a:endParaRPr lang="en-US" sz="800" dirty="0"/>
          </a:p>
        </p:txBody>
      </p:sp>
      <p:sp>
        <p:nvSpPr>
          <p:cNvPr id="48" name="Text 42"/>
          <p:cNvSpPr txBox="1"/>
          <p:nvPr/>
        </p:nvSpPr>
        <p:spPr>
          <a:xfrm>
            <a:off x="9538164" y="3419697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377</a:t>
            </a:r>
            <a:endParaRPr lang="en-US" sz="860" dirty="0"/>
          </a:p>
        </p:txBody>
      </p:sp>
      <p:sp>
        <p:nvSpPr>
          <p:cNvPr id="49" name="Text 43"/>
          <p:cNvSpPr txBox="1"/>
          <p:nvPr/>
        </p:nvSpPr>
        <p:spPr>
          <a:xfrm>
            <a:off x="9621927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50" name="Shape 44"/>
          <p:cNvSpPr/>
          <p:nvPr/>
        </p:nvSpPr>
        <p:spPr>
          <a:xfrm>
            <a:off x="10342496" y="2819400"/>
            <a:ext cx="380385" cy="2076450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10342496" y="2819400"/>
            <a:ext cx="380385" cy="2076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00" dirty="0"/>
          </a:p>
        </p:txBody>
      </p:sp>
      <p:sp>
        <p:nvSpPr>
          <p:cNvPr id="52" name="Text 46"/>
          <p:cNvSpPr txBox="1"/>
          <p:nvPr/>
        </p:nvSpPr>
        <p:spPr>
          <a:xfrm>
            <a:off x="10151688" y="264795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60" dirty="0"/>
          </a:p>
        </p:txBody>
      </p:sp>
      <p:sp>
        <p:nvSpPr>
          <p:cNvPr id="53" name="Text 47"/>
          <p:cNvSpPr txBox="1"/>
          <p:nvPr/>
        </p:nvSpPr>
        <p:spPr>
          <a:xfrm>
            <a:off x="10235451" y="49434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Oct</a:t>
            </a:r>
            <a:endParaRPr lang="en-US" sz="830" dirty="0"/>
          </a:p>
        </p:txBody>
      </p:sp>
      <p:sp>
        <p:nvSpPr>
          <p:cNvPr id="54" name="Shape 48"/>
          <p:cNvSpPr/>
          <p:nvPr/>
        </p:nvSpPr>
        <p:spPr>
          <a:xfrm>
            <a:off x="6544783" y="4895850"/>
            <a:ext cx="4294667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762000" y="5391150"/>
            <a:ext cx="10287000" cy="723900"/>
          </a:xfrm>
          <a:prstGeom prst="roundRect">
            <a:avLst>
              <a:gd name="adj" fmla="val 15158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933450" y="5476875"/>
            <a:ext cx="9944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Estate owners are rare: 5 in 7 weeks (0 last week, 0 the week before); almost every registration is a farmer. Farmer includes every other role (farmer &amp; agent, farmer &amp; owner, ...).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 details: 395 of 600 (66%) registered without a farm, so their location and hectares are unknown (week before 73%).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WHERE USERS ARE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Riau leads with 53 users who added a farm; Kalimantan 13 → 64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4943707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5627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Users with a farm, by province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5627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week; week before in grey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971550" y="2381250"/>
            <a:ext cx="3794611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Riau</a:t>
            </a:r>
            <a:endParaRPr lang="en-US" sz="940" dirty="0"/>
          </a:p>
        </p:txBody>
      </p:sp>
      <p:sp>
        <p:nvSpPr>
          <p:cNvPr id="15" name="Text 10"/>
          <p:cNvSpPr txBox="1"/>
          <p:nvPr/>
        </p:nvSpPr>
        <p:spPr>
          <a:xfrm>
            <a:off x="5324707" y="23812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53</a:t>
            </a:r>
            <a:endParaRPr lang="en-US" sz="940" dirty="0"/>
          </a:p>
        </p:txBody>
      </p:sp>
      <p:sp>
        <p:nvSpPr>
          <p:cNvPr id="16" name="Text 11"/>
          <p:cNvSpPr txBox="1"/>
          <p:nvPr/>
        </p:nvSpPr>
        <p:spPr>
          <a:xfrm>
            <a:off x="4823311" y="23812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41</a:t>
            </a:r>
            <a:endParaRPr lang="en-US" sz="860" dirty="0"/>
          </a:p>
        </p:txBody>
      </p:sp>
      <p:sp>
        <p:nvSpPr>
          <p:cNvPr id="17" name="Shape 12"/>
          <p:cNvSpPr/>
          <p:nvPr/>
        </p:nvSpPr>
        <p:spPr>
          <a:xfrm>
            <a:off x="971550" y="25934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71550" y="25934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971550" y="27241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Kalimantan Tengah</a:t>
            </a:r>
            <a:endParaRPr lang="en-US" sz="940" dirty="0"/>
          </a:p>
        </p:txBody>
      </p:sp>
      <p:sp>
        <p:nvSpPr>
          <p:cNvPr id="20" name="Text 15"/>
          <p:cNvSpPr txBox="1"/>
          <p:nvPr/>
        </p:nvSpPr>
        <p:spPr>
          <a:xfrm>
            <a:off x="5324707" y="27241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23</a:t>
            </a:r>
            <a:endParaRPr lang="en-US" sz="940" dirty="0"/>
          </a:p>
        </p:txBody>
      </p:sp>
      <p:sp>
        <p:nvSpPr>
          <p:cNvPr id="21" name="Text 16"/>
          <p:cNvSpPr txBox="1"/>
          <p:nvPr/>
        </p:nvSpPr>
        <p:spPr>
          <a:xfrm>
            <a:off x="4884652" y="27241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3</a:t>
            </a:r>
            <a:endParaRPr lang="en-US" sz="860" dirty="0"/>
          </a:p>
        </p:txBody>
      </p:sp>
      <p:sp>
        <p:nvSpPr>
          <p:cNvPr id="22" name="Shape 17"/>
          <p:cNvSpPr/>
          <p:nvPr/>
        </p:nvSpPr>
        <p:spPr>
          <a:xfrm>
            <a:off x="971550" y="29363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71550" y="2936367"/>
            <a:ext cx="196350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71550" y="30670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Kalimantan Barat</a:t>
            </a:r>
            <a:endParaRPr lang="en-US" sz="940" dirty="0"/>
          </a:p>
        </p:txBody>
      </p:sp>
      <p:sp>
        <p:nvSpPr>
          <p:cNvPr id="25" name="Text 20"/>
          <p:cNvSpPr txBox="1"/>
          <p:nvPr/>
        </p:nvSpPr>
        <p:spPr>
          <a:xfrm>
            <a:off x="5324707" y="30670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22</a:t>
            </a:r>
            <a:endParaRPr lang="en-US" sz="940" dirty="0"/>
          </a:p>
        </p:txBody>
      </p:sp>
      <p:sp>
        <p:nvSpPr>
          <p:cNvPr id="26" name="Text 21"/>
          <p:cNvSpPr txBox="1"/>
          <p:nvPr/>
        </p:nvSpPr>
        <p:spPr>
          <a:xfrm>
            <a:off x="4884652" y="30670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7</a:t>
            </a:r>
            <a:endParaRPr lang="en-US" sz="860" dirty="0"/>
          </a:p>
        </p:txBody>
      </p:sp>
      <p:sp>
        <p:nvSpPr>
          <p:cNvPr id="27" name="Shape 22"/>
          <p:cNvSpPr/>
          <p:nvPr/>
        </p:nvSpPr>
        <p:spPr>
          <a:xfrm>
            <a:off x="971550" y="32792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71550" y="3279267"/>
            <a:ext cx="187813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71550" y="3409950"/>
            <a:ext cx="3794611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Sumatera Utara</a:t>
            </a:r>
            <a:endParaRPr lang="en-US" sz="940" dirty="0"/>
          </a:p>
        </p:txBody>
      </p:sp>
      <p:sp>
        <p:nvSpPr>
          <p:cNvPr id="30" name="Text 25"/>
          <p:cNvSpPr txBox="1"/>
          <p:nvPr/>
        </p:nvSpPr>
        <p:spPr>
          <a:xfrm>
            <a:off x="5324707" y="34099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18</a:t>
            </a:r>
            <a:endParaRPr lang="en-US" sz="940" dirty="0"/>
          </a:p>
        </p:txBody>
      </p:sp>
      <p:sp>
        <p:nvSpPr>
          <p:cNvPr id="31" name="Text 26"/>
          <p:cNvSpPr txBox="1"/>
          <p:nvPr/>
        </p:nvSpPr>
        <p:spPr>
          <a:xfrm>
            <a:off x="4823311" y="34099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11</a:t>
            </a:r>
            <a:endParaRPr lang="en-US" sz="860" dirty="0"/>
          </a:p>
        </p:txBody>
      </p:sp>
      <p:sp>
        <p:nvSpPr>
          <p:cNvPr id="32" name="Shape 27"/>
          <p:cNvSpPr/>
          <p:nvPr/>
        </p:nvSpPr>
        <p:spPr>
          <a:xfrm>
            <a:off x="971550" y="36221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971550" y="3622167"/>
            <a:ext cx="153665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971550" y="3752850"/>
            <a:ext cx="3794611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Jambi</a:t>
            </a:r>
            <a:endParaRPr lang="en-US" sz="940" dirty="0"/>
          </a:p>
        </p:txBody>
      </p:sp>
      <p:sp>
        <p:nvSpPr>
          <p:cNvPr id="35" name="Text 30"/>
          <p:cNvSpPr txBox="1"/>
          <p:nvPr/>
        </p:nvSpPr>
        <p:spPr>
          <a:xfrm>
            <a:off x="5324707" y="37528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17</a:t>
            </a:r>
            <a:endParaRPr lang="en-US" sz="940" dirty="0"/>
          </a:p>
        </p:txBody>
      </p:sp>
      <p:sp>
        <p:nvSpPr>
          <p:cNvPr id="36" name="Text 31"/>
          <p:cNvSpPr txBox="1"/>
          <p:nvPr/>
        </p:nvSpPr>
        <p:spPr>
          <a:xfrm>
            <a:off x="4823311" y="37528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10</a:t>
            </a:r>
            <a:endParaRPr lang="en-US" sz="860" dirty="0"/>
          </a:p>
        </p:txBody>
      </p:sp>
      <p:sp>
        <p:nvSpPr>
          <p:cNvPr id="37" name="Shape 32"/>
          <p:cNvSpPr/>
          <p:nvPr/>
        </p:nvSpPr>
        <p:spPr>
          <a:xfrm>
            <a:off x="971550" y="39650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971550" y="3965067"/>
            <a:ext cx="145128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971550" y="40957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Sumatera Selatan</a:t>
            </a:r>
            <a:endParaRPr lang="en-US" sz="940" dirty="0"/>
          </a:p>
        </p:txBody>
      </p:sp>
      <p:sp>
        <p:nvSpPr>
          <p:cNvPr id="40" name="Text 35"/>
          <p:cNvSpPr txBox="1"/>
          <p:nvPr/>
        </p:nvSpPr>
        <p:spPr>
          <a:xfrm>
            <a:off x="5324707" y="40957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</a:t>
            </a:r>
            <a:endParaRPr lang="en-US" sz="940" dirty="0"/>
          </a:p>
        </p:txBody>
      </p:sp>
      <p:sp>
        <p:nvSpPr>
          <p:cNvPr id="41" name="Text 36"/>
          <p:cNvSpPr txBox="1"/>
          <p:nvPr/>
        </p:nvSpPr>
        <p:spPr>
          <a:xfrm>
            <a:off x="4884652" y="40957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8</a:t>
            </a:r>
            <a:endParaRPr lang="en-US" sz="860" dirty="0"/>
          </a:p>
        </p:txBody>
      </p:sp>
      <p:sp>
        <p:nvSpPr>
          <p:cNvPr id="42" name="Shape 37"/>
          <p:cNvSpPr/>
          <p:nvPr/>
        </p:nvSpPr>
        <p:spPr>
          <a:xfrm>
            <a:off x="971550" y="43079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71550" y="4307967"/>
            <a:ext cx="136591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971550" y="44386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Kalimantan Timur</a:t>
            </a:r>
            <a:endParaRPr lang="en-US" sz="940" dirty="0"/>
          </a:p>
        </p:txBody>
      </p:sp>
      <p:sp>
        <p:nvSpPr>
          <p:cNvPr id="45" name="Text 40"/>
          <p:cNvSpPr txBox="1"/>
          <p:nvPr/>
        </p:nvSpPr>
        <p:spPr>
          <a:xfrm>
            <a:off x="5324707" y="44386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</a:t>
            </a:r>
            <a:endParaRPr lang="en-US" sz="940" dirty="0"/>
          </a:p>
        </p:txBody>
      </p:sp>
      <p:sp>
        <p:nvSpPr>
          <p:cNvPr id="46" name="Text 41"/>
          <p:cNvSpPr txBox="1"/>
          <p:nvPr/>
        </p:nvSpPr>
        <p:spPr>
          <a:xfrm>
            <a:off x="4884652" y="44386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2</a:t>
            </a:r>
            <a:endParaRPr lang="en-US" sz="860" dirty="0"/>
          </a:p>
        </p:txBody>
      </p:sp>
      <p:sp>
        <p:nvSpPr>
          <p:cNvPr id="47" name="Shape 42"/>
          <p:cNvSpPr/>
          <p:nvPr/>
        </p:nvSpPr>
        <p:spPr>
          <a:xfrm>
            <a:off x="971550" y="46508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971550" y="4650867"/>
            <a:ext cx="110980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971550" y="47815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Bengkulu</a:t>
            </a:r>
            <a:endParaRPr lang="en-US" sz="940" dirty="0"/>
          </a:p>
        </p:txBody>
      </p:sp>
      <p:sp>
        <p:nvSpPr>
          <p:cNvPr id="50" name="Text 45"/>
          <p:cNvSpPr txBox="1"/>
          <p:nvPr/>
        </p:nvSpPr>
        <p:spPr>
          <a:xfrm>
            <a:off x="5324707" y="47815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940" dirty="0"/>
          </a:p>
        </p:txBody>
      </p:sp>
      <p:sp>
        <p:nvSpPr>
          <p:cNvPr id="51" name="Text 46"/>
          <p:cNvSpPr txBox="1"/>
          <p:nvPr/>
        </p:nvSpPr>
        <p:spPr>
          <a:xfrm>
            <a:off x="4884652" y="47815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5</a:t>
            </a:r>
            <a:endParaRPr lang="en-US" sz="860" dirty="0"/>
          </a:p>
        </p:txBody>
      </p:sp>
      <p:sp>
        <p:nvSpPr>
          <p:cNvPr id="52" name="Shape 47"/>
          <p:cNvSpPr/>
          <p:nvPr/>
        </p:nvSpPr>
        <p:spPr>
          <a:xfrm>
            <a:off x="971550" y="49937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53" name="Shape 48"/>
          <p:cNvSpPr/>
          <p:nvPr/>
        </p:nvSpPr>
        <p:spPr>
          <a:xfrm>
            <a:off x="971550" y="4993767"/>
            <a:ext cx="853699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971550" y="5124450"/>
            <a:ext cx="3922627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Aceh</a:t>
            </a:r>
            <a:endParaRPr lang="en-US" sz="940" dirty="0"/>
          </a:p>
        </p:txBody>
      </p:sp>
      <p:sp>
        <p:nvSpPr>
          <p:cNvPr id="55" name="Text 50"/>
          <p:cNvSpPr txBox="1"/>
          <p:nvPr/>
        </p:nvSpPr>
        <p:spPr>
          <a:xfrm>
            <a:off x="5391382" y="5124450"/>
            <a:ext cx="10477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940" dirty="0"/>
          </a:p>
        </p:txBody>
      </p:sp>
      <p:sp>
        <p:nvSpPr>
          <p:cNvPr id="56" name="Text 51"/>
          <p:cNvSpPr txBox="1"/>
          <p:nvPr/>
        </p:nvSpPr>
        <p:spPr>
          <a:xfrm>
            <a:off x="4951327" y="51244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4</a:t>
            </a:r>
            <a:endParaRPr lang="en-US" sz="860" dirty="0"/>
          </a:p>
        </p:txBody>
      </p:sp>
      <p:sp>
        <p:nvSpPr>
          <p:cNvPr id="57" name="Shape 52"/>
          <p:cNvSpPr/>
          <p:nvPr/>
        </p:nvSpPr>
        <p:spPr>
          <a:xfrm>
            <a:off x="971550" y="53366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58" name="Shape 53"/>
          <p:cNvSpPr/>
          <p:nvPr/>
        </p:nvSpPr>
        <p:spPr>
          <a:xfrm>
            <a:off x="971550" y="5336667"/>
            <a:ext cx="512220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5858107" y="1714500"/>
            <a:ext cx="5190893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6048607" y="1866900"/>
            <a:ext cx="48098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Top regencies last week</a:t>
            </a:r>
            <a:endParaRPr lang="en-US" sz="1300" dirty="0"/>
          </a:p>
        </p:txBody>
      </p:sp>
      <p:sp>
        <p:nvSpPr>
          <p:cNvPr id="61" name="Text 56"/>
          <p:cNvSpPr txBox="1"/>
          <p:nvPr/>
        </p:nvSpPr>
        <p:spPr>
          <a:xfrm>
            <a:off x="6048607" y="2095500"/>
            <a:ext cx="48098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Users who added a farm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10507" y="2381250"/>
          <a:ext cx="4886093" cy="914400"/>
        </p:xfrm>
        <a:graphic>
          <a:graphicData uri="http://schemas.openxmlformats.org/drawingml/2006/table">
            <a:tbl>
              <a:tblPr/>
              <a:tblGrid>
                <a:gridCol w="1465828"/>
                <a:gridCol w="1465828"/>
                <a:gridCol w="684053"/>
                <a:gridCol w="684053"/>
                <a:gridCol w="58633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Regency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Province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Kampar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Ketapang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Sanggau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Kotawaringin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Bengkalis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Kuantan Singingi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Lamandau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Langkat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762000" y="5734050"/>
            <a:ext cx="10287000" cy="381000"/>
          </a:xfrm>
          <a:prstGeom prst="roundRect">
            <a:avLst>
              <a:gd name="adj" fmla="val 28800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933450" y="5819775"/>
            <a:ext cx="9944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Location is known only for users who added a farm: 205 of 600 last week; 395 more have no location yet.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USERS ABOVE 100 HA, LAST WEEK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 users above 100 ha last week, +7 on the week before (4)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102870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885950"/>
          <a:ext cx="9982200" cy="914400"/>
        </p:xfrm>
        <a:graphic>
          <a:graphicData uri="http://schemas.openxmlformats.org/drawingml/2006/table">
            <a:tbl>
              <a:tblPr/>
              <a:tblGrid>
                <a:gridCol w="1896618"/>
                <a:gridCol w="1297686"/>
                <a:gridCol w="698754"/>
                <a:gridCol w="798576"/>
                <a:gridCol w="898398"/>
                <a:gridCol w="798576"/>
                <a:gridCol w="1197864"/>
                <a:gridCol w="1197864"/>
                <a:gridCol w="119786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Name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Contact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District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Regency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Province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08d10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Pfd8fcd8f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 of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Batang Cenaku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Peranap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ecbcf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Pa3dc21b7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Gunung Tabur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Berau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Timur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30387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Pe0e2858f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3,400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3,400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Tambang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Kampar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924e2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P5166a341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Sukaraja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Seluma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Bengkulu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90c97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P61c54434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Manuhing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Gunung Mas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4994e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P3c64a50c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Lotu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Nias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390f5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Peae110db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497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497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Sei Lepan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Langkat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42013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P2eaeaa98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365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365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Mataraman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Banjar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7f47a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Pf208d6c1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Ambawang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Kubu Raya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3f4a3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P90c2fbfb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180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180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Tayan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Sanggau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aad03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P234e57c9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175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175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Seberida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 users, 44,617 ha; 1 with several farms, one row per farm. Contact = phone number, or email when there is no phone.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Note: hectares are the area each user entered in the app; they have not yet been validated and need to be confirmed with the user.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USERS ABOVE 100 HA, THE WEEK BEFORE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users above 100 ha the week before (5–11 Oct)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102870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885950"/>
          <a:ext cx="9982200" cy="914400"/>
        </p:xfrm>
        <a:graphic>
          <a:graphicData uri="http://schemas.openxmlformats.org/drawingml/2006/table">
            <a:tbl>
              <a:tblPr/>
              <a:tblGrid>
                <a:gridCol w="1896618"/>
                <a:gridCol w="1297686"/>
                <a:gridCol w="698754"/>
                <a:gridCol w="798576"/>
                <a:gridCol w="898398"/>
                <a:gridCol w="798576"/>
                <a:gridCol w="1197864"/>
                <a:gridCol w="1197864"/>
                <a:gridCol w="119786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Name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Contact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District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Regency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Province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808cc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Ped3fe8c1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68,000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 of 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Bangun Purba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Bangun Purba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Bangun Purba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Rambah Samo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Rambah Samo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13,000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Rambah Samo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9df5b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P5ab71a94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6,604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 of 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Lilin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Musi Banyuasin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Lilin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Musi Banyuasin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2.3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Lilin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Musi Banyuasin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6,599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Lilin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Musi Banyuasin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bfbb0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P0779e56b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Pelayangan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Kota Jambi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Jambi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a395e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Pfd52103f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Lumut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Tapanuli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users, 76,504 ha; 2 with several farms, one row per farm. Contact = phone number, or email when there is no phone.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Note: hectares are the area each user entered in the app; they have not yet been validated and need to be confirmed with the user.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WHAT MOVED THE TOTAL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explains 91% of the rise (+203); Identified Campaigns −6, Duta −4 fell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0673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686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the week before to last week,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686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registered, by acquisition channel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1104356" y="3468751"/>
            <a:ext cx="398417" cy="1484249"/>
          </a:xfrm>
          <a:prstGeom prst="roundRect">
            <a:avLst>
              <a:gd name="adj" fmla="val 7172"/>
            </a:avLst>
          </a:prstGeom>
          <a:solidFill>
            <a:srgbClr val="274E13"/>
          </a:solidFill>
          <a:ln w="12700">
            <a:solidFill>
              <a:srgbClr val="274E13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7314" y="3297301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377</a:t>
            </a:r>
            <a:endParaRPr lang="en-US" sz="860" dirty="0"/>
          </a:p>
        </p:txBody>
      </p:sp>
      <p:sp>
        <p:nvSpPr>
          <p:cNvPr id="16" name="Shape 11"/>
          <p:cNvSpPr/>
          <p:nvPr/>
        </p:nvSpPr>
        <p:spPr>
          <a:xfrm>
            <a:off x="1502773" y="3468751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17" name="Text 12"/>
          <p:cNvSpPr txBox="1"/>
          <p:nvPr/>
        </p:nvSpPr>
        <p:spPr>
          <a:xfrm>
            <a:off x="981075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before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18" name="Shape 13"/>
          <p:cNvSpPr/>
          <p:nvPr/>
        </p:nvSpPr>
        <p:spPr>
          <a:xfrm>
            <a:off x="1768384" y="3468751"/>
            <a:ext cx="398417" cy="23622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1491343" y="3297301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−6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2166801" y="3492373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1" name="Text 16"/>
          <p:cNvSpPr txBox="1"/>
          <p:nvPr/>
        </p:nvSpPr>
        <p:spPr>
          <a:xfrm>
            <a:off x="1645104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Identified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Campaigns</a:t>
            </a:r>
            <a:endParaRPr lang="en-US" sz="830" dirty="0"/>
          </a:p>
        </p:txBody>
      </p:sp>
      <p:sp>
        <p:nvSpPr>
          <p:cNvPr id="22" name="Shape 17"/>
          <p:cNvSpPr/>
          <p:nvPr/>
        </p:nvSpPr>
        <p:spPr>
          <a:xfrm>
            <a:off x="2432413" y="3492373"/>
            <a:ext cx="398417" cy="19050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2155371" y="3320923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−4</a:t>
            </a:r>
            <a:endParaRPr lang="en-US" sz="860" dirty="0"/>
          </a:p>
        </p:txBody>
      </p:sp>
      <p:sp>
        <p:nvSpPr>
          <p:cNvPr id="24" name="Shape 19"/>
          <p:cNvSpPr/>
          <p:nvPr/>
        </p:nvSpPr>
        <p:spPr>
          <a:xfrm>
            <a:off x="2830830" y="3508121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2309132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</a:t>
            </a:r>
            <a:endParaRPr lang="en-US" sz="830" dirty="0"/>
          </a:p>
        </p:txBody>
      </p:sp>
      <p:sp>
        <p:nvSpPr>
          <p:cNvPr id="26" name="Shape 21"/>
          <p:cNvSpPr/>
          <p:nvPr/>
        </p:nvSpPr>
        <p:spPr>
          <a:xfrm>
            <a:off x="3096441" y="3464814"/>
            <a:ext cx="398417" cy="43307"/>
          </a:xfrm>
          <a:prstGeom prst="roundRect">
            <a:avLst>
              <a:gd name="adj" fmla="val 5000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819400" y="3293364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+11</a:t>
            </a:r>
            <a:endParaRPr lang="en-US" sz="860" dirty="0"/>
          </a:p>
        </p:txBody>
      </p:sp>
      <p:sp>
        <p:nvSpPr>
          <p:cNvPr id="28" name="Shape 23"/>
          <p:cNvSpPr/>
          <p:nvPr/>
        </p:nvSpPr>
        <p:spPr>
          <a:xfrm>
            <a:off x="3494859" y="3464814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9" name="Text 24"/>
          <p:cNvSpPr txBox="1"/>
          <p:nvPr/>
        </p:nvSpPr>
        <p:spPr>
          <a:xfrm>
            <a:off x="2973161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Meta</a:t>
            </a:r>
            <a:endParaRPr lang="en-US" sz="830" dirty="0"/>
          </a:p>
        </p:txBody>
      </p:sp>
      <p:sp>
        <p:nvSpPr>
          <p:cNvPr id="30" name="Shape 25"/>
          <p:cNvSpPr/>
          <p:nvPr/>
        </p:nvSpPr>
        <p:spPr>
          <a:xfrm>
            <a:off x="3760470" y="3390011"/>
            <a:ext cx="398417" cy="74803"/>
          </a:xfrm>
          <a:prstGeom prst="roundRect">
            <a:avLst>
              <a:gd name="adj" fmla="val 3820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483429" y="3218561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+19</a:t>
            </a:r>
            <a:endParaRPr lang="en-US" sz="860" dirty="0"/>
          </a:p>
        </p:txBody>
      </p:sp>
      <p:sp>
        <p:nvSpPr>
          <p:cNvPr id="32" name="Shape 27"/>
          <p:cNvSpPr/>
          <p:nvPr/>
        </p:nvSpPr>
        <p:spPr>
          <a:xfrm>
            <a:off x="4158887" y="3390011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33" name="Text 28"/>
          <p:cNvSpPr txBox="1"/>
          <p:nvPr/>
        </p:nvSpPr>
        <p:spPr>
          <a:xfrm>
            <a:off x="3637189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GADN</a:t>
            </a:r>
            <a:endParaRPr lang="en-US" sz="830" dirty="0"/>
          </a:p>
        </p:txBody>
      </p:sp>
      <p:sp>
        <p:nvSpPr>
          <p:cNvPr id="34" name="Shape 29"/>
          <p:cNvSpPr/>
          <p:nvPr/>
        </p:nvSpPr>
        <p:spPr>
          <a:xfrm>
            <a:off x="4424499" y="2590800"/>
            <a:ext cx="398417" cy="799211"/>
          </a:xfrm>
          <a:prstGeom prst="roundRect">
            <a:avLst>
              <a:gd name="adj" fmla="val 717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147457" y="241935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+203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4822916" y="2590800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4301218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830" dirty="0"/>
          </a:p>
        </p:txBody>
      </p:sp>
      <p:sp>
        <p:nvSpPr>
          <p:cNvPr id="38" name="Shape 33"/>
          <p:cNvSpPr/>
          <p:nvPr/>
        </p:nvSpPr>
        <p:spPr>
          <a:xfrm>
            <a:off x="5088527" y="2590800"/>
            <a:ext cx="398417" cy="2362200"/>
          </a:xfrm>
          <a:prstGeom prst="roundRect">
            <a:avLst>
              <a:gd name="adj" fmla="val 717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4811486" y="241935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60" dirty="0"/>
          </a:p>
        </p:txBody>
      </p:sp>
      <p:sp>
        <p:nvSpPr>
          <p:cNvPr id="40" name="Text 35"/>
          <p:cNvSpPr txBox="1"/>
          <p:nvPr/>
        </p:nvSpPr>
        <p:spPr>
          <a:xfrm>
            <a:off x="4965246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Oct</a:t>
            </a:r>
            <a:endParaRPr lang="en-US" sz="830" dirty="0"/>
          </a:p>
        </p:txBody>
      </p:sp>
      <p:sp>
        <p:nvSpPr>
          <p:cNvPr id="41" name="Shape 36"/>
          <p:cNvSpPr/>
          <p:nvPr/>
        </p:nvSpPr>
        <p:spPr>
          <a:xfrm>
            <a:off x="971550" y="4953000"/>
            <a:ext cx="4648200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981700" y="1714500"/>
            <a:ext cx="50673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6172200" y="1866900"/>
            <a:ext cx="4686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Largest moves by campaign, non-Duta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172200" y="2095500"/>
            <a:ext cx="4686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Change in farmers; hover for week before → last week</a:t>
            </a:r>
            <a:endParaRPr lang="en-US" sz="950" dirty="0"/>
          </a:p>
        </p:txBody>
      </p:sp>
      <p:sp>
        <p:nvSpPr>
          <p:cNvPr id="45" name="Shape 40"/>
          <p:cNvSpPr/>
          <p:nvPr/>
        </p:nvSpPr>
        <p:spPr>
          <a:xfrm>
            <a:off x="9229725" y="2381250"/>
            <a:ext cx="0" cy="259080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6191250" y="23812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broadcast 500k farmer</a:t>
            </a:r>
            <a:endParaRPr lang="en-US" sz="900" dirty="0"/>
          </a:p>
        </p:txBody>
      </p:sp>
      <p:sp>
        <p:nvSpPr>
          <p:cNvPr id="47" name="Shape 42"/>
          <p:cNvSpPr/>
          <p:nvPr/>
        </p:nvSpPr>
        <p:spPr>
          <a:xfrm>
            <a:off x="9161401" y="2466975"/>
            <a:ext cx="58799" cy="152400"/>
          </a:xfrm>
          <a:prstGeom prst="roundRect">
            <a:avLst>
              <a:gd name="adj" fmla="val 48598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8589901" y="23812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−6</a:t>
            </a:r>
            <a:endParaRPr lang="en-US" sz="860" dirty="0"/>
          </a:p>
        </p:txBody>
      </p:sp>
      <p:sp>
        <p:nvSpPr>
          <p:cNvPr id="49" name="Text 44"/>
          <p:cNvSpPr txBox="1"/>
          <p:nvPr/>
        </p:nvSpPr>
        <p:spPr>
          <a:xfrm>
            <a:off x="6191250" y="27051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App-Register-Campaig…</a:t>
            </a:r>
            <a:endParaRPr lang="en-US" sz="900" dirty="0"/>
          </a:p>
        </p:txBody>
      </p:sp>
      <p:sp>
        <p:nvSpPr>
          <p:cNvPr id="50" name="Shape 45"/>
          <p:cNvSpPr/>
          <p:nvPr/>
        </p:nvSpPr>
        <p:spPr>
          <a:xfrm>
            <a:off x="9181001" y="2790825"/>
            <a:ext cx="39199" cy="152400"/>
          </a:xfrm>
          <a:prstGeom prst="roundRect">
            <a:avLst>
              <a:gd name="adj" fmla="val 5000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609501" y="27051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−4</a:t>
            </a:r>
            <a:endParaRPr lang="en-US" sz="860" dirty="0"/>
          </a:p>
        </p:txBody>
      </p:sp>
      <p:sp>
        <p:nvSpPr>
          <p:cNvPr id="52" name="Text 47"/>
          <p:cNvSpPr txBox="1"/>
          <p:nvPr/>
        </p:nvSpPr>
        <p:spPr>
          <a:xfrm>
            <a:off x="6191250" y="30289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ig4a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190801" y="3114675"/>
            <a:ext cx="29399" cy="152400"/>
          </a:xfrm>
          <a:prstGeom prst="roundRect">
            <a:avLst>
              <a:gd name="adj" fmla="val 5000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619301" y="30289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−3</a:t>
            </a:r>
            <a:endParaRPr lang="en-US" sz="860" dirty="0"/>
          </a:p>
        </p:txBody>
      </p:sp>
      <p:sp>
        <p:nvSpPr>
          <p:cNvPr id="55" name="Text 50"/>
          <p:cNvSpPr txBox="1"/>
          <p:nvPr/>
        </p:nvSpPr>
        <p:spPr>
          <a:xfrm>
            <a:off x="6191250" y="33528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article</a:t>
            </a:r>
            <a:endParaRPr lang="en-US" sz="900" dirty="0"/>
          </a:p>
        </p:txBody>
      </p:sp>
      <p:sp>
        <p:nvSpPr>
          <p:cNvPr id="56" name="Shape 51"/>
          <p:cNvSpPr/>
          <p:nvPr/>
        </p:nvSpPr>
        <p:spPr>
          <a:xfrm>
            <a:off x="9200600" y="3438525"/>
            <a:ext cx="19600" cy="152400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8629100" y="33528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−2</a:t>
            </a:r>
            <a:endParaRPr lang="en-US" sz="860" dirty="0"/>
          </a:p>
        </p:txBody>
      </p:sp>
      <p:sp>
        <p:nvSpPr>
          <p:cNvPr id="58" name="Text 53"/>
          <p:cNvSpPr txBox="1"/>
          <p:nvPr/>
        </p:nvSpPr>
        <p:spPr>
          <a:xfrm>
            <a:off x="6191250" y="36766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cpc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9201150" y="3762375"/>
            <a:ext cx="19050" cy="152400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8629650" y="36766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−1</a:t>
            </a:r>
            <a:endParaRPr lang="en-US" sz="860" dirty="0"/>
          </a:p>
        </p:txBody>
      </p:sp>
      <p:sp>
        <p:nvSpPr>
          <p:cNvPr id="61" name="Text 56"/>
          <p:cNvSpPr txBox="1"/>
          <p:nvPr/>
        </p:nvSpPr>
        <p:spPr>
          <a:xfrm>
            <a:off x="6191250" y="40005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petaniproapp</a:t>
            </a:r>
            <a:endParaRPr lang="en-US" sz="900" dirty="0"/>
          </a:p>
        </p:txBody>
      </p:sp>
      <p:sp>
        <p:nvSpPr>
          <p:cNvPr id="62" name="Shape 57"/>
          <p:cNvSpPr/>
          <p:nvPr/>
        </p:nvSpPr>
        <p:spPr>
          <a:xfrm>
            <a:off x="9239250" y="4086225"/>
            <a:ext cx="323392" cy="152400"/>
          </a:xfrm>
          <a:prstGeom prst="roundRect">
            <a:avLst>
              <a:gd name="adj" fmla="val 1875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9600742" y="40005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+33</a:t>
            </a:r>
            <a:endParaRPr lang="en-US" sz="860" dirty="0"/>
          </a:p>
        </p:txBody>
      </p:sp>
      <p:sp>
        <p:nvSpPr>
          <p:cNvPr id="64" name="Text 59"/>
          <p:cNvSpPr txBox="1"/>
          <p:nvPr/>
        </p:nvSpPr>
        <p:spPr>
          <a:xfrm>
            <a:off x="6191250" y="43243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900" dirty="0"/>
          </a:p>
        </p:txBody>
      </p:sp>
      <p:sp>
        <p:nvSpPr>
          <p:cNvPr id="65" name="Shape 60"/>
          <p:cNvSpPr/>
          <p:nvPr/>
        </p:nvSpPr>
        <p:spPr>
          <a:xfrm>
            <a:off x="9239250" y="4410075"/>
            <a:ext cx="754581" cy="152400"/>
          </a:xfrm>
          <a:prstGeom prst="roundRect">
            <a:avLst>
              <a:gd name="adj" fmla="val 1875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10031931" y="43243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+77</a:t>
            </a:r>
            <a:endParaRPr lang="en-US" sz="860" dirty="0"/>
          </a:p>
        </p:txBody>
      </p:sp>
      <p:sp>
        <p:nvSpPr>
          <p:cNvPr id="67" name="Text 62"/>
          <p:cNvSpPr txBox="1"/>
          <p:nvPr/>
        </p:nvSpPr>
        <p:spPr>
          <a:xfrm>
            <a:off x="6191250" y="46482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direct</a:t>
            </a:r>
            <a:endParaRPr lang="en-US" sz="900" dirty="0"/>
          </a:p>
        </p:txBody>
      </p:sp>
      <p:sp>
        <p:nvSpPr>
          <p:cNvPr id="68" name="Shape 63"/>
          <p:cNvSpPr/>
          <p:nvPr/>
        </p:nvSpPr>
        <p:spPr>
          <a:xfrm>
            <a:off x="9239250" y="4733925"/>
            <a:ext cx="1019175" cy="152400"/>
          </a:xfrm>
          <a:prstGeom prst="roundRect">
            <a:avLst>
              <a:gd name="adj" fmla="val 1875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9" name="Text 64"/>
          <p:cNvSpPr txBox="1"/>
          <p:nvPr/>
        </p:nvSpPr>
        <p:spPr>
          <a:xfrm>
            <a:off x="10296525" y="46482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+104</a:t>
            </a:r>
            <a:endParaRPr lang="en-US" sz="860" dirty="0"/>
          </a:p>
        </p:txBody>
      </p:sp>
      <p:sp>
        <p:nvSpPr>
          <p:cNvPr id="70" name="Shape 65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went from 219 to 422; the largest campaign gain is “direct” (49 → 153).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Fell against the trend: Identified Campaigns 27 → 21, Duta 4 → 0.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7-WEEK TREND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is +40% on the 4-week average (428); the peak was 600 in the week of 12 Oct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728252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5347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per week,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5347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 weeks start on Monday; the week of 19 Oct is left out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971550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1123950" y="2381250"/>
            <a:ext cx="5627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860" dirty="0"/>
          </a:p>
        </p:txBody>
      </p:sp>
      <p:sp>
        <p:nvSpPr>
          <p:cNvPr id="16" name="Shape 11"/>
          <p:cNvSpPr/>
          <p:nvPr/>
        </p:nvSpPr>
        <p:spPr>
          <a:xfrm>
            <a:off x="1686687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839087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GADN</a:t>
            </a:r>
            <a:endParaRPr lang="en-US" sz="860" dirty="0"/>
          </a:p>
        </p:txBody>
      </p:sp>
      <p:sp>
        <p:nvSpPr>
          <p:cNvPr id="18" name="Shape 13"/>
          <p:cNvSpPr/>
          <p:nvPr/>
        </p:nvSpPr>
        <p:spPr>
          <a:xfrm>
            <a:off x="2217801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370201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Meta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2748915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2901315" y="2381250"/>
            <a:ext cx="13601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Identified Campaigns</a:t>
            </a:r>
            <a:endParaRPr lang="en-US" sz="860" dirty="0"/>
          </a:p>
        </p:txBody>
      </p:sp>
      <p:sp>
        <p:nvSpPr>
          <p:cNvPr id="22" name="Shape 17"/>
          <p:cNvSpPr/>
          <p:nvPr/>
        </p:nvSpPr>
        <p:spPr>
          <a:xfrm>
            <a:off x="4261485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413885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</a:t>
            </a:r>
            <a:endParaRPr lang="en-US" sz="860" dirty="0"/>
          </a:p>
        </p:txBody>
      </p:sp>
      <p:sp>
        <p:nvSpPr>
          <p:cNvPr id="24" name="Shape 19"/>
          <p:cNvSpPr/>
          <p:nvPr/>
        </p:nvSpPr>
        <p:spPr>
          <a:xfrm>
            <a:off x="4792599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A8653A"/>
          </a:solidFill>
          <a:ln w="12700">
            <a:solidFill>
              <a:srgbClr val="A8653A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944999" y="2381250"/>
            <a:ext cx="8694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Old Referral</a:t>
            </a:r>
            <a:endParaRPr lang="en-US" sz="860" dirty="0"/>
          </a:p>
        </p:txBody>
      </p:sp>
      <p:sp>
        <p:nvSpPr>
          <p:cNvPr id="26" name="Shape 21"/>
          <p:cNvSpPr/>
          <p:nvPr/>
        </p:nvSpPr>
        <p:spPr>
          <a:xfrm>
            <a:off x="1115656" y="4439031"/>
            <a:ext cx="470239" cy="456819"/>
          </a:xfrm>
          <a:prstGeom prst="roundRect">
            <a:avLst>
              <a:gd name="adj" fmla="val 6255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1115656" y="4439031"/>
            <a:ext cx="470239" cy="456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132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1115656" y="4307523"/>
            <a:ext cx="470239" cy="112459"/>
          </a:xfrm>
          <a:prstGeom prst="roundRect">
            <a:avLst>
              <a:gd name="adj" fmla="val 25409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15656" y="4217543"/>
            <a:ext cx="470239" cy="70930"/>
          </a:xfrm>
          <a:prstGeom prst="roundRect">
            <a:avLst>
              <a:gd name="adj" fmla="val 40286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1115656" y="4198493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1115656" y="4179443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1115656" y="4160393"/>
            <a:ext cx="470239" cy="14288"/>
          </a:xfrm>
          <a:prstGeom prst="rect">
            <a:avLst/>
          </a:prstGeom>
          <a:solidFill>
            <a:srgbClr val="A8653A"/>
          </a:solidFill>
          <a:ln w="12700">
            <a:solidFill>
              <a:srgbClr val="A8653A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969775" y="3988943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201</a:t>
            </a:r>
            <a:endParaRPr lang="en-US" sz="860" dirty="0"/>
          </a:p>
        </p:txBody>
      </p:sp>
      <p:sp>
        <p:nvSpPr>
          <p:cNvPr id="34" name="Text 29"/>
          <p:cNvSpPr txBox="1"/>
          <p:nvPr/>
        </p:nvSpPr>
        <p:spPr>
          <a:xfrm>
            <a:off x="981075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 Aug</a:t>
            </a:r>
            <a:endParaRPr lang="en-US" sz="830" dirty="0"/>
          </a:p>
        </p:txBody>
      </p:sp>
      <p:sp>
        <p:nvSpPr>
          <p:cNvPr id="35" name="Shape 30"/>
          <p:cNvSpPr/>
          <p:nvPr/>
        </p:nvSpPr>
        <p:spPr>
          <a:xfrm>
            <a:off x="1874106" y="4328287"/>
            <a:ext cx="470239" cy="567563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1874106" y="4328287"/>
            <a:ext cx="470239" cy="567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164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1874106" y="4030662"/>
            <a:ext cx="470239" cy="278575"/>
          </a:xfrm>
          <a:prstGeom prst="roundRect">
            <a:avLst>
              <a:gd name="adj" fmla="val 10258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1874106" y="4030662"/>
            <a:ext cx="470239" cy="297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86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1874106" y="3892233"/>
            <a:ext cx="470239" cy="119380"/>
          </a:xfrm>
          <a:prstGeom prst="roundRect">
            <a:avLst>
              <a:gd name="adj" fmla="val 23936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1874106" y="3873183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1874106" y="3854132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1728225" y="3682682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295</a:t>
            </a:r>
            <a:endParaRPr lang="en-US" sz="860" dirty="0"/>
          </a:p>
        </p:txBody>
      </p:sp>
      <p:sp>
        <p:nvSpPr>
          <p:cNvPr id="43" name="Text 38"/>
          <p:cNvSpPr txBox="1"/>
          <p:nvPr/>
        </p:nvSpPr>
        <p:spPr>
          <a:xfrm>
            <a:off x="1739525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 Sep</a:t>
            </a:r>
            <a:endParaRPr lang="en-US" sz="830" dirty="0"/>
          </a:p>
        </p:txBody>
      </p:sp>
      <p:sp>
        <p:nvSpPr>
          <p:cNvPr id="44" name="Shape 39"/>
          <p:cNvSpPr/>
          <p:nvPr/>
        </p:nvSpPr>
        <p:spPr>
          <a:xfrm>
            <a:off x="2632556" y="4189857"/>
            <a:ext cx="470239" cy="705993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2632556" y="4189857"/>
            <a:ext cx="470239" cy="7059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204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2632556" y="3864547"/>
            <a:ext cx="470239" cy="306261"/>
          </a:xfrm>
          <a:prstGeom prst="roundRect">
            <a:avLst>
              <a:gd name="adj" fmla="val 9330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2632556" y="3864547"/>
            <a:ext cx="470239" cy="325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94</a:t>
            </a:r>
            <a:endParaRPr lang="en-US" sz="800" dirty="0"/>
          </a:p>
        </p:txBody>
      </p:sp>
      <p:sp>
        <p:nvSpPr>
          <p:cNvPr id="48" name="Shape 43"/>
          <p:cNvSpPr/>
          <p:nvPr/>
        </p:nvSpPr>
        <p:spPr>
          <a:xfrm>
            <a:off x="2632556" y="3667284"/>
            <a:ext cx="470239" cy="178213"/>
          </a:xfrm>
          <a:prstGeom prst="roundRect">
            <a:avLst>
              <a:gd name="adj" fmla="val 16034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2632556" y="3667284"/>
            <a:ext cx="470239" cy="197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57</a:t>
            </a:r>
            <a:endParaRPr lang="en-US" sz="800" dirty="0"/>
          </a:p>
        </p:txBody>
      </p:sp>
      <p:sp>
        <p:nvSpPr>
          <p:cNvPr id="50" name="Shape 45"/>
          <p:cNvSpPr/>
          <p:nvPr/>
        </p:nvSpPr>
        <p:spPr>
          <a:xfrm>
            <a:off x="2632556" y="3648234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2632556" y="3629184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2486676" y="3457734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362</a:t>
            </a:r>
            <a:endParaRPr lang="en-US" sz="860" dirty="0"/>
          </a:p>
        </p:txBody>
      </p:sp>
      <p:sp>
        <p:nvSpPr>
          <p:cNvPr id="53" name="Text 48"/>
          <p:cNvSpPr txBox="1"/>
          <p:nvPr/>
        </p:nvSpPr>
        <p:spPr>
          <a:xfrm>
            <a:off x="249797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 Sep</a:t>
            </a:r>
            <a:endParaRPr lang="en-US" sz="830" dirty="0"/>
          </a:p>
        </p:txBody>
      </p:sp>
      <p:sp>
        <p:nvSpPr>
          <p:cNvPr id="54" name="Shape 49"/>
          <p:cNvSpPr/>
          <p:nvPr/>
        </p:nvSpPr>
        <p:spPr>
          <a:xfrm>
            <a:off x="3391006" y="3729577"/>
            <a:ext cx="470239" cy="1166273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5" name="Text 50"/>
          <p:cNvSpPr txBox="1"/>
          <p:nvPr/>
        </p:nvSpPr>
        <p:spPr>
          <a:xfrm>
            <a:off x="3391006" y="3729577"/>
            <a:ext cx="470239" cy="11662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337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3391006" y="3400806"/>
            <a:ext cx="470239" cy="309721"/>
          </a:xfrm>
          <a:prstGeom prst="roundRect">
            <a:avLst>
              <a:gd name="adj" fmla="val 9226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3391006" y="3400806"/>
            <a:ext cx="470239" cy="328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95</a:t>
            </a:r>
            <a:endParaRPr lang="en-US" sz="800" dirty="0"/>
          </a:p>
        </p:txBody>
      </p:sp>
      <p:sp>
        <p:nvSpPr>
          <p:cNvPr id="58" name="Shape 53"/>
          <p:cNvSpPr/>
          <p:nvPr/>
        </p:nvSpPr>
        <p:spPr>
          <a:xfrm>
            <a:off x="3391006" y="3272758"/>
            <a:ext cx="470239" cy="108998"/>
          </a:xfrm>
          <a:prstGeom prst="roundRect">
            <a:avLst>
              <a:gd name="adj" fmla="val 26216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3391006" y="3193161"/>
            <a:ext cx="470239" cy="60547"/>
          </a:xfrm>
          <a:prstGeom prst="roundRect">
            <a:avLst>
              <a:gd name="adj" fmla="val 47195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3391006" y="3174111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3245126" y="300266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494</a:t>
            </a:r>
            <a:endParaRPr lang="en-US" sz="860" dirty="0"/>
          </a:p>
        </p:txBody>
      </p:sp>
      <p:sp>
        <p:nvSpPr>
          <p:cNvPr id="62" name="Text 57"/>
          <p:cNvSpPr txBox="1"/>
          <p:nvPr/>
        </p:nvSpPr>
        <p:spPr>
          <a:xfrm>
            <a:off x="325642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 Sep</a:t>
            </a:r>
            <a:endParaRPr lang="en-US" sz="830" dirty="0"/>
          </a:p>
        </p:txBody>
      </p:sp>
      <p:sp>
        <p:nvSpPr>
          <p:cNvPr id="63" name="Shape 58"/>
          <p:cNvSpPr/>
          <p:nvPr/>
        </p:nvSpPr>
        <p:spPr>
          <a:xfrm>
            <a:off x="4149457" y="3809175"/>
            <a:ext cx="470239" cy="1086676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4" name="Text 59"/>
          <p:cNvSpPr txBox="1"/>
          <p:nvPr/>
        </p:nvSpPr>
        <p:spPr>
          <a:xfrm>
            <a:off x="4149457" y="3809175"/>
            <a:ext cx="470239" cy="10866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314</a:t>
            </a:r>
            <a:endParaRPr lang="en-US" sz="800" dirty="0"/>
          </a:p>
        </p:txBody>
      </p:sp>
      <p:sp>
        <p:nvSpPr>
          <p:cNvPr id="65" name="Shape 60"/>
          <p:cNvSpPr/>
          <p:nvPr/>
        </p:nvSpPr>
        <p:spPr>
          <a:xfrm>
            <a:off x="4149457" y="3459639"/>
            <a:ext cx="470239" cy="330486"/>
          </a:xfrm>
          <a:prstGeom prst="roundRect">
            <a:avLst>
              <a:gd name="adj" fmla="val 8646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4149457" y="3459639"/>
            <a:ext cx="470239" cy="34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101</a:t>
            </a:r>
            <a:endParaRPr lang="en-US" sz="800" dirty="0"/>
          </a:p>
        </p:txBody>
      </p:sp>
      <p:sp>
        <p:nvSpPr>
          <p:cNvPr id="67" name="Shape 62"/>
          <p:cNvSpPr/>
          <p:nvPr/>
        </p:nvSpPr>
        <p:spPr>
          <a:xfrm>
            <a:off x="4149457" y="3373120"/>
            <a:ext cx="470239" cy="67469"/>
          </a:xfrm>
          <a:prstGeom prst="roundRect">
            <a:avLst>
              <a:gd name="adj" fmla="val 42353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68" name="Shape 63"/>
          <p:cNvSpPr/>
          <p:nvPr/>
        </p:nvSpPr>
        <p:spPr>
          <a:xfrm>
            <a:off x="4149457" y="3262376"/>
            <a:ext cx="470239" cy="91694"/>
          </a:xfrm>
          <a:prstGeom prst="roundRect">
            <a:avLst>
              <a:gd name="adj" fmla="val 31163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69" name="Shape 64"/>
          <p:cNvSpPr/>
          <p:nvPr/>
        </p:nvSpPr>
        <p:spPr>
          <a:xfrm>
            <a:off x="4149457" y="3234690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4003576" y="306324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480</a:t>
            </a:r>
            <a:endParaRPr lang="en-US" sz="860" dirty="0"/>
          </a:p>
        </p:txBody>
      </p:sp>
      <p:sp>
        <p:nvSpPr>
          <p:cNvPr id="71" name="Text 66"/>
          <p:cNvSpPr txBox="1"/>
          <p:nvPr/>
        </p:nvSpPr>
        <p:spPr>
          <a:xfrm>
            <a:off x="401487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</a:t>
            </a:r>
            <a:endParaRPr lang="en-US" sz="830" dirty="0"/>
          </a:p>
        </p:txBody>
      </p:sp>
      <p:sp>
        <p:nvSpPr>
          <p:cNvPr id="72" name="Shape 67"/>
          <p:cNvSpPr/>
          <p:nvPr/>
        </p:nvSpPr>
        <p:spPr>
          <a:xfrm>
            <a:off x="4907907" y="4137946"/>
            <a:ext cx="470239" cy="757904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4907907" y="4137946"/>
            <a:ext cx="470239" cy="75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219</a:t>
            </a:r>
            <a:endParaRPr lang="en-US" sz="800" dirty="0"/>
          </a:p>
        </p:txBody>
      </p:sp>
      <p:sp>
        <p:nvSpPr>
          <p:cNvPr id="74" name="Shape 69"/>
          <p:cNvSpPr/>
          <p:nvPr/>
        </p:nvSpPr>
        <p:spPr>
          <a:xfrm>
            <a:off x="4907907" y="3753803"/>
            <a:ext cx="470239" cy="365093"/>
          </a:xfrm>
          <a:prstGeom prst="roundRect">
            <a:avLst>
              <a:gd name="adj" fmla="val 7827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75" name="Text 70"/>
          <p:cNvSpPr txBox="1"/>
          <p:nvPr/>
        </p:nvSpPr>
        <p:spPr>
          <a:xfrm>
            <a:off x="4907907" y="3753803"/>
            <a:ext cx="470239" cy="384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111</a:t>
            </a:r>
            <a:endParaRPr lang="en-US" sz="800" dirty="0"/>
          </a:p>
        </p:txBody>
      </p:sp>
      <p:sp>
        <p:nvSpPr>
          <p:cNvPr id="76" name="Shape 71"/>
          <p:cNvSpPr/>
          <p:nvPr/>
        </p:nvSpPr>
        <p:spPr>
          <a:xfrm>
            <a:off x="4907907" y="3698431"/>
            <a:ext cx="470239" cy="36322"/>
          </a:xfrm>
          <a:prstGeom prst="roundRect">
            <a:avLst>
              <a:gd name="adj" fmla="val 5000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77" name="Shape 72"/>
          <p:cNvSpPr/>
          <p:nvPr/>
        </p:nvSpPr>
        <p:spPr>
          <a:xfrm>
            <a:off x="4907907" y="3604990"/>
            <a:ext cx="470239" cy="74390"/>
          </a:xfrm>
          <a:prstGeom prst="roundRect">
            <a:avLst>
              <a:gd name="adj" fmla="val 38412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78" name="Shape 73"/>
          <p:cNvSpPr/>
          <p:nvPr/>
        </p:nvSpPr>
        <p:spPr>
          <a:xfrm>
            <a:off x="4907907" y="3585940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79" name="Text 74"/>
          <p:cNvSpPr txBox="1"/>
          <p:nvPr/>
        </p:nvSpPr>
        <p:spPr>
          <a:xfrm>
            <a:off x="4762027" y="341449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377</a:t>
            </a:r>
            <a:endParaRPr lang="en-US" sz="860" dirty="0"/>
          </a:p>
        </p:txBody>
      </p:sp>
      <p:sp>
        <p:nvSpPr>
          <p:cNvPr id="80" name="Text 75"/>
          <p:cNvSpPr txBox="1"/>
          <p:nvPr/>
        </p:nvSpPr>
        <p:spPr>
          <a:xfrm>
            <a:off x="4773327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81" name="Shape 76"/>
          <p:cNvSpPr/>
          <p:nvPr/>
        </p:nvSpPr>
        <p:spPr>
          <a:xfrm>
            <a:off x="5666357" y="3435414"/>
            <a:ext cx="470239" cy="1460436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82" name="Text 77"/>
          <p:cNvSpPr txBox="1"/>
          <p:nvPr/>
        </p:nvSpPr>
        <p:spPr>
          <a:xfrm>
            <a:off x="5666357" y="3435414"/>
            <a:ext cx="470239" cy="146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422</a:t>
            </a:r>
            <a:endParaRPr lang="en-US" sz="800" dirty="0"/>
          </a:p>
        </p:txBody>
      </p:sp>
      <p:sp>
        <p:nvSpPr>
          <p:cNvPr id="83" name="Shape 78"/>
          <p:cNvSpPr/>
          <p:nvPr/>
        </p:nvSpPr>
        <p:spPr>
          <a:xfrm>
            <a:off x="5666357" y="2985516"/>
            <a:ext cx="470239" cy="430848"/>
          </a:xfrm>
          <a:prstGeom prst="roundRect">
            <a:avLst>
              <a:gd name="adj" fmla="val 6632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84" name="Text 79"/>
          <p:cNvSpPr txBox="1"/>
          <p:nvPr/>
        </p:nvSpPr>
        <p:spPr>
          <a:xfrm>
            <a:off x="5666357" y="2985516"/>
            <a:ext cx="470239" cy="449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130</a:t>
            </a:r>
            <a:endParaRPr lang="en-US" sz="800" dirty="0"/>
          </a:p>
        </p:txBody>
      </p:sp>
      <p:sp>
        <p:nvSpPr>
          <p:cNvPr id="85" name="Shape 80"/>
          <p:cNvSpPr/>
          <p:nvPr/>
        </p:nvSpPr>
        <p:spPr>
          <a:xfrm>
            <a:off x="5666357" y="2892076"/>
            <a:ext cx="470239" cy="74390"/>
          </a:xfrm>
          <a:prstGeom prst="roundRect">
            <a:avLst>
              <a:gd name="adj" fmla="val 3841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86" name="Shape 81"/>
          <p:cNvSpPr/>
          <p:nvPr/>
        </p:nvSpPr>
        <p:spPr>
          <a:xfrm>
            <a:off x="5666357" y="2819400"/>
            <a:ext cx="470239" cy="53626"/>
          </a:xfrm>
          <a:prstGeom prst="roundRect">
            <a:avLst>
              <a:gd name="adj" fmla="val 50000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87" name="Text 82"/>
          <p:cNvSpPr txBox="1"/>
          <p:nvPr/>
        </p:nvSpPr>
        <p:spPr>
          <a:xfrm>
            <a:off x="5520477" y="264795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60" dirty="0"/>
          </a:p>
        </p:txBody>
      </p:sp>
      <p:sp>
        <p:nvSpPr>
          <p:cNvPr id="88" name="Text 83"/>
          <p:cNvSpPr txBox="1"/>
          <p:nvPr/>
        </p:nvSpPr>
        <p:spPr>
          <a:xfrm>
            <a:off x="5531777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Oct</a:t>
            </a:r>
            <a:endParaRPr lang="en-US" sz="830" dirty="0"/>
          </a:p>
        </p:txBody>
      </p:sp>
      <p:sp>
        <p:nvSpPr>
          <p:cNvPr id="89" name="Shape 84"/>
          <p:cNvSpPr/>
          <p:nvPr/>
        </p:nvSpPr>
        <p:spPr>
          <a:xfrm>
            <a:off x="971550" y="4895850"/>
            <a:ext cx="5309152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90" name="Shape 85"/>
          <p:cNvSpPr/>
          <p:nvPr/>
        </p:nvSpPr>
        <p:spPr>
          <a:xfrm>
            <a:off x="6642652" y="1714500"/>
            <a:ext cx="4406348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1" name="Text 86"/>
          <p:cNvSpPr txBox="1"/>
          <p:nvPr/>
        </p:nvSpPr>
        <p:spPr>
          <a:xfrm>
            <a:off x="6833152" y="1866900"/>
            <a:ext cx="4025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per day, last week vs the week before</a:t>
            </a:r>
            <a:endParaRPr lang="en-US" sz="1300" dirty="0"/>
          </a:p>
        </p:txBody>
      </p:sp>
      <p:sp>
        <p:nvSpPr>
          <p:cNvPr id="92" name="Text 87"/>
          <p:cNvSpPr txBox="1"/>
          <p:nvPr/>
        </p:nvSpPr>
        <p:spPr>
          <a:xfrm>
            <a:off x="6833152" y="2095500"/>
            <a:ext cx="40253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By join date</a:t>
            </a:r>
            <a:endParaRPr lang="en-US" sz="950" dirty="0"/>
          </a:p>
        </p:txBody>
      </p:sp>
      <p:sp>
        <p:nvSpPr>
          <p:cNvPr id="93" name="Shape 88"/>
          <p:cNvSpPr/>
          <p:nvPr/>
        </p:nvSpPr>
        <p:spPr>
          <a:xfrm>
            <a:off x="6852202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9AA592"/>
          </a:solidFill>
          <a:ln w="12700">
            <a:solidFill>
              <a:srgbClr val="9AA592"/>
            </a:solidFill>
            <a:prstDash val="solid"/>
          </a:ln>
        </p:spPr>
      </p:sp>
      <p:sp>
        <p:nvSpPr>
          <p:cNvPr id="94" name="Text 89"/>
          <p:cNvSpPr txBox="1"/>
          <p:nvPr/>
        </p:nvSpPr>
        <p:spPr>
          <a:xfrm>
            <a:off x="7004602" y="2381250"/>
            <a:ext cx="12988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before (5 Oct)</a:t>
            </a:r>
            <a:endParaRPr lang="en-US" sz="860" dirty="0"/>
          </a:p>
        </p:txBody>
      </p:sp>
      <p:sp>
        <p:nvSpPr>
          <p:cNvPr id="95" name="Shape 90"/>
          <p:cNvSpPr/>
          <p:nvPr/>
        </p:nvSpPr>
        <p:spPr>
          <a:xfrm>
            <a:off x="8303431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96" name="Text 91"/>
          <p:cNvSpPr txBox="1"/>
          <p:nvPr/>
        </p:nvSpPr>
        <p:spPr>
          <a:xfrm>
            <a:off x="8455831" y="2381250"/>
            <a:ext cx="12374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(12 Oct)</a:t>
            </a:r>
            <a:endParaRPr lang="en-US" sz="860" dirty="0"/>
          </a:p>
        </p:txBody>
      </p:sp>
      <p:sp>
        <p:nvSpPr>
          <p:cNvPr id="97" name="Shape 92"/>
          <p:cNvSpPr/>
          <p:nvPr/>
        </p:nvSpPr>
        <p:spPr>
          <a:xfrm>
            <a:off x="7233202" y="4914900"/>
            <a:ext cx="3491948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98" name="Text 93"/>
          <p:cNvSpPr txBox="1"/>
          <p:nvPr/>
        </p:nvSpPr>
        <p:spPr>
          <a:xfrm>
            <a:off x="6852202" y="483870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</a:t>
            </a:r>
            <a:endParaRPr lang="en-US" sz="800" dirty="0"/>
          </a:p>
        </p:txBody>
      </p:sp>
      <p:sp>
        <p:nvSpPr>
          <p:cNvPr id="99" name="Shape 94"/>
          <p:cNvSpPr/>
          <p:nvPr/>
        </p:nvSpPr>
        <p:spPr>
          <a:xfrm>
            <a:off x="7233202" y="3867150"/>
            <a:ext cx="3491948" cy="0"/>
          </a:xfrm>
          <a:prstGeom prst="line">
            <a:avLst/>
          </a:prstGeom>
          <a:noFill/>
          <a:ln w="9525">
            <a:solidFill>
              <a:srgbClr val="E3E8DE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6852202" y="379095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110</a:t>
            </a:r>
            <a:endParaRPr lang="en-US" sz="800" dirty="0"/>
          </a:p>
        </p:txBody>
      </p:sp>
      <p:sp>
        <p:nvSpPr>
          <p:cNvPr id="101" name="Shape 96"/>
          <p:cNvSpPr/>
          <p:nvPr/>
        </p:nvSpPr>
        <p:spPr>
          <a:xfrm>
            <a:off x="7233202" y="2819400"/>
            <a:ext cx="3491948" cy="0"/>
          </a:xfrm>
          <a:prstGeom prst="line">
            <a:avLst/>
          </a:prstGeom>
          <a:noFill/>
          <a:ln w="9525">
            <a:solidFill>
              <a:srgbClr val="E3E8DE"/>
            </a:solidFill>
            <a:prstDash val="solid"/>
          </a:ln>
        </p:spPr>
      </p:sp>
      <p:sp>
        <p:nvSpPr>
          <p:cNvPr id="102" name="Text 97"/>
          <p:cNvSpPr txBox="1"/>
          <p:nvPr/>
        </p:nvSpPr>
        <p:spPr>
          <a:xfrm>
            <a:off x="6852202" y="274320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220</a:t>
            </a:r>
            <a:endParaRPr lang="en-US" sz="800" dirty="0"/>
          </a:p>
        </p:txBody>
      </p:sp>
      <p:sp>
        <p:nvSpPr>
          <p:cNvPr id="103" name="Shape 98"/>
          <p:cNvSpPr/>
          <p:nvPr/>
        </p:nvSpPr>
        <p:spPr>
          <a:xfrm flipV="1">
            <a:off x="7309402" y="4286250"/>
            <a:ext cx="556591" cy="24765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4" name="Shape 99"/>
          <p:cNvSpPr/>
          <p:nvPr/>
        </p:nvSpPr>
        <p:spPr>
          <a:xfrm>
            <a:off x="7865993" y="4286250"/>
            <a:ext cx="556591" cy="3810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5" name="Shape 100"/>
          <p:cNvSpPr/>
          <p:nvPr/>
        </p:nvSpPr>
        <p:spPr>
          <a:xfrm flipV="1">
            <a:off x="8422585" y="4276725"/>
            <a:ext cx="556591" cy="47625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>
            <a:off x="8979176" y="4276725"/>
            <a:ext cx="556591" cy="142875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7" name="Shape 102"/>
          <p:cNvSpPr/>
          <p:nvPr/>
        </p:nvSpPr>
        <p:spPr>
          <a:xfrm flipV="1">
            <a:off x="9535767" y="4371975"/>
            <a:ext cx="556591" cy="47625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8" name="Shape 103"/>
          <p:cNvSpPr/>
          <p:nvPr/>
        </p:nvSpPr>
        <p:spPr>
          <a:xfrm>
            <a:off x="10092359" y="4371975"/>
            <a:ext cx="556591" cy="22860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9" name="Shape 104"/>
          <p:cNvSpPr/>
          <p:nvPr/>
        </p:nvSpPr>
        <p:spPr>
          <a:xfrm>
            <a:off x="7266540" y="449103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0" name="Shape 105"/>
          <p:cNvSpPr/>
          <p:nvPr/>
        </p:nvSpPr>
        <p:spPr>
          <a:xfrm>
            <a:off x="7823131" y="424338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1" name="Shape 106"/>
          <p:cNvSpPr/>
          <p:nvPr/>
        </p:nvSpPr>
        <p:spPr>
          <a:xfrm>
            <a:off x="8379722" y="428148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2" name="Shape 107"/>
          <p:cNvSpPr/>
          <p:nvPr/>
        </p:nvSpPr>
        <p:spPr>
          <a:xfrm>
            <a:off x="8936314" y="4233863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3" name="Text 108"/>
          <p:cNvSpPr txBox="1"/>
          <p:nvPr/>
        </p:nvSpPr>
        <p:spPr>
          <a:xfrm>
            <a:off x="8550551" y="4048125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67</a:t>
            </a:r>
            <a:endParaRPr lang="en-US" sz="860" dirty="0"/>
          </a:p>
        </p:txBody>
      </p:sp>
      <p:sp>
        <p:nvSpPr>
          <p:cNvPr id="114" name="Shape 109"/>
          <p:cNvSpPr/>
          <p:nvPr/>
        </p:nvSpPr>
        <p:spPr>
          <a:xfrm>
            <a:off x="9492905" y="437673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5" name="Shape 110"/>
          <p:cNvSpPr/>
          <p:nvPr/>
        </p:nvSpPr>
        <p:spPr>
          <a:xfrm>
            <a:off x="10049496" y="4329113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6" name="Shape 111"/>
          <p:cNvSpPr/>
          <p:nvPr/>
        </p:nvSpPr>
        <p:spPr>
          <a:xfrm>
            <a:off x="10606088" y="4557713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7" name="Shape 112"/>
          <p:cNvSpPr/>
          <p:nvPr/>
        </p:nvSpPr>
        <p:spPr>
          <a:xfrm flipV="1">
            <a:off x="7309402" y="4343400"/>
            <a:ext cx="556591" cy="15240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8" name="Shape 113"/>
          <p:cNvSpPr/>
          <p:nvPr/>
        </p:nvSpPr>
        <p:spPr>
          <a:xfrm flipV="1">
            <a:off x="7865993" y="3162300"/>
            <a:ext cx="556591" cy="118110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9" name="Shape 114"/>
          <p:cNvSpPr/>
          <p:nvPr/>
        </p:nvSpPr>
        <p:spPr>
          <a:xfrm>
            <a:off x="8422585" y="3162300"/>
            <a:ext cx="556591" cy="733425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0" name="Shape 115"/>
          <p:cNvSpPr/>
          <p:nvPr/>
        </p:nvSpPr>
        <p:spPr>
          <a:xfrm>
            <a:off x="8979176" y="3895725"/>
            <a:ext cx="556591" cy="352425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1" name="Shape 116"/>
          <p:cNvSpPr/>
          <p:nvPr/>
        </p:nvSpPr>
        <p:spPr>
          <a:xfrm flipV="1">
            <a:off x="9535767" y="4210050"/>
            <a:ext cx="556591" cy="3810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2" name="Shape 117"/>
          <p:cNvSpPr/>
          <p:nvPr/>
        </p:nvSpPr>
        <p:spPr>
          <a:xfrm>
            <a:off x="10092359" y="4210050"/>
            <a:ext cx="556591" cy="123825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3" name="Shape 118"/>
          <p:cNvSpPr/>
          <p:nvPr/>
        </p:nvSpPr>
        <p:spPr>
          <a:xfrm>
            <a:off x="7266540" y="445293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4" name="Text 119"/>
          <p:cNvSpPr txBox="1"/>
          <p:nvPr/>
        </p:nvSpPr>
        <p:spPr>
          <a:xfrm>
            <a:off x="6880777" y="42672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44</a:t>
            </a:r>
            <a:endParaRPr lang="en-US" sz="860" dirty="0"/>
          </a:p>
        </p:txBody>
      </p:sp>
      <p:sp>
        <p:nvSpPr>
          <p:cNvPr id="125" name="Shape 120"/>
          <p:cNvSpPr/>
          <p:nvPr/>
        </p:nvSpPr>
        <p:spPr>
          <a:xfrm>
            <a:off x="7823131" y="430053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6" name="Text 121"/>
          <p:cNvSpPr txBox="1"/>
          <p:nvPr/>
        </p:nvSpPr>
        <p:spPr>
          <a:xfrm>
            <a:off x="7437368" y="41148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</a:t>
            </a:r>
            <a:endParaRPr lang="en-US" sz="860" dirty="0"/>
          </a:p>
        </p:txBody>
      </p:sp>
      <p:sp>
        <p:nvSpPr>
          <p:cNvPr id="127" name="Shape 122"/>
          <p:cNvSpPr/>
          <p:nvPr/>
        </p:nvSpPr>
        <p:spPr>
          <a:xfrm>
            <a:off x="8379722" y="311943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8" name="Text 123"/>
          <p:cNvSpPr txBox="1"/>
          <p:nvPr/>
        </p:nvSpPr>
        <p:spPr>
          <a:xfrm>
            <a:off x="7993960" y="29337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184</a:t>
            </a:r>
            <a:endParaRPr lang="en-US" sz="860" dirty="0"/>
          </a:p>
        </p:txBody>
      </p:sp>
      <p:sp>
        <p:nvSpPr>
          <p:cNvPr id="129" name="Shape 124"/>
          <p:cNvSpPr/>
          <p:nvPr/>
        </p:nvSpPr>
        <p:spPr>
          <a:xfrm>
            <a:off x="8936314" y="3852863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0" name="Text 125"/>
          <p:cNvSpPr txBox="1"/>
          <p:nvPr/>
        </p:nvSpPr>
        <p:spPr>
          <a:xfrm>
            <a:off x="8550551" y="3667125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107</a:t>
            </a:r>
            <a:endParaRPr lang="en-US" sz="860" dirty="0"/>
          </a:p>
        </p:txBody>
      </p:sp>
      <p:sp>
        <p:nvSpPr>
          <p:cNvPr id="131" name="Shape 126"/>
          <p:cNvSpPr/>
          <p:nvPr/>
        </p:nvSpPr>
        <p:spPr>
          <a:xfrm>
            <a:off x="9492905" y="42052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2" name="Text 127"/>
          <p:cNvSpPr txBox="1"/>
          <p:nvPr/>
        </p:nvSpPr>
        <p:spPr>
          <a:xfrm>
            <a:off x="9107142" y="40195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70</a:t>
            </a:r>
            <a:endParaRPr lang="en-US" sz="860" dirty="0"/>
          </a:p>
        </p:txBody>
      </p:sp>
      <p:sp>
        <p:nvSpPr>
          <p:cNvPr id="133" name="Shape 128"/>
          <p:cNvSpPr/>
          <p:nvPr/>
        </p:nvSpPr>
        <p:spPr>
          <a:xfrm>
            <a:off x="10049496" y="41671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4" name="Text 129"/>
          <p:cNvSpPr txBox="1"/>
          <p:nvPr/>
        </p:nvSpPr>
        <p:spPr>
          <a:xfrm>
            <a:off x="9663734" y="39814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74</a:t>
            </a:r>
            <a:endParaRPr lang="en-US" sz="860" dirty="0"/>
          </a:p>
        </p:txBody>
      </p:sp>
      <p:sp>
        <p:nvSpPr>
          <p:cNvPr id="135" name="Shape 130"/>
          <p:cNvSpPr/>
          <p:nvPr/>
        </p:nvSpPr>
        <p:spPr>
          <a:xfrm>
            <a:off x="10606088" y="4291013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6" name="Text 131"/>
          <p:cNvSpPr txBox="1"/>
          <p:nvPr/>
        </p:nvSpPr>
        <p:spPr>
          <a:xfrm>
            <a:off x="10220325" y="4105275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61</a:t>
            </a:r>
            <a:endParaRPr lang="en-US" sz="860" dirty="0"/>
          </a:p>
        </p:txBody>
      </p:sp>
      <p:sp>
        <p:nvSpPr>
          <p:cNvPr id="137" name="Text 132"/>
          <p:cNvSpPr txBox="1"/>
          <p:nvPr/>
        </p:nvSpPr>
        <p:spPr>
          <a:xfrm>
            <a:off x="6928402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Mon</a:t>
            </a:r>
            <a:endParaRPr lang="en-US" sz="800" dirty="0"/>
          </a:p>
        </p:txBody>
      </p:sp>
      <p:sp>
        <p:nvSpPr>
          <p:cNvPr id="138" name="Text 133"/>
          <p:cNvSpPr txBox="1"/>
          <p:nvPr/>
        </p:nvSpPr>
        <p:spPr>
          <a:xfrm>
            <a:off x="7484993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Tue</a:t>
            </a:r>
            <a:endParaRPr lang="en-US" sz="800" dirty="0"/>
          </a:p>
        </p:txBody>
      </p:sp>
      <p:sp>
        <p:nvSpPr>
          <p:cNvPr id="139" name="Text 134"/>
          <p:cNvSpPr txBox="1"/>
          <p:nvPr/>
        </p:nvSpPr>
        <p:spPr>
          <a:xfrm>
            <a:off x="8041585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Wed</a:t>
            </a:r>
            <a:endParaRPr lang="en-US" sz="800" dirty="0"/>
          </a:p>
        </p:txBody>
      </p:sp>
      <p:sp>
        <p:nvSpPr>
          <p:cNvPr id="140" name="Text 135"/>
          <p:cNvSpPr txBox="1"/>
          <p:nvPr/>
        </p:nvSpPr>
        <p:spPr>
          <a:xfrm>
            <a:off x="8598176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Thu</a:t>
            </a:r>
            <a:endParaRPr lang="en-US" sz="800" dirty="0"/>
          </a:p>
        </p:txBody>
      </p:sp>
      <p:sp>
        <p:nvSpPr>
          <p:cNvPr id="141" name="Text 136"/>
          <p:cNvSpPr txBox="1"/>
          <p:nvPr/>
        </p:nvSpPr>
        <p:spPr>
          <a:xfrm>
            <a:off x="9154767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Fri</a:t>
            </a:r>
            <a:endParaRPr lang="en-US" sz="800" dirty="0"/>
          </a:p>
        </p:txBody>
      </p:sp>
      <p:sp>
        <p:nvSpPr>
          <p:cNvPr id="142" name="Text 137"/>
          <p:cNvSpPr txBox="1"/>
          <p:nvPr/>
        </p:nvSpPr>
        <p:spPr>
          <a:xfrm>
            <a:off x="9711359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</a:t>
            </a:r>
            <a:endParaRPr lang="en-US" sz="800" dirty="0"/>
          </a:p>
        </p:txBody>
      </p:sp>
      <p:sp>
        <p:nvSpPr>
          <p:cNvPr id="143" name="Text 138"/>
          <p:cNvSpPr txBox="1"/>
          <p:nvPr/>
        </p:nvSpPr>
        <p:spPr>
          <a:xfrm>
            <a:off x="10267950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Sun</a:t>
            </a:r>
            <a:endParaRPr lang="en-US" sz="800" dirty="0"/>
          </a:p>
        </p:txBody>
      </p:sp>
      <p:sp>
        <p:nvSpPr>
          <p:cNvPr id="144" name="Shape 139"/>
          <p:cNvSpPr/>
          <p:nvPr/>
        </p:nvSpPr>
        <p:spPr>
          <a:xfrm>
            <a:off x="762000" y="5391150"/>
            <a:ext cx="10287000" cy="723900"/>
          </a:xfrm>
          <a:prstGeom prst="roundRect">
            <a:avLst>
              <a:gd name="adj" fmla="val 15158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45" name="Text 140"/>
          <p:cNvSpPr txBox="1"/>
          <p:nvPr/>
        </p:nvSpPr>
        <p:spPr>
          <a:xfrm>
            <a:off x="933450" y="5476875"/>
            <a:ext cx="9944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had a spike: 184 farmers on Wed, against a high of 67 on any day the week before; the other days ran 44–107 a day.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Days: the file's weeks run from Monday morning to the next Monday morning; registrations before the cut on the next Monday are counted as Monday, so each day is a full 24 hours.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CHANNELS IN DETAIL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of 6 channels fell last week; 28% of new farmers have no phone number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3086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92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92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channel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5003800" cy="914400"/>
        </p:xfrm>
        <a:graphic>
          <a:graphicData uri="http://schemas.openxmlformats.org/drawingml/2006/table">
            <a:tbl>
              <a:tblPr/>
              <a:tblGrid>
                <a:gridCol w="1531776"/>
                <a:gridCol w="714829"/>
                <a:gridCol w="714829"/>
                <a:gridCol w="663769"/>
                <a:gridCol w="663769"/>
                <a:gridCol w="7148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Channel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4-week avg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Organic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219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422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+203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+93%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269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GADN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130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Identified Campaigns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−22%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 (under Duta)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Old Referral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+223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+59%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428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9"/>
          <p:cNvSpPr txBox="1"/>
          <p:nvPr/>
        </p:nvSpPr>
        <p:spPr>
          <a:xfrm>
            <a:off x="952500" y="5038725"/>
            <a:ext cx="49276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4-week avg = the 4 weeks before last week (14 Sep, 21 Sep, 28 Sep, 5 Oct).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6223000" y="1714500"/>
            <a:ext cx="48260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413500" y="1866900"/>
            <a:ext cx="44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 farmers by campaign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6413500" y="20955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Largest last week first</a:t>
            </a:r>
            <a:endParaRPr lang="en-US" sz="95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75400" y="2381250"/>
          <a:ext cx="4521200" cy="914400"/>
        </p:xfrm>
        <a:graphic>
          <a:graphicData uri="http://schemas.openxmlformats.org/drawingml/2006/table">
            <a:tbl>
              <a:tblPr/>
              <a:tblGrid>
                <a:gridCol w="2079752"/>
                <a:gridCol w="813816"/>
                <a:gridCol w="813816"/>
                <a:gridCol w="8138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Campaign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direct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+104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organic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+77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 Purchase Campaign - DG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App-Purchase-DG-Kalimantan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App-Register-Campaign-DG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petaniproapp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+33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 campaign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fb4a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Other 6 campaigns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3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Phone numbers: 167 of 600 farmers last week (28%) and 107 of 377 the week before registered without a phone number, so sales and Dutas cannot follow them up.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20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draft actions to grow farmer acquisition; owners and dates to be agreed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3345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Find out what drove Organic +203 and repeat it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93345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went 219 → 422, mostly “direct” (49 → 153). Check what happened that week (a broadcast, a post, an app release, a field event) and plan it again.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93345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423545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0690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Verify and call the 11 users above 100 ha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40690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They declared 44,617 ha between them; the area is as entered by the user and not yet validated. Confirm it on the call, then hand real estates to the plantation team.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40690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770890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88035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Get 395 new users to add a farm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788035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66% of last week's users have no farm, so location and hectares are unknown. Prompt them in the app and on the first call.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788035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762000" y="3667125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33450" y="3800475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Set a weekly farmer target per Duta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33450" y="4200525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 brought 0 farmers last week (4 the week before). Rudi, Edi Sutarsan, Hendrik Budianto, Simon, Meri, Muhammad Abdul Wahab, Satria K, Sazali Wandana registered none last week. Agree a weekly number per Duta and track it in this deck.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933450" y="5153025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4235450" y="3667125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06900" y="3800475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Make the phone number required at registration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4406900" y="4200525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28% of last week's farmers (167) have no phone number, so they cannot be followed up by sales or a Duta.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4406900" y="5153025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590550"/>
            <a:ext cx="2352675" cy="771525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0350" y="457200"/>
            <a:ext cx="1143000" cy="1143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0" y="276225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7" name="Text 2"/>
          <p:cNvSpPr txBox="1"/>
          <p:nvPr/>
        </p:nvSpPr>
        <p:spPr>
          <a:xfrm>
            <a:off x="0" y="38100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#TerusTumbuh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SawitPRO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Farmer Registrations, 12–18 Oct</dc:title>
  <dc:subject>PptxGenJS Presentation</dc:subject>
  <dc:creator>PptxGenJS</dc:creator>
  <cp:lastModifiedBy>PptxGenJS</cp:lastModifiedBy>
  <cp:revision>1</cp:revision>
  <dcterms:created xsi:type="dcterms:W3CDTF">2026-10-20T08:38:52Z</dcterms:created>
  <dcterms:modified xsi:type="dcterms:W3CDTF">2026-10-20T08:38:52Z</dcterms:modified>
</cp:coreProperties>
</file>