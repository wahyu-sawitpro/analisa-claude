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43450" y="3448050"/>
            <a:ext cx="7448550" cy="2447925"/>
          </a:xfrm>
          <a:prstGeom prst="rect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533775" y="3448050"/>
            <a:ext cx="2447925" cy="2447925"/>
          </a:xfrm>
          <a:prstGeom prst="ellipse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3609975"/>
            <a:ext cx="2114550" cy="21145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10300" y="3619500"/>
            <a:ext cx="561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Acquisition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6210300" y="4095750"/>
            <a:ext cx="56197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Registrations, 12–18 Oct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6210300" y="60007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of 12–18 Oct 2026 · vs 5–11 Oct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 farmers joined last week, +223 (+59%): 0 through Dutas (−4) and 600 without (+227)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4ECD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12–18 Oct, +223 (+59%) on 5–11 Oct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3718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5242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35242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non-Duta: +227 (+61%) on the week before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9817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341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1341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 a Duta: −4 (−100%) on the week before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915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439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87439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above 100 ha (4 the week before); 34% added a farm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62000" y="3009900"/>
            <a:ext cx="6191250" cy="310515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2500" y="3181350"/>
            <a:ext cx="58293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drove the rise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219 → 422 (+203), 91% of the 223 more farmers. “direct” 48 → 153, “organic” 46 → 126.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farmer came through a Duta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→ 0 under a Duta (0.0% of all). 0 of 8 Dutas registered a farmer last week; Rudi leads with 9 in 7 weeks. 6 of the 8 are internal team.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farmers, 0 estate owners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 farmers, of whom 124 also agents (28 the week before). 34% added a farm (median 2 ha); 395 have no farm or location yet.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users above 100 ha; Kalimantan grows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the week before (+7). Riau 53, Kalimantan Tengah 23 lead on location; Kalimantan 13 → 64. 2 of the 11 big users report 5,000 ha or more: check the entry before following up.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143750" y="3009900"/>
            <a:ext cx="3905250" cy="3105150"/>
          </a:xfrm>
          <a:prstGeom prst="roundRect">
            <a:avLst>
              <a:gd name="adj" fmla="val 3534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72350" y="3219450"/>
            <a:ext cx="3448050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950" b="1" spc="200" kern="0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LINE</a:t>
            </a:r>
            <a:endParaRPr lang="en-US" sz="9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carried the week: find what drove it and repeat it. Then get new users to add a farm, and get every Duta registering farmers each week.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D8E3C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counted by the week they registered. The week of 19 Oct is in progress and left out. Duta covers internal-team and external Dutas alike; estate owner = any role with OWNER; location = the user's first farm.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DUTA VS NON-DUTA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farmer came through a Duta last week (4 the week before); non-Duta 600 (+227)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 vs non-Duta, last week vs the week before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5–11 Oct vs 12–18 Oct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631674"/>
                <a:gridCol w="707059"/>
                <a:gridCol w="707059"/>
                <a:gridCol w="652670"/>
                <a:gridCol w="598280"/>
                <a:gridCol w="7070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Share last week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Internal-team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External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223000" y="1714500"/>
            <a:ext cx="4826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Duta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first; 7 weeks = 31 Aug – 12 Oct</a:t>
            </a:r>
            <a:endParaRPr lang="en-US" sz="9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1446784"/>
                <a:gridCol w="1085088"/>
                <a:gridCol w="678180"/>
                <a:gridCol w="678180"/>
                <a:gridCol w="6329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Type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 weeks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Rudi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Edi Sutarsan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Hendrik Budianto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Simon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Meri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Muhammad Abdul Wahab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Satria 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Sazali Wandana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Dutas: no farmer came through a Duta last week. 6 of the 8 Dutas with farmers in 7 weeks are internal team; external Dutas brought 2.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left out: the week of 19 Oct (101 farmers to 20 Oct) is still in progress, so last week is 12–18 Oct.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FARMERS VS ESTATE OWNERS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 farmers and 0 estate owners last week; farmer &amp; agent +96, and 34% added a farm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420833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50398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By user role, last week vs the week before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5039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5–11 Oct vs 12–18 Oct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116033" cy="914400"/>
        </p:xfrm>
        <a:graphic>
          <a:graphicData uri="http://schemas.openxmlformats.org/drawingml/2006/table">
            <a:tbl>
              <a:tblPr/>
              <a:tblGrid>
                <a:gridCol w="1762189"/>
                <a:gridCol w="738982"/>
                <a:gridCol w="738982"/>
                <a:gridCol w="682138"/>
                <a:gridCol w="625293"/>
                <a:gridCol w="5684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Share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Farmers (all non-owner roles)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Farmer only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+343%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Estate owners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Added a farm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No farm yet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395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+121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+44%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Median farm size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2.5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335233" y="1714500"/>
            <a:ext cx="4713767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525733" y="1866900"/>
            <a:ext cx="43327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by role, per week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525733" y="2095500"/>
            <a:ext cx="4332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 = any role with OWNER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544783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697183" y="2381250"/>
            <a:ext cx="5013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</a:t>
            </a:r>
            <a:endParaRPr lang="en-US" sz="860" dirty="0"/>
          </a:p>
        </p:txBody>
      </p:sp>
      <p:sp>
        <p:nvSpPr>
          <p:cNvPr id="20" name="Shape 14"/>
          <p:cNvSpPr/>
          <p:nvPr/>
        </p:nvSpPr>
        <p:spPr>
          <a:xfrm>
            <a:off x="7198579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50979" y="2381250"/>
            <a:ext cx="9921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&amp; agent</a:t>
            </a:r>
            <a:endParaRPr lang="en-US" sz="860" dirty="0"/>
          </a:p>
        </p:txBody>
      </p:sp>
      <p:sp>
        <p:nvSpPr>
          <p:cNvPr id="22" name="Shape 16"/>
          <p:cNvSpPr/>
          <p:nvPr/>
        </p:nvSpPr>
        <p:spPr>
          <a:xfrm>
            <a:off x="8343103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495503" y="2381250"/>
            <a:ext cx="869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</a:t>
            </a:r>
            <a:endParaRPr lang="en-US" sz="860" dirty="0"/>
          </a:p>
        </p:txBody>
      </p:sp>
      <p:sp>
        <p:nvSpPr>
          <p:cNvPr id="24" name="Shape 18"/>
          <p:cNvSpPr/>
          <p:nvPr/>
        </p:nvSpPr>
        <p:spPr>
          <a:xfrm>
            <a:off x="6661352" y="4430395"/>
            <a:ext cx="380385" cy="636905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661352" y="4430395"/>
            <a:ext cx="380385" cy="636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170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6661352" y="4318000"/>
            <a:ext cx="380385" cy="93345"/>
          </a:xfrm>
          <a:prstGeom prst="roundRect">
            <a:avLst>
              <a:gd name="adj" fmla="val 3061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61352" y="4298950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70545" y="41275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</a:t>
            </a:r>
            <a:endParaRPr lang="en-US" sz="860" dirty="0"/>
          </a:p>
        </p:txBody>
      </p:sp>
      <p:sp>
        <p:nvSpPr>
          <p:cNvPr id="29" name="Text 23"/>
          <p:cNvSpPr txBox="1"/>
          <p:nvPr/>
        </p:nvSpPr>
        <p:spPr>
          <a:xfrm>
            <a:off x="6554308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 Aug</a:t>
            </a:r>
            <a:endParaRPr lang="en-US" sz="830" dirty="0"/>
          </a:p>
        </p:txBody>
      </p:sp>
      <p:sp>
        <p:nvSpPr>
          <p:cNvPr id="30" name="Shape 24"/>
          <p:cNvSpPr/>
          <p:nvPr/>
        </p:nvSpPr>
        <p:spPr>
          <a:xfrm>
            <a:off x="7274876" y="4033266"/>
            <a:ext cx="380385" cy="1034034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274876" y="4033266"/>
            <a:ext cx="380385" cy="1034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276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274876" y="3962083"/>
            <a:ext cx="380385" cy="52134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084068" y="3790633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60" dirty="0"/>
          </a:p>
        </p:txBody>
      </p:sp>
      <p:sp>
        <p:nvSpPr>
          <p:cNvPr id="34" name="Text 28"/>
          <p:cNvSpPr txBox="1"/>
          <p:nvPr/>
        </p:nvSpPr>
        <p:spPr>
          <a:xfrm>
            <a:off x="7167831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Sep</a:t>
            </a:r>
            <a:endParaRPr lang="en-US" sz="830" dirty="0"/>
          </a:p>
        </p:txBody>
      </p:sp>
      <p:sp>
        <p:nvSpPr>
          <p:cNvPr id="35" name="Shape 29"/>
          <p:cNvSpPr/>
          <p:nvPr/>
        </p:nvSpPr>
        <p:spPr>
          <a:xfrm>
            <a:off x="7888400" y="3782251"/>
            <a:ext cx="380385" cy="1285049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888400" y="3782251"/>
            <a:ext cx="380385" cy="1285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343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7888400" y="3714814"/>
            <a:ext cx="380385" cy="48387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888400" y="3695763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697592" y="3524314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362</a:t>
            </a:r>
            <a:endParaRPr lang="en-US" sz="860" dirty="0"/>
          </a:p>
        </p:txBody>
      </p:sp>
      <p:sp>
        <p:nvSpPr>
          <p:cNvPr id="40" name="Text 34"/>
          <p:cNvSpPr txBox="1"/>
          <p:nvPr/>
        </p:nvSpPr>
        <p:spPr>
          <a:xfrm>
            <a:off x="7781355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Sep</a:t>
            </a:r>
            <a:endParaRPr lang="en-US" sz="830" dirty="0"/>
          </a:p>
        </p:txBody>
      </p:sp>
      <p:sp>
        <p:nvSpPr>
          <p:cNvPr id="41" name="Shape 35"/>
          <p:cNvSpPr/>
          <p:nvPr/>
        </p:nvSpPr>
        <p:spPr>
          <a:xfrm>
            <a:off x="8501924" y="3415093"/>
            <a:ext cx="380385" cy="1652207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501924" y="3415093"/>
            <a:ext cx="380385" cy="165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441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8501924" y="3235261"/>
            <a:ext cx="380385" cy="160782"/>
          </a:xfrm>
          <a:prstGeom prst="roundRect">
            <a:avLst>
              <a:gd name="adj" fmla="val 17773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501924" y="3235261"/>
            <a:ext cx="380385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8501924" y="3216212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8311116" y="304476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494</a:t>
            </a:r>
            <a:endParaRPr lang="en-US" sz="860" dirty="0"/>
          </a:p>
        </p:txBody>
      </p:sp>
      <p:sp>
        <p:nvSpPr>
          <p:cNvPr id="47" name="Text 41"/>
          <p:cNvSpPr txBox="1"/>
          <p:nvPr/>
        </p:nvSpPr>
        <p:spPr>
          <a:xfrm>
            <a:off x="8394879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Sep</a:t>
            </a:r>
            <a:endParaRPr lang="en-US" sz="830" dirty="0"/>
          </a:p>
        </p:txBody>
      </p:sp>
      <p:sp>
        <p:nvSpPr>
          <p:cNvPr id="48" name="Shape 42"/>
          <p:cNvSpPr/>
          <p:nvPr/>
        </p:nvSpPr>
        <p:spPr>
          <a:xfrm>
            <a:off x="9115448" y="3385122"/>
            <a:ext cx="380385" cy="1682178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115448" y="3385122"/>
            <a:ext cx="380385" cy="168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449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9115448" y="3276473"/>
            <a:ext cx="380385" cy="89599"/>
          </a:xfrm>
          <a:prstGeom prst="roundRect">
            <a:avLst>
              <a:gd name="adj" fmla="val 3189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115448" y="3257423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8924640" y="3085973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480</a:t>
            </a:r>
            <a:endParaRPr lang="en-US" sz="860" dirty="0"/>
          </a:p>
        </p:txBody>
      </p:sp>
      <p:sp>
        <p:nvSpPr>
          <p:cNvPr id="53" name="Text 47"/>
          <p:cNvSpPr txBox="1"/>
          <p:nvPr/>
        </p:nvSpPr>
        <p:spPr>
          <a:xfrm>
            <a:off x="9008403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54" name="Shape 48"/>
          <p:cNvSpPr/>
          <p:nvPr/>
        </p:nvSpPr>
        <p:spPr>
          <a:xfrm>
            <a:off x="9728972" y="3759772"/>
            <a:ext cx="380385" cy="1307529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9728972" y="3759772"/>
            <a:ext cx="380385" cy="1307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349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9728972" y="3654870"/>
            <a:ext cx="380385" cy="85852"/>
          </a:xfrm>
          <a:prstGeom prst="roundRect">
            <a:avLst>
              <a:gd name="adj" fmla="val 33284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9538164" y="348342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60" dirty="0"/>
          </a:p>
        </p:txBody>
      </p:sp>
      <p:sp>
        <p:nvSpPr>
          <p:cNvPr id="58" name="Text 52"/>
          <p:cNvSpPr txBox="1"/>
          <p:nvPr/>
        </p:nvSpPr>
        <p:spPr>
          <a:xfrm>
            <a:off x="9621927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59" name="Shape 53"/>
          <p:cNvSpPr/>
          <p:nvPr/>
        </p:nvSpPr>
        <p:spPr>
          <a:xfrm>
            <a:off x="10342496" y="3283966"/>
            <a:ext cx="380385" cy="1783334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10342496" y="3283966"/>
            <a:ext cx="380385" cy="178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476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10342496" y="2819400"/>
            <a:ext cx="380385" cy="445516"/>
          </a:xfrm>
          <a:prstGeom prst="roundRect">
            <a:avLst>
              <a:gd name="adj" fmla="val 751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10342496" y="2819400"/>
            <a:ext cx="380385" cy="46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124</a:t>
            </a:r>
            <a:endParaRPr lang="en-US" sz="800" dirty="0"/>
          </a:p>
        </p:txBody>
      </p:sp>
      <p:sp>
        <p:nvSpPr>
          <p:cNvPr id="63" name="Text 57"/>
          <p:cNvSpPr txBox="1"/>
          <p:nvPr/>
        </p:nvSpPr>
        <p:spPr>
          <a:xfrm>
            <a:off x="10151688" y="264795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64" name="Text 58"/>
          <p:cNvSpPr txBox="1"/>
          <p:nvPr/>
        </p:nvSpPr>
        <p:spPr>
          <a:xfrm>
            <a:off x="10235451" y="51149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65" name="Shape 59"/>
          <p:cNvSpPr/>
          <p:nvPr/>
        </p:nvSpPr>
        <p:spPr>
          <a:xfrm>
            <a:off x="6544783" y="5067300"/>
            <a:ext cx="4294667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owners are rare: 9 in 7 weeks (0 last week, 0 the week before); almost every registration is a farmer. Farmer &amp; agent went 28 → 124.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 details: 395 of 600 (66%) registered without a farm, so their location and hectares are unknown (week before 73%).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WHERE USERS ARE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Riau leads with 53 users who added a farm; Kalimantan 13 → 64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4943707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5627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with a farm, by province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562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week; week before in grey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971550" y="2381250"/>
            <a:ext cx="3794611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Riau</a:t>
            </a:r>
            <a:endParaRPr lang="en-US" sz="940" dirty="0"/>
          </a:p>
        </p:txBody>
      </p:sp>
      <p:sp>
        <p:nvSpPr>
          <p:cNvPr id="15" name="Text 10"/>
          <p:cNvSpPr txBox="1"/>
          <p:nvPr/>
        </p:nvSpPr>
        <p:spPr>
          <a:xfrm>
            <a:off x="5324707" y="23812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53</a:t>
            </a:r>
            <a:endParaRPr lang="en-US" sz="940" dirty="0"/>
          </a:p>
        </p:txBody>
      </p:sp>
      <p:sp>
        <p:nvSpPr>
          <p:cNvPr id="16" name="Text 11"/>
          <p:cNvSpPr txBox="1"/>
          <p:nvPr/>
        </p:nvSpPr>
        <p:spPr>
          <a:xfrm>
            <a:off x="4823311" y="2381250"/>
            <a:ext cx="425196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41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971550" y="25934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71550" y="25934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71550" y="2724150"/>
            <a:ext cx="3855952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Tengah</a:t>
            </a:r>
            <a:endParaRPr lang="en-US" sz="940" dirty="0"/>
          </a:p>
        </p:txBody>
      </p:sp>
      <p:sp>
        <p:nvSpPr>
          <p:cNvPr id="20" name="Text 15"/>
          <p:cNvSpPr txBox="1"/>
          <p:nvPr/>
        </p:nvSpPr>
        <p:spPr>
          <a:xfrm>
            <a:off x="5324707" y="27241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</a:t>
            </a:r>
            <a:endParaRPr lang="en-US" sz="940" dirty="0"/>
          </a:p>
        </p:txBody>
      </p:sp>
      <p:sp>
        <p:nvSpPr>
          <p:cNvPr id="21" name="Text 16"/>
          <p:cNvSpPr txBox="1"/>
          <p:nvPr/>
        </p:nvSpPr>
        <p:spPr>
          <a:xfrm>
            <a:off x="4884652" y="27241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3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971550" y="29363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1550" y="2936367"/>
            <a:ext cx="196350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71550" y="3067050"/>
            <a:ext cx="3855952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Barat</a:t>
            </a:r>
            <a:endParaRPr lang="en-US" sz="940" dirty="0"/>
          </a:p>
        </p:txBody>
      </p:sp>
      <p:sp>
        <p:nvSpPr>
          <p:cNvPr id="25" name="Text 20"/>
          <p:cNvSpPr txBox="1"/>
          <p:nvPr/>
        </p:nvSpPr>
        <p:spPr>
          <a:xfrm>
            <a:off x="5324707" y="30670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</a:t>
            </a:r>
            <a:endParaRPr lang="en-US" sz="940" dirty="0"/>
          </a:p>
        </p:txBody>
      </p:sp>
      <p:sp>
        <p:nvSpPr>
          <p:cNvPr id="26" name="Text 21"/>
          <p:cNvSpPr txBox="1"/>
          <p:nvPr/>
        </p:nvSpPr>
        <p:spPr>
          <a:xfrm>
            <a:off x="4884652" y="30670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7</a:t>
            </a:r>
            <a:endParaRPr lang="en-US" sz="860" dirty="0"/>
          </a:p>
        </p:txBody>
      </p:sp>
      <p:sp>
        <p:nvSpPr>
          <p:cNvPr id="27" name="Shape 22"/>
          <p:cNvSpPr/>
          <p:nvPr/>
        </p:nvSpPr>
        <p:spPr>
          <a:xfrm>
            <a:off x="971550" y="32792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71550" y="3279267"/>
            <a:ext cx="187813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71550" y="3409950"/>
            <a:ext cx="3794611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Sumatera Utara</a:t>
            </a:r>
            <a:endParaRPr lang="en-US" sz="940" dirty="0"/>
          </a:p>
        </p:txBody>
      </p:sp>
      <p:sp>
        <p:nvSpPr>
          <p:cNvPr id="30" name="Text 25"/>
          <p:cNvSpPr txBox="1"/>
          <p:nvPr/>
        </p:nvSpPr>
        <p:spPr>
          <a:xfrm>
            <a:off x="5324707" y="34099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940" dirty="0"/>
          </a:p>
        </p:txBody>
      </p:sp>
      <p:sp>
        <p:nvSpPr>
          <p:cNvPr id="31" name="Text 26"/>
          <p:cNvSpPr txBox="1"/>
          <p:nvPr/>
        </p:nvSpPr>
        <p:spPr>
          <a:xfrm>
            <a:off x="4823311" y="3409950"/>
            <a:ext cx="425196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11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971550" y="36221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71550" y="3622167"/>
            <a:ext cx="153665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71550" y="3752850"/>
            <a:ext cx="3794611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Jambi</a:t>
            </a:r>
            <a:endParaRPr lang="en-US" sz="940" dirty="0"/>
          </a:p>
        </p:txBody>
      </p:sp>
      <p:sp>
        <p:nvSpPr>
          <p:cNvPr id="35" name="Text 30"/>
          <p:cNvSpPr txBox="1"/>
          <p:nvPr/>
        </p:nvSpPr>
        <p:spPr>
          <a:xfrm>
            <a:off x="5324707" y="37528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940" dirty="0"/>
          </a:p>
        </p:txBody>
      </p:sp>
      <p:sp>
        <p:nvSpPr>
          <p:cNvPr id="36" name="Text 31"/>
          <p:cNvSpPr txBox="1"/>
          <p:nvPr/>
        </p:nvSpPr>
        <p:spPr>
          <a:xfrm>
            <a:off x="4823311" y="3752850"/>
            <a:ext cx="425196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10</a:t>
            </a:r>
            <a:endParaRPr lang="en-US" sz="860" dirty="0"/>
          </a:p>
        </p:txBody>
      </p:sp>
      <p:sp>
        <p:nvSpPr>
          <p:cNvPr id="37" name="Shape 32"/>
          <p:cNvSpPr/>
          <p:nvPr/>
        </p:nvSpPr>
        <p:spPr>
          <a:xfrm>
            <a:off x="971550" y="39650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71550" y="3965067"/>
            <a:ext cx="145128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71550" y="4095750"/>
            <a:ext cx="3855952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Sumatera Selatan</a:t>
            </a:r>
            <a:endParaRPr lang="en-US" sz="940" dirty="0"/>
          </a:p>
        </p:txBody>
      </p:sp>
      <p:sp>
        <p:nvSpPr>
          <p:cNvPr id="40" name="Text 35"/>
          <p:cNvSpPr txBox="1"/>
          <p:nvPr/>
        </p:nvSpPr>
        <p:spPr>
          <a:xfrm>
            <a:off x="5324707" y="40957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940" dirty="0"/>
          </a:p>
        </p:txBody>
      </p:sp>
      <p:sp>
        <p:nvSpPr>
          <p:cNvPr id="41" name="Text 36"/>
          <p:cNvSpPr txBox="1"/>
          <p:nvPr/>
        </p:nvSpPr>
        <p:spPr>
          <a:xfrm>
            <a:off x="4884652" y="40957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8</a:t>
            </a:r>
            <a:endParaRPr lang="en-US" sz="860" dirty="0"/>
          </a:p>
        </p:txBody>
      </p:sp>
      <p:sp>
        <p:nvSpPr>
          <p:cNvPr id="42" name="Shape 37"/>
          <p:cNvSpPr/>
          <p:nvPr/>
        </p:nvSpPr>
        <p:spPr>
          <a:xfrm>
            <a:off x="971550" y="43079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71550" y="4307967"/>
            <a:ext cx="136591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71550" y="4438650"/>
            <a:ext cx="3855952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Timur</a:t>
            </a:r>
            <a:endParaRPr lang="en-US" sz="940" dirty="0"/>
          </a:p>
        </p:txBody>
      </p:sp>
      <p:sp>
        <p:nvSpPr>
          <p:cNvPr id="45" name="Text 40"/>
          <p:cNvSpPr txBox="1"/>
          <p:nvPr/>
        </p:nvSpPr>
        <p:spPr>
          <a:xfrm>
            <a:off x="5324707" y="44386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940" dirty="0"/>
          </a:p>
        </p:txBody>
      </p:sp>
      <p:sp>
        <p:nvSpPr>
          <p:cNvPr id="46" name="Text 41"/>
          <p:cNvSpPr txBox="1"/>
          <p:nvPr/>
        </p:nvSpPr>
        <p:spPr>
          <a:xfrm>
            <a:off x="4884652" y="44386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2</a:t>
            </a:r>
            <a:endParaRPr lang="en-US" sz="860" dirty="0"/>
          </a:p>
        </p:txBody>
      </p:sp>
      <p:sp>
        <p:nvSpPr>
          <p:cNvPr id="47" name="Shape 42"/>
          <p:cNvSpPr/>
          <p:nvPr/>
        </p:nvSpPr>
        <p:spPr>
          <a:xfrm>
            <a:off x="971550" y="46508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971550" y="4650867"/>
            <a:ext cx="110980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971550" y="4781550"/>
            <a:ext cx="3855952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Bengkulu</a:t>
            </a:r>
            <a:endParaRPr lang="en-US" sz="940" dirty="0"/>
          </a:p>
        </p:txBody>
      </p:sp>
      <p:sp>
        <p:nvSpPr>
          <p:cNvPr id="50" name="Text 45"/>
          <p:cNvSpPr txBox="1"/>
          <p:nvPr/>
        </p:nvSpPr>
        <p:spPr>
          <a:xfrm>
            <a:off x="5324707" y="4781550"/>
            <a:ext cx="171450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940" dirty="0"/>
          </a:p>
        </p:txBody>
      </p:sp>
      <p:sp>
        <p:nvSpPr>
          <p:cNvPr id="51" name="Text 46"/>
          <p:cNvSpPr txBox="1"/>
          <p:nvPr/>
        </p:nvSpPr>
        <p:spPr>
          <a:xfrm>
            <a:off x="4884652" y="47815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5</a:t>
            </a:r>
            <a:endParaRPr lang="en-US" sz="860" dirty="0"/>
          </a:p>
        </p:txBody>
      </p:sp>
      <p:sp>
        <p:nvSpPr>
          <p:cNvPr id="52" name="Shape 47"/>
          <p:cNvSpPr/>
          <p:nvPr/>
        </p:nvSpPr>
        <p:spPr>
          <a:xfrm>
            <a:off x="971550" y="49937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971550" y="4993767"/>
            <a:ext cx="853699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971550" y="5124450"/>
            <a:ext cx="3922627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Aceh</a:t>
            </a:r>
            <a:endParaRPr lang="en-US" sz="940" dirty="0"/>
          </a:p>
        </p:txBody>
      </p:sp>
      <p:sp>
        <p:nvSpPr>
          <p:cNvPr id="55" name="Text 50"/>
          <p:cNvSpPr txBox="1"/>
          <p:nvPr/>
        </p:nvSpPr>
        <p:spPr>
          <a:xfrm>
            <a:off x="5391382" y="5124450"/>
            <a:ext cx="10477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940" dirty="0"/>
          </a:p>
        </p:txBody>
      </p:sp>
      <p:sp>
        <p:nvSpPr>
          <p:cNvPr id="56" name="Text 51"/>
          <p:cNvSpPr txBox="1"/>
          <p:nvPr/>
        </p:nvSpPr>
        <p:spPr>
          <a:xfrm>
            <a:off x="4951327" y="5124450"/>
            <a:ext cx="363855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4</a:t>
            </a:r>
            <a:endParaRPr lang="en-US" sz="860" dirty="0"/>
          </a:p>
        </p:txBody>
      </p:sp>
      <p:sp>
        <p:nvSpPr>
          <p:cNvPr id="57" name="Shape 52"/>
          <p:cNvSpPr/>
          <p:nvPr/>
        </p:nvSpPr>
        <p:spPr>
          <a:xfrm>
            <a:off x="971550" y="5336667"/>
            <a:ext cx="4524607" cy="92583"/>
          </a:xfrm>
          <a:prstGeom prst="roundRect">
            <a:avLst>
              <a:gd name="adj" fmla="val 30864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971550" y="5336667"/>
            <a:ext cx="512220" cy="92583"/>
          </a:xfrm>
          <a:prstGeom prst="roundRect">
            <a:avLst>
              <a:gd name="adj" fmla="val 3086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858107" y="1714500"/>
            <a:ext cx="5190893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048607" y="1866900"/>
            <a:ext cx="48098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Top regencies last week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6048607" y="2095500"/>
            <a:ext cx="480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who added a farm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0507" y="2381250"/>
          <a:ext cx="4886093" cy="914400"/>
        </p:xfrm>
        <a:graphic>
          <a:graphicData uri="http://schemas.openxmlformats.org/drawingml/2006/table">
            <a:tbl>
              <a:tblPr/>
              <a:tblGrid>
                <a:gridCol w="1465828"/>
                <a:gridCol w="1465828"/>
                <a:gridCol w="684053"/>
                <a:gridCol w="684053"/>
                <a:gridCol w="58633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Rokan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Ketapang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Sanggau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Kotawaringin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Bengkalis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Kuantan Singingi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Lamandau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Langkat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762000" y="5734050"/>
            <a:ext cx="10287000" cy="381000"/>
          </a:xfrm>
          <a:prstGeom prst="roundRect">
            <a:avLst>
              <a:gd name="adj" fmla="val 28800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933450" y="5819775"/>
            <a:ext cx="994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Location is known only for users who added a farm: 205 of 600 last week; 395 more have no location yet.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users above 100 ha last week, +7 on the week before (4); 2 of them report 5,000 ha or more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371850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988337"/>
                <a:gridCol w="790669"/>
                <a:gridCol w="1284838"/>
                <a:gridCol w="988337"/>
                <a:gridCol w="593002"/>
                <a:gridCol w="1581339"/>
                <a:gridCol w="1482505"/>
                <a:gridCol w="1383671"/>
                <a:gridCol w="8895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 ID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Hectares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Channel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Type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b30b6071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68,000 *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Rokan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GADN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de88ee14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20,000 *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bbf5d599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 *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Berau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e2b0ef41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6,604 *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Musi Banyuasin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Selatan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d41991e9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3,400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f1d148c1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Seluma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9dd1187e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Gunung Mas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ff757ea4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Kota Jambi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Jambi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5fdb489b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Nias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Identified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e2cc1307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Langkat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22b8f19e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&amp; agent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Tapanuli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219700"/>
            <a:ext cx="10287000" cy="895350"/>
          </a:xfrm>
          <a:prstGeom prst="roundRect">
            <a:avLst>
              <a:gd name="adj" fmla="val 12255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305425"/>
            <a:ext cx="9944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users above 100 ha last week (4 the week before, +7), 49 in all 7 weeks. Last week's 11 declared 44,617 ha; 9 report under 5,000 ha (9,617 ha). 4 smaller ones are not shown.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Reading the table: users are shown by the first 8 characters of their user ID, no names or phones. * 5,000 ha or more for one account is likely an entry error (m² or a company estate): check before following up.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WHAT MOVED THE TOTAL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explains 91% of the rise (+203); Identified Campaigns −6, Duta −4 fell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 week before to last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registered, by acquisition channel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104356" y="3468751"/>
            <a:ext cx="398417" cy="1484249"/>
          </a:xfrm>
          <a:prstGeom prst="roundRect">
            <a:avLst>
              <a:gd name="adj" fmla="val 7172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7314" y="3297301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502773" y="3468751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981075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18" name="Shape 13"/>
          <p:cNvSpPr/>
          <p:nvPr/>
        </p:nvSpPr>
        <p:spPr>
          <a:xfrm>
            <a:off x="1768384" y="3468751"/>
            <a:ext cx="398417" cy="2362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491343" y="3297301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−6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2166801" y="3492373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1645104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Campaigns</a:t>
            </a:r>
            <a:endParaRPr lang="en-US" sz="830" dirty="0"/>
          </a:p>
        </p:txBody>
      </p:sp>
      <p:sp>
        <p:nvSpPr>
          <p:cNvPr id="22" name="Shape 17"/>
          <p:cNvSpPr/>
          <p:nvPr/>
        </p:nvSpPr>
        <p:spPr>
          <a:xfrm>
            <a:off x="2432413" y="3492373"/>
            <a:ext cx="398417" cy="1905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155371" y="3320923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2830830" y="3508121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2309132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30" dirty="0"/>
          </a:p>
        </p:txBody>
      </p:sp>
      <p:sp>
        <p:nvSpPr>
          <p:cNvPr id="26" name="Shape 21"/>
          <p:cNvSpPr/>
          <p:nvPr/>
        </p:nvSpPr>
        <p:spPr>
          <a:xfrm>
            <a:off x="3096441" y="3464814"/>
            <a:ext cx="398417" cy="43307"/>
          </a:xfrm>
          <a:prstGeom prst="roundRect">
            <a:avLst>
              <a:gd name="adj" fmla="val 5000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819400" y="3293364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+11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3494859" y="3464814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9" name="Text 24"/>
          <p:cNvSpPr txBox="1"/>
          <p:nvPr/>
        </p:nvSpPr>
        <p:spPr>
          <a:xfrm>
            <a:off x="2973161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30" dirty="0"/>
          </a:p>
        </p:txBody>
      </p:sp>
      <p:sp>
        <p:nvSpPr>
          <p:cNvPr id="30" name="Shape 25"/>
          <p:cNvSpPr/>
          <p:nvPr/>
        </p:nvSpPr>
        <p:spPr>
          <a:xfrm>
            <a:off x="3760470" y="3390011"/>
            <a:ext cx="398417" cy="74803"/>
          </a:xfrm>
          <a:prstGeom prst="roundRect">
            <a:avLst>
              <a:gd name="adj" fmla="val 3820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483429" y="3218561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+19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4158887" y="3390011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3" name="Text 28"/>
          <p:cNvSpPr txBox="1"/>
          <p:nvPr/>
        </p:nvSpPr>
        <p:spPr>
          <a:xfrm>
            <a:off x="3637189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GADN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4424499" y="2590800"/>
            <a:ext cx="398417" cy="799211"/>
          </a:xfrm>
          <a:prstGeom prst="roundRect">
            <a:avLst>
              <a:gd name="adj" fmla="val 717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147457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+203</a:t>
            </a:r>
            <a:endParaRPr lang="en-US" sz="860" dirty="0"/>
          </a:p>
        </p:txBody>
      </p:sp>
      <p:sp>
        <p:nvSpPr>
          <p:cNvPr id="36" name="Shape 31"/>
          <p:cNvSpPr/>
          <p:nvPr/>
        </p:nvSpPr>
        <p:spPr>
          <a:xfrm>
            <a:off x="4822916" y="2590800"/>
            <a:ext cx="265611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7" name="Text 32"/>
          <p:cNvSpPr txBox="1"/>
          <p:nvPr/>
        </p:nvSpPr>
        <p:spPr>
          <a:xfrm>
            <a:off x="4301218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30" dirty="0"/>
          </a:p>
        </p:txBody>
      </p:sp>
      <p:sp>
        <p:nvSpPr>
          <p:cNvPr id="38" name="Shape 33"/>
          <p:cNvSpPr/>
          <p:nvPr/>
        </p:nvSpPr>
        <p:spPr>
          <a:xfrm>
            <a:off x="5088527" y="2590800"/>
            <a:ext cx="398417" cy="2362200"/>
          </a:xfrm>
          <a:prstGeom prst="roundRect">
            <a:avLst>
              <a:gd name="adj" fmla="val 717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811486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40" name="Text 35"/>
          <p:cNvSpPr txBox="1"/>
          <p:nvPr/>
        </p:nvSpPr>
        <p:spPr>
          <a:xfrm>
            <a:off x="4965246" y="5000625"/>
            <a:ext cx="644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41" name="Shape 36"/>
          <p:cNvSpPr/>
          <p:nvPr/>
        </p:nvSpPr>
        <p:spPr>
          <a:xfrm>
            <a:off x="971550" y="4953000"/>
            <a:ext cx="464820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9817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1722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moves by campaign, non-Duta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1722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Change in farmers; hover for week before → last week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9229725" y="2381250"/>
            <a:ext cx="0" cy="259080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191250" y="23812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broadcast 500k farmer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9161961" y="2466975"/>
            <a:ext cx="58239" cy="152400"/>
          </a:xfrm>
          <a:prstGeom prst="roundRect">
            <a:avLst>
              <a:gd name="adj" fmla="val 49065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590461" y="23812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−6</a:t>
            </a:r>
            <a:endParaRPr lang="en-US" sz="860" dirty="0"/>
          </a:p>
        </p:txBody>
      </p:sp>
      <p:sp>
        <p:nvSpPr>
          <p:cNvPr id="49" name="Text 44"/>
          <p:cNvSpPr txBox="1"/>
          <p:nvPr/>
        </p:nvSpPr>
        <p:spPr>
          <a:xfrm>
            <a:off x="6191250" y="27051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ig4a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9191081" y="2790825"/>
            <a:ext cx="29119" cy="152400"/>
          </a:xfrm>
          <a:prstGeom prst="roundRect">
            <a:avLst>
              <a:gd name="adj" fmla="val 5000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619581" y="27051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</a:t>
            </a:r>
            <a:endParaRPr lang="en-US" sz="860" dirty="0"/>
          </a:p>
        </p:txBody>
      </p:sp>
      <p:sp>
        <p:nvSpPr>
          <p:cNvPr id="52" name="Text 47"/>
          <p:cNvSpPr txBox="1"/>
          <p:nvPr/>
        </p:nvSpPr>
        <p:spPr>
          <a:xfrm>
            <a:off x="6191250" y="30289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App-Register-Campaig…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9200787" y="3114675"/>
            <a:ext cx="19413" cy="1524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629287" y="30289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</a:t>
            </a:r>
            <a:endParaRPr lang="en-US" sz="860" dirty="0"/>
          </a:p>
        </p:txBody>
      </p:sp>
      <p:sp>
        <p:nvSpPr>
          <p:cNvPr id="55" name="Text 50"/>
          <p:cNvSpPr txBox="1"/>
          <p:nvPr/>
        </p:nvSpPr>
        <p:spPr>
          <a:xfrm>
            <a:off x="6191250" y="33528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article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9200787" y="3438525"/>
            <a:ext cx="19413" cy="1524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629287" y="33528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</a:t>
            </a:r>
            <a:endParaRPr lang="en-US" sz="860" dirty="0"/>
          </a:p>
        </p:txBody>
      </p:sp>
      <p:sp>
        <p:nvSpPr>
          <p:cNvPr id="58" name="Text 53"/>
          <p:cNvSpPr txBox="1"/>
          <p:nvPr/>
        </p:nvSpPr>
        <p:spPr>
          <a:xfrm>
            <a:off x="6191250" y="36766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cpc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9201150" y="3762375"/>
            <a:ext cx="19050" cy="1524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8629650" y="36766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</a:t>
            </a:r>
            <a:endParaRPr lang="en-US" sz="860" dirty="0"/>
          </a:p>
        </p:txBody>
      </p:sp>
      <p:sp>
        <p:nvSpPr>
          <p:cNvPr id="61" name="Text 56"/>
          <p:cNvSpPr txBox="1"/>
          <p:nvPr/>
        </p:nvSpPr>
        <p:spPr>
          <a:xfrm>
            <a:off x="6191250" y="40005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petaniproapp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9239250" y="4086225"/>
            <a:ext cx="262074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539424" y="40005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+27</a:t>
            </a:r>
            <a:endParaRPr lang="en-US" sz="860" dirty="0"/>
          </a:p>
        </p:txBody>
      </p:sp>
      <p:sp>
        <p:nvSpPr>
          <p:cNvPr id="64" name="Text 59"/>
          <p:cNvSpPr txBox="1"/>
          <p:nvPr/>
        </p:nvSpPr>
        <p:spPr>
          <a:xfrm>
            <a:off x="6191250" y="43243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9239250" y="4410075"/>
            <a:ext cx="776514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10053864" y="43243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+80</a:t>
            </a:r>
            <a:endParaRPr lang="en-US" sz="860" dirty="0"/>
          </a:p>
        </p:txBody>
      </p:sp>
      <p:sp>
        <p:nvSpPr>
          <p:cNvPr id="67" name="Text 62"/>
          <p:cNvSpPr txBox="1"/>
          <p:nvPr/>
        </p:nvSpPr>
        <p:spPr>
          <a:xfrm>
            <a:off x="6191250" y="46482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9239250" y="4733925"/>
            <a:ext cx="1019175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10296525" y="46482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+105</a:t>
            </a:r>
            <a:endParaRPr lang="en-US" sz="860" dirty="0"/>
          </a:p>
        </p:txBody>
      </p:sp>
      <p:sp>
        <p:nvSpPr>
          <p:cNvPr id="70" name="Shape 65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from 219 to 422; the largest campaign gain is “direct” (48 → 153).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Fell against the trend: Identified Campaigns 27 → 21, Duta 4 → 0.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7-WEEK TREND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is +40% on the 4-week average (428); the peak was 600 in the week of 12 Oct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728252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5347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per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5347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 weeks start on Monday; the week of 19 Oct is left out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971550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23950" y="2381250"/>
            <a:ext cx="56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686687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839087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GADN</a:t>
            </a:r>
            <a:endParaRPr lang="en-US" sz="860" dirty="0"/>
          </a:p>
        </p:txBody>
      </p:sp>
      <p:sp>
        <p:nvSpPr>
          <p:cNvPr id="18" name="Shape 13"/>
          <p:cNvSpPr/>
          <p:nvPr/>
        </p:nvSpPr>
        <p:spPr>
          <a:xfrm>
            <a:off x="2217801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370201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274891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901315" y="2381250"/>
            <a:ext cx="1360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 Campaigns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426148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13885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4792599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944999" y="2381250"/>
            <a:ext cx="869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Old Referral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1115656" y="4439031"/>
            <a:ext cx="470239" cy="456819"/>
          </a:xfrm>
          <a:prstGeom prst="roundRect">
            <a:avLst>
              <a:gd name="adj" fmla="val 6255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115656" y="4439031"/>
            <a:ext cx="470239" cy="45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132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115656" y="4307523"/>
            <a:ext cx="470239" cy="112459"/>
          </a:xfrm>
          <a:prstGeom prst="roundRect">
            <a:avLst>
              <a:gd name="adj" fmla="val 25409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15656" y="4217543"/>
            <a:ext cx="470239" cy="70930"/>
          </a:xfrm>
          <a:prstGeom prst="roundRect">
            <a:avLst>
              <a:gd name="adj" fmla="val 40286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115656" y="4198493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15656" y="4179443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115656" y="4160393"/>
            <a:ext cx="470239" cy="14288"/>
          </a:xfrm>
          <a:prstGeom prst="rect">
            <a:avLst/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69775" y="3988943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</a:t>
            </a:r>
            <a:endParaRPr lang="en-US" sz="860" dirty="0"/>
          </a:p>
        </p:txBody>
      </p:sp>
      <p:sp>
        <p:nvSpPr>
          <p:cNvPr id="34" name="Text 29"/>
          <p:cNvSpPr txBox="1"/>
          <p:nvPr/>
        </p:nvSpPr>
        <p:spPr>
          <a:xfrm>
            <a:off x="98107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 Aug</a:t>
            </a:r>
            <a:endParaRPr lang="en-US" sz="830" dirty="0"/>
          </a:p>
        </p:txBody>
      </p:sp>
      <p:sp>
        <p:nvSpPr>
          <p:cNvPr id="35" name="Shape 30"/>
          <p:cNvSpPr/>
          <p:nvPr/>
        </p:nvSpPr>
        <p:spPr>
          <a:xfrm>
            <a:off x="1874106" y="4328287"/>
            <a:ext cx="470239" cy="56756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874106" y="4328287"/>
            <a:ext cx="470239" cy="56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164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74106" y="4030662"/>
            <a:ext cx="470239" cy="278575"/>
          </a:xfrm>
          <a:prstGeom prst="roundRect">
            <a:avLst>
              <a:gd name="adj" fmla="val 10258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874106" y="4030662"/>
            <a:ext cx="470239" cy="29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86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1874106" y="3892233"/>
            <a:ext cx="470239" cy="119380"/>
          </a:xfrm>
          <a:prstGeom prst="roundRect">
            <a:avLst>
              <a:gd name="adj" fmla="val 23936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874106" y="3873183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874106" y="3854132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728225" y="368268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60" dirty="0"/>
          </a:p>
        </p:txBody>
      </p:sp>
      <p:sp>
        <p:nvSpPr>
          <p:cNvPr id="43" name="Text 38"/>
          <p:cNvSpPr txBox="1"/>
          <p:nvPr/>
        </p:nvSpPr>
        <p:spPr>
          <a:xfrm>
            <a:off x="173952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Sep</a:t>
            </a:r>
            <a:endParaRPr lang="en-US" sz="830" dirty="0"/>
          </a:p>
        </p:txBody>
      </p:sp>
      <p:sp>
        <p:nvSpPr>
          <p:cNvPr id="44" name="Shape 39"/>
          <p:cNvSpPr/>
          <p:nvPr/>
        </p:nvSpPr>
        <p:spPr>
          <a:xfrm>
            <a:off x="2632556" y="4189857"/>
            <a:ext cx="470239" cy="70599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2632556" y="4189857"/>
            <a:ext cx="470239" cy="70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204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2632556" y="3864547"/>
            <a:ext cx="470239" cy="306261"/>
          </a:xfrm>
          <a:prstGeom prst="roundRect">
            <a:avLst>
              <a:gd name="adj" fmla="val 9330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2632556" y="3864547"/>
            <a:ext cx="470239" cy="325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94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2632556" y="3667284"/>
            <a:ext cx="470239" cy="178213"/>
          </a:xfrm>
          <a:prstGeom prst="roundRect">
            <a:avLst>
              <a:gd name="adj" fmla="val 16034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2632556" y="3667284"/>
            <a:ext cx="470239" cy="197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57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2632556" y="3648234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632556" y="3629184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2486676" y="3457734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362</a:t>
            </a:r>
            <a:endParaRPr lang="en-US" sz="860" dirty="0"/>
          </a:p>
        </p:txBody>
      </p:sp>
      <p:sp>
        <p:nvSpPr>
          <p:cNvPr id="53" name="Text 48"/>
          <p:cNvSpPr txBox="1"/>
          <p:nvPr/>
        </p:nvSpPr>
        <p:spPr>
          <a:xfrm>
            <a:off x="24979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Sep</a:t>
            </a:r>
            <a:endParaRPr lang="en-US" sz="830" dirty="0"/>
          </a:p>
        </p:txBody>
      </p:sp>
      <p:sp>
        <p:nvSpPr>
          <p:cNvPr id="54" name="Shape 49"/>
          <p:cNvSpPr/>
          <p:nvPr/>
        </p:nvSpPr>
        <p:spPr>
          <a:xfrm>
            <a:off x="3391006" y="3729577"/>
            <a:ext cx="470239" cy="116627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3391006" y="3729577"/>
            <a:ext cx="470239" cy="11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337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3391006" y="3400806"/>
            <a:ext cx="470239" cy="309721"/>
          </a:xfrm>
          <a:prstGeom prst="roundRect">
            <a:avLst>
              <a:gd name="adj" fmla="val 9226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3391006" y="3400806"/>
            <a:ext cx="470239" cy="328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3391006" y="3272758"/>
            <a:ext cx="470239" cy="108998"/>
          </a:xfrm>
          <a:prstGeom prst="roundRect">
            <a:avLst>
              <a:gd name="adj" fmla="val 26216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391006" y="3193161"/>
            <a:ext cx="470239" cy="60547"/>
          </a:xfrm>
          <a:prstGeom prst="roundRect">
            <a:avLst>
              <a:gd name="adj" fmla="val 47195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3391006" y="3174111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3245126" y="3002661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494</a:t>
            </a:r>
            <a:endParaRPr lang="en-US" sz="860" dirty="0"/>
          </a:p>
        </p:txBody>
      </p:sp>
      <p:sp>
        <p:nvSpPr>
          <p:cNvPr id="62" name="Text 57"/>
          <p:cNvSpPr txBox="1"/>
          <p:nvPr/>
        </p:nvSpPr>
        <p:spPr>
          <a:xfrm>
            <a:off x="325642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Sep</a:t>
            </a:r>
            <a:endParaRPr lang="en-US" sz="830" dirty="0"/>
          </a:p>
        </p:txBody>
      </p:sp>
      <p:sp>
        <p:nvSpPr>
          <p:cNvPr id="63" name="Shape 58"/>
          <p:cNvSpPr/>
          <p:nvPr/>
        </p:nvSpPr>
        <p:spPr>
          <a:xfrm>
            <a:off x="4149457" y="3809175"/>
            <a:ext cx="470239" cy="1086676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4149457" y="3809175"/>
            <a:ext cx="470239" cy="108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314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4149457" y="3459639"/>
            <a:ext cx="470239" cy="330486"/>
          </a:xfrm>
          <a:prstGeom prst="roundRect">
            <a:avLst>
              <a:gd name="adj" fmla="val 8646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4149457" y="3459639"/>
            <a:ext cx="470239" cy="34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101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4149457" y="3373120"/>
            <a:ext cx="470239" cy="67469"/>
          </a:xfrm>
          <a:prstGeom prst="roundRect">
            <a:avLst>
              <a:gd name="adj" fmla="val 42353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149457" y="3262376"/>
            <a:ext cx="470239" cy="91694"/>
          </a:xfrm>
          <a:prstGeom prst="roundRect">
            <a:avLst>
              <a:gd name="adj" fmla="val 31163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4149457" y="3234690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4003576" y="306324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480</a:t>
            </a:r>
            <a:endParaRPr lang="en-US" sz="860" dirty="0"/>
          </a:p>
        </p:txBody>
      </p:sp>
      <p:sp>
        <p:nvSpPr>
          <p:cNvPr id="71" name="Text 66"/>
          <p:cNvSpPr txBox="1"/>
          <p:nvPr/>
        </p:nvSpPr>
        <p:spPr>
          <a:xfrm>
            <a:off x="40148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72" name="Shape 67"/>
          <p:cNvSpPr/>
          <p:nvPr/>
        </p:nvSpPr>
        <p:spPr>
          <a:xfrm>
            <a:off x="4907907" y="4137946"/>
            <a:ext cx="470239" cy="757904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4907907" y="4137946"/>
            <a:ext cx="470239" cy="75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219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4907907" y="3753803"/>
            <a:ext cx="470239" cy="365093"/>
          </a:xfrm>
          <a:prstGeom prst="roundRect">
            <a:avLst>
              <a:gd name="adj" fmla="val 7827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4907907" y="3753803"/>
            <a:ext cx="470239" cy="38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111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4907907" y="3698431"/>
            <a:ext cx="470239" cy="36322"/>
          </a:xfrm>
          <a:prstGeom prst="roundRect">
            <a:avLst>
              <a:gd name="adj" fmla="val 5000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907907" y="3604990"/>
            <a:ext cx="470239" cy="74390"/>
          </a:xfrm>
          <a:prstGeom prst="roundRect">
            <a:avLst>
              <a:gd name="adj" fmla="val 3841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4907907" y="3585940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4762027" y="341449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60" dirty="0"/>
          </a:p>
        </p:txBody>
      </p:sp>
      <p:sp>
        <p:nvSpPr>
          <p:cNvPr id="80" name="Text 75"/>
          <p:cNvSpPr txBox="1"/>
          <p:nvPr/>
        </p:nvSpPr>
        <p:spPr>
          <a:xfrm>
            <a:off x="477332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81" name="Shape 76"/>
          <p:cNvSpPr/>
          <p:nvPr/>
        </p:nvSpPr>
        <p:spPr>
          <a:xfrm>
            <a:off x="5666357" y="3435414"/>
            <a:ext cx="470239" cy="1460436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5666357" y="3435414"/>
            <a:ext cx="470239" cy="146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422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5666357" y="2985516"/>
            <a:ext cx="470239" cy="430848"/>
          </a:xfrm>
          <a:prstGeom prst="roundRect">
            <a:avLst>
              <a:gd name="adj" fmla="val 6632"/>
            </a:avLst>
          </a:prstGeom>
          <a:solidFill>
            <a:srgbClr val="2B7BB0"/>
          </a:solidFill>
          <a:ln w="12700">
            <a:solidFill>
              <a:srgbClr val="2B7BB0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5666357" y="2985516"/>
            <a:ext cx="470239" cy="449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130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5666357" y="2892076"/>
            <a:ext cx="470239" cy="74390"/>
          </a:xfrm>
          <a:prstGeom prst="roundRect">
            <a:avLst>
              <a:gd name="adj" fmla="val 3841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5666357" y="2819400"/>
            <a:ext cx="470239" cy="53626"/>
          </a:xfrm>
          <a:prstGeom prst="roundRect">
            <a:avLst>
              <a:gd name="adj" fmla="val 50000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5520477" y="264795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88" name="Text 83"/>
          <p:cNvSpPr txBox="1"/>
          <p:nvPr/>
        </p:nvSpPr>
        <p:spPr>
          <a:xfrm>
            <a:off x="553177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89" name="Shape 84"/>
          <p:cNvSpPr/>
          <p:nvPr/>
        </p:nvSpPr>
        <p:spPr>
          <a:xfrm>
            <a:off x="971550" y="4895850"/>
            <a:ext cx="5309152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6642652" y="1714500"/>
            <a:ext cx="4406348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6833152" y="1866900"/>
            <a:ext cx="4025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per day, last week vs the week before</a:t>
            </a:r>
            <a:endParaRPr lang="en-US" sz="1300" dirty="0"/>
          </a:p>
        </p:txBody>
      </p:sp>
      <p:sp>
        <p:nvSpPr>
          <p:cNvPr id="92" name="Text 87"/>
          <p:cNvSpPr txBox="1"/>
          <p:nvPr/>
        </p:nvSpPr>
        <p:spPr>
          <a:xfrm>
            <a:off x="6833152" y="2095500"/>
            <a:ext cx="4025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By join date</a:t>
            </a:r>
            <a:endParaRPr lang="en-US" sz="950" dirty="0"/>
          </a:p>
        </p:txBody>
      </p:sp>
      <p:sp>
        <p:nvSpPr>
          <p:cNvPr id="93" name="Shape 88"/>
          <p:cNvSpPr/>
          <p:nvPr/>
        </p:nvSpPr>
        <p:spPr>
          <a:xfrm>
            <a:off x="6852202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9AA592"/>
          </a:solidFill>
          <a:ln w="12700">
            <a:solidFill>
              <a:srgbClr val="9AA592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7004602" y="2381250"/>
            <a:ext cx="1298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before (5 Oct)</a:t>
            </a:r>
            <a:endParaRPr lang="en-US" sz="860" dirty="0"/>
          </a:p>
        </p:txBody>
      </p:sp>
      <p:sp>
        <p:nvSpPr>
          <p:cNvPr id="95" name="Shape 90"/>
          <p:cNvSpPr/>
          <p:nvPr/>
        </p:nvSpPr>
        <p:spPr>
          <a:xfrm>
            <a:off x="8303431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8455831" y="2381250"/>
            <a:ext cx="1237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(12 Oct)</a:t>
            </a:r>
            <a:endParaRPr lang="en-US" sz="860" dirty="0"/>
          </a:p>
        </p:txBody>
      </p:sp>
      <p:sp>
        <p:nvSpPr>
          <p:cNvPr id="97" name="Shape 92"/>
          <p:cNvSpPr/>
          <p:nvPr/>
        </p:nvSpPr>
        <p:spPr>
          <a:xfrm>
            <a:off x="7233202" y="4914900"/>
            <a:ext cx="3491948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98" name="Text 93"/>
          <p:cNvSpPr txBox="1"/>
          <p:nvPr/>
        </p:nvSpPr>
        <p:spPr>
          <a:xfrm>
            <a:off x="6852202" y="48387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endParaRPr lang="en-US" sz="800" dirty="0"/>
          </a:p>
        </p:txBody>
      </p:sp>
      <p:sp>
        <p:nvSpPr>
          <p:cNvPr id="99" name="Shape 94"/>
          <p:cNvSpPr/>
          <p:nvPr/>
        </p:nvSpPr>
        <p:spPr>
          <a:xfrm>
            <a:off x="7233202" y="386715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100" name="Text 95"/>
          <p:cNvSpPr txBox="1"/>
          <p:nvPr/>
        </p:nvSpPr>
        <p:spPr>
          <a:xfrm>
            <a:off x="6852202" y="37909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110</a:t>
            </a:r>
            <a:endParaRPr lang="en-US" sz="800" dirty="0"/>
          </a:p>
        </p:txBody>
      </p:sp>
      <p:sp>
        <p:nvSpPr>
          <p:cNvPr id="101" name="Shape 96"/>
          <p:cNvSpPr/>
          <p:nvPr/>
        </p:nvSpPr>
        <p:spPr>
          <a:xfrm>
            <a:off x="7233202" y="281940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6852202" y="2743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220</a:t>
            </a:r>
            <a:endParaRPr lang="en-US" sz="800" dirty="0"/>
          </a:p>
        </p:txBody>
      </p:sp>
      <p:sp>
        <p:nvSpPr>
          <p:cNvPr id="103" name="Shape 98"/>
          <p:cNvSpPr/>
          <p:nvPr/>
        </p:nvSpPr>
        <p:spPr>
          <a:xfrm flipV="1">
            <a:off x="7309402" y="4286250"/>
            <a:ext cx="556591" cy="24765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7865993" y="4286250"/>
            <a:ext cx="556591" cy="3810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 flipV="1">
            <a:off x="8422585" y="4276725"/>
            <a:ext cx="556591" cy="47625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8979176" y="4276725"/>
            <a:ext cx="556591" cy="142875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 flipV="1">
            <a:off x="9535767" y="4371975"/>
            <a:ext cx="556591" cy="47625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92359" y="4371975"/>
            <a:ext cx="556591" cy="228600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7266540" y="449103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823131" y="424338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8379722" y="428148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8936314" y="4233863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3" name="Text 108"/>
          <p:cNvSpPr txBox="1"/>
          <p:nvPr/>
        </p:nvSpPr>
        <p:spPr>
          <a:xfrm>
            <a:off x="8550551" y="404812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67</a:t>
            </a:r>
            <a:endParaRPr lang="en-US" sz="860" dirty="0"/>
          </a:p>
        </p:txBody>
      </p:sp>
      <p:sp>
        <p:nvSpPr>
          <p:cNvPr id="114" name="Shape 109"/>
          <p:cNvSpPr/>
          <p:nvPr/>
        </p:nvSpPr>
        <p:spPr>
          <a:xfrm>
            <a:off x="9492905" y="437673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10049496" y="4329113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10606088" y="4557713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 flipV="1">
            <a:off x="7309402" y="4343400"/>
            <a:ext cx="556591" cy="15240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 flipV="1">
            <a:off x="7865993" y="3162300"/>
            <a:ext cx="556591" cy="118110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8422585" y="3162300"/>
            <a:ext cx="556591" cy="733425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8979176" y="3895725"/>
            <a:ext cx="556591" cy="352425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 flipV="1">
            <a:off x="9535767" y="4210050"/>
            <a:ext cx="556591" cy="38100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10092359" y="4210050"/>
            <a:ext cx="556591" cy="123825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7266540" y="445293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4" name="Text 119"/>
          <p:cNvSpPr txBox="1"/>
          <p:nvPr/>
        </p:nvSpPr>
        <p:spPr>
          <a:xfrm>
            <a:off x="6880777" y="42672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</a:t>
            </a:r>
            <a:endParaRPr lang="en-US" sz="860" dirty="0"/>
          </a:p>
        </p:txBody>
      </p:sp>
      <p:sp>
        <p:nvSpPr>
          <p:cNvPr id="125" name="Shape 120"/>
          <p:cNvSpPr/>
          <p:nvPr/>
        </p:nvSpPr>
        <p:spPr>
          <a:xfrm>
            <a:off x="7823131" y="430053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7437368" y="41148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</a:t>
            </a:r>
            <a:endParaRPr lang="en-US" sz="860" dirty="0"/>
          </a:p>
        </p:txBody>
      </p:sp>
      <p:sp>
        <p:nvSpPr>
          <p:cNvPr id="127" name="Shape 122"/>
          <p:cNvSpPr/>
          <p:nvPr/>
        </p:nvSpPr>
        <p:spPr>
          <a:xfrm>
            <a:off x="8379722" y="311943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3"/>
          <p:cNvSpPr txBox="1"/>
          <p:nvPr/>
        </p:nvSpPr>
        <p:spPr>
          <a:xfrm>
            <a:off x="7993960" y="293370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184</a:t>
            </a:r>
            <a:endParaRPr lang="en-US" sz="860" dirty="0"/>
          </a:p>
        </p:txBody>
      </p:sp>
      <p:sp>
        <p:nvSpPr>
          <p:cNvPr id="129" name="Shape 124"/>
          <p:cNvSpPr/>
          <p:nvPr/>
        </p:nvSpPr>
        <p:spPr>
          <a:xfrm>
            <a:off x="8936314" y="3852863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5"/>
          <p:cNvSpPr txBox="1"/>
          <p:nvPr/>
        </p:nvSpPr>
        <p:spPr>
          <a:xfrm>
            <a:off x="8550551" y="366712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107</a:t>
            </a:r>
            <a:endParaRPr lang="en-US" sz="860" dirty="0"/>
          </a:p>
        </p:txBody>
      </p:sp>
      <p:sp>
        <p:nvSpPr>
          <p:cNvPr id="131" name="Shape 126"/>
          <p:cNvSpPr/>
          <p:nvPr/>
        </p:nvSpPr>
        <p:spPr>
          <a:xfrm>
            <a:off x="9492905" y="42052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2" name="Text 127"/>
          <p:cNvSpPr txBox="1"/>
          <p:nvPr/>
        </p:nvSpPr>
        <p:spPr>
          <a:xfrm>
            <a:off x="9107142" y="40195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</a:t>
            </a:r>
            <a:endParaRPr lang="en-US" sz="860" dirty="0"/>
          </a:p>
        </p:txBody>
      </p:sp>
      <p:sp>
        <p:nvSpPr>
          <p:cNvPr id="133" name="Shape 128"/>
          <p:cNvSpPr/>
          <p:nvPr/>
        </p:nvSpPr>
        <p:spPr>
          <a:xfrm>
            <a:off x="10049496" y="4167188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4" name="Text 129"/>
          <p:cNvSpPr txBox="1"/>
          <p:nvPr/>
        </p:nvSpPr>
        <p:spPr>
          <a:xfrm>
            <a:off x="9663734" y="3981450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74</a:t>
            </a:r>
            <a:endParaRPr lang="en-US" sz="860" dirty="0"/>
          </a:p>
        </p:txBody>
      </p:sp>
      <p:sp>
        <p:nvSpPr>
          <p:cNvPr id="135" name="Shape 130"/>
          <p:cNvSpPr/>
          <p:nvPr/>
        </p:nvSpPr>
        <p:spPr>
          <a:xfrm>
            <a:off x="10606088" y="4291013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1"/>
          <p:cNvSpPr txBox="1"/>
          <p:nvPr/>
        </p:nvSpPr>
        <p:spPr>
          <a:xfrm>
            <a:off x="10220325" y="410527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61</a:t>
            </a:r>
            <a:endParaRPr lang="en-US" sz="860" dirty="0"/>
          </a:p>
        </p:txBody>
      </p:sp>
      <p:sp>
        <p:nvSpPr>
          <p:cNvPr id="137" name="Text 132"/>
          <p:cNvSpPr txBox="1"/>
          <p:nvPr/>
        </p:nvSpPr>
        <p:spPr>
          <a:xfrm>
            <a:off x="6928402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7484993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Tue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8041585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Wed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8598176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Thu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9154767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Fri</a:t>
            </a:r>
            <a:endParaRPr lang="en-US" sz="800" dirty="0"/>
          </a:p>
        </p:txBody>
      </p:sp>
      <p:sp>
        <p:nvSpPr>
          <p:cNvPr id="142" name="Text 137"/>
          <p:cNvSpPr txBox="1"/>
          <p:nvPr/>
        </p:nvSpPr>
        <p:spPr>
          <a:xfrm>
            <a:off x="9711359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</a:t>
            </a:r>
            <a:endParaRPr lang="en-US" sz="800" dirty="0"/>
          </a:p>
        </p:txBody>
      </p:sp>
      <p:sp>
        <p:nvSpPr>
          <p:cNvPr id="143" name="Text 138"/>
          <p:cNvSpPr txBox="1"/>
          <p:nvPr/>
        </p:nvSpPr>
        <p:spPr>
          <a:xfrm>
            <a:off x="10267950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Sun</a:t>
            </a:r>
            <a:endParaRPr lang="en-US" sz="800" dirty="0"/>
          </a:p>
        </p:txBody>
      </p:sp>
      <p:sp>
        <p:nvSpPr>
          <p:cNvPr id="144" name="Shape 139"/>
          <p:cNvSpPr/>
          <p:nvPr/>
        </p:nvSpPr>
        <p:spPr>
          <a:xfrm>
            <a:off x="762000" y="5391150"/>
            <a:ext cx="10287000" cy="723900"/>
          </a:xfrm>
          <a:prstGeom prst="roundRect">
            <a:avLst>
              <a:gd name="adj" fmla="val 15158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5" name="Text 140"/>
          <p:cNvSpPr txBox="1"/>
          <p:nvPr/>
        </p:nvSpPr>
        <p:spPr>
          <a:xfrm>
            <a:off x="933450" y="5476875"/>
            <a:ext cx="9944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had a spike: 184 farmers on Wed, against a high of 67 on any day the week before; the other days ran 44–107 a day.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Days: the file's weeks run from Monday morning to the next Monday morning; registrations before the cut on the next Monday are counted as Monday, so each day is a full 24 hours.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CHANNELS IN DETAIL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of 6 channels fell last week; 28% of new farmers have no phone number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channel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531776"/>
                <a:gridCol w="714829"/>
                <a:gridCol w="714829"/>
                <a:gridCol w="663769"/>
                <a:gridCol w="663769"/>
                <a:gridCol w="7148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Channel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4-week avg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422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+203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269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GADN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130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Identified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−22%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 (under Duta)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Old Referral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428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952500" y="5038725"/>
            <a:ext cx="4927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4-week avg = the 4 weeks before last week (14 Sep, 21 Sep, 28 Sep, 5 Oct).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23000" y="1714500"/>
            <a:ext cx="4826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 farmers by campaign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last week first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2079752"/>
                <a:gridCol w="813816"/>
                <a:gridCol w="813816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5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direct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 Purchase Campaign - 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App-Purchase-DG-Kalimantan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App-Register-Campaign-DG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petaniproapp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fb4a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Other 6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3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Phone numbers: 167 of 600 farmers last week (28%) and 107 of 377 the week before registered without a phone number, so sales and Dutas cannot follow them up.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20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draft actions to grow farmer acquisition; owners and dates to be agreed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34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Find out what drove Organic +203 and repeat it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34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219 → 422, mostly “direct” (48 → 153). Check what happened that week (a broadcast, a post, an app release, a field event) and plan it again.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9334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3545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0690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Verify and call the 11 users above 100 ha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40690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They declared 44,617 ha between them; 2 report 5,000 ha or more, likely an entry error. Confirm the area, then hand real estates to the plantation team.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40690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7089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8803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Get 395 new users to add a farm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8803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66% of last week's users have no farm, so location and hectares are unknown. Prompt them in the app and on the first call.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8803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6200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345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Set a weekly farmer target per Duta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3345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0 farmers last week (4 the week before). Rudi, Edi Sutarsan, Hendrik Budianto, Simon, Meri, Muhammad Abdul Wahab, Satria K, Sazali Wandana registered none last week. Agree a weekly number per Duta and track it in this deck.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93345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23545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40690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Make the phone number required at registration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40690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28% of last week's farmers (167) have no phone number, so they cannot be followed up by sales or a Duta.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40690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457200"/>
            <a:ext cx="1143000" cy="1143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0" y="276225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2"/>
          <p:cNvSpPr txBox="1"/>
          <p:nvPr/>
        </p:nvSpPr>
        <p:spPr>
          <a:xfrm>
            <a:off x="0" y="3810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#TerusTumbuh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SawitPRO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Farmer Registrations, 12–18 Oct</dc:title>
  <dc:subject>PptxGenJS Presentation</dc:subject>
  <dc:creator>PptxGenJS</dc:creator>
  <cp:lastModifiedBy>PptxGenJS</cp:lastModifiedBy>
  <cp:revision>1</cp:revision>
  <dcterms:created xsi:type="dcterms:W3CDTF">2026-10-20T07:59:17Z</dcterms:created>
  <dcterms:modified xsi:type="dcterms:W3CDTF">2026-10-20T07:59:17Z</dcterms:modified>
</cp:coreProperties>
</file>