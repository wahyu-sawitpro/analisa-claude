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43450" y="3448050"/>
            <a:ext cx="7448550" cy="2447925"/>
          </a:xfrm>
          <a:prstGeom prst="rect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3533775" y="3448050"/>
            <a:ext cx="2447925" cy="2447925"/>
          </a:xfrm>
          <a:prstGeom prst="ellipse">
            <a:avLst/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3609975"/>
            <a:ext cx="2114550" cy="211455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210300" y="3619500"/>
            <a:ext cx="5619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Acquisition</a:t>
            </a:r>
            <a:endParaRPr lang="en-US" sz="2600" dirty="0"/>
          </a:p>
        </p:txBody>
      </p:sp>
      <p:sp>
        <p:nvSpPr>
          <p:cNvPr id="8" name="Text 3"/>
          <p:cNvSpPr txBox="1"/>
          <p:nvPr/>
        </p:nvSpPr>
        <p:spPr>
          <a:xfrm>
            <a:off x="6210300" y="4095750"/>
            <a:ext cx="56197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 Registrations, 19–25 Oct</a:t>
            </a:r>
            <a:endParaRPr lang="en-US" sz="3400" dirty="0"/>
          </a:p>
        </p:txBody>
      </p:sp>
      <p:sp>
        <p:nvSpPr>
          <p:cNvPr id="9" name="Text 4"/>
          <p:cNvSpPr txBox="1"/>
          <p:nvPr/>
        </p:nvSpPr>
        <p:spPr>
          <a:xfrm>
            <a:off x="6210300" y="6000750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of 19–25 Oct 2026 · vs 12–18 Oct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1,626 farmers joined last week, +1,026 (+171%): 11 through Dutas (+11) and 1,615 without (+1,015)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4A653B"/>
          </a:solidFill>
          <a:ln w="12700">
            <a:solidFill>
              <a:srgbClr val="4A653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144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1,626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3" name="Text 8"/>
          <p:cNvSpPr txBox="1"/>
          <p:nvPr/>
        </p:nvSpPr>
        <p:spPr>
          <a:xfrm>
            <a:off x="9144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4ECDD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19–25 Oct, +1,026 (+171%) on 12–18 Oct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3718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35242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1,615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6" name="Text 11"/>
          <p:cNvSpPr txBox="1"/>
          <p:nvPr/>
        </p:nvSpPr>
        <p:spPr>
          <a:xfrm>
            <a:off x="35242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non-Duta: +1,015 (+169%) on the week before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98170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13410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613410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under a Duta: +11 (–) on the week before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8591550" y="1714500"/>
            <a:ext cx="2438400" cy="1123950"/>
          </a:xfrm>
          <a:prstGeom prst="roundRect">
            <a:avLst>
              <a:gd name="adj" fmla="val 97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743950" y="1828800"/>
            <a:ext cx="213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</a:t>
            </a:r>
            <a:pPr indent="0" marL="0">
              <a:buNone/>
            </a:pPr>
            <a:endParaRPr lang="en-US" sz="2800" dirty="0"/>
          </a:p>
        </p:txBody>
      </p:sp>
      <p:sp>
        <p:nvSpPr>
          <p:cNvPr id="22" name="Text 17"/>
          <p:cNvSpPr txBox="1"/>
          <p:nvPr/>
        </p:nvSpPr>
        <p:spPr>
          <a:xfrm>
            <a:off x="8743950" y="2247900"/>
            <a:ext cx="2133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above 100 ha (12 the week before); 34% added a farm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762000" y="3009900"/>
            <a:ext cx="6191250" cy="3105150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52500" y="3181350"/>
            <a:ext cx="5829300" cy="278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drove the rise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422 → 1,349 (+927), 90% of the 1,026 more farmers. 923 (57%) came on Sun alone. “organic” 123 → 515, “direct” 153 → 477.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11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 → 11 under a Duta (0.7% of all). 5 of 10 Dutas registered a farmer last week; Rudi leads with 10 in 7 weeks. 7 of the 10 are internal team.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All farmers, 1 estate owner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1,625 farmers (600 the week before); every role other than estate owner counts as a farmer. 34% added a farm (median 2 ha); 1,068 have no farm or location yet.</a:t>
            </a:r>
            <a:endParaRPr lang="en-US" sz="1300" dirty="0"/>
          </a:p>
          <a:p>
            <a:pPr marL="342900" indent="-342900">
              <a:buSzPct val="100000"/>
              <a:buChar char="●"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users above 100 ha; Kalimantan grows</a:t>
            </a:r>
            <a:endParaRPr lang="en-US" sz="1300" dirty="0"/>
          </a:p>
          <a:p>
            <a:pPr lvl="1" indent="0" marL="0">
              <a:spcAft>
                <a:spcPts val="900"/>
              </a:spcAft>
              <a:buNone/>
            </a:pPr>
            <a:r>
              <a:rPr lang="en-US" sz="10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the week before (+10). Riau 162, Kalimantan Barat 52 lead on location; Kalimantan 70 → 141. Hectares are as entered by users, not yet validated.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7143750" y="3009900"/>
            <a:ext cx="3905250" cy="3105150"/>
          </a:xfrm>
          <a:prstGeom prst="roundRect">
            <a:avLst>
              <a:gd name="adj" fmla="val 3534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7372350" y="3219450"/>
            <a:ext cx="3448050" cy="272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950" b="1" spc="200" kern="0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BOTTOM LINE</a:t>
            </a:r>
            <a:endParaRPr lang="en-US" sz="9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carried the week: find what drove it and repeat it. Then get new users to add a farm, and get every Duta registering farmers each week.</a:t>
            </a:r>
            <a:endParaRPr lang="en-US" sz="950" dirty="0"/>
          </a:p>
          <a:p>
            <a:pPr indent="0" marL="0">
              <a:buNone/>
            </a:pPr>
            <a:r>
              <a:rPr lang="en-US" sz="1050" dirty="0">
                <a:solidFill>
                  <a:srgbClr val="D8E3C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counted by the week they registered. The week of 26 Oct is in progress and left out. Duta covers internal-team and external Dutas alike; estate owner = the ESTATE_OWNER role, every other role is a farmer; location = the user's first farm.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DUTA VS NON-DUTA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11 farmers last week (+11), 0.7% of 1,626; non-Duta 1,615 (+1,015)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 vs non-Duta, last week vs the week before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12–18 Oct vs 19–25 Oct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631674"/>
                <a:gridCol w="707059"/>
                <a:gridCol w="707059"/>
                <a:gridCol w="652670"/>
                <a:gridCol w="598280"/>
                <a:gridCol w="7070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Share last week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0.7%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Internal-team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External Dutas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Non 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1,615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+1,015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+169%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99.3%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1,626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+1,026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+171%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223000" y="1714500"/>
            <a:ext cx="4826000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Duta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first; 7 weeks = 7 Sep – 19 Oct</a:t>
            </a:r>
            <a:endParaRPr lang="en-US" sz="9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1446784"/>
                <a:gridCol w="1085088"/>
                <a:gridCol w="678180"/>
                <a:gridCol w="678180"/>
                <a:gridCol w="63296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Type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 weeks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Surahman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Rudi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Ghifari Kamil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Hendrik Budianto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Muhammad Abdul Wahab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Edi Sutarsan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Simon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Meri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External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Satria 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Sazali Wandana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Internal team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762000" y="5391150"/>
            <a:ext cx="10287000" cy="723900"/>
          </a:xfrm>
          <a:prstGeom prst="roundRect">
            <a:avLst>
              <a:gd name="adj" fmla="val 15158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33450" y="5476875"/>
            <a:ext cx="9944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Dutas: 11 farmers last week came through 5 Dutas (Surahman 5, Rudi 2, Ghifari Kamil 2, Hendrik Budianto 1, Muhammad Abdul Wahab 1), all 5 internal team, 6 external. 7 of the 10 Dutas with farmers in 7 weeks are internal team; external Dutas brought 8.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left out: the week of 26 Oct (363 farmers to 28 Oct) is still in progress, so last week is 19–25 Oct.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FARMERS VS ESTATE OWNERS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1,625 farmers and 1 estate owner last week (600 and 0 the week before); 34% added a farm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420833" cy="3371850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50398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By user role, last week vs the week before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50398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12–18 Oct vs 19–25 Oct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116033" cy="914400"/>
        </p:xfrm>
        <a:graphic>
          <a:graphicData uri="http://schemas.openxmlformats.org/drawingml/2006/table">
            <a:tbl>
              <a:tblPr/>
              <a:tblGrid>
                <a:gridCol w="1762189"/>
                <a:gridCol w="738982"/>
                <a:gridCol w="738982"/>
                <a:gridCol w="682138"/>
                <a:gridCol w="625293"/>
                <a:gridCol w="56844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Share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1,625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+1,025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+171%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Estate owners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Added a farm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558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+335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+150%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   No farm yet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1,068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+691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+183%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66%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Ordered since registering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Median farm size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9"/>
          <p:cNvSpPr/>
          <p:nvPr/>
        </p:nvSpPr>
        <p:spPr>
          <a:xfrm>
            <a:off x="6335233" y="1714500"/>
            <a:ext cx="4713767" cy="3371850"/>
          </a:xfrm>
          <a:prstGeom prst="roundRect">
            <a:avLst>
              <a:gd name="adj" fmla="val 32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525733" y="1866900"/>
            <a:ext cx="43327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by role, per week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6525733" y="2095500"/>
            <a:ext cx="43327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 = the ESTATE_OWNER role; every other role is a farmer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6544783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6697183" y="2381250"/>
            <a:ext cx="5013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</a:t>
            </a:r>
            <a:endParaRPr lang="en-US" sz="860" dirty="0"/>
          </a:p>
        </p:txBody>
      </p:sp>
      <p:sp>
        <p:nvSpPr>
          <p:cNvPr id="20" name="Shape 14"/>
          <p:cNvSpPr/>
          <p:nvPr/>
        </p:nvSpPr>
        <p:spPr>
          <a:xfrm>
            <a:off x="7198579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50979" y="2381250"/>
            <a:ext cx="8694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</a:t>
            </a:r>
            <a:endParaRPr lang="en-US" sz="860" dirty="0"/>
          </a:p>
        </p:txBody>
      </p:sp>
      <p:sp>
        <p:nvSpPr>
          <p:cNvPr id="22" name="Shape 16"/>
          <p:cNvSpPr/>
          <p:nvPr/>
        </p:nvSpPr>
        <p:spPr>
          <a:xfrm>
            <a:off x="6661352" y="4378782"/>
            <a:ext cx="380385" cy="345618"/>
          </a:xfrm>
          <a:prstGeom prst="roundRect">
            <a:avLst>
              <a:gd name="adj" fmla="val 8268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6661352" y="4378782"/>
            <a:ext cx="380385" cy="345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00" dirty="0"/>
          </a:p>
        </p:txBody>
      </p:sp>
      <p:sp>
        <p:nvSpPr>
          <p:cNvPr id="24" name="Text 18"/>
          <p:cNvSpPr txBox="1"/>
          <p:nvPr/>
        </p:nvSpPr>
        <p:spPr>
          <a:xfrm>
            <a:off x="6470545" y="420733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60" dirty="0"/>
          </a:p>
        </p:txBody>
      </p:sp>
      <p:sp>
        <p:nvSpPr>
          <p:cNvPr id="25" name="Text 19"/>
          <p:cNvSpPr txBox="1"/>
          <p:nvPr/>
        </p:nvSpPr>
        <p:spPr>
          <a:xfrm>
            <a:off x="6554308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Sep</a:t>
            </a:r>
            <a:endParaRPr lang="en-US" sz="830" dirty="0"/>
          </a:p>
        </p:txBody>
      </p:sp>
      <p:sp>
        <p:nvSpPr>
          <p:cNvPr id="26" name="Shape 20"/>
          <p:cNvSpPr/>
          <p:nvPr/>
        </p:nvSpPr>
        <p:spPr>
          <a:xfrm>
            <a:off x="7274876" y="4301457"/>
            <a:ext cx="380385" cy="422943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274876" y="4301457"/>
            <a:ext cx="380385" cy="422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361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7274876" y="4282407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7084068" y="4110957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362</a:t>
            </a:r>
            <a:endParaRPr lang="en-US" sz="860" dirty="0"/>
          </a:p>
        </p:txBody>
      </p:sp>
      <p:sp>
        <p:nvSpPr>
          <p:cNvPr id="30" name="Text 24"/>
          <p:cNvSpPr txBox="1"/>
          <p:nvPr/>
        </p:nvSpPr>
        <p:spPr>
          <a:xfrm>
            <a:off x="7167831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Sep</a:t>
            </a:r>
            <a:endParaRPr lang="en-US" sz="830" dirty="0"/>
          </a:p>
        </p:txBody>
      </p:sp>
      <p:sp>
        <p:nvSpPr>
          <p:cNvPr id="31" name="Shape 25"/>
          <p:cNvSpPr/>
          <p:nvPr/>
        </p:nvSpPr>
        <p:spPr>
          <a:xfrm>
            <a:off x="7888400" y="4147979"/>
            <a:ext cx="380385" cy="576421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7888400" y="4147979"/>
            <a:ext cx="380385" cy="576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492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7888400" y="4128929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697592" y="3957479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494</a:t>
            </a:r>
            <a:endParaRPr lang="en-US" sz="860" dirty="0"/>
          </a:p>
        </p:txBody>
      </p:sp>
      <p:sp>
        <p:nvSpPr>
          <p:cNvPr id="35" name="Text 29"/>
          <p:cNvSpPr txBox="1"/>
          <p:nvPr/>
        </p:nvSpPr>
        <p:spPr>
          <a:xfrm>
            <a:off x="7781355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Sep</a:t>
            </a:r>
            <a:endParaRPr lang="en-US" sz="830" dirty="0"/>
          </a:p>
        </p:txBody>
      </p:sp>
      <p:sp>
        <p:nvSpPr>
          <p:cNvPr id="36" name="Shape 30"/>
          <p:cNvSpPr/>
          <p:nvPr/>
        </p:nvSpPr>
        <p:spPr>
          <a:xfrm>
            <a:off x="8501924" y="4163210"/>
            <a:ext cx="380385" cy="561190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501924" y="4163210"/>
            <a:ext cx="380385" cy="561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479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8501924" y="4144160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311116" y="3972710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480</a:t>
            </a:r>
            <a:endParaRPr lang="en-US" sz="860" dirty="0"/>
          </a:p>
        </p:txBody>
      </p:sp>
      <p:sp>
        <p:nvSpPr>
          <p:cNvPr id="40" name="Text 34"/>
          <p:cNvSpPr txBox="1"/>
          <p:nvPr/>
        </p:nvSpPr>
        <p:spPr>
          <a:xfrm>
            <a:off x="8394879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41" name="Shape 35"/>
          <p:cNvSpPr/>
          <p:nvPr/>
        </p:nvSpPr>
        <p:spPr>
          <a:xfrm>
            <a:off x="9115448" y="4282712"/>
            <a:ext cx="380385" cy="441688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9115448" y="4282712"/>
            <a:ext cx="380385" cy="44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00" dirty="0"/>
          </a:p>
        </p:txBody>
      </p:sp>
      <p:sp>
        <p:nvSpPr>
          <p:cNvPr id="43" name="Text 37"/>
          <p:cNvSpPr txBox="1"/>
          <p:nvPr/>
        </p:nvSpPr>
        <p:spPr>
          <a:xfrm>
            <a:off x="8924640" y="411126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60" dirty="0"/>
          </a:p>
        </p:txBody>
      </p:sp>
      <p:sp>
        <p:nvSpPr>
          <p:cNvPr id="44" name="Text 38"/>
          <p:cNvSpPr txBox="1"/>
          <p:nvPr/>
        </p:nvSpPr>
        <p:spPr>
          <a:xfrm>
            <a:off x="9008403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45" name="Shape 39"/>
          <p:cNvSpPr/>
          <p:nvPr/>
        </p:nvSpPr>
        <p:spPr>
          <a:xfrm>
            <a:off x="9728972" y="4021448"/>
            <a:ext cx="380385" cy="702952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728972" y="4021448"/>
            <a:ext cx="380385" cy="702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00" dirty="0"/>
          </a:p>
        </p:txBody>
      </p:sp>
      <p:sp>
        <p:nvSpPr>
          <p:cNvPr id="47" name="Text 41"/>
          <p:cNvSpPr txBox="1"/>
          <p:nvPr/>
        </p:nvSpPr>
        <p:spPr>
          <a:xfrm>
            <a:off x="9538164" y="3849998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48" name="Text 42"/>
          <p:cNvSpPr txBox="1"/>
          <p:nvPr/>
        </p:nvSpPr>
        <p:spPr>
          <a:xfrm>
            <a:off x="9621927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49" name="Shape 43"/>
          <p:cNvSpPr/>
          <p:nvPr/>
        </p:nvSpPr>
        <p:spPr>
          <a:xfrm>
            <a:off x="10342496" y="2820572"/>
            <a:ext cx="380385" cy="1903828"/>
          </a:xfrm>
          <a:prstGeom prst="roundRect">
            <a:avLst>
              <a:gd name="adj" fmla="val 751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10342496" y="2820572"/>
            <a:ext cx="380385" cy="19038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1625</a:t>
            </a:r>
            <a:endParaRPr lang="en-US" sz="800" dirty="0"/>
          </a:p>
        </p:txBody>
      </p:sp>
      <p:sp>
        <p:nvSpPr>
          <p:cNvPr id="51" name="Shape 45"/>
          <p:cNvSpPr/>
          <p:nvPr/>
        </p:nvSpPr>
        <p:spPr>
          <a:xfrm>
            <a:off x="10342496" y="2801522"/>
            <a:ext cx="380385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10151688" y="263007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1,626</a:t>
            </a:r>
            <a:endParaRPr lang="en-US" sz="860" dirty="0"/>
          </a:p>
        </p:txBody>
      </p:sp>
      <p:sp>
        <p:nvSpPr>
          <p:cNvPr id="53" name="Text 47"/>
          <p:cNvSpPr txBox="1"/>
          <p:nvPr/>
        </p:nvSpPr>
        <p:spPr>
          <a:xfrm>
            <a:off x="10235451" y="4772025"/>
            <a:ext cx="59447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Oct</a:t>
            </a:r>
            <a:endParaRPr lang="en-US" sz="830" dirty="0"/>
          </a:p>
        </p:txBody>
      </p:sp>
      <p:sp>
        <p:nvSpPr>
          <p:cNvPr id="54" name="Shape 48"/>
          <p:cNvSpPr/>
          <p:nvPr/>
        </p:nvSpPr>
        <p:spPr>
          <a:xfrm>
            <a:off x="6544783" y="4724400"/>
            <a:ext cx="4294667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762000" y="5219700"/>
            <a:ext cx="10287000" cy="895350"/>
          </a:xfrm>
          <a:prstGeom prst="roundRect">
            <a:avLst>
              <a:gd name="adj" fmla="val 12255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933450" y="5305425"/>
            <a:ext cx="99441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owners are rare: 5 in 7 weeks (1 last week, 0 the week before); almost every registration is a farmer. Farmer includes every other role (farmer &amp; agent, farmer &amp; owner, ...).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Orders: 2 of 1,626 new users have ordered so far (0 of 600 the week before). Farm details: 1,068 of 1,626 (66%) registered without a farm, so their location and hectares are unknown (week before 63%).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WHERE USERS ARE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Riau leads with 162 users who added a farm; Kalimantan 70 → 141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4943707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56270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with a farm, by province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562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week; week before in grey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971550" y="2381250"/>
            <a:ext cx="372793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Riau</a:t>
            </a:r>
            <a:endParaRPr lang="en-US" sz="940" dirty="0"/>
          </a:p>
        </p:txBody>
      </p:sp>
      <p:sp>
        <p:nvSpPr>
          <p:cNvPr id="15" name="Text 10"/>
          <p:cNvSpPr txBox="1"/>
          <p:nvPr/>
        </p:nvSpPr>
        <p:spPr>
          <a:xfrm>
            <a:off x="5258032" y="2381250"/>
            <a:ext cx="238125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162</a:t>
            </a:r>
            <a:endParaRPr lang="en-US" sz="940" dirty="0"/>
          </a:p>
        </p:txBody>
      </p:sp>
      <p:sp>
        <p:nvSpPr>
          <p:cNvPr id="16" name="Text 11"/>
          <p:cNvSpPr txBox="1"/>
          <p:nvPr/>
        </p:nvSpPr>
        <p:spPr>
          <a:xfrm>
            <a:off x="4756636" y="238125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58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971550" y="257956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71550" y="257956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71550" y="270510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Barat</a:t>
            </a:r>
            <a:endParaRPr lang="en-US" sz="940" dirty="0"/>
          </a:p>
        </p:txBody>
      </p:sp>
      <p:sp>
        <p:nvSpPr>
          <p:cNvPr id="20" name="Text 15"/>
          <p:cNvSpPr txBox="1"/>
          <p:nvPr/>
        </p:nvSpPr>
        <p:spPr>
          <a:xfrm>
            <a:off x="5324707" y="270510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52</a:t>
            </a:r>
            <a:endParaRPr lang="en-US" sz="940" dirty="0"/>
          </a:p>
        </p:txBody>
      </p:sp>
      <p:sp>
        <p:nvSpPr>
          <p:cNvPr id="21" name="Text 16"/>
          <p:cNvSpPr txBox="1"/>
          <p:nvPr/>
        </p:nvSpPr>
        <p:spPr>
          <a:xfrm>
            <a:off x="4823311" y="270510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24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971550" y="290341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71550" y="2903411"/>
            <a:ext cx="1452343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71550" y="302895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Jambi</a:t>
            </a:r>
            <a:endParaRPr lang="en-US" sz="940" dirty="0"/>
          </a:p>
        </p:txBody>
      </p:sp>
      <p:sp>
        <p:nvSpPr>
          <p:cNvPr id="25" name="Text 20"/>
          <p:cNvSpPr txBox="1"/>
          <p:nvPr/>
        </p:nvSpPr>
        <p:spPr>
          <a:xfrm>
            <a:off x="5324707" y="302895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</a:t>
            </a:r>
            <a:endParaRPr lang="en-US" sz="940" dirty="0"/>
          </a:p>
        </p:txBody>
      </p:sp>
      <p:sp>
        <p:nvSpPr>
          <p:cNvPr id="26" name="Text 21"/>
          <p:cNvSpPr txBox="1"/>
          <p:nvPr/>
        </p:nvSpPr>
        <p:spPr>
          <a:xfrm>
            <a:off x="4823311" y="302895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18</a:t>
            </a:r>
            <a:endParaRPr lang="en-US" sz="860" dirty="0"/>
          </a:p>
        </p:txBody>
      </p:sp>
      <p:sp>
        <p:nvSpPr>
          <p:cNvPr id="27" name="Shape 22"/>
          <p:cNvSpPr/>
          <p:nvPr/>
        </p:nvSpPr>
        <p:spPr>
          <a:xfrm>
            <a:off x="971550" y="322726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71550" y="3227261"/>
            <a:ext cx="1368554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71550" y="335280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Timur</a:t>
            </a:r>
            <a:endParaRPr lang="en-US" sz="940" dirty="0"/>
          </a:p>
        </p:txBody>
      </p:sp>
      <p:sp>
        <p:nvSpPr>
          <p:cNvPr id="30" name="Text 25"/>
          <p:cNvSpPr txBox="1"/>
          <p:nvPr/>
        </p:nvSpPr>
        <p:spPr>
          <a:xfrm>
            <a:off x="5324707" y="335280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46</a:t>
            </a:r>
            <a:endParaRPr lang="en-US" sz="940" dirty="0"/>
          </a:p>
        </p:txBody>
      </p:sp>
      <p:sp>
        <p:nvSpPr>
          <p:cNvPr id="31" name="Text 26"/>
          <p:cNvSpPr txBox="1"/>
          <p:nvPr/>
        </p:nvSpPr>
        <p:spPr>
          <a:xfrm>
            <a:off x="4823311" y="335280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16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971550" y="355111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71550" y="3551111"/>
            <a:ext cx="1284765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71550" y="367665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Sumatera Utara</a:t>
            </a:r>
            <a:endParaRPr lang="en-US" sz="940" dirty="0"/>
          </a:p>
        </p:txBody>
      </p:sp>
      <p:sp>
        <p:nvSpPr>
          <p:cNvPr id="35" name="Text 30"/>
          <p:cNvSpPr txBox="1"/>
          <p:nvPr/>
        </p:nvSpPr>
        <p:spPr>
          <a:xfrm>
            <a:off x="5324707" y="367665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45</a:t>
            </a:r>
            <a:endParaRPr lang="en-US" sz="940" dirty="0"/>
          </a:p>
        </p:txBody>
      </p:sp>
      <p:sp>
        <p:nvSpPr>
          <p:cNvPr id="36" name="Text 31"/>
          <p:cNvSpPr txBox="1"/>
          <p:nvPr/>
        </p:nvSpPr>
        <p:spPr>
          <a:xfrm>
            <a:off x="4823311" y="367665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19</a:t>
            </a:r>
            <a:endParaRPr lang="en-US" sz="860" dirty="0"/>
          </a:p>
        </p:txBody>
      </p:sp>
      <p:sp>
        <p:nvSpPr>
          <p:cNvPr id="37" name="Shape 32"/>
          <p:cNvSpPr/>
          <p:nvPr/>
        </p:nvSpPr>
        <p:spPr>
          <a:xfrm>
            <a:off x="971550" y="3874960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971550" y="3874960"/>
            <a:ext cx="1256835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971550" y="400050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Sumatera Selatan</a:t>
            </a:r>
            <a:endParaRPr lang="en-US" sz="940" dirty="0"/>
          </a:p>
        </p:txBody>
      </p:sp>
      <p:sp>
        <p:nvSpPr>
          <p:cNvPr id="40" name="Text 35"/>
          <p:cNvSpPr txBox="1"/>
          <p:nvPr/>
        </p:nvSpPr>
        <p:spPr>
          <a:xfrm>
            <a:off x="5324707" y="400050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44</a:t>
            </a:r>
            <a:endParaRPr lang="en-US" sz="940" dirty="0"/>
          </a:p>
        </p:txBody>
      </p:sp>
      <p:sp>
        <p:nvSpPr>
          <p:cNvPr id="41" name="Text 36"/>
          <p:cNvSpPr txBox="1"/>
          <p:nvPr/>
        </p:nvSpPr>
        <p:spPr>
          <a:xfrm>
            <a:off x="4823311" y="400050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18</a:t>
            </a:r>
            <a:endParaRPr lang="en-US" sz="860" dirty="0"/>
          </a:p>
        </p:txBody>
      </p:sp>
      <p:sp>
        <p:nvSpPr>
          <p:cNvPr id="42" name="Shape 37"/>
          <p:cNvSpPr/>
          <p:nvPr/>
        </p:nvSpPr>
        <p:spPr>
          <a:xfrm>
            <a:off x="971550" y="419881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971550" y="4198811"/>
            <a:ext cx="1228906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971550" y="4324350"/>
            <a:ext cx="3794611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Kalimantan Tengah</a:t>
            </a:r>
            <a:endParaRPr lang="en-US" sz="940" dirty="0"/>
          </a:p>
        </p:txBody>
      </p:sp>
      <p:sp>
        <p:nvSpPr>
          <p:cNvPr id="45" name="Text 40"/>
          <p:cNvSpPr txBox="1"/>
          <p:nvPr/>
        </p:nvSpPr>
        <p:spPr>
          <a:xfrm>
            <a:off x="5324707" y="432435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</a:t>
            </a:r>
            <a:endParaRPr lang="en-US" sz="940" dirty="0"/>
          </a:p>
        </p:txBody>
      </p:sp>
      <p:sp>
        <p:nvSpPr>
          <p:cNvPr id="46" name="Text 41"/>
          <p:cNvSpPr txBox="1"/>
          <p:nvPr/>
        </p:nvSpPr>
        <p:spPr>
          <a:xfrm>
            <a:off x="4823311" y="4324350"/>
            <a:ext cx="425196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24</a:t>
            </a:r>
            <a:endParaRPr lang="en-US" sz="860" dirty="0"/>
          </a:p>
        </p:txBody>
      </p:sp>
      <p:sp>
        <p:nvSpPr>
          <p:cNvPr id="47" name="Shape 42"/>
          <p:cNvSpPr/>
          <p:nvPr/>
        </p:nvSpPr>
        <p:spPr>
          <a:xfrm>
            <a:off x="971550" y="452266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971550" y="4522661"/>
            <a:ext cx="726172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971550" y="4648200"/>
            <a:ext cx="3855952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Aceh</a:t>
            </a:r>
            <a:endParaRPr lang="en-US" sz="940" dirty="0"/>
          </a:p>
        </p:txBody>
      </p:sp>
      <p:sp>
        <p:nvSpPr>
          <p:cNvPr id="50" name="Text 45"/>
          <p:cNvSpPr txBox="1"/>
          <p:nvPr/>
        </p:nvSpPr>
        <p:spPr>
          <a:xfrm>
            <a:off x="5324707" y="464820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23</a:t>
            </a:r>
            <a:endParaRPr lang="en-US" sz="940" dirty="0"/>
          </a:p>
        </p:txBody>
      </p:sp>
      <p:sp>
        <p:nvSpPr>
          <p:cNvPr id="51" name="Text 46"/>
          <p:cNvSpPr txBox="1"/>
          <p:nvPr/>
        </p:nvSpPr>
        <p:spPr>
          <a:xfrm>
            <a:off x="4884652" y="4648200"/>
            <a:ext cx="363855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6</a:t>
            </a:r>
            <a:endParaRPr lang="en-US" sz="860" dirty="0"/>
          </a:p>
        </p:txBody>
      </p:sp>
      <p:sp>
        <p:nvSpPr>
          <p:cNvPr id="52" name="Shape 47"/>
          <p:cNvSpPr/>
          <p:nvPr/>
        </p:nvSpPr>
        <p:spPr>
          <a:xfrm>
            <a:off x="971550" y="4846511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971550" y="4846511"/>
            <a:ext cx="642383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971550" y="4972050"/>
            <a:ext cx="3855952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4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Sumatera Barat</a:t>
            </a:r>
            <a:endParaRPr lang="en-US" sz="940" dirty="0"/>
          </a:p>
        </p:txBody>
      </p:sp>
      <p:sp>
        <p:nvSpPr>
          <p:cNvPr id="55" name="Text 50"/>
          <p:cNvSpPr txBox="1"/>
          <p:nvPr/>
        </p:nvSpPr>
        <p:spPr>
          <a:xfrm>
            <a:off x="5324707" y="4972050"/>
            <a:ext cx="171450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94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</a:t>
            </a:r>
            <a:endParaRPr lang="en-US" sz="940" dirty="0"/>
          </a:p>
        </p:txBody>
      </p:sp>
      <p:sp>
        <p:nvSpPr>
          <p:cNvPr id="56" name="Text 51"/>
          <p:cNvSpPr txBox="1"/>
          <p:nvPr/>
        </p:nvSpPr>
        <p:spPr>
          <a:xfrm>
            <a:off x="4884652" y="4972050"/>
            <a:ext cx="363855" cy="17926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was 5</a:t>
            </a:r>
            <a:endParaRPr lang="en-US" sz="860" dirty="0"/>
          </a:p>
        </p:txBody>
      </p:sp>
      <p:sp>
        <p:nvSpPr>
          <p:cNvPr id="57" name="Shape 52"/>
          <p:cNvSpPr/>
          <p:nvPr/>
        </p:nvSpPr>
        <p:spPr>
          <a:xfrm>
            <a:off x="971550" y="5170360"/>
            <a:ext cx="4524607" cy="87440"/>
          </a:xfrm>
          <a:prstGeom prst="roundRect">
            <a:avLst>
              <a:gd name="adj" fmla="val 32680"/>
            </a:avLst>
          </a:prstGeom>
          <a:solidFill>
            <a:srgbClr val="E9EDE5"/>
          </a:solidFill>
          <a:ln w="12700">
            <a:solidFill>
              <a:srgbClr val="E9EDE5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971550" y="5170360"/>
            <a:ext cx="530664" cy="87440"/>
          </a:xfrm>
          <a:prstGeom prst="roundRect">
            <a:avLst>
              <a:gd name="adj" fmla="val 3268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5858107" y="1714500"/>
            <a:ext cx="5190893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048607" y="1866900"/>
            <a:ext cx="48098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Top regencies last week</a:t>
            </a:r>
            <a:endParaRPr lang="en-US" sz="1300" dirty="0"/>
          </a:p>
        </p:txBody>
      </p:sp>
      <p:sp>
        <p:nvSpPr>
          <p:cNvPr id="61" name="Text 56"/>
          <p:cNvSpPr txBox="1"/>
          <p:nvPr/>
        </p:nvSpPr>
        <p:spPr>
          <a:xfrm>
            <a:off x="6048607" y="2095500"/>
            <a:ext cx="48098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Users who added a farm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10507" y="2381250"/>
          <a:ext cx="4886093" cy="914400"/>
        </p:xfrm>
        <a:graphic>
          <a:graphicData uri="http://schemas.openxmlformats.org/drawingml/2006/table">
            <a:tbl>
              <a:tblPr/>
              <a:tblGrid>
                <a:gridCol w="1465828"/>
                <a:gridCol w="1465828"/>
                <a:gridCol w="684053"/>
                <a:gridCol w="684053"/>
                <a:gridCol w="58633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Rokan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Bengkalis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Kutai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Pelalawan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Siak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Ketapang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Rokan Hilir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Kutai Kartanegara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3" name="Shape 57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Location is known only for users who added a farm: 558 of 1,626 last week; 1,068 more have no location yet.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Estate owners: 1 last week: no farm added yet. Every other user with a farm is a farmer.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HA, LAST WEEK (1/3)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users above 100 ha last week, +10 on the week before (12)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1696974"/>
                <a:gridCol w="1197864"/>
                <a:gridCol w="698754"/>
                <a:gridCol w="798576"/>
                <a:gridCol w="1397508"/>
                <a:gridCol w="798576"/>
                <a:gridCol w="1098042"/>
                <a:gridCol w="1098042"/>
                <a:gridCol w="11978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District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69647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P07a7d107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Membalong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Belitung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Kepulauan Bangka Belitung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1b95e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Pea797e06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Tabir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Merangin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Jambi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5c507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user69c6ec@example.com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Noyan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Sanggau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50f18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P2c6ae9ea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Anak Tuha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Lampung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Lampung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49fbc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P3db08d71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Kayan Hilir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Sintang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f3af2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P7dc1360a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Bilah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Labuhan Batu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093fd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Pe60d69e6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Malangke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Luwu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Sulawesi Selatan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04a0f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Pca272c4b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Koto Besar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Dharmasraya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c9f44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userf439fb@example.com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Toho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Mempawah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users, 140,931 ha; 1 with several farms, one row per farm. Contact = phone number, or email when there is no phone.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Note: hectares are the area each user entered in the app; they have not yet been validated and need to be confirmed with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HA, LAST WEEK (2/3)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users above 100 ha last week, +10 on the week before (12)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1696974"/>
                <a:gridCol w="1197864"/>
                <a:gridCol w="698754"/>
                <a:gridCol w="798576"/>
                <a:gridCol w="1397508"/>
                <a:gridCol w="798576"/>
                <a:gridCol w="1098042"/>
                <a:gridCol w="1098042"/>
                <a:gridCol w="11978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District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2e212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P12f3655c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7,550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2,700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1,250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1,100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cc8ea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P46069804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Sesayap Hilir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Tana Tidung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42f70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P51499186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Sei Menggaris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Nunukan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ba7f1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P883f3500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Tanjung Selor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Bulungan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e298d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P1dcb2ab9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Sosor Gadong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Tapanuli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05c34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P7b3ee35c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1,982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1,982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Buol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Sulawesi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70c1d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P5d96e559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1,555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1,555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Masamba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Luwu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Sulawesi Selatan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a54b2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P4fdf0676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Kedurang Ilir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Bengkulu Selatan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734050"/>
            <a:ext cx="10287000" cy="381000"/>
          </a:xfrm>
          <a:prstGeom prst="roundRect">
            <a:avLst>
              <a:gd name="adj" fmla="val 28800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819775"/>
            <a:ext cx="994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Note: hectares are the area each user entered in the app; they have not yet been validated and need to be confirmed with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HA, LAST WEEK (3/3)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22 users above 100 ha last week, +10 on the week before (12)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1696974"/>
                <a:gridCol w="1197864"/>
                <a:gridCol w="698754"/>
                <a:gridCol w="798576"/>
                <a:gridCol w="1397508"/>
                <a:gridCol w="798576"/>
                <a:gridCol w="1098042"/>
                <a:gridCol w="1098042"/>
                <a:gridCol w="11978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District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ddd4b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Pdd717d36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Woyla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Aceh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Aceh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da348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P97249b6e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289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Pangkalan Koto Baru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Lima Puluh Kota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fedf9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Pcc681789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Pulau Hanaut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Kotawaringin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69ece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P480e06c6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Muara Sabak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Tanjung Jabung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Jambi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a043e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P54f5f80a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Kuantan Mudik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Kuantan Singingi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734050"/>
            <a:ext cx="10287000" cy="381000"/>
          </a:xfrm>
          <a:prstGeom prst="roundRect">
            <a:avLst>
              <a:gd name="adj" fmla="val 28800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819775"/>
            <a:ext cx="994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Note: hectares are the area each user entered in the app; they have not yet been validated and need to be confirmed with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HA, THE WEEK BEFORE (1/2)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users above 100 ha the week before (12–18 Oct)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1696974"/>
                <a:gridCol w="1197864"/>
                <a:gridCol w="698754"/>
                <a:gridCol w="798576"/>
                <a:gridCol w="1397508"/>
                <a:gridCol w="798576"/>
                <a:gridCol w="1098042"/>
                <a:gridCol w="1098042"/>
                <a:gridCol w="11978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District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08d10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Pfd8fcd8f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Batang Cenaku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Peranap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ecbcf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Pa3dc21b7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15,000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Gunung Tabur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Berau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1e94f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P3b33d795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11,250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11,250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Muara Kaman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Kutai Kartanegara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Timur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30387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Pe0e2858f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3,400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3,400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Tambang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Kampar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924e2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P5166a341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Sukaraja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Seluma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Bengkulu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90c97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P61c54434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1,500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Manuhing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Gunung Mas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Tengah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4994e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P3c64a50c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Lotu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Nias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390f5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Peae110db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497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Sei Lepan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Langkat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Sumatera Utara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42013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P2eaeaa98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Mataraman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Banjar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Selatan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7f47a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Pf208d6c1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Sungai Ambawang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Kubu Raya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3f4a3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P90c2fbfb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Tayan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Sanggau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Kalimantan Barat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users, 55,867 ha; 1 with several farms, one row per farm. Contact = phone number, or email when there is no phone.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Note: hectares are the area each user entered in the app; they have not yet been validated and need to be confirmed with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REGISTRATIONS · USERS ABOVE 100 HA, THE WEEK BEFORE (2/2)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users above 100 ha the week before (12–18 Oct)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1028700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885950"/>
          <a:ext cx="9982200" cy="914400"/>
        </p:xfrm>
        <a:graphic>
          <a:graphicData uri="http://schemas.openxmlformats.org/drawingml/2006/table">
            <a:tbl>
              <a:tblPr/>
              <a:tblGrid>
                <a:gridCol w="1696974"/>
                <a:gridCol w="1197864"/>
                <a:gridCol w="698754"/>
                <a:gridCol w="798576"/>
                <a:gridCol w="1397508"/>
                <a:gridCol w="798576"/>
                <a:gridCol w="1098042"/>
                <a:gridCol w="1098042"/>
                <a:gridCol w="11978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Contact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Role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name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ha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District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Regency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Province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 aad03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P234e57c9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Farm 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Seberida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Indragiri Hulu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Riau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7"/>
          <p:cNvSpPr/>
          <p:nvPr/>
        </p:nvSpPr>
        <p:spPr>
          <a:xfrm>
            <a:off x="762000" y="5734050"/>
            <a:ext cx="10287000" cy="381000"/>
          </a:xfrm>
          <a:prstGeom prst="roundRect">
            <a:avLst>
              <a:gd name="adj" fmla="val 28800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933450" y="5819775"/>
            <a:ext cx="9944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Note: hectares are the area each user entered in the app; they have not yet been validated and need to be confirmed with the user.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WHAT MOVED THE TOTAL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explains 90% of the rise (+927); Meta −2 fell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From the week before to last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registered, by acquisition channel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1087755" y="4081339"/>
            <a:ext cx="348615" cy="871661"/>
          </a:xfrm>
          <a:prstGeom prst="roundRect">
            <a:avLst>
              <a:gd name="adj" fmla="val 8197"/>
            </a:avLst>
          </a:prstGeom>
          <a:solidFill>
            <a:srgbClr val="274E13"/>
          </a:solidFill>
          <a:ln w="12700">
            <a:solidFill>
              <a:srgbClr val="274E1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85813" y="3909889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436370" y="4081339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981075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before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18" name="Shape 13"/>
          <p:cNvSpPr/>
          <p:nvPr/>
        </p:nvSpPr>
        <p:spPr>
          <a:xfrm>
            <a:off x="1668780" y="4081339"/>
            <a:ext cx="348615" cy="1905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366838" y="3909889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−2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2017395" y="4084245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1562100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30" dirty="0"/>
          </a:p>
        </p:txBody>
      </p:sp>
      <p:sp>
        <p:nvSpPr>
          <p:cNvPr id="22" name="Shape 17"/>
          <p:cNvSpPr/>
          <p:nvPr/>
        </p:nvSpPr>
        <p:spPr>
          <a:xfrm>
            <a:off x="2249805" y="4082792"/>
            <a:ext cx="348615" cy="1905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1947863" y="3911342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2598420" y="4082792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5" name="Text 20"/>
          <p:cNvSpPr txBox="1"/>
          <p:nvPr/>
        </p:nvSpPr>
        <p:spPr>
          <a:xfrm>
            <a:off x="2143125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Toling</a:t>
            </a:r>
            <a:endParaRPr lang="en-US" sz="830" dirty="0"/>
          </a:p>
        </p:txBody>
      </p:sp>
      <p:sp>
        <p:nvSpPr>
          <p:cNvPr id="26" name="Shape 21"/>
          <p:cNvSpPr/>
          <p:nvPr/>
        </p:nvSpPr>
        <p:spPr>
          <a:xfrm>
            <a:off x="2830830" y="4068265"/>
            <a:ext cx="348615" cy="1905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2528888" y="3896815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+10</a:t>
            </a:r>
            <a:endParaRPr lang="en-US" sz="860" dirty="0"/>
          </a:p>
        </p:txBody>
      </p:sp>
      <p:sp>
        <p:nvSpPr>
          <p:cNvPr id="28" name="Shape 23"/>
          <p:cNvSpPr/>
          <p:nvPr/>
        </p:nvSpPr>
        <p:spPr>
          <a:xfrm>
            <a:off x="3179445" y="4068265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29" name="Text 24"/>
          <p:cNvSpPr txBox="1"/>
          <p:nvPr/>
        </p:nvSpPr>
        <p:spPr>
          <a:xfrm>
            <a:off x="2724150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30" dirty="0"/>
          </a:p>
        </p:txBody>
      </p:sp>
      <p:sp>
        <p:nvSpPr>
          <p:cNvPr id="30" name="Shape 25"/>
          <p:cNvSpPr/>
          <p:nvPr/>
        </p:nvSpPr>
        <p:spPr>
          <a:xfrm>
            <a:off x="3411855" y="4049379"/>
            <a:ext cx="348615" cy="1905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3109913" y="3877929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+13</a:t>
            </a:r>
            <a:endParaRPr lang="en-US" sz="860" dirty="0"/>
          </a:p>
        </p:txBody>
      </p:sp>
      <p:sp>
        <p:nvSpPr>
          <p:cNvPr id="32" name="Shape 27"/>
          <p:cNvSpPr/>
          <p:nvPr/>
        </p:nvSpPr>
        <p:spPr>
          <a:xfrm>
            <a:off x="3760470" y="4049379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3" name="Text 28"/>
          <p:cNvSpPr txBox="1"/>
          <p:nvPr/>
        </p:nvSpPr>
        <p:spPr>
          <a:xfrm>
            <a:off x="3305175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Identifi…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Campaigns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3992880" y="3937515"/>
            <a:ext cx="348615" cy="111863"/>
          </a:xfrm>
          <a:prstGeom prst="roundRect">
            <a:avLst>
              <a:gd name="adj" fmla="val 25545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3690937" y="3766065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+77</a:t>
            </a:r>
            <a:endParaRPr lang="en-US" sz="860" dirty="0"/>
          </a:p>
        </p:txBody>
      </p:sp>
      <p:sp>
        <p:nvSpPr>
          <p:cNvPr id="36" name="Shape 31"/>
          <p:cNvSpPr/>
          <p:nvPr/>
        </p:nvSpPr>
        <p:spPr>
          <a:xfrm>
            <a:off x="4341495" y="3937515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37" name="Text 32"/>
          <p:cNvSpPr txBox="1"/>
          <p:nvPr/>
        </p:nvSpPr>
        <p:spPr>
          <a:xfrm>
            <a:off x="3886200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Google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Ads</a:t>
            </a:r>
            <a:endParaRPr lang="en-US" sz="830" dirty="0"/>
          </a:p>
        </p:txBody>
      </p:sp>
      <p:sp>
        <p:nvSpPr>
          <p:cNvPr id="38" name="Shape 33"/>
          <p:cNvSpPr/>
          <p:nvPr/>
        </p:nvSpPr>
        <p:spPr>
          <a:xfrm>
            <a:off x="4573905" y="2590800"/>
            <a:ext cx="348615" cy="1346715"/>
          </a:xfrm>
          <a:prstGeom prst="roundRect">
            <a:avLst>
              <a:gd name="adj" fmla="val 819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4271963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+927</a:t>
            </a:r>
            <a:endParaRPr lang="en-US" sz="860" dirty="0"/>
          </a:p>
        </p:txBody>
      </p:sp>
      <p:sp>
        <p:nvSpPr>
          <p:cNvPr id="40" name="Shape 35"/>
          <p:cNvSpPr/>
          <p:nvPr/>
        </p:nvSpPr>
        <p:spPr>
          <a:xfrm>
            <a:off x="4922520" y="2590800"/>
            <a:ext cx="23241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dash"/>
          </a:ln>
        </p:spPr>
      </p:sp>
      <p:sp>
        <p:nvSpPr>
          <p:cNvPr id="41" name="Text 36"/>
          <p:cNvSpPr txBox="1"/>
          <p:nvPr/>
        </p:nvSpPr>
        <p:spPr>
          <a:xfrm>
            <a:off x="4467225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30" dirty="0"/>
          </a:p>
        </p:txBody>
      </p:sp>
      <p:sp>
        <p:nvSpPr>
          <p:cNvPr id="42" name="Shape 37"/>
          <p:cNvSpPr/>
          <p:nvPr/>
        </p:nvSpPr>
        <p:spPr>
          <a:xfrm>
            <a:off x="5154930" y="2590800"/>
            <a:ext cx="348615" cy="2362200"/>
          </a:xfrm>
          <a:prstGeom prst="roundRect">
            <a:avLst>
              <a:gd name="adj" fmla="val 819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852988" y="2419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1,626</a:t>
            </a:r>
            <a:endParaRPr lang="en-US" sz="860" dirty="0"/>
          </a:p>
        </p:txBody>
      </p:sp>
      <p:sp>
        <p:nvSpPr>
          <p:cNvPr id="44" name="Text 39"/>
          <p:cNvSpPr txBox="1"/>
          <p:nvPr/>
        </p:nvSpPr>
        <p:spPr>
          <a:xfrm>
            <a:off x="5048250" y="5000625"/>
            <a:ext cx="5619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</a:t>
            </a:r>
            <a:endParaRPr lang="en-US" sz="83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Oct</a:t>
            </a:r>
            <a:endParaRPr lang="en-US" sz="830" dirty="0"/>
          </a:p>
        </p:txBody>
      </p:sp>
      <p:sp>
        <p:nvSpPr>
          <p:cNvPr id="45" name="Shape 40"/>
          <p:cNvSpPr/>
          <p:nvPr/>
        </p:nvSpPr>
        <p:spPr>
          <a:xfrm>
            <a:off x="971550" y="4953000"/>
            <a:ext cx="4648200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5981700" y="1714500"/>
            <a:ext cx="50673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6172200" y="1866900"/>
            <a:ext cx="4686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moves by campaign, non-Duta</a:t>
            </a:r>
            <a:endParaRPr lang="en-US" sz="1300" dirty="0"/>
          </a:p>
        </p:txBody>
      </p:sp>
      <p:sp>
        <p:nvSpPr>
          <p:cNvPr id="48" name="Text 43"/>
          <p:cNvSpPr txBox="1"/>
          <p:nvPr/>
        </p:nvSpPr>
        <p:spPr>
          <a:xfrm>
            <a:off x="6172200" y="2095500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Change in farmers; hover for week before → last week</a:t>
            </a:r>
            <a:endParaRPr lang="en-US" sz="950" dirty="0"/>
          </a:p>
        </p:txBody>
      </p:sp>
      <p:sp>
        <p:nvSpPr>
          <p:cNvPr id="49" name="Shape 44"/>
          <p:cNvSpPr/>
          <p:nvPr/>
        </p:nvSpPr>
        <p:spPr>
          <a:xfrm>
            <a:off x="9229725" y="2381250"/>
            <a:ext cx="0" cy="259080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191250" y="23812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fb4a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9189001" y="2466975"/>
            <a:ext cx="31199" cy="152400"/>
          </a:xfrm>
          <a:prstGeom prst="roundRect">
            <a:avLst>
              <a:gd name="adj" fmla="val 50000"/>
            </a:avLst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8617501" y="23812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−12</a:t>
            </a:r>
            <a:endParaRPr lang="en-US" sz="860" dirty="0"/>
          </a:p>
        </p:txBody>
      </p:sp>
      <p:sp>
        <p:nvSpPr>
          <p:cNvPr id="53" name="Text 48"/>
          <p:cNvSpPr txBox="1"/>
          <p:nvPr/>
        </p:nvSpPr>
        <p:spPr>
          <a:xfrm>
            <a:off x="6191250" y="27051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broadcast 500k farmer</a:t>
            </a:r>
            <a:endParaRPr lang="en-US" sz="900" dirty="0"/>
          </a:p>
        </p:txBody>
      </p:sp>
      <p:sp>
        <p:nvSpPr>
          <p:cNvPr id="54" name="Shape 49"/>
          <p:cNvSpPr/>
          <p:nvPr/>
        </p:nvSpPr>
        <p:spPr>
          <a:xfrm>
            <a:off x="9201150" y="2790825"/>
            <a:ext cx="19050" cy="1524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8629650" y="27051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</a:t>
            </a:r>
            <a:endParaRPr lang="en-US" sz="860" dirty="0"/>
          </a:p>
        </p:txBody>
      </p:sp>
      <p:sp>
        <p:nvSpPr>
          <p:cNvPr id="56" name="Text 51"/>
          <p:cNvSpPr txBox="1"/>
          <p:nvPr/>
        </p:nvSpPr>
        <p:spPr>
          <a:xfrm>
            <a:off x="6191250" y="30289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ig4a</a:t>
            </a:r>
            <a:endParaRPr lang="en-US" sz="900" dirty="0"/>
          </a:p>
        </p:txBody>
      </p:sp>
      <p:sp>
        <p:nvSpPr>
          <p:cNvPr id="57" name="Shape 52"/>
          <p:cNvSpPr/>
          <p:nvPr/>
        </p:nvSpPr>
        <p:spPr>
          <a:xfrm>
            <a:off x="9201150" y="3114675"/>
            <a:ext cx="19050" cy="152400"/>
          </a:xfrm>
          <a:prstGeom prst="rect">
            <a:avLst/>
          </a:prstGeom>
          <a:solidFill>
            <a:srgbClr val="A23B72"/>
          </a:solidFill>
          <a:ln w="12700">
            <a:solidFill>
              <a:srgbClr val="A23B72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8629650" y="30289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A23B72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−1</a:t>
            </a:r>
            <a:endParaRPr lang="en-US" sz="860" dirty="0"/>
          </a:p>
        </p:txBody>
      </p:sp>
      <p:sp>
        <p:nvSpPr>
          <p:cNvPr id="59" name="Text 54"/>
          <p:cNvSpPr txBox="1"/>
          <p:nvPr/>
        </p:nvSpPr>
        <p:spPr>
          <a:xfrm>
            <a:off x="6191250" y="33528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bagiprofilpetani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9239250" y="3438525"/>
            <a:ext cx="19050" cy="15240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9296400" y="33528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</a:t>
            </a:r>
            <a:endParaRPr lang="en-US" sz="860" dirty="0"/>
          </a:p>
        </p:txBody>
      </p:sp>
      <p:sp>
        <p:nvSpPr>
          <p:cNvPr id="62" name="Text 57"/>
          <p:cNvSpPr txBox="1"/>
          <p:nvPr/>
        </p:nvSpPr>
        <p:spPr>
          <a:xfrm>
            <a:off x="6191250" y="36766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article</a:t>
            </a:r>
            <a:endParaRPr lang="en-US" sz="900" dirty="0"/>
          </a:p>
        </p:txBody>
      </p:sp>
      <p:sp>
        <p:nvSpPr>
          <p:cNvPr id="63" name="Shape 58"/>
          <p:cNvSpPr/>
          <p:nvPr/>
        </p:nvSpPr>
        <p:spPr>
          <a:xfrm>
            <a:off x="9239250" y="3762375"/>
            <a:ext cx="19050" cy="152400"/>
          </a:xfrm>
          <a:prstGeom prst="rect">
            <a:avLst/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9296400" y="36766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</a:t>
            </a:r>
            <a:endParaRPr lang="en-US" sz="860" dirty="0"/>
          </a:p>
        </p:txBody>
      </p:sp>
      <p:sp>
        <p:nvSpPr>
          <p:cNvPr id="65" name="Text 60"/>
          <p:cNvSpPr txBox="1"/>
          <p:nvPr/>
        </p:nvSpPr>
        <p:spPr>
          <a:xfrm>
            <a:off x="6191250" y="40005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petaniproapp</a:t>
            </a:r>
            <a:endParaRPr lang="en-US" sz="900" dirty="0"/>
          </a:p>
        </p:txBody>
      </p:sp>
      <p:sp>
        <p:nvSpPr>
          <p:cNvPr id="66" name="Shape 61"/>
          <p:cNvSpPr/>
          <p:nvPr/>
        </p:nvSpPr>
        <p:spPr>
          <a:xfrm>
            <a:off x="9239250" y="4086225"/>
            <a:ext cx="343192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9620542" y="40005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+132</a:t>
            </a:r>
            <a:endParaRPr lang="en-US" sz="860" dirty="0"/>
          </a:p>
        </p:txBody>
      </p:sp>
      <p:sp>
        <p:nvSpPr>
          <p:cNvPr id="68" name="Text 63"/>
          <p:cNvSpPr txBox="1"/>
          <p:nvPr/>
        </p:nvSpPr>
        <p:spPr>
          <a:xfrm>
            <a:off x="6191250" y="432435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direct</a:t>
            </a:r>
            <a:endParaRPr lang="en-US" sz="900" dirty="0"/>
          </a:p>
        </p:txBody>
      </p:sp>
      <p:sp>
        <p:nvSpPr>
          <p:cNvPr id="69" name="Shape 64"/>
          <p:cNvSpPr/>
          <p:nvPr/>
        </p:nvSpPr>
        <p:spPr>
          <a:xfrm>
            <a:off x="9239250" y="4410075"/>
            <a:ext cx="842379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10119729" y="432435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+324</a:t>
            </a:r>
            <a:endParaRPr lang="en-US" sz="860" dirty="0"/>
          </a:p>
        </p:txBody>
      </p:sp>
      <p:sp>
        <p:nvSpPr>
          <p:cNvPr id="71" name="Text 66"/>
          <p:cNvSpPr txBox="1"/>
          <p:nvPr/>
        </p:nvSpPr>
        <p:spPr>
          <a:xfrm>
            <a:off x="6191250" y="4648200"/>
            <a:ext cx="13525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900" dirty="0"/>
          </a:p>
        </p:txBody>
      </p:sp>
      <p:sp>
        <p:nvSpPr>
          <p:cNvPr id="72" name="Shape 67"/>
          <p:cNvSpPr/>
          <p:nvPr/>
        </p:nvSpPr>
        <p:spPr>
          <a:xfrm>
            <a:off x="9239250" y="4733925"/>
            <a:ext cx="1019175" cy="152400"/>
          </a:xfrm>
          <a:prstGeom prst="roundRect">
            <a:avLst>
              <a:gd name="adj" fmla="val 18750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10296525" y="4648200"/>
            <a:ext cx="533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3E7B2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+392</a:t>
            </a:r>
            <a:endParaRPr lang="en-US" sz="860" dirty="0"/>
          </a:p>
        </p:txBody>
      </p:sp>
      <p:sp>
        <p:nvSpPr>
          <p:cNvPr id="74" name="Shape 69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from 422 to 1,349; the largest campaign gain is “organic” (123 → 515).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Fell against the trend: Meta 27 → 25.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7-WEEK TREND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is +233% on the 4-week average (488); the peak was 1,626 in the week of 19 Oct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728252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53472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registered per week,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53472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Registration weeks start on Monday; the week of 26 Oct is left out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971550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1123950" y="2381250"/>
            <a:ext cx="5627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</a:t>
            </a:r>
            <a:endParaRPr lang="en-US" sz="860" dirty="0"/>
          </a:p>
        </p:txBody>
      </p:sp>
      <p:sp>
        <p:nvSpPr>
          <p:cNvPr id="16" name="Shape 11"/>
          <p:cNvSpPr/>
          <p:nvPr/>
        </p:nvSpPr>
        <p:spPr>
          <a:xfrm>
            <a:off x="1686687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839087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Meta</a:t>
            </a:r>
            <a:endParaRPr lang="en-US" sz="860" dirty="0"/>
          </a:p>
        </p:txBody>
      </p:sp>
      <p:sp>
        <p:nvSpPr>
          <p:cNvPr id="18" name="Shape 13"/>
          <p:cNvSpPr/>
          <p:nvPr/>
        </p:nvSpPr>
        <p:spPr>
          <a:xfrm>
            <a:off x="2217801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2370201" y="2381250"/>
            <a:ext cx="1360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Identified Campaigns</a:t>
            </a:r>
            <a:endParaRPr lang="en-US" sz="860" dirty="0"/>
          </a:p>
        </p:txBody>
      </p:sp>
      <p:sp>
        <p:nvSpPr>
          <p:cNvPr id="20" name="Shape 15"/>
          <p:cNvSpPr/>
          <p:nvPr/>
        </p:nvSpPr>
        <p:spPr>
          <a:xfrm>
            <a:off x="3730371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882771" y="2381250"/>
            <a:ext cx="3787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426148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4413885" y="2381250"/>
            <a:ext cx="7467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Google Ads</a:t>
            </a:r>
            <a:endParaRPr lang="en-US" sz="860" dirty="0"/>
          </a:p>
        </p:txBody>
      </p:sp>
      <p:sp>
        <p:nvSpPr>
          <p:cNvPr id="24" name="Shape 19"/>
          <p:cNvSpPr/>
          <p:nvPr/>
        </p:nvSpPr>
        <p:spPr>
          <a:xfrm>
            <a:off x="5160645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313045" y="2381250"/>
            <a:ext cx="5013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Toling</a:t>
            </a:r>
            <a:endParaRPr lang="en-US" sz="860" dirty="0"/>
          </a:p>
        </p:txBody>
      </p:sp>
      <p:sp>
        <p:nvSpPr>
          <p:cNvPr id="26" name="Shape 21"/>
          <p:cNvSpPr/>
          <p:nvPr/>
        </p:nvSpPr>
        <p:spPr>
          <a:xfrm>
            <a:off x="1115656" y="4686417"/>
            <a:ext cx="470239" cy="209433"/>
          </a:xfrm>
          <a:prstGeom prst="roundRect">
            <a:avLst>
              <a:gd name="adj" fmla="val 13644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1115656" y="4686417"/>
            <a:ext cx="470239" cy="209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164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1115656" y="4635336"/>
            <a:ext cx="470239" cy="32031"/>
          </a:xfrm>
          <a:prstGeom prst="roundRect">
            <a:avLst>
              <a:gd name="adj" fmla="val 5000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15656" y="4616286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1115656" y="4597236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1115656" y="4487411"/>
            <a:ext cx="470239" cy="90775"/>
          </a:xfrm>
          <a:prstGeom prst="roundRect">
            <a:avLst>
              <a:gd name="adj" fmla="val 31479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969775" y="4315961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295</a:t>
            </a:r>
            <a:endParaRPr lang="en-US" sz="860" dirty="0"/>
          </a:p>
        </p:txBody>
      </p:sp>
      <p:sp>
        <p:nvSpPr>
          <p:cNvPr id="33" name="Text 28"/>
          <p:cNvSpPr txBox="1"/>
          <p:nvPr/>
        </p:nvSpPr>
        <p:spPr>
          <a:xfrm>
            <a:off x="98107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 Sep</a:t>
            </a:r>
            <a:endParaRPr lang="en-US" sz="830" dirty="0"/>
          </a:p>
        </p:txBody>
      </p:sp>
      <p:sp>
        <p:nvSpPr>
          <p:cNvPr id="34" name="Shape 29"/>
          <p:cNvSpPr/>
          <p:nvPr/>
        </p:nvSpPr>
        <p:spPr>
          <a:xfrm>
            <a:off x="1874106" y="4636613"/>
            <a:ext cx="470239" cy="259237"/>
          </a:xfrm>
          <a:prstGeom prst="roundRect">
            <a:avLst>
              <a:gd name="adj" fmla="val 11023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1874106" y="4636613"/>
            <a:ext cx="470239" cy="259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203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1874106" y="4563822"/>
            <a:ext cx="470239" cy="53741"/>
          </a:xfrm>
          <a:prstGeom prst="roundRect">
            <a:avLst>
              <a:gd name="adj" fmla="val 50000"/>
            </a:avLst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874106" y="4544772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1874106" y="4525722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1874106" y="4405682"/>
            <a:ext cx="470239" cy="100991"/>
          </a:xfrm>
          <a:prstGeom prst="roundRect">
            <a:avLst>
              <a:gd name="adj" fmla="val 28295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874106" y="4386632"/>
            <a:ext cx="470239" cy="14288"/>
          </a:xfrm>
          <a:prstGeom prst="rect">
            <a:avLst/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1728225" y="421518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362</a:t>
            </a:r>
            <a:endParaRPr lang="en-US" sz="860" dirty="0"/>
          </a:p>
        </p:txBody>
      </p:sp>
      <p:sp>
        <p:nvSpPr>
          <p:cNvPr id="42" name="Text 37"/>
          <p:cNvSpPr txBox="1"/>
          <p:nvPr/>
        </p:nvSpPr>
        <p:spPr>
          <a:xfrm>
            <a:off x="1739525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 Sep</a:t>
            </a:r>
            <a:endParaRPr lang="en-US" sz="830" dirty="0"/>
          </a:p>
        </p:txBody>
      </p:sp>
      <p:sp>
        <p:nvSpPr>
          <p:cNvPr id="43" name="Shape 38"/>
          <p:cNvSpPr/>
          <p:nvPr/>
        </p:nvSpPr>
        <p:spPr>
          <a:xfrm>
            <a:off x="2632556" y="4468045"/>
            <a:ext cx="470239" cy="427805"/>
          </a:xfrm>
          <a:prstGeom prst="roundRect">
            <a:avLst>
              <a:gd name="adj" fmla="val 6679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44" name="Text 39"/>
          <p:cNvSpPr txBox="1"/>
          <p:nvPr/>
        </p:nvSpPr>
        <p:spPr>
          <a:xfrm>
            <a:off x="2632556" y="4468045"/>
            <a:ext cx="470239" cy="42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335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2632556" y="4420795"/>
            <a:ext cx="470239" cy="28200"/>
          </a:xfrm>
          <a:prstGeom prst="rect">
            <a:avLst/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2632556" y="4391423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2632556" y="4372373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2632556" y="4251056"/>
            <a:ext cx="470239" cy="102268"/>
          </a:xfrm>
          <a:prstGeom prst="roundRect">
            <a:avLst>
              <a:gd name="adj" fmla="val 27941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632556" y="4232006"/>
            <a:ext cx="470239" cy="14288"/>
          </a:xfrm>
          <a:prstGeom prst="rect">
            <a:avLst/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2486676" y="4060556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494</a:t>
            </a:r>
            <a:endParaRPr lang="en-US" sz="860" dirty="0"/>
          </a:p>
        </p:txBody>
      </p:sp>
      <p:sp>
        <p:nvSpPr>
          <p:cNvPr id="51" name="Text 46"/>
          <p:cNvSpPr txBox="1"/>
          <p:nvPr/>
        </p:nvSpPr>
        <p:spPr>
          <a:xfrm>
            <a:off x="24979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 Sep</a:t>
            </a:r>
            <a:endParaRPr lang="en-US" sz="830" dirty="0"/>
          </a:p>
        </p:txBody>
      </p:sp>
      <p:sp>
        <p:nvSpPr>
          <p:cNvPr id="52" name="Shape 47"/>
          <p:cNvSpPr/>
          <p:nvPr/>
        </p:nvSpPr>
        <p:spPr>
          <a:xfrm>
            <a:off x="3391006" y="4494863"/>
            <a:ext cx="470239" cy="400987"/>
          </a:xfrm>
          <a:prstGeom prst="roundRect">
            <a:avLst>
              <a:gd name="adj" fmla="val 7126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3391006" y="4494863"/>
            <a:ext cx="470239" cy="400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314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3391006" y="4462937"/>
            <a:ext cx="470239" cy="14288"/>
          </a:xfrm>
          <a:prstGeom prst="rect">
            <a:avLst/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3391006" y="4422072"/>
            <a:ext cx="470239" cy="21815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3391006" y="4403022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3391006" y="4275319"/>
            <a:ext cx="470239" cy="108653"/>
          </a:xfrm>
          <a:prstGeom prst="roundRect">
            <a:avLst>
              <a:gd name="adj" fmla="val 26299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3391006" y="4256269"/>
            <a:ext cx="470239" cy="14288"/>
          </a:xfrm>
          <a:prstGeom prst="rect">
            <a:avLst/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3245126" y="4084819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480</a:t>
            </a:r>
            <a:endParaRPr lang="en-US" sz="860" dirty="0"/>
          </a:p>
        </p:txBody>
      </p:sp>
      <p:sp>
        <p:nvSpPr>
          <p:cNvPr id="60" name="Text 55"/>
          <p:cNvSpPr txBox="1"/>
          <p:nvPr/>
        </p:nvSpPr>
        <p:spPr>
          <a:xfrm>
            <a:off x="325642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28 Sep</a:t>
            </a:r>
            <a:endParaRPr lang="en-US" sz="830" dirty="0"/>
          </a:p>
        </p:txBody>
      </p:sp>
      <p:sp>
        <p:nvSpPr>
          <p:cNvPr id="61" name="Shape 56"/>
          <p:cNvSpPr/>
          <p:nvPr/>
        </p:nvSpPr>
        <p:spPr>
          <a:xfrm>
            <a:off x="4149457" y="4616181"/>
            <a:ext cx="470239" cy="279669"/>
          </a:xfrm>
          <a:prstGeom prst="roundRect">
            <a:avLst>
              <a:gd name="adj" fmla="val 1021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4149457" y="4616181"/>
            <a:ext cx="470239" cy="279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219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4149457" y="4595748"/>
            <a:ext cx="470239" cy="14288"/>
          </a:xfrm>
          <a:prstGeom prst="rect">
            <a:avLst/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>
            <a:off x="4149457" y="4561268"/>
            <a:ext cx="470239" cy="15430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4149457" y="4542218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4149457" y="4400468"/>
            <a:ext cx="470239" cy="122700"/>
          </a:xfrm>
          <a:prstGeom prst="roundRect">
            <a:avLst>
              <a:gd name="adj" fmla="val 23289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4003576" y="4229018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377</a:t>
            </a:r>
            <a:endParaRPr lang="en-US" sz="860" dirty="0"/>
          </a:p>
        </p:txBody>
      </p:sp>
      <p:sp>
        <p:nvSpPr>
          <p:cNvPr id="68" name="Text 63"/>
          <p:cNvSpPr txBox="1"/>
          <p:nvPr/>
        </p:nvSpPr>
        <p:spPr>
          <a:xfrm>
            <a:off x="4014876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Oct</a:t>
            </a:r>
            <a:endParaRPr lang="en-US" sz="830" dirty="0"/>
          </a:p>
        </p:txBody>
      </p:sp>
      <p:sp>
        <p:nvSpPr>
          <p:cNvPr id="69" name="Shape 64"/>
          <p:cNvSpPr/>
          <p:nvPr/>
        </p:nvSpPr>
        <p:spPr>
          <a:xfrm>
            <a:off x="4907907" y="4356944"/>
            <a:ext cx="470239" cy="538906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4907907" y="4356944"/>
            <a:ext cx="470239" cy="5389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422</a:t>
            </a:r>
            <a:endParaRPr lang="en-US" sz="800" dirty="0"/>
          </a:p>
        </p:txBody>
      </p:sp>
      <p:sp>
        <p:nvSpPr>
          <p:cNvPr id="71" name="Shape 66"/>
          <p:cNvSpPr/>
          <p:nvPr/>
        </p:nvSpPr>
        <p:spPr>
          <a:xfrm>
            <a:off x="4907907" y="4322464"/>
            <a:ext cx="470239" cy="15430"/>
          </a:xfrm>
          <a:prstGeom prst="rect">
            <a:avLst/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4907907" y="4295646"/>
            <a:ext cx="470239" cy="14288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73" name="Shape 68"/>
          <p:cNvSpPr/>
          <p:nvPr/>
        </p:nvSpPr>
        <p:spPr>
          <a:xfrm>
            <a:off x="4907907" y="4129632"/>
            <a:ext cx="470239" cy="146964"/>
          </a:xfrm>
          <a:prstGeom prst="roundRect">
            <a:avLst>
              <a:gd name="adj" fmla="val 19444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74" name="Text 69"/>
          <p:cNvSpPr txBox="1"/>
          <p:nvPr/>
        </p:nvSpPr>
        <p:spPr>
          <a:xfrm>
            <a:off x="4907907" y="4129632"/>
            <a:ext cx="470239" cy="166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130</a:t>
            </a:r>
            <a:endParaRPr lang="en-US" sz="800" dirty="0"/>
          </a:p>
        </p:txBody>
      </p:sp>
      <p:sp>
        <p:nvSpPr>
          <p:cNvPr id="75" name="Text 70"/>
          <p:cNvSpPr txBox="1"/>
          <p:nvPr/>
        </p:nvSpPr>
        <p:spPr>
          <a:xfrm>
            <a:off x="4762027" y="3958182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600</a:t>
            </a:r>
            <a:endParaRPr lang="en-US" sz="860" dirty="0"/>
          </a:p>
        </p:txBody>
      </p:sp>
      <p:sp>
        <p:nvSpPr>
          <p:cNvPr id="76" name="Text 71"/>
          <p:cNvSpPr txBox="1"/>
          <p:nvPr/>
        </p:nvSpPr>
        <p:spPr>
          <a:xfrm>
            <a:off x="477332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Oct</a:t>
            </a:r>
            <a:endParaRPr lang="en-US" sz="830" dirty="0"/>
          </a:p>
        </p:txBody>
      </p:sp>
      <p:sp>
        <p:nvSpPr>
          <p:cNvPr id="77" name="Shape 72"/>
          <p:cNvSpPr/>
          <p:nvPr/>
        </p:nvSpPr>
        <p:spPr>
          <a:xfrm>
            <a:off x="5666357" y="3173137"/>
            <a:ext cx="470239" cy="1722713"/>
          </a:xfrm>
          <a:prstGeom prst="roundRect">
            <a:avLst>
              <a:gd name="adj" fmla="val 6077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5666357" y="3173137"/>
            <a:ext cx="470239" cy="1722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1349</a:t>
            </a:r>
            <a:endParaRPr lang="en-US" sz="800" dirty="0"/>
          </a:p>
        </p:txBody>
      </p:sp>
      <p:sp>
        <p:nvSpPr>
          <p:cNvPr id="79" name="Shape 74"/>
          <p:cNvSpPr/>
          <p:nvPr/>
        </p:nvSpPr>
        <p:spPr>
          <a:xfrm>
            <a:off x="5666357" y="3141211"/>
            <a:ext cx="470239" cy="14288"/>
          </a:xfrm>
          <a:prstGeom prst="rect">
            <a:avLst/>
          </a:prstGeom>
          <a:solidFill>
            <a:srgbClr val="7B4FB0"/>
          </a:solidFill>
          <a:ln w="12700">
            <a:solidFill>
              <a:srgbClr val="7B4FB0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5666357" y="3097792"/>
            <a:ext cx="470239" cy="24369"/>
          </a:xfrm>
          <a:prstGeom prst="rect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5666357" y="3078742"/>
            <a:ext cx="470239" cy="14288"/>
          </a:xfrm>
          <a:prstGeom prst="rect">
            <a:avLst/>
          </a:prstGeom>
          <a:solidFill>
            <a:srgbClr val="B85A28"/>
          </a:solidFill>
          <a:ln w="12700">
            <a:solidFill>
              <a:srgbClr val="B85A28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5666357" y="2814397"/>
            <a:ext cx="470239" cy="245295"/>
          </a:xfrm>
          <a:prstGeom prst="roundRect">
            <a:avLst>
              <a:gd name="adj" fmla="val 11649"/>
            </a:avLst>
          </a:prstGeom>
          <a:solidFill>
            <a:srgbClr val="5B7F95"/>
          </a:solidFill>
          <a:ln w="12700">
            <a:solidFill>
              <a:srgbClr val="5B7F95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5666357" y="2814397"/>
            <a:ext cx="470239" cy="26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207</a:t>
            </a:r>
            <a:endParaRPr lang="en-US" sz="800" dirty="0"/>
          </a:p>
        </p:txBody>
      </p:sp>
      <p:sp>
        <p:nvSpPr>
          <p:cNvPr id="84" name="Shape 79"/>
          <p:cNvSpPr/>
          <p:nvPr/>
        </p:nvSpPr>
        <p:spPr>
          <a:xfrm>
            <a:off x="5666357" y="2795347"/>
            <a:ext cx="470239" cy="14288"/>
          </a:xfrm>
          <a:prstGeom prst="rect">
            <a:avLst/>
          </a:prstGeom>
          <a:solidFill>
            <a:srgbClr val="A8653A"/>
          </a:solidFill>
          <a:ln w="12700">
            <a:solidFill>
              <a:srgbClr val="A8653A"/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5520477" y="2623897"/>
            <a:ext cx="762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1,626</a:t>
            </a:r>
            <a:endParaRPr lang="en-US" sz="860" dirty="0"/>
          </a:p>
        </p:txBody>
      </p:sp>
      <p:sp>
        <p:nvSpPr>
          <p:cNvPr id="86" name="Text 81"/>
          <p:cNvSpPr txBox="1"/>
          <p:nvPr/>
        </p:nvSpPr>
        <p:spPr>
          <a:xfrm>
            <a:off x="5531777" y="4943475"/>
            <a:ext cx="7394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30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 Oct</a:t>
            </a:r>
            <a:endParaRPr lang="en-US" sz="830" dirty="0"/>
          </a:p>
        </p:txBody>
      </p:sp>
      <p:sp>
        <p:nvSpPr>
          <p:cNvPr id="87" name="Shape 82"/>
          <p:cNvSpPr/>
          <p:nvPr/>
        </p:nvSpPr>
        <p:spPr>
          <a:xfrm>
            <a:off x="971550" y="4895850"/>
            <a:ext cx="5309152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88" name="Shape 83"/>
          <p:cNvSpPr/>
          <p:nvPr/>
        </p:nvSpPr>
        <p:spPr>
          <a:xfrm>
            <a:off x="6642652" y="1714500"/>
            <a:ext cx="4406348" cy="3543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4"/>
          <p:cNvSpPr txBox="1"/>
          <p:nvPr/>
        </p:nvSpPr>
        <p:spPr>
          <a:xfrm>
            <a:off x="6833152" y="1866900"/>
            <a:ext cx="40253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per day, last week vs the week before</a:t>
            </a:r>
            <a:endParaRPr lang="en-US" sz="1300" dirty="0"/>
          </a:p>
        </p:txBody>
      </p:sp>
      <p:sp>
        <p:nvSpPr>
          <p:cNvPr id="90" name="Text 85"/>
          <p:cNvSpPr txBox="1"/>
          <p:nvPr/>
        </p:nvSpPr>
        <p:spPr>
          <a:xfrm>
            <a:off x="6833152" y="2095500"/>
            <a:ext cx="4025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By join date</a:t>
            </a:r>
            <a:endParaRPr lang="en-US" sz="950" dirty="0"/>
          </a:p>
        </p:txBody>
      </p:sp>
      <p:sp>
        <p:nvSpPr>
          <p:cNvPr id="91" name="Shape 86"/>
          <p:cNvSpPr/>
          <p:nvPr/>
        </p:nvSpPr>
        <p:spPr>
          <a:xfrm>
            <a:off x="6852202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9AA592"/>
          </a:solidFill>
          <a:ln w="12700">
            <a:solidFill>
              <a:srgbClr val="9AA592"/>
            </a:solidFill>
            <a:prstDash val="solid"/>
          </a:ln>
        </p:spPr>
      </p:sp>
      <p:sp>
        <p:nvSpPr>
          <p:cNvPr id="92" name="Text 87"/>
          <p:cNvSpPr txBox="1"/>
          <p:nvPr/>
        </p:nvSpPr>
        <p:spPr>
          <a:xfrm>
            <a:off x="7004602" y="2381250"/>
            <a:ext cx="13601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Week before (12 Oct)</a:t>
            </a:r>
            <a:endParaRPr lang="en-US" sz="860" dirty="0"/>
          </a:p>
        </p:txBody>
      </p:sp>
      <p:sp>
        <p:nvSpPr>
          <p:cNvPr id="93" name="Shape 88"/>
          <p:cNvSpPr/>
          <p:nvPr/>
        </p:nvSpPr>
        <p:spPr>
          <a:xfrm>
            <a:off x="8364772" y="2409825"/>
            <a:ext cx="104775" cy="104775"/>
          </a:xfrm>
          <a:prstGeom prst="roundRect">
            <a:avLst>
              <a:gd name="adj" fmla="val 18182"/>
            </a:avLst>
          </a:prstGeom>
          <a:solidFill>
            <a:srgbClr val="3E7B27"/>
          </a:solidFill>
          <a:ln w="12700">
            <a:solidFill>
              <a:srgbClr val="3E7B27"/>
            </a:solidFill>
            <a:prstDash val="solid"/>
          </a:ln>
        </p:spPr>
      </p:sp>
      <p:sp>
        <p:nvSpPr>
          <p:cNvPr id="94" name="Text 89"/>
          <p:cNvSpPr txBox="1"/>
          <p:nvPr/>
        </p:nvSpPr>
        <p:spPr>
          <a:xfrm>
            <a:off x="8517172" y="2381250"/>
            <a:ext cx="12374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6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(19 Oct)</a:t>
            </a:r>
            <a:endParaRPr lang="en-US" sz="860" dirty="0"/>
          </a:p>
        </p:txBody>
      </p:sp>
      <p:sp>
        <p:nvSpPr>
          <p:cNvPr id="95" name="Shape 90"/>
          <p:cNvSpPr/>
          <p:nvPr/>
        </p:nvSpPr>
        <p:spPr>
          <a:xfrm>
            <a:off x="7233202" y="4914900"/>
            <a:ext cx="3491948" cy="0"/>
          </a:xfrm>
          <a:prstGeom prst="line">
            <a:avLst/>
          </a:prstGeom>
          <a:noFill/>
          <a:ln w="9525">
            <a:solidFill>
              <a:srgbClr val="B9C2B0"/>
            </a:solidFill>
            <a:prstDash val="solid"/>
          </a:ln>
        </p:spPr>
      </p:sp>
      <p:sp>
        <p:nvSpPr>
          <p:cNvPr id="96" name="Text 91"/>
          <p:cNvSpPr txBox="1"/>
          <p:nvPr/>
        </p:nvSpPr>
        <p:spPr>
          <a:xfrm>
            <a:off x="6852202" y="48387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</a:t>
            </a:r>
            <a:endParaRPr lang="en-US" sz="800" dirty="0"/>
          </a:p>
        </p:txBody>
      </p:sp>
      <p:sp>
        <p:nvSpPr>
          <p:cNvPr id="97" name="Shape 92"/>
          <p:cNvSpPr/>
          <p:nvPr/>
        </p:nvSpPr>
        <p:spPr>
          <a:xfrm>
            <a:off x="7233202" y="386715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98" name="Text 93"/>
          <p:cNvSpPr txBox="1"/>
          <p:nvPr/>
        </p:nvSpPr>
        <p:spPr>
          <a:xfrm>
            <a:off x="6852202" y="37909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535</a:t>
            </a:r>
            <a:endParaRPr lang="en-US" sz="800" dirty="0"/>
          </a:p>
        </p:txBody>
      </p:sp>
      <p:sp>
        <p:nvSpPr>
          <p:cNvPr id="99" name="Shape 94"/>
          <p:cNvSpPr/>
          <p:nvPr/>
        </p:nvSpPr>
        <p:spPr>
          <a:xfrm>
            <a:off x="7233202" y="2819400"/>
            <a:ext cx="3491948" cy="0"/>
          </a:xfrm>
          <a:prstGeom prst="line">
            <a:avLst/>
          </a:prstGeom>
          <a:noFill/>
          <a:ln w="9525">
            <a:solidFill>
              <a:srgbClr val="E3E8DE"/>
            </a:solidFill>
            <a:prstDash val="solid"/>
          </a:ln>
        </p:spPr>
      </p:sp>
      <p:sp>
        <p:nvSpPr>
          <p:cNvPr id="100" name="Text 95"/>
          <p:cNvSpPr txBox="1"/>
          <p:nvPr/>
        </p:nvSpPr>
        <p:spPr>
          <a:xfrm>
            <a:off x="6852202" y="274320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1,070</a:t>
            </a:r>
            <a:endParaRPr lang="en-US" sz="800" dirty="0"/>
          </a:p>
        </p:txBody>
      </p:sp>
      <p:sp>
        <p:nvSpPr>
          <p:cNvPr id="101" name="Shape 96"/>
          <p:cNvSpPr/>
          <p:nvPr/>
        </p:nvSpPr>
        <p:spPr>
          <a:xfrm flipV="1">
            <a:off x="7309402" y="4797395"/>
            <a:ext cx="556591" cy="31335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2" name="Shape 97"/>
          <p:cNvSpPr/>
          <p:nvPr/>
        </p:nvSpPr>
        <p:spPr>
          <a:xfrm flipV="1">
            <a:off x="7865993" y="4554552"/>
            <a:ext cx="556591" cy="242843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3" name="Shape 98"/>
          <p:cNvSpPr/>
          <p:nvPr/>
        </p:nvSpPr>
        <p:spPr>
          <a:xfrm>
            <a:off x="8422585" y="4554552"/>
            <a:ext cx="556591" cy="150798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4" name="Shape 99"/>
          <p:cNvSpPr/>
          <p:nvPr/>
        </p:nvSpPr>
        <p:spPr>
          <a:xfrm>
            <a:off x="8979176" y="4705350"/>
            <a:ext cx="556591" cy="72461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5" name="Shape 100"/>
          <p:cNvSpPr/>
          <p:nvPr/>
        </p:nvSpPr>
        <p:spPr>
          <a:xfrm flipV="1">
            <a:off x="9535767" y="4769978"/>
            <a:ext cx="556591" cy="7834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6" name="Shape 101"/>
          <p:cNvSpPr/>
          <p:nvPr/>
        </p:nvSpPr>
        <p:spPr>
          <a:xfrm>
            <a:off x="10092359" y="4769978"/>
            <a:ext cx="556591" cy="25459"/>
          </a:xfrm>
          <a:prstGeom prst="line">
            <a:avLst/>
          </a:prstGeom>
          <a:noFill/>
          <a:ln w="23813">
            <a:solidFill>
              <a:srgbClr val="9AA592"/>
            </a:solidFill>
            <a:prstDash val="solid"/>
          </a:ln>
        </p:spPr>
      </p:sp>
      <p:sp>
        <p:nvSpPr>
          <p:cNvPr id="107" name="Shape 102"/>
          <p:cNvSpPr/>
          <p:nvPr/>
        </p:nvSpPr>
        <p:spPr>
          <a:xfrm>
            <a:off x="7266540" y="4785867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8" name="Shape 103"/>
          <p:cNvSpPr/>
          <p:nvPr/>
        </p:nvSpPr>
        <p:spPr>
          <a:xfrm>
            <a:off x="7823131" y="4754533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9" name="Shape 104"/>
          <p:cNvSpPr/>
          <p:nvPr/>
        </p:nvSpPr>
        <p:spPr>
          <a:xfrm>
            <a:off x="8379722" y="4511690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Text 105"/>
          <p:cNvSpPr txBox="1"/>
          <p:nvPr/>
        </p:nvSpPr>
        <p:spPr>
          <a:xfrm>
            <a:off x="7993960" y="4325952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184</a:t>
            </a:r>
            <a:endParaRPr lang="en-US" sz="860" dirty="0"/>
          </a:p>
        </p:txBody>
      </p:sp>
      <p:sp>
        <p:nvSpPr>
          <p:cNvPr id="111" name="Shape 106"/>
          <p:cNvSpPr/>
          <p:nvPr/>
        </p:nvSpPr>
        <p:spPr>
          <a:xfrm>
            <a:off x="8936314" y="4662488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2" name="Shape 107"/>
          <p:cNvSpPr/>
          <p:nvPr/>
        </p:nvSpPr>
        <p:spPr>
          <a:xfrm>
            <a:off x="9492905" y="4734949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3" name="Shape 108"/>
          <p:cNvSpPr/>
          <p:nvPr/>
        </p:nvSpPr>
        <p:spPr>
          <a:xfrm>
            <a:off x="10049496" y="4727115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10606088" y="4752574"/>
            <a:ext cx="85725" cy="85725"/>
          </a:xfrm>
          <a:prstGeom prst="ellipse">
            <a:avLst/>
          </a:prstGeom>
          <a:solidFill>
            <a:srgbClr val="9AA59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5" name="Shape 110"/>
          <p:cNvSpPr/>
          <p:nvPr/>
        </p:nvSpPr>
        <p:spPr>
          <a:xfrm>
            <a:off x="7309402" y="4542802"/>
            <a:ext cx="556591" cy="256552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6" name="Shape 111"/>
          <p:cNvSpPr/>
          <p:nvPr/>
        </p:nvSpPr>
        <p:spPr>
          <a:xfrm flipV="1">
            <a:off x="7865993" y="4697516"/>
            <a:ext cx="556591" cy="101837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7" name="Shape 112"/>
          <p:cNvSpPr/>
          <p:nvPr/>
        </p:nvSpPr>
        <p:spPr>
          <a:xfrm>
            <a:off x="8422585" y="4697516"/>
            <a:ext cx="556591" cy="54836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8" name="Shape 113"/>
          <p:cNvSpPr/>
          <p:nvPr/>
        </p:nvSpPr>
        <p:spPr>
          <a:xfrm>
            <a:off x="8979176" y="4752352"/>
            <a:ext cx="556591" cy="29376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19" name="Shape 114"/>
          <p:cNvSpPr/>
          <p:nvPr/>
        </p:nvSpPr>
        <p:spPr>
          <a:xfrm flipV="1">
            <a:off x="9535767" y="4538885"/>
            <a:ext cx="556591" cy="242843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0" name="Shape 115"/>
          <p:cNvSpPr/>
          <p:nvPr/>
        </p:nvSpPr>
        <p:spPr>
          <a:xfrm flipV="1">
            <a:off x="10092359" y="3107286"/>
            <a:ext cx="556591" cy="1431599"/>
          </a:xfrm>
          <a:prstGeom prst="line">
            <a:avLst/>
          </a:prstGeom>
          <a:noFill/>
          <a:ln w="23813">
            <a:solidFill>
              <a:srgbClr val="3E7B27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7266540" y="4499939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2" name="Text 117"/>
          <p:cNvSpPr txBox="1"/>
          <p:nvPr/>
        </p:nvSpPr>
        <p:spPr>
          <a:xfrm>
            <a:off x="6880777" y="4314202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190</a:t>
            </a:r>
            <a:endParaRPr lang="en-US" sz="860" dirty="0"/>
          </a:p>
        </p:txBody>
      </p:sp>
      <p:sp>
        <p:nvSpPr>
          <p:cNvPr id="123" name="Shape 118"/>
          <p:cNvSpPr/>
          <p:nvPr/>
        </p:nvSpPr>
        <p:spPr>
          <a:xfrm>
            <a:off x="7823131" y="4756491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4" name="Text 119"/>
          <p:cNvSpPr txBox="1"/>
          <p:nvPr/>
        </p:nvSpPr>
        <p:spPr>
          <a:xfrm>
            <a:off x="7437368" y="4570754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59</a:t>
            </a:r>
            <a:endParaRPr lang="en-US" sz="860" dirty="0"/>
          </a:p>
        </p:txBody>
      </p:sp>
      <p:sp>
        <p:nvSpPr>
          <p:cNvPr id="125" name="Shape 120"/>
          <p:cNvSpPr/>
          <p:nvPr/>
        </p:nvSpPr>
        <p:spPr>
          <a:xfrm>
            <a:off x="8379722" y="4654654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6" name="Text 121"/>
          <p:cNvSpPr txBox="1"/>
          <p:nvPr/>
        </p:nvSpPr>
        <p:spPr>
          <a:xfrm>
            <a:off x="7993960" y="4468916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111</a:t>
            </a:r>
            <a:endParaRPr lang="en-US" sz="860" dirty="0"/>
          </a:p>
        </p:txBody>
      </p:sp>
      <p:sp>
        <p:nvSpPr>
          <p:cNvPr id="127" name="Shape 122"/>
          <p:cNvSpPr/>
          <p:nvPr/>
        </p:nvSpPr>
        <p:spPr>
          <a:xfrm>
            <a:off x="8936314" y="4709489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8" name="Text 123"/>
          <p:cNvSpPr txBox="1"/>
          <p:nvPr/>
        </p:nvSpPr>
        <p:spPr>
          <a:xfrm>
            <a:off x="8550551" y="4523752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83</a:t>
            </a:r>
            <a:endParaRPr lang="en-US" sz="860" dirty="0"/>
          </a:p>
        </p:txBody>
      </p:sp>
      <p:sp>
        <p:nvSpPr>
          <p:cNvPr id="129" name="Shape 124"/>
          <p:cNvSpPr/>
          <p:nvPr/>
        </p:nvSpPr>
        <p:spPr>
          <a:xfrm>
            <a:off x="9492905" y="4738866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0" name="Text 125"/>
          <p:cNvSpPr txBox="1"/>
          <p:nvPr/>
        </p:nvSpPr>
        <p:spPr>
          <a:xfrm>
            <a:off x="9107142" y="4553128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68</a:t>
            </a:r>
            <a:endParaRPr lang="en-US" sz="860" dirty="0"/>
          </a:p>
        </p:txBody>
      </p:sp>
      <p:sp>
        <p:nvSpPr>
          <p:cNvPr id="131" name="Shape 126"/>
          <p:cNvSpPr/>
          <p:nvPr/>
        </p:nvSpPr>
        <p:spPr>
          <a:xfrm>
            <a:off x="10049496" y="4496023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2" name="Text 127"/>
          <p:cNvSpPr txBox="1"/>
          <p:nvPr/>
        </p:nvSpPr>
        <p:spPr>
          <a:xfrm>
            <a:off x="9663734" y="4310285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192</a:t>
            </a:r>
            <a:endParaRPr lang="en-US" sz="860" dirty="0"/>
          </a:p>
        </p:txBody>
      </p:sp>
      <p:sp>
        <p:nvSpPr>
          <p:cNvPr id="133" name="Shape 128"/>
          <p:cNvSpPr/>
          <p:nvPr/>
        </p:nvSpPr>
        <p:spPr>
          <a:xfrm>
            <a:off x="10606088" y="3064424"/>
            <a:ext cx="85725" cy="85725"/>
          </a:xfrm>
          <a:prstGeom prst="ellipse">
            <a:avLst/>
          </a:prstGeom>
          <a:solidFill>
            <a:srgbClr val="3E7B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4" name="Text 129"/>
          <p:cNvSpPr txBox="1"/>
          <p:nvPr/>
        </p:nvSpPr>
        <p:spPr>
          <a:xfrm>
            <a:off x="10220325" y="2878686"/>
            <a:ext cx="857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2B2F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923</a:t>
            </a:r>
            <a:endParaRPr lang="en-US" sz="860" dirty="0"/>
          </a:p>
        </p:txBody>
      </p:sp>
      <p:sp>
        <p:nvSpPr>
          <p:cNvPr id="135" name="Text 130"/>
          <p:cNvSpPr txBox="1"/>
          <p:nvPr/>
        </p:nvSpPr>
        <p:spPr>
          <a:xfrm>
            <a:off x="6928402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</a:t>
            </a:r>
            <a:endParaRPr lang="en-US" sz="800" dirty="0"/>
          </a:p>
        </p:txBody>
      </p:sp>
      <p:sp>
        <p:nvSpPr>
          <p:cNvPr id="136" name="Text 131"/>
          <p:cNvSpPr txBox="1"/>
          <p:nvPr/>
        </p:nvSpPr>
        <p:spPr>
          <a:xfrm>
            <a:off x="7484993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Tue</a:t>
            </a:r>
            <a:endParaRPr lang="en-US" sz="800" dirty="0"/>
          </a:p>
        </p:txBody>
      </p:sp>
      <p:sp>
        <p:nvSpPr>
          <p:cNvPr id="137" name="Text 132"/>
          <p:cNvSpPr txBox="1"/>
          <p:nvPr/>
        </p:nvSpPr>
        <p:spPr>
          <a:xfrm>
            <a:off x="8041585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Wed</a:t>
            </a:r>
            <a:endParaRPr lang="en-US" sz="800" dirty="0"/>
          </a:p>
        </p:txBody>
      </p:sp>
      <p:sp>
        <p:nvSpPr>
          <p:cNvPr id="138" name="Text 133"/>
          <p:cNvSpPr txBox="1"/>
          <p:nvPr/>
        </p:nvSpPr>
        <p:spPr>
          <a:xfrm>
            <a:off x="8598176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Thu</a:t>
            </a:r>
            <a:endParaRPr lang="en-US" sz="800" dirty="0"/>
          </a:p>
        </p:txBody>
      </p:sp>
      <p:sp>
        <p:nvSpPr>
          <p:cNvPr id="139" name="Text 134"/>
          <p:cNvSpPr txBox="1"/>
          <p:nvPr/>
        </p:nvSpPr>
        <p:spPr>
          <a:xfrm>
            <a:off x="9154767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Fri</a:t>
            </a:r>
            <a:endParaRPr lang="en-US" sz="800" dirty="0"/>
          </a:p>
        </p:txBody>
      </p:sp>
      <p:sp>
        <p:nvSpPr>
          <p:cNvPr id="140" name="Text 135"/>
          <p:cNvSpPr txBox="1"/>
          <p:nvPr/>
        </p:nvSpPr>
        <p:spPr>
          <a:xfrm>
            <a:off x="9711359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Sat</a:t>
            </a:r>
            <a:endParaRPr lang="en-US" sz="800" dirty="0"/>
          </a:p>
        </p:txBody>
      </p:sp>
      <p:sp>
        <p:nvSpPr>
          <p:cNvPr id="141" name="Text 136"/>
          <p:cNvSpPr txBox="1"/>
          <p:nvPr/>
        </p:nvSpPr>
        <p:spPr>
          <a:xfrm>
            <a:off x="10267950" y="49625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Sun</a:t>
            </a:r>
            <a:endParaRPr lang="en-US" sz="800" dirty="0"/>
          </a:p>
        </p:txBody>
      </p:sp>
      <p:sp>
        <p:nvSpPr>
          <p:cNvPr id="142" name="Shape 137"/>
          <p:cNvSpPr/>
          <p:nvPr/>
        </p:nvSpPr>
        <p:spPr>
          <a:xfrm>
            <a:off x="762000" y="5391150"/>
            <a:ext cx="10287000" cy="723900"/>
          </a:xfrm>
          <a:prstGeom prst="roundRect">
            <a:avLst>
              <a:gd name="adj" fmla="val 15158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143" name="Text 138"/>
          <p:cNvSpPr txBox="1"/>
          <p:nvPr/>
        </p:nvSpPr>
        <p:spPr>
          <a:xfrm>
            <a:off x="933450" y="5476875"/>
            <a:ext cx="99441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Last week had a spike: 923 farmers on Sun, against a high of 184 on any day the week before; the other days ran 59–192 a day.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Days: the file's weeks run from Monday morning to the next Monday morning; registrations before the cut on the next Monday are counted as Monday, so each day is a full 24 hours.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· CHANNELS IN DETAIL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of 6 channels fell last week; 27% of new farmers have no phone number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53086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52500" y="1866900"/>
            <a:ext cx="492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channel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52500" y="2095500"/>
            <a:ext cx="492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Acquisition channel</a:t>
            </a:r>
            <a:endParaRPr lang="en-US" sz="9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81250"/>
          <a:ext cx="5003800" cy="914400"/>
        </p:xfrm>
        <a:graphic>
          <a:graphicData uri="http://schemas.openxmlformats.org/drawingml/2006/table">
            <a:tbl>
              <a:tblPr/>
              <a:tblGrid>
                <a:gridCol w="1531776"/>
                <a:gridCol w="714829"/>
                <a:gridCol w="714829"/>
                <a:gridCol w="663769"/>
                <a:gridCol w="663769"/>
                <a:gridCol w="71482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Channel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 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4-week avg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422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1,349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+220%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Meta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−7%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Identified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+62%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Duta (under Duta)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Google Ads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130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207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+59%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109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Toling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–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Total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1,626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+1,026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+171%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488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9"/>
          <p:cNvSpPr txBox="1"/>
          <p:nvPr/>
        </p:nvSpPr>
        <p:spPr>
          <a:xfrm>
            <a:off x="952500" y="5038725"/>
            <a:ext cx="4927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4-week avg = the 4 weeks before last week (21 Sep, 28 Sep, 5 Oct, 12 Oct).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223000" y="1714500"/>
            <a:ext cx="4826000" cy="3714750"/>
          </a:xfrm>
          <a:prstGeom prst="roundRect">
            <a:avLst>
              <a:gd name="adj" fmla="val 29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413500" y="1866900"/>
            <a:ext cx="44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Non-Duta farmers by campaign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6413500" y="20955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Largest last week first</a:t>
            </a:r>
            <a:endParaRPr lang="en-US" sz="95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5400" y="2381250"/>
          <a:ext cx="4521200" cy="914400"/>
        </p:xfrm>
        <a:graphic>
          <a:graphicData uri="http://schemas.openxmlformats.org/drawingml/2006/table">
            <a:tbl>
              <a:tblPr/>
              <a:tblGrid>
                <a:gridCol w="2079752"/>
                <a:gridCol w="813816"/>
                <a:gridCol w="813816"/>
                <a:gridCol w="8138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12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Week of 19 Oct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Change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5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organic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515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+392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direct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+324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petaniproapp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176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+132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 Purchase Campaign - 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+33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App-Register-Campaign-DG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52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+77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campaign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36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80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+44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App-Purchase-DG-Kalimantan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51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+9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Instagram Boost Oktober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74E13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+14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Other 8 campaigns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F28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−10</a:t>
                      </a:r>
                      <a:endParaRPr lang="en-US" sz="9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3"/>
          <p:cNvSpPr/>
          <p:nvPr/>
        </p:nvSpPr>
        <p:spPr>
          <a:xfrm>
            <a:off x="762000" y="5562600"/>
            <a:ext cx="10287000" cy="552450"/>
          </a:xfrm>
          <a:prstGeom prst="roundRect">
            <a:avLst>
              <a:gd name="adj" fmla="val 19862"/>
            </a:avLst>
          </a:prstGeom>
          <a:solidFill>
            <a:srgbClr val="FBEFC4"/>
          </a:solidFill>
          <a:ln w="12700">
            <a:solidFill>
              <a:srgbClr val="FBEFC4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33450" y="5648325"/>
            <a:ext cx="9944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5A46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Phone numbers: 440 of 1,626 farmers last week (27%) and 167 of 600 the week before registered without a phone number, so sales and Dutas cannot follow them up.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1950" y="361950"/>
            <a:ext cx="11468100" cy="61341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1950" y="6238875"/>
            <a:ext cx="10991850" cy="123825"/>
          </a:xfrm>
          <a:prstGeom prst="rect">
            <a:avLst/>
          </a:prstGeom>
          <a:solidFill>
            <a:srgbClr val="F5D347"/>
          </a:solidFill>
          <a:ln w="12700">
            <a:solidFill>
              <a:srgbClr val="F5D347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5700" y="5772150"/>
            <a:ext cx="800100" cy="8382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285750"/>
            <a:ext cx="895350" cy="89535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381000" y="6572250"/>
            <a:ext cx="54292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Farmers by registration week · last week vs the week before · data to 28 Oct 2026</a:t>
            </a:r>
            <a:endParaRPr lang="en-US" sz="900" dirty="0"/>
          </a:p>
        </p:txBody>
      </p:sp>
      <p:sp>
        <p:nvSpPr>
          <p:cNvPr id="7" name="Text 2"/>
          <p:cNvSpPr txBox="1"/>
          <p:nvPr/>
        </p:nvSpPr>
        <p:spPr>
          <a:xfrm>
            <a:off x="5905500" y="657225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6667500" y="6572250"/>
            <a:ext cx="51435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A837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 not use or distribute without permission from SawitPRO</a:t>
            </a:r>
            <a:endParaRPr lang="en-US" sz="900" dirty="0"/>
          </a:p>
        </p:txBody>
      </p:sp>
      <p:sp>
        <p:nvSpPr>
          <p:cNvPr id="9" name="Text 4"/>
          <p:cNvSpPr txBox="1"/>
          <p:nvPr/>
        </p:nvSpPr>
        <p:spPr>
          <a:xfrm>
            <a:off x="781050" y="609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762000" y="838200"/>
            <a:ext cx="9906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A653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draft actions to grow farmer acquisition; owners and dates to be agreed</a:t>
            </a:r>
            <a:endParaRPr lang="en-US" sz="2300" dirty="0"/>
          </a:p>
        </p:txBody>
      </p:sp>
      <p:sp>
        <p:nvSpPr>
          <p:cNvPr id="11" name="Shape 6"/>
          <p:cNvSpPr/>
          <p:nvPr/>
        </p:nvSpPr>
        <p:spPr>
          <a:xfrm>
            <a:off x="7620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9334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Find out what drove Organic +927 and repeat it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9334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Organic went 422 → 1,349, mostly “organic” (123 → 515). Check what happened that week (a broadcast, a post, an app release, a field event) and plan it again.</a:t>
            </a:r>
            <a:endParaRPr lang="en-US" sz="950" dirty="0"/>
          </a:p>
        </p:txBody>
      </p:sp>
      <p:sp>
        <p:nvSpPr>
          <p:cNvPr id="14" name="Text 9"/>
          <p:cNvSpPr txBox="1"/>
          <p:nvPr/>
        </p:nvSpPr>
        <p:spPr>
          <a:xfrm>
            <a:off x="9334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23545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40690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Verify and call the 22 users above 100 ha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40690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They declared 140,931 ha between them; the area is as entered by the user and not yet validated. Confirm it on the call, then hand real estates to the plantation team.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40690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708900" y="1714500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880350" y="1847850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Get 1,068 new users to add a farm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7880350" y="2247900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66% of last week's users have no farm, so location and hectares are unknown. Prompt them in the app and on the first call.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7880350" y="3200400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76200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3345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Set a weekly farmer target per Duta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93345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Dutas brought 11 farmers last week (0 the week before). Edi Sutarsan, Simon, Meri, Satria K, Sazali Wandana registered none last week. Agree a weekly number per Duta and track it in this deck.</a:t>
            </a:r>
            <a:endParaRPr lang="en-US" sz="950" dirty="0"/>
          </a:p>
        </p:txBody>
      </p:sp>
      <p:sp>
        <p:nvSpPr>
          <p:cNvPr id="26" name="Text 21"/>
          <p:cNvSpPr txBox="1"/>
          <p:nvPr/>
        </p:nvSpPr>
        <p:spPr>
          <a:xfrm>
            <a:off x="93345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235450" y="3667125"/>
            <a:ext cx="3340100" cy="1809750"/>
          </a:xfrm>
          <a:prstGeom prst="roundRect">
            <a:avLst>
              <a:gd name="adj" fmla="val 60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406900" y="3800475"/>
            <a:ext cx="29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9A21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  </a:t>
            </a:r>
            <a:pPr indent="0" marL="0">
              <a:buNone/>
            </a:pPr>
            <a:r>
              <a:rPr lang="en-US" sz="12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[DRAFT] Make the phone number required at registration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4406900" y="4200525"/>
            <a:ext cx="29972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3535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27% of last week's farmers (440) have no phone number, so they cannot be followed up by sales or a Duta.</a:t>
            </a:r>
            <a:endParaRPr lang="en-US" sz="950" dirty="0"/>
          </a:p>
        </p:txBody>
      </p:sp>
      <p:sp>
        <p:nvSpPr>
          <p:cNvPr id="30" name="Text 25"/>
          <p:cNvSpPr txBox="1"/>
          <p:nvPr/>
        </p:nvSpPr>
        <p:spPr>
          <a:xfrm>
            <a:off x="4406900" y="5153025"/>
            <a:ext cx="299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74E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Owner: [to be agreed]</a:t>
            </a:r>
            <a:pPr indent="0" marL="0">
              <a:buNone/>
            </a:pPr>
            <a:r>
              <a:rPr lang="en-US" sz="900" b="1" dirty="0">
                <a:solidFill>
                  <a:srgbClr val="9A6F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·  [date to be agreed]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590550"/>
            <a:ext cx="2352675" cy="771525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350" y="457200"/>
            <a:ext cx="1143000" cy="1143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0" y="276225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7" name="Text 2"/>
          <p:cNvSpPr txBox="1"/>
          <p:nvPr/>
        </p:nvSpPr>
        <p:spPr>
          <a:xfrm>
            <a:off x="0" y="38100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D3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#TerusTumbuh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SawitPRO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Farmer Registrations, 19–25 Oct</dc:title>
  <dc:subject>PptxGenJS Presentation</dc:subject>
  <dc:creator>PptxGenJS</dc:creator>
  <cp:lastModifiedBy>PptxGenJS</cp:lastModifiedBy>
  <cp:revision>1</cp:revision>
  <dcterms:created xsi:type="dcterms:W3CDTF">2026-10-28T01:45:19Z</dcterms:created>
  <dcterms:modified xsi:type="dcterms:W3CDTF">2026-10-28T01:45:19Z</dcterms:modified>
</cp:coreProperties>
</file>