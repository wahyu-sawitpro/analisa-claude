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857500" y="342900"/>
            <a:ext cx="6477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 Acquisition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619125" y="1524000"/>
            <a:ext cx="10477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14141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 Registrations, 19–25 Oct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619125" y="2914650"/>
            <a:ext cx="952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141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Week of 19–25 Oct 2026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19125" y="3219450"/>
            <a:ext cx="9525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vs 12–18 Oct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362075" y="114300"/>
            <a:ext cx="10287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4141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1,626 farmers joined last week, +1,026 (+171%): 11 through Dutas (+11) and 1,615 without (+1,015)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514350" y="942975"/>
            <a:ext cx="5905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072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EXECUTIVE SUMMARY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715000" y="942975"/>
            <a:ext cx="5962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28 Oct 2026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39500" y="6076950"/>
            <a:ext cx="438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72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762000" y="1257300"/>
            <a:ext cx="2438400" cy="1123950"/>
          </a:xfrm>
          <a:prstGeom prst="roundRect">
            <a:avLst>
              <a:gd name="adj" fmla="val 9763"/>
            </a:avLst>
          </a:prstGeom>
          <a:solidFill>
            <a:srgbClr val="007200"/>
          </a:solidFill>
          <a:ln w="12700">
            <a:solidFill>
              <a:srgbClr val="00720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14400" y="1371600"/>
            <a:ext cx="213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1,626</a:t>
            </a:r>
            <a:pPr indent="0" marL="0">
              <a:buNone/>
            </a:pP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1790700"/>
            <a:ext cx="2133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E4ECDD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registered 19–25 Oct, +1,026 (+171%) on 12–18 Oct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371850" y="1257300"/>
            <a:ext cx="2438400" cy="1123950"/>
          </a:xfrm>
          <a:prstGeom prst="roundRect">
            <a:avLst>
              <a:gd name="adj" fmla="val 97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24250" y="1371600"/>
            <a:ext cx="213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5A0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1,615</a:t>
            </a:r>
            <a:pPr indent="0" marL="0">
              <a:buNone/>
            </a:pP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3524250" y="1790700"/>
            <a:ext cx="2133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non-Duta: +1,015 (+169%) on the week before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981700" y="1257300"/>
            <a:ext cx="2438400" cy="1123950"/>
          </a:xfrm>
          <a:prstGeom prst="roundRect">
            <a:avLst>
              <a:gd name="adj" fmla="val 97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134100" y="1371600"/>
            <a:ext cx="213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5A0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11</a:t>
            </a:r>
            <a:pPr indent="0" marL="0">
              <a:buNone/>
            </a:pPr>
            <a:endParaRPr lang="en-US" sz="2800" dirty="0"/>
          </a:p>
        </p:txBody>
      </p:sp>
      <p:sp>
        <p:nvSpPr>
          <p:cNvPr id="15" name="Text 12"/>
          <p:cNvSpPr txBox="1"/>
          <p:nvPr/>
        </p:nvSpPr>
        <p:spPr>
          <a:xfrm>
            <a:off x="6134100" y="1790700"/>
            <a:ext cx="2133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under a Duta: +11 (–) on the week before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8591550" y="1257300"/>
            <a:ext cx="2438400" cy="1123950"/>
          </a:xfrm>
          <a:prstGeom prst="roundRect">
            <a:avLst>
              <a:gd name="adj" fmla="val 97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743950" y="1371600"/>
            <a:ext cx="213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5A0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22</a:t>
            </a:r>
            <a:pPr indent="0" marL="0">
              <a:buNone/>
            </a:pPr>
            <a:endParaRPr lang="en-US" sz="2800" dirty="0"/>
          </a:p>
        </p:txBody>
      </p:sp>
      <p:sp>
        <p:nvSpPr>
          <p:cNvPr id="18" name="Text 15"/>
          <p:cNvSpPr txBox="1"/>
          <p:nvPr/>
        </p:nvSpPr>
        <p:spPr>
          <a:xfrm>
            <a:off x="8743950" y="1790700"/>
            <a:ext cx="2133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users above 100 ha (12 the week before); 34% added a farm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762000" y="2552700"/>
            <a:ext cx="6191250" cy="3524250"/>
          </a:xfrm>
          <a:prstGeom prst="roundRect">
            <a:avLst>
              <a:gd name="adj" fmla="val 31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52500" y="2724150"/>
            <a:ext cx="5829300" cy="3181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B5A0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 drove the rise</a:t>
            </a:r>
            <a:endParaRPr lang="en-US" sz="13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 went 422 → 1,349 (+927), 90% of the 1,026 more farmers. 923 (57%) came on Sun alone. “organic” 123 → 515, “direct” 153 → 477.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B5A0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Dutas brought 11</a:t>
            </a:r>
            <a:endParaRPr lang="en-US" sz="13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 → 11 under a Duta (0.7% of all). 5 of 10 Dutas registered a farmer last week; Rudi leads with 10 in 7 weeks. 7 of the 10 are internal team.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B5A0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All farmers, 1 estate owner</a:t>
            </a:r>
            <a:endParaRPr lang="en-US" sz="13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1,625 farmers (600 the week before); every role other than estate owner counts as a farmer. 34% added a farm (median 2 ha); 1,068 have no farm or location yet.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B5A0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22 users above 100 ha; Kalimantan grows</a:t>
            </a:r>
            <a:endParaRPr lang="en-US" sz="13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12 the week before (+10). Riau 162, Kalimantan Barat 52 lead on location; Kalimantan 70 → 141. Hectares are as entered by users, not yet validated.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7143750" y="2552700"/>
            <a:ext cx="3905250" cy="3524250"/>
          </a:xfrm>
          <a:prstGeom prst="roundRect">
            <a:avLst>
              <a:gd name="adj" fmla="val 3114"/>
            </a:avLst>
          </a:prstGeom>
          <a:solidFill>
            <a:srgbClr val="007200"/>
          </a:solidFill>
          <a:ln w="12700">
            <a:solidFill>
              <a:srgbClr val="00720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72350" y="2762250"/>
            <a:ext cx="3448050" cy="3105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950" b="1" spc="200" kern="0" dirty="0">
                <a:solidFill>
                  <a:srgbClr val="FCD10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BOTTOM LINE</a:t>
            </a:r>
            <a:endParaRPr lang="en-US" sz="9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 carried the week: find what drove it and repeat it. Then get new users to add a farm, and get every Duta registering farmers each week.</a:t>
            </a:r>
            <a:endParaRPr lang="en-US" sz="950" dirty="0"/>
          </a:p>
          <a:p>
            <a:pPr indent="0" marL="0">
              <a:buNone/>
            </a:pPr>
            <a:r>
              <a:rPr lang="en-US" sz="1050" dirty="0">
                <a:solidFill>
                  <a:srgbClr val="D8E3C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counted by the week they registered. The week of 26 Oct is in progress and left out. Duta covers internal-team and external Dutas alike; estate owner = the ESTATE_OWNER role, every other role is a farmer; location = the user's first farm.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362075" y="114300"/>
            <a:ext cx="10287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4141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Dutas brought 11 farmers last week (+11), 0.7% of 1,626; non-Duta 1,615 (+1,015)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514350" y="942975"/>
            <a:ext cx="5905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072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ACQUISITION · DUTA VS NON-DUTA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715000" y="942975"/>
            <a:ext cx="5962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28 Oct 2026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39500" y="6076950"/>
            <a:ext cx="438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72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762000" y="1257300"/>
            <a:ext cx="5308600" cy="3905250"/>
          </a:xfrm>
          <a:prstGeom prst="roundRect">
            <a:avLst>
              <a:gd name="adj" fmla="val 28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52500" y="1409700"/>
            <a:ext cx="492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5A0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Duta vs non-Duta, last week vs the week before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952500" y="1638300"/>
            <a:ext cx="492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12–18 Oct vs 19–25 Oct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924050"/>
          <a:ext cx="5003800" cy="914400"/>
        </p:xfrm>
        <a:graphic>
          <a:graphicData uri="http://schemas.openxmlformats.org/drawingml/2006/table">
            <a:tbl>
              <a:tblPr/>
              <a:tblGrid>
                <a:gridCol w="1631674"/>
                <a:gridCol w="707059"/>
                <a:gridCol w="707059"/>
                <a:gridCol w="652670"/>
                <a:gridCol w="598280"/>
                <a:gridCol w="70705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12 Oct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19 Oct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Change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Change 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Share last week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Duta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+11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0.7%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   Internal-team Dutas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   External Dutas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Non Duta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1,615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+1,015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+169%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99.3%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Total farmers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1,626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+1,026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+171%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100%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223000" y="1257300"/>
            <a:ext cx="4826000" cy="3905250"/>
          </a:xfrm>
          <a:prstGeom prst="roundRect">
            <a:avLst>
              <a:gd name="adj" fmla="val 28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413500" y="1409700"/>
            <a:ext cx="444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5A0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Duta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6413500" y="1638300"/>
            <a:ext cx="444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Last week first; 7 weeks = 7 Sep – 19 Oct</a:t>
            </a:r>
            <a:endParaRPr lang="en-US" sz="95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75400" y="1924050"/>
          <a:ext cx="4521200" cy="914400"/>
        </p:xfrm>
        <a:graphic>
          <a:graphicData uri="http://schemas.openxmlformats.org/drawingml/2006/table">
            <a:tbl>
              <a:tblPr/>
              <a:tblGrid>
                <a:gridCol w="1446784"/>
                <a:gridCol w="1085088"/>
                <a:gridCol w="678180"/>
                <a:gridCol w="678180"/>
                <a:gridCol w="6329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Duta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Type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12 Oct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19 Oct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7 weeks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Surahman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External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Rudi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Internal team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Ghifari Kamil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Internal team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Hendrik Budianto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Internal team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Muhammad Abdul Wahab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External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Edi Sutarsan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Internal team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Simon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Internal team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Meri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External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Satria K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Internal team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Sazali Wandana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Internal team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Shape 10"/>
          <p:cNvSpPr/>
          <p:nvPr/>
        </p:nvSpPr>
        <p:spPr>
          <a:xfrm>
            <a:off x="762000" y="5295900"/>
            <a:ext cx="10287000" cy="723900"/>
          </a:xfrm>
          <a:prstGeom prst="roundRect">
            <a:avLst>
              <a:gd name="adj" fmla="val 15158"/>
            </a:avLst>
          </a:prstGeom>
          <a:solidFill>
            <a:srgbClr val="FBEFC4"/>
          </a:solidFill>
          <a:ln w="12700">
            <a:solidFill>
              <a:srgbClr val="FBEFC4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933450" y="5381625"/>
            <a:ext cx="99441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Dutas: 11 farmers last week came through 5 Dutas (Surahman 5, Rudi 2, Ghifari Kamil 2, Hendrik Budianto 1, Muhammad Abdul Wahab 1), all 5 internal team, 6 external. 7 of the 10 Dutas with farmers in 7 weeks are internal team; external Dutas brought 8.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Week left out: the week of 26 Oct (363 farmers to 28 Oct) is still in progress, so last week is 19–25 Oct.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362075" y="114300"/>
            <a:ext cx="10287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4141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1,625 farmers and 1 estate owner last week (600 and 0 the week before); 34% added a farm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514350" y="942975"/>
            <a:ext cx="5905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072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REGISTRATIONS · FARMERS VS ESTATE OWNERS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715000" y="942975"/>
            <a:ext cx="5962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28 Oct 2026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39500" y="6076950"/>
            <a:ext cx="438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72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762000" y="1257300"/>
            <a:ext cx="5420833" cy="3733800"/>
          </a:xfrm>
          <a:prstGeom prst="roundRect">
            <a:avLst>
              <a:gd name="adj" fmla="val 293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52500" y="1409700"/>
            <a:ext cx="50398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5A0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By user role, last week vs the week before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952500" y="1638300"/>
            <a:ext cx="50398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12–18 Oct vs 19–25 Oct</a:t>
            </a:r>
            <a:endParaRPr lang="en-US" sz="9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924050"/>
          <a:ext cx="5116033" cy="914400"/>
        </p:xfrm>
        <a:graphic>
          <a:graphicData uri="http://schemas.openxmlformats.org/drawingml/2006/table">
            <a:tbl>
              <a:tblPr/>
              <a:tblGrid>
                <a:gridCol w="1762189"/>
                <a:gridCol w="738982"/>
                <a:gridCol w="738982"/>
                <a:gridCol w="682138"/>
                <a:gridCol w="625293"/>
                <a:gridCol w="56844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Users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12 Oct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19 Oct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Change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Change 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Share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1,625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+1,025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+171%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100%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Estate owners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Added a farm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223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558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+335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+150%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34%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   No farm yet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377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1,068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+691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+183%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66%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Ordered since registering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Median farm size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 ha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 ha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335233" y="1257300"/>
            <a:ext cx="4713767" cy="3733800"/>
          </a:xfrm>
          <a:prstGeom prst="roundRect">
            <a:avLst>
              <a:gd name="adj" fmla="val 293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25733" y="1409700"/>
            <a:ext cx="433276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5A0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Registrations by role, per week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6525733" y="1638300"/>
            <a:ext cx="43327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Estate owner = the ESTATE_OWNER role; every other role is a farmer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6544783" y="19526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697183" y="1924050"/>
            <a:ext cx="50139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</a:t>
            </a:r>
            <a:endParaRPr lang="en-US" sz="860" dirty="0"/>
          </a:p>
        </p:txBody>
      </p:sp>
      <p:sp>
        <p:nvSpPr>
          <p:cNvPr id="16" name="Shape 12"/>
          <p:cNvSpPr/>
          <p:nvPr/>
        </p:nvSpPr>
        <p:spPr>
          <a:xfrm>
            <a:off x="7198579" y="19526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350979" y="1924050"/>
            <a:ext cx="8694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Estate owner</a:t>
            </a:r>
            <a:endParaRPr lang="en-US" sz="860" dirty="0"/>
          </a:p>
        </p:txBody>
      </p:sp>
      <p:sp>
        <p:nvSpPr>
          <p:cNvPr id="18" name="Shape 14"/>
          <p:cNvSpPr/>
          <p:nvPr/>
        </p:nvSpPr>
        <p:spPr>
          <a:xfrm>
            <a:off x="6661352" y="4217864"/>
            <a:ext cx="380385" cy="411286"/>
          </a:xfrm>
          <a:prstGeom prst="roundRect">
            <a:avLst>
              <a:gd name="adj" fmla="val 7512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661352" y="4217864"/>
            <a:ext cx="380385" cy="4112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295</a:t>
            </a:r>
            <a:endParaRPr lang="en-US" sz="800" dirty="0"/>
          </a:p>
        </p:txBody>
      </p:sp>
      <p:sp>
        <p:nvSpPr>
          <p:cNvPr id="20" name="Text 16"/>
          <p:cNvSpPr txBox="1"/>
          <p:nvPr/>
        </p:nvSpPr>
        <p:spPr>
          <a:xfrm>
            <a:off x="6470545" y="4046414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295</a:t>
            </a:r>
            <a:endParaRPr lang="en-US" sz="860" dirty="0"/>
          </a:p>
        </p:txBody>
      </p:sp>
      <p:sp>
        <p:nvSpPr>
          <p:cNvPr id="21" name="Text 17"/>
          <p:cNvSpPr txBox="1"/>
          <p:nvPr/>
        </p:nvSpPr>
        <p:spPr>
          <a:xfrm>
            <a:off x="6554308" y="4676775"/>
            <a:ext cx="5944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7 Sep</a:t>
            </a:r>
            <a:endParaRPr lang="en-US" sz="830" dirty="0"/>
          </a:p>
        </p:txBody>
      </p:sp>
      <p:sp>
        <p:nvSpPr>
          <p:cNvPr id="22" name="Shape 18"/>
          <p:cNvSpPr/>
          <p:nvPr/>
        </p:nvSpPr>
        <p:spPr>
          <a:xfrm>
            <a:off x="7274876" y="4125848"/>
            <a:ext cx="380385" cy="503302"/>
          </a:xfrm>
          <a:prstGeom prst="roundRect">
            <a:avLst>
              <a:gd name="adj" fmla="val 7512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274876" y="4125848"/>
            <a:ext cx="380385" cy="503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361</a:t>
            </a:r>
            <a:endParaRPr lang="en-US" sz="800" dirty="0"/>
          </a:p>
        </p:txBody>
      </p:sp>
      <p:sp>
        <p:nvSpPr>
          <p:cNvPr id="24" name="Shape 20"/>
          <p:cNvSpPr/>
          <p:nvPr/>
        </p:nvSpPr>
        <p:spPr>
          <a:xfrm>
            <a:off x="7274876" y="4106798"/>
            <a:ext cx="380385" cy="14288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084068" y="3935348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362</a:t>
            </a:r>
            <a:endParaRPr lang="en-US" sz="860" dirty="0"/>
          </a:p>
        </p:txBody>
      </p:sp>
      <p:sp>
        <p:nvSpPr>
          <p:cNvPr id="26" name="Text 22"/>
          <p:cNvSpPr txBox="1"/>
          <p:nvPr/>
        </p:nvSpPr>
        <p:spPr>
          <a:xfrm>
            <a:off x="7167831" y="4676775"/>
            <a:ext cx="5944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14 Sep</a:t>
            </a:r>
            <a:endParaRPr lang="en-US" sz="830" dirty="0"/>
          </a:p>
        </p:txBody>
      </p:sp>
      <p:sp>
        <p:nvSpPr>
          <p:cNvPr id="27" name="Shape 23"/>
          <p:cNvSpPr/>
          <p:nvPr/>
        </p:nvSpPr>
        <p:spPr>
          <a:xfrm>
            <a:off x="7888400" y="3943209"/>
            <a:ext cx="380385" cy="685941"/>
          </a:xfrm>
          <a:prstGeom prst="roundRect">
            <a:avLst>
              <a:gd name="adj" fmla="val 7512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888400" y="3943209"/>
            <a:ext cx="380385" cy="6859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492</a:t>
            </a:r>
            <a:endParaRPr lang="en-US" sz="800" dirty="0"/>
          </a:p>
        </p:txBody>
      </p:sp>
      <p:sp>
        <p:nvSpPr>
          <p:cNvPr id="29" name="Shape 25"/>
          <p:cNvSpPr/>
          <p:nvPr/>
        </p:nvSpPr>
        <p:spPr>
          <a:xfrm>
            <a:off x="7888400" y="3924159"/>
            <a:ext cx="380385" cy="14288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7697592" y="3752709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494</a:t>
            </a:r>
            <a:endParaRPr lang="en-US" sz="860" dirty="0"/>
          </a:p>
        </p:txBody>
      </p:sp>
      <p:sp>
        <p:nvSpPr>
          <p:cNvPr id="31" name="Text 27"/>
          <p:cNvSpPr txBox="1"/>
          <p:nvPr/>
        </p:nvSpPr>
        <p:spPr>
          <a:xfrm>
            <a:off x="7781355" y="4676775"/>
            <a:ext cx="5944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21 Sep</a:t>
            </a:r>
            <a:endParaRPr lang="en-US" sz="830" dirty="0"/>
          </a:p>
        </p:txBody>
      </p:sp>
      <p:sp>
        <p:nvSpPr>
          <p:cNvPr id="32" name="Shape 28"/>
          <p:cNvSpPr/>
          <p:nvPr/>
        </p:nvSpPr>
        <p:spPr>
          <a:xfrm>
            <a:off x="8501924" y="3961334"/>
            <a:ext cx="380385" cy="667816"/>
          </a:xfrm>
          <a:prstGeom prst="roundRect">
            <a:avLst>
              <a:gd name="adj" fmla="val 7512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8501924" y="3961334"/>
            <a:ext cx="380385" cy="667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479</a:t>
            </a:r>
            <a:endParaRPr lang="en-US" sz="800" dirty="0"/>
          </a:p>
        </p:txBody>
      </p:sp>
      <p:sp>
        <p:nvSpPr>
          <p:cNvPr id="34" name="Shape 30"/>
          <p:cNvSpPr/>
          <p:nvPr/>
        </p:nvSpPr>
        <p:spPr>
          <a:xfrm>
            <a:off x="8501924" y="3942284"/>
            <a:ext cx="380385" cy="14288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311116" y="3770834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480</a:t>
            </a:r>
            <a:endParaRPr lang="en-US" sz="860" dirty="0"/>
          </a:p>
        </p:txBody>
      </p:sp>
      <p:sp>
        <p:nvSpPr>
          <p:cNvPr id="36" name="Text 32"/>
          <p:cNvSpPr txBox="1"/>
          <p:nvPr/>
        </p:nvSpPr>
        <p:spPr>
          <a:xfrm>
            <a:off x="8394879" y="4676775"/>
            <a:ext cx="5944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28 Sep</a:t>
            </a:r>
            <a:endParaRPr lang="en-US" sz="830" dirty="0"/>
          </a:p>
        </p:txBody>
      </p:sp>
      <p:sp>
        <p:nvSpPr>
          <p:cNvPr id="37" name="Shape 33"/>
          <p:cNvSpPr/>
          <p:nvPr/>
        </p:nvSpPr>
        <p:spPr>
          <a:xfrm>
            <a:off x="9115448" y="4103541"/>
            <a:ext cx="380385" cy="525609"/>
          </a:xfrm>
          <a:prstGeom prst="roundRect">
            <a:avLst>
              <a:gd name="adj" fmla="val 7512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9115448" y="4103541"/>
            <a:ext cx="380385" cy="525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377</a:t>
            </a:r>
            <a:endParaRPr lang="en-US" sz="800" dirty="0"/>
          </a:p>
        </p:txBody>
      </p:sp>
      <p:sp>
        <p:nvSpPr>
          <p:cNvPr id="39" name="Text 35"/>
          <p:cNvSpPr txBox="1"/>
          <p:nvPr/>
        </p:nvSpPr>
        <p:spPr>
          <a:xfrm>
            <a:off x="8924640" y="3932091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377</a:t>
            </a:r>
            <a:endParaRPr lang="en-US" sz="860" dirty="0"/>
          </a:p>
        </p:txBody>
      </p:sp>
      <p:sp>
        <p:nvSpPr>
          <p:cNvPr id="40" name="Text 36"/>
          <p:cNvSpPr txBox="1"/>
          <p:nvPr/>
        </p:nvSpPr>
        <p:spPr>
          <a:xfrm>
            <a:off x="9008403" y="4676775"/>
            <a:ext cx="5944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 Oct</a:t>
            </a:r>
            <a:endParaRPr lang="en-US" sz="830" dirty="0"/>
          </a:p>
        </p:txBody>
      </p:sp>
      <p:sp>
        <p:nvSpPr>
          <p:cNvPr id="41" name="Shape 37"/>
          <p:cNvSpPr/>
          <p:nvPr/>
        </p:nvSpPr>
        <p:spPr>
          <a:xfrm>
            <a:off x="9728972" y="3792637"/>
            <a:ext cx="380385" cy="836513"/>
          </a:xfrm>
          <a:prstGeom prst="roundRect">
            <a:avLst>
              <a:gd name="adj" fmla="val 7512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9728972" y="3792637"/>
            <a:ext cx="380385" cy="836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600</a:t>
            </a:r>
            <a:endParaRPr lang="en-US" sz="800" dirty="0"/>
          </a:p>
        </p:txBody>
      </p:sp>
      <p:sp>
        <p:nvSpPr>
          <p:cNvPr id="43" name="Text 39"/>
          <p:cNvSpPr txBox="1"/>
          <p:nvPr/>
        </p:nvSpPr>
        <p:spPr>
          <a:xfrm>
            <a:off x="9538164" y="3621187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600</a:t>
            </a:r>
            <a:endParaRPr lang="en-US" sz="860" dirty="0"/>
          </a:p>
        </p:txBody>
      </p:sp>
      <p:sp>
        <p:nvSpPr>
          <p:cNvPr id="44" name="Text 40"/>
          <p:cNvSpPr txBox="1"/>
          <p:nvPr/>
        </p:nvSpPr>
        <p:spPr>
          <a:xfrm>
            <a:off x="9621927" y="4676775"/>
            <a:ext cx="5944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12 Oct</a:t>
            </a:r>
            <a:endParaRPr lang="en-US" sz="830" dirty="0"/>
          </a:p>
        </p:txBody>
      </p:sp>
      <p:sp>
        <p:nvSpPr>
          <p:cNvPr id="45" name="Shape 41"/>
          <p:cNvSpPr/>
          <p:nvPr/>
        </p:nvSpPr>
        <p:spPr>
          <a:xfrm>
            <a:off x="10342496" y="2363594"/>
            <a:ext cx="380385" cy="2265556"/>
          </a:xfrm>
          <a:prstGeom prst="roundRect">
            <a:avLst>
              <a:gd name="adj" fmla="val 7512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10342496" y="2363594"/>
            <a:ext cx="380385" cy="2265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1625</a:t>
            </a:r>
            <a:endParaRPr lang="en-US" sz="800" dirty="0"/>
          </a:p>
        </p:txBody>
      </p:sp>
      <p:sp>
        <p:nvSpPr>
          <p:cNvPr id="47" name="Shape 43"/>
          <p:cNvSpPr/>
          <p:nvPr/>
        </p:nvSpPr>
        <p:spPr>
          <a:xfrm>
            <a:off x="10342496" y="2344544"/>
            <a:ext cx="380385" cy="14288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10151688" y="2173094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1,626</a:t>
            </a:r>
            <a:endParaRPr lang="en-US" sz="860" dirty="0"/>
          </a:p>
        </p:txBody>
      </p:sp>
      <p:sp>
        <p:nvSpPr>
          <p:cNvPr id="49" name="Text 45"/>
          <p:cNvSpPr txBox="1"/>
          <p:nvPr/>
        </p:nvSpPr>
        <p:spPr>
          <a:xfrm>
            <a:off x="10235451" y="4676775"/>
            <a:ext cx="5944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19 Oct</a:t>
            </a:r>
            <a:endParaRPr lang="en-US" sz="830" dirty="0"/>
          </a:p>
        </p:txBody>
      </p:sp>
      <p:sp>
        <p:nvSpPr>
          <p:cNvPr id="50" name="Shape 46"/>
          <p:cNvSpPr/>
          <p:nvPr/>
        </p:nvSpPr>
        <p:spPr>
          <a:xfrm>
            <a:off x="6544783" y="4629150"/>
            <a:ext cx="4294667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762000" y="5124450"/>
            <a:ext cx="10287000" cy="895350"/>
          </a:xfrm>
          <a:prstGeom prst="roundRect">
            <a:avLst>
              <a:gd name="adj" fmla="val 12255"/>
            </a:avLst>
          </a:prstGeom>
          <a:solidFill>
            <a:srgbClr val="FBEFC4"/>
          </a:solidFill>
          <a:ln w="12700">
            <a:solidFill>
              <a:srgbClr val="FBEFC4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933450" y="5210175"/>
            <a:ext cx="99441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Estate owners are rare: 5 in 7 weeks (1 last week, 0 the week before); almost every registration is a farmer. Farmer includes every other role (farmer &amp; agent, farmer &amp; owner, ...).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Orders: 2 of 1,626 new users have ordered so far (0 of 600 the week before). Farm details: 1,068 of 1,626 (66%) registered without a farm, so their location and hectares are unknown (week before 63%).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362075" y="114300"/>
            <a:ext cx="10287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4141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Riau leads with 162 users who added a farm; Kalimantan 70 → 141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514350" y="942975"/>
            <a:ext cx="5905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072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REGISTRATIONS · WHERE USERS ARE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715000" y="942975"/>
            <a:ext cx="5962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28 Oct 2026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39500" y="6076950"/>
            <a:ext cx="438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72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762000" y="1257300"/>
            <a:ext cx="4943707" cy="4076700"/>
          </a:xfrm>
          <a:prstGeom prst="roundRect">
            <a:avLst>
              <a:gd name="adj" fmla="val 2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52500" y="1409700"/>
            <a:ext cx="456270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5A0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Users with a farm, by province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952500" y="1638300"/>
            <a:ext cx="45627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Last week; week before in grey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971550" y="1924050"/>
            <a:ext cx="3727936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4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Riau</a:t>
            </a:r>
            <a:endParaRPr lang="en-US" sz="940" dirty="0"/>
          </a:p>
        </p:txBody>
      </p:sp>
      <p:sp>
        <p:nvSpPr>
          <p:cNvPr id="11" name="Text 8"/>
          <p:cNvSpPr txBox="1"/>
          <p:nvPr/>
        </p:nvSpPr>
        <p:spPr>
          <a:xfrm>
            <a:off x="5258032" y="1924050"/>
            <a:ext cx="238125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94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162</a:t>
            </a:r>
            <a:endParaRPr lang="en-US" sz="940" dirty="0"/>
          </a:p>
        </p:txBody>
      </p:sp>
      <p:sp>
        <p:nvSpPr>
          <p:cNvPr id="12" name="Text 9"/>
          <p:cNvSpPr txBox="1"/>
          <p:nvPr/>
        </p:nvSpPr>
        <p:spPr>
          <a:xfrm>
            <a:off x="4756636" y="1924050"/>
            <a:ext cx="425196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was 58</a:t>
            </a:r>
            <a:endParaRPr lang="en-US" sz="860" dirty="0"/>
          </a:p>
        </p:txBody>
      </p:sp>
      <p:sp>
        <p:nvSpPr>
          <p:cNvPr id="13" name="Shape 10"/>
          <p:cNvSpPr/>
          <p:nvPr/>
        </p:nvSpPr>
        <p:spPr>
          <a:xfrm>
            <a:off x="971550" y="2136267"/>
            <a:ext cx="4524607" cy="92583"/>
          </a:xfrm>
          <a:prstGeom prst="roundRect">
            <a:avLst>
              <a:gd name="adj" fmla="val 30864"/>
            </a:avLst>
          </a:prstGeom>
          <a:solidFill>
            <a:srgbClr val="E9EDE5"/>
          </a:solidFill>
          <a:ln w="12700">
            <a:solidFill>
              <a:srgbClr val="E9EDE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71550" y="2136267"/>
            <a:ext cx="4524607" cy="92583"/>
          </a:xfrm>
          <a:prstGeom prst="roundRect">
            <a:avLst>
              <a:gd name="adj" fmla="val 30864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71550" y="2266950"/>
            <a:ext cx="3794611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4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Kalimantan Barat</a:t>
            </a:r>
            <a:endParaRPr lang="en-US" sz="940" dirty="0"/>
          </a:p>
        </p:txBody>
      </p:sp>
      <p:sp>
        <p:nvSpPr>
          <p:cNvPr id="16" name="Text 13"/>
          <p:cNvSpPr txBox="1"/>
          <p:nvPr/>
        </p:nvSpPr>
        <p:spPr>
          <a:xfrm>
            <a:off x="5324707" y="2266950"/>
            <a:ext cx="171450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94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52</a:t>
            </a:r>
            <a:endParaRPr lang="en-US" sz="940" dirty="0"/>
          </a:p>
        </p:txBody>
      </p:sp>
      <p:sp>
        <p:nvSpPr>
          <p:cNvPr id="17" name="Text 14"/>
          <p:cNvSpPr txBox="1"/>
          <p:nvPr/>
        </p:nvSpPr>
        <p:spPr>
          <a:xfrm>
            <a:off x="4823311" y="2266950"/>
            <a:ext cx="425196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was 24</a:t>
            </a:r>
            <a:endParaRPr lang="en-US" sz="860" dirty="0"/>
          </a:p>
        </p:txBody>
      </p:sp>
      <p:sp>
        <p:nvSpPr>
          <p:cNvPr id="18" name="Shape 15"/>
          <p:cNvSpPr/>
          <p:nvPr/>
        </p:nvSpPr>
        <p:spPr>
          <a:xfrm>
            <a:off x="971550" y="2479167"/>
            <a:ext cx="4524607" cy="92583"/>
          </a:xfrm>
          <a:prstGeom prst="roundRect">
            <a:avLst>
              <a:gd name="adj" fmla="val 30864"/>
            </a:avLst>
          </a:prstGeom>
          <a:solidFill>
            <a:srgbClr val="E9EDE5"/>
          </a:solidFill>
          <a:ln w="12700">
            <a:solidFill>
              <a:srgbClr val="E9EDE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71550" y="2479167"/>
            <a:ext cx="1452343" cy="92583"/>
          </a:xfrm>
          <a:prstGeom prst="roundRect">
            <a:avLst>
              <a:gd name="adj" fmla="val 30864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71550" y="2609850"/>
            <a:ext cx="3794611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4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Jambi</a:t>
            </a:r>
            <a:endParaRPr lang="en-US" sz="940" dirty="0"/>
          </a:p>
        </p:txBody>
      </p:sp>
      <p:sp>
        <p:nvSpPr>
          <p:cNvPr id="21" name="Text 18"/>
          <p:cNvSpPr txBox="1"/>
          <p:nvPr/>
        </p:nvSpPr>
        <p:spPr>
          <a:xfrm>
            <a:off x="5324707" y="2609850"/>
            <a:ext cx="171450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94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49</a:t>
            </a:r>
            <a:endParaRPr lang="en-US" sz="940" dirty="0"/>
          </a:p>
        </p:txBody>
      </p:sp>
      <p:sp>
        <p:nvSpPr>
          <p:cNvPr id="22" name="Text 19"/>
          <p:cNvSpPr txBox="1"/>
          <p:nvPr/>
        </p:nvSpPr>
        <p:spPr>
          <a:xfrm>
            <a:off x="4823311" y="2609850"/>
            <a:ext cx="425196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was 18</a:t>
            </a:r>
            <a:endParaRPr lang="en-US" sz="860" dirty="0"/>
          </a:p>
        </p:txBody>
      </p:sp>
      <p:sp>
        <p:nvSpPr>
          <p:cNvPr id="23" name="Shape 20"/>
          <p:cNvSpPr/>
          <p:nvPr/>
        </p:nvSpPr>
        <p:spPr>
          <a:xfrm>
            <a:off x="971550" y="2822067"/>
            <a:ext cx="4524607" cy="92583"/>
          </a:xfrm>
          <a:prstGeom prst="roundRect">
            <a:avLst>
              <a:gd name="adj" fmla="val 30864"/>
            </a:avLst>
          </a:prstGeom>
          <a:solidFill>
            <a:srgbClr val="E9EDE5"/>
          </a:solidFill>
          <a:ln w="12700">
            <a:solidFill>
              <a:srgbClr val="E9EDE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971550" y="2822067"/>
            <a:ext cx="1368554" cy="92583"/>
          </a:xfrm>
          <a:prstGeom prst="roundRect">
            <a:avLst>
              <a:gd name="adj" fmla="val 30864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71550" y="2952750"/>
            <a:ext cx="3794611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4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Kalimantan Timur</a:t>
            </a:r>
            <a:endParaRPr lang="en-US" sz="940" dirty="0"/>
          </a:p>
        </p:txBody>
      </p:sp>
      <p:sp>
        <p:nvSpPr>
          <p:cNvPr id="26" name="Text 23"/>
          <p:cNvSpPr txBox="1"/>
          <p:nvPr/>
        </p:nvSpPr>
        <p:spPr>
          <a:xfrm>
            <a:off x="5324707" y="2952750"/>
            <a:ext cx="171450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94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46</a:t>
            </a:r>
            <a:endParaRPr lang="en-US" sz="940" dirty="0"/>
          </a:p>
        </p:txBody>
      </p:sp>
      <p:sp>
        <p:nvSpPr>
          <p:cNvPr id="27" name="Text 24"/>
          <p:cNvSpPr txBox="1"/>
          <p:nvPr/>
        </p:nvSpPr>
        <p:spPr>
          <a:xfrm>
            <a:off x="4823311" y="2952750"/>
            <a:ext cx="425196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was 16</a:t>
            </a:r>
            <a:endParaRPr lang="en-US" sz="860" dirty="0"/>
          </a:p>
        </p:txBody>
      </p:sp>
      <p:sp>
        <p:nvSpPr>
          <p:cNvPr id="28" name="Shape 25"/>
          <p:cNvSpPr/>
          <p:nvPr/>
        </p:nvSpPr>
        <p:spPr>
          <a:xfrm>
            <a:off x="971550" y="3164967"/>
            <a:ext cx="4524607" cy="92583"/>
          </a:xfrm>
          <a:prstGeom prst="roundRect">
            <a:avLst>
              <a:gd name="adj" fmla="val 30864"/>
            </a:avLst>
          </a:prstGeom>
          <a:solidFill>
            <a:srgbClr val="E9EDE5"/>
          </a:solidFill>
          <a:ln w="12700">
            <a:solidFill>
              <a:srgbClr val="E9EDE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71550" y="3164967"/>
            <a:ext cx="1284765" cy="92583"/>
          </a:xfrm>
          <a:prstGeom prst="roundRect">
            <a:avLst>
              <a:gd name="adj" fmla="val 30864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71550" y="3295650"/>
            <a:ext cx="3794611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4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Sumatera Utara</a:t>
            </a:r>
            <a:endParaRPr lang="en-US" sz="940" dirty="0"/>
          </a:p>
        </p:txBody>
      </p:sp>
      <p:sp>
        <p:nvSpPr>
          <p:cNvPr id="31" name="Text 28"/>
          <p:cNvSpPr txBox="1"/>
          <p:nvPr/>
        </p:nvSpPr>
        <p:spPr>
          <a:xfrm>
            <a:off x="5324707" y="3295650"/>
            <a:ext cx="171450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94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45</a:t>
            </a:r>
            <a:endParaRPr lang="en-US" sz="940" dirty="0"/>
          </a:p>
        </p:txBody>
      </p:sp>
      <p:sp>
        <p:nvSpPr>
          <p:cNvPr id="32" name="Text 29"/>
          <p:cNvSpPr txBox="1"/>
          <p:nvPr/>
        </p:nvSpPr>
        <p:spPr>
          <a:xfrm>
            <a:off x="4823311" y="3295650"/>
            <a:ext cx="425196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was 19</a:t>
            </a:r>
            <a:endParaRPr lang="en-US" sz="860" dirty="0"/>
          </a:p>
        </p:txBody>
      </p:sp>
      <p:sp>
        <p:nvSpPr>
          <p:cNvPr id="33" name="Shape 30"/>
          <p:cNvSpPr/>
          <p:nvPr/>
        </p:nvSpPr>
        <p:spPr>
          <a:xfrm>
            <a:off x="971550" y="3507867"/>
            <a:ext cx="4524607" cy="92583"/>
          </a:xfrm>
          <a:prstGeom prst="roundRect">
            <a:avLst>
              <a:gd name="adj" fmla="val 30864"/>
            </a:avLst>
          </a:prstGeom>
          <a:solidFill>
            <a:srgbClr val="E9EDE5"/>
          </a:solidFill>
          <a:ln w="12700">
            <a:solidFill>
              <a:srgbClr val="E9EDE5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971550" y="3507867"/>
            <a:ext cx="1256835" cy="92583"/>
          </a:xfrm>
          <a:prstGeom prst="roundRect">
            <a:avLst>
              <a:gd name="adj" fmla="val 30864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71550" y="3638550"/>
            <a:ext cx="3794611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4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Sumatera Selatan</a:t>
            </a:r>
            <a:endParaRPr lang="en-US" sz="940" dirty="0"/>
          </a:p>
        </p:txBody>
      </p:sp>
      <p:sp>
        <p:nvSpPr>
          <p:cNvPr id="36" name="Text 33"/>
          <p:cNvSpPr txBox="1"/>
          <p:nvPr/>
        </p:nvSpPr>
        <p:spPr>
          <a:xfrm>
            <a:off x="5324707" y="3638550"/>
            <a:ext cx="171450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94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44</a:t>
            </a:r>
            <a:endParaRPr lang="en-US" sz="940" dirty="0"/>
          </a:p>
        </p:txBody>
      </p:sp>
      <p:sp>
        <p:nvSpPr>
          <p:cNvPr id="37" name="Text 34"/>
          <p:cNvSpPr txBox="1"/>
          <p:nvPr/>
        </p:nvSpPr>
        <p:spPr>
          <a:xfrm>
            <a:off x="4823311" y="3638550"/>
            <a:ext cx="425196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was 18</a:t>
            </a:r>
            <a:endParaRPr lang="en-US" sz="860" dirty="0"/>
          </a:p>
        </p:txBody>
      </p:sp>
      <p:sp>
        <p:nvSpPr>
          <p:cNvPr id="38" name="Shape 35"/>
          <p:cNvSpPr/>
          <p:nvPr/>
        </p:nvSpPr>
        <p:spPr>
          <a:xfrm>
            <a:off x="971550" y="3850767"/>
            <a:ext cx="4524607" cy="92583"/>
          </a:xfrm>
          <a:prstGeom prst="roundRect">
            <a:avLst>
              <a:gd name="adj" fmla="val 30864"/>
            </a:avLst>
          </a:prstGeom>
          <a:solidFill>
            <a:srgbClr val="E9EDE5"/>
          </a:solidFill>
          <a:ln w="12700">
            <a:solidFill>
              <a:srgbClr val="E9EDE5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971550" y="3850767"/>
            <a:ext cx="1228906" cy="92583"/>
          </a:xfrm>
          <a:prstGeom prst="roundRect">
            <a:avLst>
              <a:gd name="adj" fmla="val 30864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971550" y="3981450"/>
            <a:ext cx="3794611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4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Kalimantan Tengah</a:t>
            </a:r>
            <a:endParaRPr lang="en-US" sz="940" dirty="0"/>
          </a:p>
        </p:txBody>
      </p:sp>
      <p:sp>
        <p:nvSpPr>
          <p:cNvPr id="41" name="Text 38"/>
          <p:cNvSpPr txBox="1"/>
          <p:nvPr/>
        </p:nvSpPr>
        <p:spPr>
          <a:xfrm>
            <a:off x="5324707" y="3981450"/>
            <a:ext cx="171450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94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26</a:t>
            </a:r>
            <a:endParaRPr lang="en-US" sz="940" dirty="0"/>
          </a:p>
        </p:txBody>
      </p:sp>
      <p:sp>
        <p:nvSpPr>
          <p:cNvPr id="42" name="Text 39"/>
          <p:cNvSpPr txBox="1"/>
          <p:nvPr/>
        </p:nvSpPr>
        <p:spPr>
          <a:xfrm>
            <a:off x="4823311" y="3981450"/>
            <a:ext cx="425196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was 24</a:t>
            </a:r>
            <a:endParaRPr lang="en-US" sz="860" dirty="0"/>
          </a:p>
        </p:txBody>
      </p:sp>
      <p:sp>
        <p:nvSpPr>
          <p:cNvPr id="43" name="Shape 40"/>
          <p:cNvSpPr/>
          <p:nvPr/>
        </p:nvSpPr>
        <p:spPr>
          <a:xfrm>
            <a:off x="971550" y="4193667"/>
            <a:ext cx="4524607" cy="92583"/>
          </a:xfrm>
          <a:prstGeom prst="roundRect">
            <a:avLst>
              <a:gd name="adj" fmla="val 30864"/>
            </a:avLst>
          </a:prstGeom>
          <a:solidFill>
            <a:srgbClr val="E9EDE5"/>
          </a:solidFill>
          <a:ln w="12700">
            <a:solidFill>
              <a:srgbClr val="E9EDE5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971550" y="4193667"/>
            <a:ext cx="726172" cy="92583"/>
          </a:xfrm>
          <a:prstGeom prst="roundRect">
            <a:avLst>
              <a:gd name="adj" fmla="val 30864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971550" y="4324350"/>
            <a:ext cx="3855952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4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Aceh</a:t>
            </a:r>
            <a:endParaRPr lang="en-US" sz="940" dirty="0"/>
          </a:p>
        </p:txBody>
      </p:sp>
      <p:sp>
        <p:nvSpPr>
          <p:cNvPr id="46" name="Text 43"/>
          <p:cNvSpPr txBox="1"/>
          <p:nvPr/>
        </p:nvSpPr>
        <p:spPr>
          <a:xfrm>
            <a:off x="5324707" y="4324350"/>
            <a:ext cx="171450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94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23</a:t>
            </a:r>
            <a:endParaRPr lang="en-US" sz="940" dirty="0"/>
          </a:p>
        </p:txBody>
      </p:sp>
      <p:sp>
        <p:nvSpPr>
          <p:cNvPr id="47" name="Text 44"/>
          <p:cNvSpPr txBox="1"/>
          <p:nvPr/>
        </p:nvSpPr>
        <p:spPr>
          <a:xfrm>
            <a:off x="4884652" y="4324350"/>
            <a:ext cx="363855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was 6</a:t>
            </a:r>
            <a:endParaRPr lang="en-US" sz="860" dirty="0"/>
          </a:p>
        </p:txBody>
      </p:sp>
      <p:sp>
        <p:nvSpPr>
          <p:cNvPr id="48" name="Shape 45"/>
          <p:cNvSpPr/>
          <p:nvPr/>
        </p:nvSpPr>
        <p:spPr>
          <a:xfrm>
            <a:off x="971550" y="4536567"/>
            <a:ext cx="4524607" cy="92583"/>
          </a:xfrm>
          <a:prstGeom prst="roundRect">
            <a:avLst>
              <a:gd name="adj" fmla="val 30864"/>
            </a:avLst>
          </a:prstGeom>
          <a:solidFill>
            <a:srgbClr val="E9EDE5"/>
          </a:solidFill>
          <a:ln w="12700">
            <a:solidFill>
              <a:srgbClr val="E9EDE5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971550" y="4536567"/>
            <a:ext cx="642383" cy="92583"/>
          </a:xfrm>
          <a:prstGeom prst="roundRect">
            <a:avLst>
              <a:gd name="adj" fmla="val 30864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971550" y="4667250"/>
            <a:ext cx="3855952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4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Sumatera Barat</a:t>
            </a:r>
            <a:endParaRPr lang="en-US" sz="940" dirty="0"/>
          </a:p>
        </p:txBody>
      </p:sp>
      <p:sp>
        <p:nvSpPr>
          <p:cNvPr id="51" name="Text 48"/>
          <p:cNvSpPr txBox="1"/>
          <p:nvPr/>
        </p:nvSpPr>
        <p:spPr>
          <a:xfrm>
            <a:off x="5324707" y="4667250"/>
            <a:ext cx="171450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94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19</a:t>
            </a:r>
            <a:endParaRPr lang="en-US" sz="940" dirty="0"/>
          </a:p>
        </p:txBody>
      </p:sp>
      <p:sp>
        <p:nvSpPr>
          <p:cNvPr id="52" name="Text 49"/>
          <p:cNvSpPr txBox="1"/>
          <p:nvPr/>
        </p:nvSpPr>
        <p:spPr>
          <a:xfrm>
            <a:off x="4884652" y="4667250"/>
            <a:ext cx="363855" cy="1931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was 5</a:t>
            </a:r>
            <a:endParaRPr lang="en-US" sz="860" dirty="0"/>
          </a:p>
        </p:txBody>
      </p:sp>
      <p:sp>
        <p:nvSpPr>
          <p:cNvPr id="53" name="Shape 50"/>
          <p:cNvSpPr/>
          <p:nvPr/>
        </p:nvSpPr>
        <p:spPr>
          <a:xfrm>
            <a:off x="971550" y="4879467"/>
            <a:ext cx="4524607" cy="92583"/>
          </a:xfrm>
          <a:prstGeom prst="roundRect">
            <a:avLst>
              <a:gd name="adj" fmla="val 30864"/>
            </a:avLst>
          </a:prstGeom>
          <a:solidFill>
            <a:srgbClr val="E9EDE5"/>
          </a:solidFill>
          <a:ln w="12700">
            <a:solidFill>
              <a:srgbClr val="E9EDE5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971550" y="4879467"/>
            <a:ext cx="530664" cy="92583"/>
          </a:xfrm>
          <a:prstGeom prst="roundRect">
            <a:avLst>
              <a:gd name="adj" fmla="val 30864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858107" y="1257300"/>
            <a:ext cx="5190893" cy="4076700"/>
          </a:xfrm>
          <a:prstGeom prst="roundRect">
            <a:avLst>
              <a:gd name="adj" fmla="val 2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6048607" y="1409700"/>
            <a:ext cx="480989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5A0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Top regencies last week</a:t>
            </a:r>
            <a:endParaRPr lang="en-US" sz="1300" dirty="0"/>
          </a:p>
        </p:txBody>
      </p:sp>
      <p:sp>
        <p:nvSpPr>
          <p:cNvPr id="57" name="Text 54"/>
          <p:cNvSpPr txBox="1"/>
          <p:nvPr/>
        </p:nvSpPr>
        <p:spPr>
          <a:xfrm>
            <a:off x="6048607" y="1638300"/>
            <a:ext cx="48098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Users who added a farm</a:t>
            </a:r>
            <a:endParaRPr lang="en-US" sz="9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10507" y="1924050"/>
          <a:ext cx="4886093" cy="914400"/>
        </p:xfrm>
        <a:graphic>
          <a:graphicData uri="http://schemas.openxmlformats.org/drawingml/2006/table">
            <a:tbl>
              <a:tblPr/>
              <a:tblGrid>
                <a:gridCol w="1465828"/>
                <a:gridCol w="1465828"/>
                <a:gridCol w="684053"/>
                <a:gridCol w="684053"/>
                <a:gridCol w="586331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Regency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Province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12 Oct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19 Oct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Change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Kampar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+20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Rokan Hulu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+18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Bengkalis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+14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Kutai Timur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Kalimantan Timur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18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+16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Indragiri Hulu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+10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Pelalawan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+13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Siak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+10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Ketapang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Kalimantan Barat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Rokan Hilir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Kutai Kartanegara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Kalimantan Timur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9" name="Shape 55"/>
          <p:cNvSpPr/>
          <p:nvPr/>
        </p:nvSpPr>
        <p:spPr>
          <a:xfrm>
            <a:off x="762000" y="5467350"/>
            <a:ext cx="10287000" cy="552450"/>
          </a:xfrm>
          <a:prstGeom prst="roundRect">
            <a:avLst>
              <a:gd name="adj" fmla="val 19862"/>
            </a:avLst>
          </a:prstGeom>
          <a:solidFill>
            <a:srgbClr val="FBEFC4"/>
          </a:solidFill>
          <a:ln w="12700">
            <a:solidFill>
              <a:srgbClr val="FBEFC4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933450" y="5553075"/>
            <a:ext cx="9944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Location is known only for users who added a farm: 558 of 1,626 last week; 1,068 more have no location yet.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Estate owners: 1 last week: no farm added yet. Every other user with a farm is a farmer.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362075" y="114300"/>
            <a:ext cx="10287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4141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22 users above 100 ha last week, +10 on the week before (12)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514350" y="942975"/>
            <a:ext cx="5905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072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REGISTRATIONS · USERS ABOVE 100 HA, LAST WEEK (1/3)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715000" y="942975"/>
            <a:ext cx="5962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28 Oct 2026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39500" y="6076950"/>
            <a:ext cx="438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72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762000" y="1257300"/>
            <a:ext cx="10287000" cy="4076700"/>
          </a:xfrm>
          <a:prstGeom prst="roundRect">
            <a:avLst>
              <a:gd name="adj" fmla="val 2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28750"/>
          <a:ext cx="9982200" cy="914400"/>
        </p:xfrm>
        <a:graphic>
          <a:graphicData uri="http://schemas.openxmlformats.org/drawingml/2006/table">
            <a:tbl>
              <a:tblPr/>
              <a:tblGrid>
                <a:gridCol w="1497330"/>
                <a:gridCol w="1696974"/>
                <a:gridCol w="598932"/>
                <a:gridCol w="698754"/>
                <a:gridCol w="1297686"/>
                <a:gridCol w="698754"/>
                <a:gridCol w="1098042"/>
                <a:gridCol w="1098042"/>
                <a:gridCol w="129768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Name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Contact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Role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Total ha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name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ha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District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Regency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Province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69647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P07a7d107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15,000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15,000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Membalong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Belitung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Kepulauan Bangka Belitung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1b95e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Pea797e06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15,000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15,000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Tabir Timur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Merangin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Jambi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5c507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user69c6ec@example.com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15,000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15,000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Noyan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Sanggau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Kalimantan Barat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50f18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P2c6ae9ea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15,000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15,000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Anak Tuha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Lampung Tengah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Lampung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49fbc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P3db08d71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14,000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14,000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Kayan Hilir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Sintang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Kalimantan Barat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f3af2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P7dc1360a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10,000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10,000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Bilah Hulu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Labuhan Batu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Sumatera Utara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093fd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Pe60d69e6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10,000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10,000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Malangke Barat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Luwu Utara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Sulawesi Selatan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04a0f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Pca272c4b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10,000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10,000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Koto Besar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Dharmasraya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Sumatera Barat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c9f44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userf439fb@example.com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10,000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10,000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Toho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Mempawah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Kalimantan Barat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762000" y="5467350"/>
            <a:ext cx="10287000" cy="552450"/>
          </a:xfrm>
          <a:prstGeom prst="roundRect">
            <a:avLst>
              <a:gd name="adj" fmla="val 19862"/>
            </a:avLst>
          </a:prstGeom>
          <a:solidFill>
            <a:srgbClr val="FBEFC4"/>
          </a:solidFill>
          <a:ln w="12700">
            <a:solidFill>
              <a:srgbClr val="FBEFC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33450" y="5553075"/>
            <a:ext cx="9944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22 users, 140,931 ha; 1 with several farms, one row per farm. Contact = phone number, or email when there is no phone.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Note: hectares are the area each user entered in the app; they have not yet been validated and need to be confirmed with the user.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362075" y="114300"/>
            <a:ext cx="10287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4141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22 users above 100 ha last week, +10 on the week before (12)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514350" y="942975"/>
            <a:ext cx="5905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072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REGISTRATIONS · USERS ABOVE 100 HA, LAST WEEK (2/3)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715000" y="942975"/>
            <a:ext cx="5962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28 Oct 2026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39500" y="6076950"/>
            <a:ext cx="438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72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762000" y="1257300"/>
            <a:ext cx="10287000" cy="4248150"/>
          </a:xfrm>
          <a:prstGeom prst="roundRect">
            <a:avLst>
              <a:gd name="adj" fmla="val 25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28750"/>
          <a:ext cx="9982200" cy="914400"/>
        </p:xfrm>
        <a:graphic>
          <a:graphicData uri="http://schemas.openxmlformats.org/drawingml/2006/table">
            <a:tbl>
              <a:tblPr/>
              <a:tblGrid>
                <a:gridCol w="1497330"/>
                <a:gridCol w="1696974"/>
                <a:gridCol w="598932"/>
                <a:gridCol w="698754"/>
                <a:gridCol w="1297686"/>
                <a:gridCol w="698754"/>
                <a:gridCol w="1098042"/>
                <a:gridCol w="1098042"/>
                <a:gridCol w="129768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Name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Contact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Role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Total ha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name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ha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District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Regency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Province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2e212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P12f3655c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7,550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2,700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Tambang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Kampar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1,500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Tambang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Kampar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1,250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Tambang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Kampar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1,100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Tambang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Kampar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1,000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Tambang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Kampar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cc8ea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P46069804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4,000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4,000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Sesayap Hilir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Tana Tidung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Kalimantan Utara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42f70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P51499186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4,000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4,000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Sei Menggaris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Nunukan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Kalimantan Utara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ba7f1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P883f3500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3,000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3,000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Tanjung Selor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Bulungan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Kalimantan Utara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e298d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P1dcb2ab9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2,500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2,500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Sosor Gadong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Tapanuli Tengah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Sumatera Utara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05c34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P7b3ee35c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1,982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1,982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Buol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Sulawesi Tengah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70c1d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P5d96e559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1,555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1,555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Masamba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Luwu Utara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Sulawesi Selatan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a54b2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P4fdf0676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1,000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1,000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Kedurang Ilir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Bengkulu Selatan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Bengkulu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762000" y="5638800"/>
            <a:ext cx="10287000" cy="381000"/>
          </a:xfrm>
          <a:prstGeom prst="roundRect">
            <a:avLst>
              <a:gd name="adj" fmla="val 28800"/>
            </a:avLst>
          </a:prstGeom>
          <a:solidFill>
            <a:srgbClr val="FBEFC4"/>
          </a:solidFill>
          <a:ln w="12700">
            <a:solidFill>
              <a:srgbClr val="FBEFC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33450" y="5724525"/>
            <a:ext cx="99441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Note: hectares are the area each user entered in the app; they have not yet been validated and need to be confirmed with the user.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362075" y="114300"/>
            <a:ext cx="10287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4141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22 users above 100 ha last week, +10 on the week before (12)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514350" y="942975"/>
            <a:ext cx="5905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072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REGISTRATIONS · USERS ABOVE 100 HA, LAST WEEK (3/3)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715000" y="942975"/>
            <a:ext cx="5962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28 Oct 2026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39500" y="6076950"/>
            <a:ext cx="438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72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762000" y="1257300"/>
            <a:ext cx="10287000" cy="4248150"/>
          </a:xfrm>
          <a:prstGeom prst="roundRect">
            <a:avLst>
              <a:gd name="adj" fmla="val 25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28750"/>
          <a:ext cx="9982200" cy="914400"/>
        </p:xfrm>
        <a:graphic>
          <a:graphicData uri="http://schemas.openxmlformats.org/drawingml/2006/table">
            <a:tbl>
              <a:tblPr/>
              <a:tblGrid>
                <a:gridCol w="1497330"/>
                <a:gridCol w="1696974"/>
                <a:gridCol w="598932"/>
                <a:gridCol w="698754"/>
                <a:gridCol w="1297686"/>
                <a:gridCol w="698754"/>
                <a:gridCol w="1098042"/>
                <a:gridCol w="1098042"/>
                <a:gridCol w="129768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Name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Contact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Role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Total ha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name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ha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District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Regency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Province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ddd4b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Pdd717d36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Woyla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Aceh Barat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Aceh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da348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P97249b6e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289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289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Pangkalan Koto Baru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Lima Puluh Kota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Sumatera Barat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fedf9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Pcc681789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Pulau Hanaut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Kotawaringin Timur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Kalimantan Tengah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69ece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P480e06c6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180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180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Muara Sabak Barat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Tanjung Jabung Timur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Jambi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a043e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P54f5f80a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175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175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Kuantan Mudik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Kuantan Singingi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762000" y="5638800"/>
            <a:ext cx="10287000" cy="381000"/>
          </a:xfrm>
          <a:prstGeom prst="roundRect">
            <a:avLst>
              <a:gd name="adj" fmla="val 28800"/>
            </a:avLst>
          </a:prstGeom>
          <a:solidFill>
            <a:srgbClr val="FBEFC4"/>
          </a:solidFill>
          <a:ln w="12700">
            <a:solidFill>
              <a:srgbClr val="FBEFC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33450" y="5724525"/>
            <a:ext cx="99441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Note: hectares are the area each user entered in the app; they have not yet been validated and need to be confirmed with the user.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362075" y="114300"/>
            <a:ext cx="10287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4141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12 users above 100 ha the week before (12–18 Oct)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514350" y="942975"/>
            <a:ext cx="5905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072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REGISTRATIONS · USERS ABOVE 100 HA, THE WEEK BEFORE (1/2)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715000" y="942975"/>
            <a:ext cx="5962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28 Oct 2026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39500" y="6076950"/>
            <a:ext cx="438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72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762000" y="1257300"/>
            <a:ext cx="10287000" cy="4076700"/>
          </a:xfrm>
          <a:prstGeom prst="roundRect">
            <a:avLst>
              <a:gd name="adj" fmla="val 2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28750"/>
          <a:ext cx="9982200" cy="914400"/>
        </p:xfrm>
        <a:graphic>
          <a:graphicData uri="http://schemas.openxmlformats.org/drawingml/2006/table">
            <a:tbl>
              <a:tblPr/>
              <a:tblGrid>
                <a:gridCol w="1497330"/>
                <a:gridCol w="1696974"/>
                <a:gridCol w="598932"/>
                <a:gridCol w="698754"/>
                <a:gridCol w="1297686"/>
                <a:gridCol w="698754"/>
                <a:gridCol w="1098042"/>
                <a:gridCol w="1098042"/>
                <a:gridCol w="129768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Name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Contact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Role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Total ha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name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ha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District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Regency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Province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08d10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Pfd8fcd8f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20,000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15,000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Batang Cenaku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Indragiri Hulu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5,000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Peranap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Indragiri Hulu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ecbcf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Pa3dc21b7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15,000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15,000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Gunung Tabur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Berau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Kalimantan Timur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1e94f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P3b33d795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11,250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11,250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Muara Kaman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Kutai Kartanegara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Kalimantan Timur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30387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Pe0e2858f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3,400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3,400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Tambang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Kampar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924e2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P5166a341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2,500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2,500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Sukaraja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Seluma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Bengkulu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90c97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P61c54434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1,500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1,500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Manuhing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Gunung Mas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Kalimantan Tengah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4994e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P3c64a50c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800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800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Lotu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Nias Utara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Sumatera Utara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390f5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Peae110db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497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497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Sei Lepan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Langkat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Sumatera Utara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42013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P2eaeaa98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365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365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Mataraman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Banjar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Kalimantan Selatan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7f47a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Pf208d6c1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Sungai Ambawang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Kubu Raya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Kalimantan Barat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3f4a3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P90c2fbfb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180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180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Tayan Hulu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Sanggau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Kalimantan Barat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762000" y="5467350"/>
            <a:ext cx="10287000" cy="552450"/>
          </a:xfrm>
          <a:prstGeom prst="roundRect">
            <a:avLst>
              <a:gd name="adj" fmla="val 19862"/>
            </a:avLst>
          </a:prstGeom>
          <a:solidFill>
            <a:srgbClr val="FBEFC4"/>
          </a:solidFill>
          <a:ln w="12700">
            <a:solidFill>
              <a:srgbClr val="FBEFC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33450" y="5553075"/>
            <a:ext cx="9944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12 users, 55,867 ha; 1 with several farms, one row per farm. Contact = phone number, or email when there is no phone.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Note: hectares are the area each user entered in the app; they have not yet been validated and need to be confirmed with the user.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362075" y="114300"/>
            <a:ext cx="10287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4141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12 users above 100 ha the week before (12–18 Oct)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514350" y="942975"/>
            <a:ext cx="5905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072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REGISTRATIONS · USERS ABOVE 100 HA, THE WEEK BEFORE (2/2)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715000" y="942975"/>
            <a:ext cx="5962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28 Oct 2026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39500" y="6076950"/>
            <a:ext cx="438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72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762000" y="1257300"/>
            <a:ext cx="10287000" cy="4248150"/>
          </a:xfrm>
          <a:prstGeom prst="roundRect">
            <a:avLst>
              <a:gd name="adj" fmla="val 25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28750"/>
          <a:ext cx="9982200" cy="914400"/>
        </p:xfrm>
        <a:graphic>
          <a:graphicData uri="http://schemas.openxmlformats.org/drawingml/2006/table">
            <a:tbl>
              <a:tblPr/>
              <a:tblGrid>
                <a:gridCol w="1497330"/>
                <a:gridCol w="1696974"/>
                <a:gridCol w="598932"/>
                <a:gridCol w="698754"/>
                <a:gridCol w="1297686"/>
                <a:gridCol w="698754"/>
                <a:gridCol w="1098042"/>
                <a:gridCol w="1098042"/>
                <a:gridCol w="129768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Name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Contact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Role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Total ha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name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ha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District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Regency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Province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 aad03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P234e57c9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175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 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175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Seberida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Indragiri Hulu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Riau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762000" y="5638800"/>
            <a:ext cx="10287000" cy="381000"/>
          </a:xfrm>
          <a:prstGeom prst="roundRect">
            <a:avLst>
              <a:gd name="adj" fmla="val 28800"/>
            </a:avLst>
          </a:prstGeom>
          <a:solidFill>
            <a:srgbClr val="FBEFC4"/>
          </a:solidFill>
          <a:ln w="12700">
            <a:solidFill>
              <a:srgbClr val="FBEFC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33450" y="5724525"/>
            <a:ext cx="99441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Note: hectares are the area each user entered in the app; they have not yet been validated and need to be confirmed with the user.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362075" y="114300"/>
            <a:ext cx="10287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4141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 explains 90% of the rise (+927); Meta −2 fell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514350" y="942975"/>
            <a:ext cx="5905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072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ACQUISITION · WHAT MOVED THE TOTAL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715000" y="942975"/>
            <a:ext cx="5962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28 Oct 2026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39500" y="6076950"/>
            <a:ext cx="438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72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762000" y="1257300"/>
            <a:ext cx="5067300" cy="4076700"/>
          </a:xfrm>
          <a:prstGeom prst="roundRect">
            <a:avLst>
              <a:gd name="adj" fmla="val 2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52500" y="1409700"/>
            <a:ext cx="46863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5A0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From the week before to last week, by channel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952500" y="1638300"/>
            <a:ext cx="4686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registered, by acquisition channel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1087755" y="3852529"/>
            <a:ext cx="348615" cy="1005221"/>
          </a:xfrm>
          <a:prstGeom prst="roundRect">
            <a:avLst>
              <a:gd name="adj" fmla="val 8197"/>
            </a:avLst>
          </a:prstGeom>
          <a:solidFill>
            <a:srgbClr val="274E13"/>
          </a:solidFill>
          <a:ln w="12700">
            <a:solidFill>
              <a:srgbClr val="274E1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85813" y="3681079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600</a:t>
            </a:r>
            <a:endParaRPr lang="en-US" sz="860" dirty="0"/>
          </a:p>
        </p:txBody>
      </p:sp>
      <p:sp>
        <p:nvSpPr>
          <p:cNvPr id="12" name="Shape 9"/>
          <p:cNvSpPr/>
          <p:nvPr/>
        </p:nvSpPr>
        <p:spPr>
          <a:xfrm>
            <a:off x="1436370" y="3852529"/>
            <a:ext cx="232410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981075" y="4905375"/>
            <a:ext cx="561975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Week</a:t>
            </a:r>
            <a:endParaRPr lang="en-US" sz="83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before</a:t>
            </a:r>
            <a:endParaRPr lang="en-US" sz="83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12 Oct</a:t>
            </a:r>
            <a:endParaRPr lang="en-US" sz="830" dirty="0"/>
          </a:p>
        </p:txBody>
      </p:sp>
      <p:sp>
        <p:nvSpPr>
          <p:cNvPr id="14" name="Shape 11"/>
          <p:cNvSpPr/>
          <p:nvPr/>
        </p:nvSpPr>
        <p:spPr>
          <a:xfrm>
            <a:off x="1668780" y="3852529"/>
            <a:ext cx="348615" cy="19050"/>
          </a:xfrm>
          <a:prstGeom prst="rect">
            <a:avLst/>
          </a:prstGeom>
          <a:solidFill>
            <a:srgbClr val="A23B72"/>
          </a:solidFill>
          <a:ln w="12700">
            <a:solidFill>
              <a:srgbClr val="A23B7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366838" y="3681079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A23B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−2</a:t>
            </a:r>
            <a:endParaRPr lang="en-US" sz="860" dirty="0"/>
          </a:p>
        </p:txBody>
      </p:sp>
      <p:sp>
        <p:nvSpPr>
          <p:cNvPr id="16" name="Shape 13"/>
          <p:cNvSpPr/>
          <p:nvPr/>
        </p:nvSpPr>
        <p:spPr>
          <a:xfrm>
            <a:off x="2017395" y="3855879"/>
            <a:ext cx="232410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dash"/>
          </a:ln>
        </p:spPr>
      </p:sp>
      <p:sp>
        <p:nvSpPr>
          <p:cNvPr id="17" name="Text 14"/>
          <p:cNvSpPr txBox="1"/>
          <p:nvPr/>
        </p:nvSpPr>
        <p:spPr>
          <a:xfrm>
            <a:off x="1562100" y="4905375"/>
            <a:ext cx="561975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Meta</a:t>
            </a:r>
            <a:endParaRPr lang="en-US" sz="830" dirty="0"/>
          </a:p>
        </p:txBody>
      </p:sp>
      <p:sp>
        <p:nvSpPr>
          <p:cNvPr id="18" name="Shape 15"/>
          <p:cNvSpPr/>
          <p:nvPr/>
        </p:nvSpPr>
        <p:spPr>
          <a:xfrm>
            <a:off x="2249805" y="3854204"/>
            <a:ext cx="348615" cy="19050"/>
          </a:xfrm>
          <a:prstGeom prst="rect">
            <a:avLst/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947863" y="3682754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3E7B2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+1</a:t>
            </a:r>
            <a:endParaRPr lang="en-US" sz="860" dirty="0"/>
          </a:p>
        </p:txBody>
      </p:sp>
      <p:sp>
        <p:nvSpPr>
          <p:cNvPr id="20" name="Shape 17"/>
          <p:cNvSpPr/>
          <p:nvPr/>
        </p:nvSpPr>
        <p:spPr>
          <a:xfrm>
            <a:off x="2598420" y="3854204"/>
            <a:ext cx="232410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dash"/>
          </a:ln>
        </p:spPr>
      </p:sp>
      <p:sp>
        <p:nvSpPr>
          <p:cNvPr id="21" name="Text 18"/>
          <p:cNvSpPr txBox="1"/>
          <p:nvPr/>
        </p:nvSpPr>
        <p:spPr>
          <a:xfrm>
            <a:off x="2143125" y="4905375"/>
            <a:ext cx="561975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Toling</a:t>
            </a:r>
            <a:endParaRPr lang="en-US" sz="830" dirty="0"/>
          </a:p>
        </p:txBody>
      </p:sp>
      <p:sp>
        <p:nvSpPr>
          <p:cNvPr id="22" name="Shape 19"/>
          <p:cNvSpPr/>
          <p:nvPr/>
        </p:nvSpPr>
        <p:spPr>
          <a:xfrm>
            <a:off x="2830830" y="3837450"/>
            <a:ext cx="348615" cy="19050"/>
          </a:xfrm>
          <a:prstGeom prst="rect">
            <a:avLst/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528888" y="3666000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3E7B2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+10</a:t>
            </a:r>
            <a:endParaRPr lang="en-US" sz="860" dirty="0"/>
          </a:p>
        </p:txBody>
      </p:sp>
      <p:sp>
        <p:nvSpPr>
          <p:cNvPr id="24" name="Shape 21"/>
          <p:cNvSpPr/>
          <p:nvPr/>
        </p:nvSpPr>
        <p:spPr>
          <a:xfrm>
            <a:off x="3179445" y="3837450"/>
            <a:ext cx="232410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dash"/>
          </a:ln>
        </p:spPr>
      </p:sp>
      <p:sp>
        <p:nvSpPr>
          <p:cNvPr id="25" name="Text 22"/>
          <p:cNvSpPr txBox="1"/>
          <p:nvPr/>
        </p:nvSpPr>
        <p:spPr>
          <a:xfrm>
            <a:off x="2724150" y="4905375"/>
            <a:ext cx="561975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Duta</a:t>
            </a:r>
            <a:endParaRPr lang="en-US" sz="830" dirty="0"/>
          </a:p>
        </p:txBody>
      </p:sp>
      <p:sp>
        <p:nvSpPr>
          <p:cNvPr id="26" name="Shape 23"/>
          <p:cNvSpPr/>
          <p:nvPr/>
        </p:nvSpPr>
        <p:spPr>
          <a:xfrm>
            <a:off x="3411855" y="3815670"/>
            <a:ext cx="348615" cy="21780"/>
          </a:xfrm>
          <a:prstGeom prst="rect">
            <a:avLst/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109913" y="3644220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3E7B2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+13</a:t>
            </a:r>
            <a:endParaRPr lang="en-US" sz="860" dirty="0"/>
          </a:p>
        </p:txBody>
      </p:sp>
      <p:sp>
        <p:nvSpPr>
          <p:cNvPr id="28" name="Shape 25"/>
          <p:cNvSpPr/>
          <p:nvPr/>
        </p:nvSpPr>
        <p:spPr>
          <a:xfrm>
            <a:off x="3760470" y="3815670"/>
            <a:ext cx="232410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dash"/>
          </a:ln>
        </p:spPr>
      </p:sp>
      <p:sp>
        <p:nvSpPr>
          <p:cNvPr id="29" name="Text 26"/>
          <p:cNvSpPr txBox="1"/>
          <p:nvPr/>
        </p:nvSpPr>
        <p:spPr>
          <a:xfrm>
            <a:off x="3305175" y="4905375"/>
            <a:ext cx="561975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Identifi…</a:t>
            </a:r>
            <a:endParaRPr lang="en-US" sz="83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Campaigns</a:t>
            </a:r>
            <a:endParaRPr lang="en-US" sz="830" dirty="0"/>
          </a:p>
        </p:txBody>
      </p:sp>
      <p:sp>
        <p:nvSpPr>
          <p:cNvPr id="30" name="Shape 27"/>
          <p:cNvSpPr/>
          <p:nvPr/>
        </p:nvSpPr>
        <p:spPr>
          <a:xfrm>
            <a:off x="3992880" y="3686667"/>
            <a:ext cx="348615" cy="129003"/>
          </a:xfrm>
          <a:prstGeom prst="roundRect">
            <a:avLst>
              <a:gd name="adj" fmla="val 22151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690937" y="3515217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3E7B2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+77</a:t>
            </a:r>
            <a:endParaRPr lang="en-US" sz="860" dirty="0"/>
          </a:p>
        </p:txBody>
      </p:sp>
      <p:sp>
        <p:nvSpPr>
          <p:cNvPr id="32" name="Shape 29"/>
          <p:cNvSpPr/>
          <p:nvPr/>
        </p:nvSpPr>
        <p:spPr>
          <a:xfrm>
            <a:off x="4341495" y="3686667"/>
            <a:ext cx="232410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dash"/>
          </a:ln>
        </p:spPr>
      </p:sp>
      <p:sp>
        <p:nvSpPr>
          <p:cNvPr id="33" name="Text 30"/>
          <p:cNvSpPr txBox="1"/>
          <p:nvPr/>
        </p:nvSpPr>
        <p:spPr>
          <a:xfrm>
            <a:off x="3886200" y="4905375"/>
            <a:ext cx="561975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Google</a:t>
            </a:r>
            <a:endParaRPr lang="en-US" sz="83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Ads</a:t>
            </a:r>
            <a:endParaRPr lang="en-US" sz="830" dirty="0"/>
          </a:p>
        </p:txBody>
      </p:sp>
      <p:sp>
        <p:nvSpPr>
          <p:cNvPr id="34" name="Shape 31"/>
          <p:cNvSpPr/>
          <p:nvPr/>
        </p:nvSpPr>
        <p:spPr>
          <a:xfrm>
            <a:off x="4573905" y="2133600"/>
            <a:ext cx="348615" cy="1553067"/>
          </a:xfrm>
          <a:prstGeom prst="roundRect">
            <a:avLst>
              <a:gd name="adj" fmla="val 8197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271963" y="1962150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3E7B2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+927</a:t>
            </a:r>
            <a:endParaRPr lang="en-US" sz="860" dirty="0"/>
          </a:p>
        </p:txBody>
      </p:sp>
      <p:sp>
        <p:nvSpPr>
          <p:cNvPr id="36" name="Shape 33"/>
          <p:cNvSpPr/>
          <p:nvPr/>
        </p:nvSpPr>
        <p:spPr>
          <a:xfrm>
            <a:off x="4922520" y="2133600"/>
            <a:ext cx="232410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4467225" y="4905375"/>
            <a:ext cx="561975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</a:t>
            </a:r>
            <a:endParaRPr lang="en-US" sz="830" dirty="0"/>
          </a:p>
        </p:txBody>
      </p:sp>
      <p:sp>
        <p:nvSpPr>
          <p:cNvPr id="38" name="Shape 35"/>
          <p:cNvSpPr/>
          <p:nvPr/>
        </p:nvSpPr>
        <p:spPr>
          <a:xfrm>
            <a:off x="5154930" y="2133600"/>
            <a:ext cx="348615" cy="2724150"/>
          </a:xfrm>
          <a:prstGeom prst="roundRect">
            <a:avLst>
              <a:gd name="adj" fmla="val 8197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4852988" y="1962150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1,626</a:t>
            </a:r>
            <a:endParaRPr lang="en-US" sz="860" dirty="0"/>
          </a:p>
        </p:txBody>
      </p:sp>
      <p:sp>
        <p:nvSpPr>
          <p:cNvPr id="40" name="Text 37"/>
          <p:cNvSpPr txBox="1"/>
          <p:nvPr/>
        </p:nvSpPr>
        <p:spPr>
          <a:xfrm>
            <a:off x="5048250" y="4905375"/>
            <a:ext cx="561975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Last week</a:t>
            </a:r>
            <a:endParaRPr lang="en-US" sz="83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19 Oct</a:t>
            </a:r>
            <a:endParaRPr lang="en-US" sz="830" dirty="0"/>
          </a:p>
        </p:txBody>
      </p:sp>
      <p:sp>
        <p:nvSpPr>
          <p:cNvPr id="41" name="Shape 38"/>
          <p:cNvSpPr/>
          <p:nvPr/>
        </p:nvSpPr>
        <p:spPr>
          <a:xfrm>
            <a:off x="971550" y="4857750"/>
            <a:ext cx="4648200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981700" y="1257300"/>
            <a:ext cx="5067300" cy="4076700"/>
          </a:xfrm>
          <a:prstGeom prst="roundRect">
            <a:avLst>
              <a:gd name="adj" fmla="val 2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172200" y="1409700"/>
            <a:ext cx="46863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5A0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Largest moves by campaign, non-Duta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6172200" y="1638300"/>
            <a:ext cx="4686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Change in farmers; hover for week before → last week</a:t>
            </a:r>
            <a:endParaRPr lang="en-US" sz="950" dirty="0"/>
          </a:p>
        </p:txBody>
      </p:sp>
      <p:sp>
        <p:nvSpPr>
          <p:cNvPr id="45" name="Shape 42"/>
          <p:cNvSpPr/>
          <p:nvPr/>
        </p:nvSpPr>
        <p:spPr>
          <a:xfrm>
            <a:off x="9229725" y="1924050"/>
            <a:ext cx="0" cy="2590800"/>
          </a:xfrm>
          <a:prstGeom prst="line">
            <a:avLst/>
          </a:prstGeom>
          <a:noFill/>
          <a:ln w="9525">
            <a:solidFill>
              <a:srgbClr val="B9C2B0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191250" y="1924050"/>
            <a:ext cx="1352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fb4a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9189001" y="2009775"/>
            <a:ext cx="31199" cy="152400"/>
          </a:xfrm>
          <a:prstGeom prst="roundRect">
            <a:avLst>
              <a:gd name="adj" fmla="val 50000"/>
            </a:avLst>
          </a:prstGeom>
          <a:solidFill>
            <a:srgbClr val="A23B72"/>
          </a:solidFill>
          <a:ln w="12700">
            <a:solidFill>
              <a:srgbClr val="A23B72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8617501" y="1924050"/>
            <a:ext cx="533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A23B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−12</a:t>
            </a:r>
            <a:endParaRPr lang="en-US" sz="860" dirty="0"/>
          </a:p>
        </p:txBody>
      </p:sp>
      <p:sp>
        <p:nvSpPr>
          <p:cNvPr id="49" name="Text 46"/>
          <p:cNvSpPr txBox="1"/>
          <p:nvPr/>
        </p:nvSpPr>
        <p:spPr>
          <a:xfrm>
            <a:off x="6191250" y="2247900"/>
            <a:ext cx="1352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broadcast 500k farmer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9201150" y="2333625"/>
            <a:ext cx="19050" cy="152400"/>
          </a:xfrm>
          <a:prstGeom prst="rect">
            <a:avLst/>
          </a:prstGeom>
          <a:solidFill>
            <a:srgbClr val="A23B72"/>
          </a:solidFill>
          <a:ln w="12700">
            <a:solidFill>
              <a:srgbClr val="A23B72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8629650" y="2247900"/>
            <a:ext cx="533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A23B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−1</a:t>
            </a:r>
            <a:endParaRPr lang="en-US" sz="860" dirty="0"/>
          </a:p>
        </p:txBody>
      </p:sp>
      <p:sp>
        <p:nvSpPr>
          <p:cNvPr id="52" name="Text 49"/>
          <p:cNvSpPr txBox="1"/>
          <p:nvPr/>
        </p:nvSpPr>
        <p:spPr>
          <a:xfrm>
            <a:off x="6191250" y="2571750"/>
            <a:ext cx="1352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ig4a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9201150" y="2657475"/>
            <a:ext cx="19050" cy="152400"/>
          </a:xfrm>
          <a:prstGeom prst="rect">
            <a:avLst/>
          </a:prstGeom>
          <a:solidFill>
            <a:srgbClr val="A23B72"/>
          </a:solidFill>
          <a:ln w="12700">
            <a:solidFill>
              <a:srgbClr val="A23B72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8629650" y="2571750"/>
            <a:ext cx="533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A23B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−1</a:t>
            </a:r>
            <a:endParaRPr lang="en-US" sz="860" dirty="0"/>
          </a:p>
        </p:txBody>
      </p:sp>
      <p:sp>
        <p:nvSpPr>
          <p:cNvPr id="55" name="Text 52"/>
          <p:cNvSpPr txBox="1"/>
          <p:nvPr/>
        </p:nvSpPr>
        <p:spPr>
          <a:xfrm>
            <a:off x="6191250" y="2895600"/>
            <a:ext cx="1352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bagiprofilpetani</a:t>
            </a:r>
            <a:endParaRPr lang="en-US" sz="900" dirty="0"/>
          </a:p>
        </p:txBody>
      </p:sp>
      <p:sp>
        <p:nvSpPr>
          <p:cNvPr id="56" name="Shape 53"/>
          <p:cNvSpPr/>
          <p:nvPr/>
        </p:nvSpPr>
        <p:spPr>
          <a:xfrm>
            <a:off x="9239250" y="2981325"/>
            <a:ext cx="19050" cy="152400"/>
          </a:xfrm>
          <a:prstGeom prst="rect">
            <a:avLst/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9296400" y="2895600"/>
            <a:ext cx="533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3E7B2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+1</a:t>
            </a:r>
            <a:endParaRPr lang="en-US" sz="860" dirty="0"/>
          </a:p>
        </p:txBody>
      </p:sp>
      <p:sp>
        <p:nvSpPr>
          <p:cNvPr id="58" name="Text 55"/>
          <p:cNvSpPr txBox="1"/>
          <p:nvPr/>
        </p:nvSpPr>
        <p:spPr>
          <a:xfrm>
            <a:off x="6191250" y="3219450"/>
            <a:ext cx="1352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article</a:t>
            </a:r>
            <a:endParaRPr lang="en-US" sz="900" dirty="0"/>
          </a:p>
        </p:txBody>
      </p:sp>
      <p:sp>
        <p:nvSpPr>
          <p:cNvPr id="59" name="Shape 56"/>
          <p:cNvSpPr/>
          <p:nvPr/>
        </p:nvSpPr>
        <p:spPr>
          <a:xfrm>
            <a:off x="9239250" y="3305175"/>
            <a:ext cx="19050" cy="152400"/>
          </a:xfrm>
          <a:prstGeom prst="rect">
            <a:avLst/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9296400" y="3219450"/>
            <a:ext cx="533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3E7B2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+1</a:t>
            </a:r>
            <a:endParaRPr lang="en-US" sz="860" dirty="0"/>
          </a:p>
        </p:txBody>
      </p:sp>
      <p:sp>
        <p:nvSpPr>
          <p:cNvPr id="61" name="Text 58"/>
          <p:cNvSpPr txBox="1"/>
          <p:nvPr/>
        </p:nvSpPr>
        <p:spPr>
          <a:xfrm>
            <a:off x="6191250" y="3543300"/>
            <a:ext cx="1352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petaniproapp</a:t>
            </a:r>
            <a:endParaRPr lang="en-US" sz="900" dirty="0"/>
          </a:p>
        </p:txBody>
      </p:sp>
      <p:sp>
        <p:nvSpPr>
          <p:cNvPr id="62" name="Shape 59"/>
          <p:cNvSpPr/>
          <p:nvPr/>
        </p:nvSpPr>
        <p:spPr>
          <a:xfrm>
            <a:off x="9239250" y="3629025"/>
            <a:ext cx="343192" cy="152400"/>
          </a:xfrm>
          <a:prstGeom prst="roundRect">
            <a:avLst>
              <a:gd name="adj" fmla="val 18750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9620542" y="3543300"/>
            <a:ext cx="533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3E7B2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+132</a:t>
            </a:r>
            <a:endParaRPr lang="en-US" sz="860" dirty="0"/>
          </a:p>
        </p:txBody>
      </p:sp>
      <p:sp>
        <p:nvSpPr>
          <p:cNvPr id="64" name="Text 61"/>
          <p:cNvSpPr txBox="1"/>
          <p:nvPr/>
        </p:nvSpPr>
        <p:spPr>
          <a:xfrm>
            <a:off x="6191250" y="3867150"/>
            <a:ext cx="1352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direct</a:t>
            </a:r>
            <a:endParaRPr lang="en-US" sz="900" dirty="0"/>
          </a:p>
        </p:txBody>
      </p:sp>
      <p:sp>
        <p:nvSpPr>
          <p:cNvPr id="65" name="Shape 62"/>
          <p:cNvSpPr/>
          <p:nvPr/>
        </p:nvSpPr>
        <p:spPr>
          <a:xfrm>
            <a:off x="9239250" y="3952875"/>
            <a:ext cx="842379" cy="152400"/>
          </a:xfrm>
          <a:prstGeom prst="roundRect">
            <a:avLst>
              <a:gd name="adj" fmla="val 18750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119729" y="3867150"/>
            <a:ext cx="533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3E7B2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+324</a:t>
            </a:r>
            <a:endParaRPr lang="en-US" sz="860" dirty="0"/>
          </a:p>
        </p:txBody>
      </p:sp>
      <p:sp>
        <p:nvSpPr>
          <p:cNvPr id="67" name="Text 64"/>
          <p:cNvSpPr txBox="1"/>
          <p:nvPr/>
        </p:nvSpPr>
        <p:spPr>
          <a:xfrm>
            <a:off x="6191250" y="4191000"/>
            <a:ext cx="1352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</a:t>
            </a:r>
            <a:endParaRPr lang="en-US" sz="900" dirty="0"/>
          </a:p>
        </p:txBody>
      </p:sp>
      <p:sp>
        <p:nvSpPr>
          <p:cNvPr id="68" name="Shape 65"/>
          <p:cNvSpPr/>
          <p:nvPr/>
        </p:nvSpPr>
        <p:spPr>
          <a:xfrm>
            <a:off x="9239250" y="4276725"/>
            <a:ext cx="1019175" cy="152400"/>
          </a:xfrm>
          <a:prstGeom prst="roundRect">
            <a:avLst>
              <a:gd name="adj" fmla="val 18750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10296525" y="4191000"/>
            <a:ext cx="533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3E7B2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+392</a:t>
            </a:r>
            <a:endParaRPr lang="en-US" sz="860" dirty="0"/>
          </a:p>
        </p:txBody>
      </p:sp>
      <p:sp>
        <p:nvSpPr>
          <p:cNvPr id="70" name="Shape 67"/>
          <p:cNvSpPr/>
          <p:nvPr/>
        </p:nvSpPr>
        <p:spPr>
          <a:xfrm>
            <a:off x="762000" y="5467350"/>
            <a:ext cx="10287000" cy="552450"/>
          </a:xfrm>
          <a:prstGeom prst="roundRect">
            <a:avLst>
              <a:gd name="adj" fmla="val 19862"/>
            </a:avLst>
          </a:prstGeom>
          <a:solidFill>
            <a:srgbClr val="FBEFC4"/>
          </a:solidFill>
          <a:ln w="12700">
            <a:solidFill>
              <a:srgbClr val="FBEFC4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933450" y="5553075"/>
            <a:ext cx="9944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 went from 422 to 1,349; the largest campaign gain is “organic” (123 → 515).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Fell against the trend: Meta 27 → 25.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362075" y="114300"/>
            <a:ext cx="10287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4141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Last week is +233% on the 4-week average (488); the peak was 1,626 in the week of 19 Oct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514350" y="942975"/>
            <a:ext cx="5905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072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ACQUISITION · 7-WEEK TREND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715000" y="942975"/>
            <a:ext cx="5962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28 Oct 2026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39500" y="6076950"/>
            <a:ext cx="438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72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762000" y="1257300"/>
            <a:ext cx="5728252" cy="3905250"/>
          </a:xfrm>
          <a:prstGeom prst="roundRect">
            <a:avLst>
              <a:gd name="adj" fmla="val 28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52500" y="1409700"/>
            <a:ext cx="53472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5A0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registered per week, by channel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952500" y="1638300"/>
            <a:ext cx="5347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Registration weeks start on Monday; the week of 26 Oct is left out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971550" y="19526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123950" y="1924050"/>
            <a:ext cx="56273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</a:t>
            </a:r>
            <a:endParaRPr lang="en-US" sz="860" dirty="0"/>
          </a:p>
        </p:txBody>
      </p:sp>
      <p:sp>
        <p:nvSpPr>
          <p:cNvPr id="12" name="Shape 9"/>
          <p:cNvSpPr/>
          <p:nvPr/>
        </p:nvSpPr>
        <p:spPr>
          <a:xfrm>
            <a:off x="1686687" y="19526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7B4FB0"/>
          </a:solidFill>
          <a:ln w="12700">
            <a:solidFill>
              <a:srgbClr val="7B4FB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839087" y="1924050"/>
            <a:ext cx="37871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Meta</a:t>
            </a:r>
            <a:endParaRPr lang="en-US" sz="860" dirty="0"/>
          </a:p>
        </p:txBody>
      </p:sp>
      <p:sp>
        <p:nvSpPr>
          <p:cNvPr id="14" name="Shape 11"/>
          <p:cNvSpPr/>
          <p:nvPr/>
        </p:nvSpPr>
        <p:spPr>
          <a:xfrm>
            <a:off x="2217801" y="19526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370201" y="1924050"/>
            <a:ext cx="136017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Identified Campaigns</a:t>
            </a:r>
            <a:endParaRPr lang="en-US" sz="860" dirty="0"/>
          </a:p>
        </p:txBody>
      </p:sp>
      <p:sp>
        <p:nvSpPr>
          <p:cNvPr id="16" name="Shape 13"/>
          <p:cNvSpPr/>
          <p:nvPr/>
        </p:nvSpPr>
        <p:spPr>
          <a:xfrm>
            <a:off x="3730371" y="19526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882771" y="1924050"/>
            <a:ext cx="37871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Duta</a:t>
            </a:r>
            <a:endParaRPr lang="en-US" sz="860" dirty="0"/>
          </a:p>
        </p:txBody>
      </p:sp>
      <p:sp>
        <p:nvSpPr>
          <p:cNvPr id="18" name="Shape 15"/>
          <p:cNvSpPr/>
          <p:nvPr/>
        </p:nvSpPr>
        <p:spPr>
          <a:xfrm>
            <a:off x="4261485" y="19526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5B7F95"/>
          </a:solidFill>
          <a:ln w="12700">
            <a:solidFill>
              <a:srgbClr val="5B7F9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413885" y="1924050"/>
            <a:ext cx="74676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Google Ads</a:t>
            </a:r>
            <a:endParaRPr lang="en-US" sz="860" dirty="0"/>
          </a:p>
        </p:txBody>
      </p:sp>
      <p:sp>
        <p:nvSpPr>
          <p:cNvPr id="20" name="Shape 17"/>
          <p:cNvSpPr/>
          <p:nvPr/>
        </p:nvSpPr>
        <p:spPr>
          <a:xfrm>
            <a:off x="5160645" y="19526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A8653A"/>
          </a:solidFill>
          <a:ln w="12700">
            <a:solidFill>
              <a:srgbClr val="A8653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313045" y="1924050"/>
            <a:ext cx="50139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Toling</a:t>
            </a:r>
            <a:endParaRPr lang="en-US" sz="860" dirty="0"/>
          </a:p>
        </p:txBody>
      </p:sp>
      <p:sp>
        <p:nvSpPr>
          <p:cNvPr id="22" name="Shape 19"/>
          <p:cNvSpPr/>
          <p:nvPr/>
        </p:nvSpPr>
        <p:spPr>
          <a:xfrm>
            <a:off x="1115656" y="4554661"/>
            <a:ext cx="470239" cy="245939"/>
          </a:xfrm>
          <a:prstGeom prst="roundRect">
            <a:avLst>
              <a:gd name="adj" fmla="val 11619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115656" y="4554661"/>
            <a:ext cx="470239" cy="2459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164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1115656" y="4494675"/>
            <a:ext cx="470239" cy="40935"/>
          </a:xfrm>
          <a:prstGeom prst="roundRect">
            <a:avLst>
              <a:gd name="adj" fmla="val 50000"/>
            </a:avLst>
          </a:prstGeom>
          <a:solidFill>
            <a:srgbClr val="7B4FB0"/>
          </a:solidFill>
          <a:ln w="12700">
            <a:solidFill>
              <a:srgbClr val="7B4FB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115656" y="4475625"/>
            <a:ext cx="470239" cy="14288"/>
          </a:xfrm>
          <a:prstGeom prst="rect">
            <a:avLst/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115656" y="4456575"/>
            <a:ext cx="470239" cy="14288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115656" y="4327607"/>
            <a:ext cx="470239" cy="109918"/>
          </a:xfrm>
          <a:prstGeom prst="roundRect">
            <a:avLst>
              <a:gd name="adj" fmla="val 25997"/>
            </a:avLst>
          </a:prstGeom>
          <a:solidFill>
            <a:srgbClr val="5B7F95"/>
          </a:solidFill>
          <a:ln w="12700">
            <a:solidFill>
              <a:srgbClr val="5B7F9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69775" y="4156157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295</a:t>
            </a:r>
            <a:endParaRPr lang="en-US" sz="860" dirty="0"/>
          </a:p>
        </p:txBody>
      </p:sp>
      <p:sp>
        <p:nvSpPr>
          <p:cNvPr id="29" name="Text 26"/>
          <p:cNvSpPr txBox="1"/>
          <p:nvPr/>
        </p:nvSpPr>
        <p:spPr>
          <a:xfrm>
            <a:off x="981075" y="4848225"/>
            <a:ext cx="7394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7 Sep</a:t>
            </a:r>
            <a:endParaRPr lang="en-US" sz="830" dirty="0"/>
          </a:p>
        </p:txBody>
      </p:sp>
      <p:sp>
        <p:nvSpPr>
          <p:cNvPr id="30" name="Shape 27"/>
          <p:cNvSpPr/>
          <p:nvPr/>
        </p:nvSpPr>
        <p:spPr>
          <a:xfrm>
            <a:off x="1874106" y="4496175"/>
            <a:ext cx="470239" cy="304425"/>
          </a:xfrm>
          <a:prstGeom prst="roundRect">
            <a:avLst>
              <a:gd name="adj" fmla="val 9387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1874106" y="4496175"/>
            <a:ext cx="470239" cy="304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203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1874106" y="4410696"/>
            <a:ext cx="470239" cy="66429"/>
          </a:xfrm>
          <a:prstGeom prst="roundRect">
            <a:avLst>
              <a:gd name="adj" fmla="val 43016"/>
            </a:avLst>
          </a:prstGeom>
          <a:solidFill>
            <a:srgbClr val="7B4FB0"/>
          </a:solidFill>
          <a:ln w="12700">
            <a:solidFill>
              <a:srgbClr val="7B4FB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1874106" y="4391646"/>
            <a:ext cx="470239" cy="14288"/>
          </a:xfrm>
          <a:prstGeom prst="rect">
            <a:avLst/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1874106" y="4372596"/>
            <a:ext cx="470239" cy="14288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1874106" y="4231631"/>
            <a:ext cx="470239" cy="121915"/>
          </a:xfrm>
          <a:prstGeom prst="roundRect">
            <a:avLst>
              <a:gd name="adj" fmla="val 23438"/>
            </a:avLst>
          </a:prstGeom>
          <a:solidFill>
            <a:srgbClr val="5B7F95"/>
          </a:solidFill>
          <a:ln w="12700">
            <a:solidFill>
              <a:srgbClr val="5B7F95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1874106" y="4212581"/>
            <a:ext cx="470239" cy="14288"/>
          </a:xfrm>
          <a:prstGeom prst="rect">
            <a:avLst/>
          </a:prstGeom>
          <a:solidFill>
            <a:srgbClr val="A8653A"/>
          </a:solidFill>
          <a:ln w="12700">
            <a:solidFill>
              <a:srgbClr val="A8653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728225" y="4041131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362</a:t>
            </a:r>
            <a:endParaRPr lang="en-US" sz="860" dirty="0"/>
          </a:p>
        </p:txBody>
      </p:sp>
      <p:sp>
        <p:nvSpPr>
          <p:cNvPr id="38" name="Text 35"/>
          <p:cNvSpPr txBox="1"/>
          <p:nvPr/>
        </p:nvSpPr>
        <p:spPr>
          <a:xfrm>
            <a:off x="1739525" y="4848225"/>
            <a:ext cx="7394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14 Sep</a:t>
            </a:r>
            <a:endParaRPr lang="en-US" sz="830" dirty="0"/>
          </a:p>
        </p:txBody>
      </p:sp>
      <p:sp>
        <p:nvSpPr>
          <p:cNvPr id="39" name="Shape 36"/>
          <p:cNvSpPr/>
          <p:nvPr/>
        </p:nvSpPr>
        <p:spPr>
          <a:xfrm>
            <a:off x="2632556" y="4298224"/>
            <a:ext cx="470239" cy="502376"/>
          </a:xfrm>
          <a:prstGeom prst="roundRect">
            <a:avLst>
              <a:gd name="adj" fmla="val 6077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632556" y="4298224"/>
            <a:ext cx="470239" cy="50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335</a:t>
            </a:r>
            <a:endParaRPr lang="en-US" sz="800" dirty="0"/>
          </a:p>
        </p:txBody>
      </p:sp>
      <p:sp>
        <p:nvSpPr>
          <p:cNvPr id="41" name="Shape 38"/>
          <p:cNvSpPr/>
          <p:nvPr/>
        </p:nvSpPr>
        <p:spPr>
          <a:xfrm>
            <a:off x="2632556" y="4242737"/>
            <a:ext cx="470239" cy="36436"/>
          </a:xfrm>
          <a:prstGeom prst="roundRect">
            <a:avLst>
              <a:gd name="adj" fmla="val 50000"/>
            </a:avLst>
          </a:prstGeom>
          <a:solidFill>
            <a:srgbClr val="7B4FB0"/>
          </a:solidFill>
          <a:ln w="12700">
            <a:solidFill>
              <a:srgbClr val="7B4FB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2632556" y="4208246"/>
            <a:ext cx="470239" cy="15442"/>
          </a:xfrm>
          <a:prstGeom prst="rect">
            <a:avLst/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2632556" y="4189196"/>
            <a:ext cx="470239" cy="14288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2632556" y="4046731"/>
            <a:ext cx="470239" cy="123415"/>
          </a:xfrm>
          <a:prstGeom prst="roundRect">
            <a:avLst>
              <a:gd name="adj" fmla="val 23154"/>
            </a:avLst>
          </a:prstGeom>
          <a:solidFill>
            <a:srgbClr val="5B7F95"/>
          </a:solidFill>
          <a:ln w="12700">
            <a:solidFill>
              <a:srgbClr val="5B7F95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2632556" y="4027681"/>
            <a:ext cx="470239" cy="14288"/>
          </a:xfrm>
          <a:prstGeom prst="rect">
            <a:avLst/>
          </a:prstGeom>
          <a:solidFill>
            <a:srgbClr val="A8653A"/>
          </a:solidFill>
          <a:ln w="12700">
            <a:solidFill>
              <a:srgbClr val="A8653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486676" y="3856231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494</a:t>
            </a:r>
            <a:endParaRPr lang="en-US" sz="860" dirty="0"/>
          </a:p>
        </p:txBody>
      </p:sp>
      <p:sp>
        <p:nvSpPr>
          <p:cNvPr id="47" name="Text 44"/>
          <p:cNvSpPr txBox="1"/>
          <p:nvPr/>
        </p:nvSpPr>
        <p:spPr>
          <a:xfrm>
            <a:off x="2497976" y="4848225"/>
            <a:ext cx="7394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21 Sep</a:t>
            </a:r>
            <a:endParaRPr lang="en-US" sz="830" dirty="0"/>
          </a:p>
        </p:txBody>
      </p:sp>
      <p:sp>
        <p:nvSpPr>
          <p:cNvPr id="48" name="Shape 45"/>
          <p:cNvSpPr/>
          <p:nvPr/>
        </p:nvSpPr>
        <p:spPr>
          <a:xfrm>
            <a:off x="3391006" y="4329716"/>
            <a:ext cx="470239" cy="470884"/>
          </a:xfrm>
          <a:prstGeom prst="roundRect">
            <a:avLst>
              <a:gd name="adj" fmla="val 6077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3391006" y="4329716"/>
            <a:ext cx="470239" cy="470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314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391006" y="4292225"/>
            <a:ext cx="470239" cy="18441"/>
          </a:xfrm>
          <a:prstGeom prst="rect">
            <a:avLst/>
          </a:prstGeom>
          <a:solidFill>
            <a:srgbClr val="7B4FB0"/>
          </a:solidFill>
          <a:ln w="12700">
            <a:solidFill>
              <a:srgbClr val="7B4FB0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3391006" y="4244237"/>
            <a:ext cx="470239" cy="28938"/>
          </a:xfrm>
          <a:prstGeom prst="roundRect">
            <a:avLst>
              <a:gd name="adj" fmla="val 50000"/>
            </a:avLst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3391006" y="4225187"/>
            <a:ext cx="470239" cy="14288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3391006" y="4075224"/>
            <a:ext cx="470239" cy="130913"/>
          </a:xfrm>
          <a:prstGeom prst="roundRect">
            <a:avLst>
              <a:gd name="adj" fmla="val 21827"/>
            </a:avLst>
          </a:prstGeom>
          <a:solidFill>
            <a:srgbClr val="5B7F95"/>
          </a:solidFill>
          <a:ln w="12700">
            <a:solidFill>
              <a:srgbClr val="5B7F95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3391006" y="4056174"/>
            <a:ext cx="470239" cy="14288"/>
          </a:xfrm>
          <a:prstGeom prst="rect">
            <a:avLst/>
          </a:prstGeom>
          <a:solidFill>
            <a:srgbClr val="A8653A"/>
          </a:solidFill>
          <a:ln w="12700">
            <a:solidFill>
              <a:srgbClr val="A8653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3245126" y="3884724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480</a:t>
            </a:r>
            <a:endParaRPr lang="en-US" sz="860" dirty="0"/>
          </a:p>
        </p:txBody>
      </p:sp>
      <p:sp>
        <p:nvSpPr>
          <p:cNvPr id="56" name="Text 53"/>
          <p:cNvSpPr txBox="1"/>
          <p:nvPr/>
        </p:nvSpPr>
        <p:spPr>
          <a:xfrm>
            <a:off x="3256426" y="4848225"/>
            <a:ext cx="7394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28 Sep</a:t>
            </a:r>
            <a:endParaRPr lang="en-US" sz="830" dirty="0"/>
          </a:p>
        </p:txBody>
      </p:sp>
      <p:sp>
        <p:nvSpPr>
          <p:cNvPr id="57" name="Shape 54"/>
          <p:cNvSpPr/>
          <p:nvPr/>
        </p:nvSpPr>
        <p:spPr>
          <a:xfrm>
            <a:off x="4149457" y="4472181"/>
            <a:ext cx="470239" cy="328419"/>
          </a:xfrm>
          <a:prstGeom prst="roundRect">
            <a:avLst>
              <a:gd name="adj" fmla="val 8701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4149457" y="4472181"/>
            <a:ext cx="470239" cy="3284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219</a:t>
            </a:r>
            <a:endParaRPr lang="en-US" sz="800" dirty="0"/>
          </a:p>
        </p:txBody>
      </p:sp>
      <p:sp>
        <p:nvSpPr>
          <p:cNvPr id="59" name="Shape 56"/>
          <p:cNvSpPr/>
          <p:nvPr/>
        </p:nvSpPr>
        <p:spPr>
          <a:xfrm>
            <a:off x="4149457" y="4448187"/>
            <a:ext cx="470239" cy="14288"/>
          </a:xfrm>
          <a:prstGeom prst="rect">
            <a:avLst/>
          </a:prstGeom>
          <a:solidFill>
            <a:srgbClr val="7B4FB0"/>
          </a:solidFill>
          <a:ln w="12700">
            <a:solidFill>
              <a:srgbClr val="7B4FB0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4149457" y="4407697"/>
            <a:ext cx="470239" cy="21440"/>
          </a:xfrm>
          <a:prstGeom prst="rect">
            <a:avLst/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4149457" y="4388647"/>
            <a:ext cx="470239" cy="14288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149457" y="4222188"/>
            <a:ext cx="470239" cy="147409"/>
          </a:xfrm>
          <a:prstGeom prst="roundRect">
            <a:avLst>
              <a:gd name="adj" fmla="val 19385"/>
            </a:avLst>
          </a:prstGeom>
          <a:solidFill>
            <a:srgbClr val="5B7F95"/>
          </a:solidFill>
          <a:ln w="12700">
            <a:solidFill>
              <a:srgbClr val="5B7F95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4149457" y="4222188"/>
            <a:ext cx="470239" cy="1664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111</a:t>
            </a:r>
            <a:endParaRPr lang="en-US" sz="800" dirty="0"/>
          </a:p>
        </p:txBody>
      </p:sp>
      <p:sp>
        <p:nvSpPr>
          <p:cNvPr id="64" name="Text 61"/>
          <p:cNvSpPr txBox="1"/>
          <p:nvPr/>
        </p:nvSpPr>
        <p:spPr>
          <a:xfrm>
            <a:off x="4003576" y="4050738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377</a:t>
            </a:r>
            <a:endParaRPr lang="en-US" sz="860" dirty="0"/>
          </a:p>
        </p:txBody>
      </p:sp>
      <p:sp>
        <p:nvSpPr>
          <p:cNvPr id="65" name="Text 62"/>
          <p:cNvSpPr txBox="1"/>
          <p:nvPr/>
        </p:nvSpPr>
        <p:spPr>
          <a:xfrm>
            <a:off x="4014876" y="4848225"/>
            <a:ext cx="7394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 Oct</a:t>
            </a:r>
            <a:endParaRPr lang="en-US" sz="830" dirty="0"/>
          </a:p>
        </p:txBody>
      </p:sp>
      <p:sp>
        <p:nvSpPr>
          <p:cNvPr id="66" name="Shape 63"/>
          <p:cNvSpPr/>
          <p:nvPr/>
        </p:nvSpPr>
        <p:spPr>
          <a:xfrm>
            <a:off x="4907907" y="4167756"/>
            <a:ext cx="470239" cy="632844"/>
          </a:xfrm>
          <a:prstGeom prst="roundRect">
            <a:avLst>
              <a:gd name="adj" fmla="val 6077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4907907" y="4167756"/>
            <a:ext cx="470239" cy="632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422</a:t>
            </a:r>
            <a:endParaRPr lang="en-US" sz="800" dirty="0"/>
          </a:p>
        </p:txBody>
      </p:sp>
      <p:sp>
        <p:nvSpPr>
          <p:cNvPr id="68" name="Shape 65"/>
          <p:cNvSpPr/>
          <p:nvPr/>
        </p:nvSpPr>
        <p:spPr>
          <a:xfrm>
            <a:off x="4907907" y="4127266"/>
            <a:ext cx="470239" cy="21440"/>
          </a:xfrm>
          <a:prstGeom prst="rect">
            <a:avLst/>
          </a:prstGeom>
          <a:solidFill>
            <a:srgbClr val="7B4FB0"/>
          </a:solidFill>
          <a:ln w="12700">
            <a:solidFill>
              <a:srgbClr val="7B4FB0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4907907" y="4095773"/>
            <a:ext cx="470239" cy="14288"/>
          </a:xfrm>
          <a:prstGeom prst="rect">
            <a:avLst/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4907907" y="3900821"/>
            <a:ext cx="470239" cy="175902"/>
          </a:xfrm>
          <a:prstGeom prst="roundRect">
            <a:avLst>
              <a:gd name="adj" fmla="val 16245"/>
            </a:avLst>
          </a:prstGeom>
          <a:solidFill>
            <a:srgbClr val="5B7F95"/>
          </a:solidFill>
          <a:ln w="12700">
            <a:solidFill>
              <a:srgbClr val="5B7F95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4907907" y="3900821"/>
            <a:ext cx="470239" cy="194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130</a:t>
            </a:r>
            <a:endParaRPr lang="en-US" sz="800" dirty="0"/>
          </a:p>
        </p:txBody>
      </p:sp>
      <p:sp>
        <p:nvSpPr>
          <p:cNvPr id="72" name="Text 69"/>
          <p:cNvSpPr txBox="1"/>
          <p:nvPr/>
        </p:nvSpPr>
        <p:spPr>
          <a:xfrm>
            <a:off x="4762027" y="3729371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600</a:t>
            </a:r>
            <a:endParaRPr lang="en-US" sz="860" dirty="0"/>
          </a:p>
        </p:txBody>
      </p:sp>
      <p:sp>
        <p:nvSpPr>
          <p:cNvPr id="73" name="Text 70"/>
          <p:cNvSpPr txBox="1"/>
          <p:nvPr/>
        </p:nvSpPr>
        <p:spPr>
          <a:xfrm>
            <a:off x="4773327" y="4848225"/>
            <a:ext cx="7394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12 Oct</a:t>
            </a:r>
            <a:endParaRPr lang="en-US" sz="830" dirty="0"/>
          </a:p>
        </p:txBody>
      </p:sp>
      <p:sp>
        <p:nvSpPr>
          <p:cNvPr id="74" name="Shape 71"/>
          <p:cNvSpPr/>
          <p:nvPr/>
        </p:nvSpPr>
        <p:spPr>
          <a:xfrm>
            <a:off x="5666357" y="2777598"/>
            <a:ext cx="470239" cy="2023002"/>
          </a:xfrm>
          <a:prstGeom prst="roundRect">
            <a:avLst>
              <a:gd name="adj" fmla="val 6077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5666357" y="2777598"/>
            <a:ext cx="470239" cy="20230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1349</a:t>
            </a:r>
            <a:endParaRPr lang="en-US" sz="800" dirty="0"/>
          </a:p>
        </p:txBody>
      </p:sp>
      <p:sp>
        <p:nvSpPr>
          <p:cNvPr id="76" name="Shape 73"/>
          <p:cNvSpPr/>
          <p:nvPr/>
        </p:nvSpPr>
        <p:spPr>
          <a:xfrm>
            <a:off x="5666357" y="2740107"/>
            <a:ext cx="470239" cy="18441"/>
          </a:xfrm>
          <a:prstGeom prst="rect">
            <a:avLst/>
          </a:prstGeom>
          <a:solidFill>
            <a:srgbClr val="7B4FB0"/>
          </a:solidFill>
          <a:ln w="12700">
            <a:solidFill>
              <a:srgbClr val="7B4FB0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5666357" y="2689120"/>
            <a:ext cx="470239" cy="31937"/>
          </a:xfrm>
          <a:prstGeom prst="roundRect">
            <a:avLst>
              <a:gd name="adj" fmla="val 50001"/>
            </a:avLst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5666357" y="2670070"/>
            <a:ext cx="470239" cy="14288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5666357" y="2359646"/>
            <a:ext cx="470239" cy="291374"/>
          </a:xfrm>
          <a:prstGeom prst="roundRect">
            <a:avLst>
              <a:gd name="adj" fmla="val 9807"/>
            </a:avLst>
          </a:prstGeom>
          <a:solidFill>
            <a:srgbClr val="5B7F95"/>
          </a:solidFill>
          <a:ln w="12700">
            <a:solidFill>
              <a:srgbClr val="5B7F95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5666357" y="2359646"/>
            <a:ext cx="470239" cy="310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207</a:t>
            </a:r>
            <a:endParaRPr lang="en-US" sz="800" dirty="0"/>
          </a:p>
        </p:txBody>
      </p:sp>
      <p:sp>
        <p:nvSpPr>
          <p:cNvPr id="81" name="Shape 78"/>
          <p:cNvSpPr/>
          <p:nvPr/>
        </p:nvSpPr>
        <p:spPr>
          <a:xfrm>
            <a:off x="5666357" y="2340596"/>
            <a:ext cx="470239" cy="14288"/>
          </a:xfrm>
          <a:prstGeom prst="rect">
            <a:avLst/>
          </a:prstGeom>
          <a:solidFill>
            <a:srgbClr val="A8653A"/>
          </a:solidFill>
          <a:ln w="12700">
            <a:solidFill>
              <a:srgbClr val="A8653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5520477" y="2169146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1,626</a:t>
            </a:r>
            <a:endParaRPr lang="en-US" sz="860" dirty="0"/>
          </a:p>
        </p:txBody>
      </p:sp>
      <p:sp>
        <p:nvSpPr>
          <p:cNvPr id="83" name="Text 80"/>
          <p:cNvSpPr txBox="1"/>
          <p:nvPr/>
        </p:nvSpPr>
        <p:spPr>
          <a:xfrm>
            <a:off x="5531777" y="4848225"/>
            <a:ext cx="7394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19 Oct</a:t>
            </a:r>
            <a:endParaRPr lang="en-US" sz="830" dirty="0"/>
          </a:p>
        </p:txBody>
      </p:sp>
      <p:sp>
        <p:nvSpPr>
          <p:cNvPr id="84" name="Shape 81"/>
          <p:cNvSpPr/>
          <p:nvPr/>
        </p:nvSpPr>
        <p:spPr>
          <a:xfrm>
            <a:off x="971550" y="4800600"/>
            <a:ext cx="5309152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6642652" y="1257300"/>
            <a:ext cx="4406348" cy="3905250"/>
          </a:xfrm>
          <a:prstGeom prst="roundRect">
            <a:avLst>
              <a:gd name="adj" fmla="val 28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6833152" y="1409700"/>
            <a:ext cx="4025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5A0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per day, last week vs the week before</a:t>
            </a:r>
            <a:endParaRPr lang="en-US" sz="1300" dirty="0"/>
          </a:p>
        </p:txBody>
      </p:sp>
      <p:sp>
        <p:nvSpPr>
          <p:cNvPr id="87" name="Text 84"/>
          <p:cNvSpPr txBox="1"/>
          <p:nvPr/>
        </p:nvSpPr>
        <p:spPr>
          <a:xfrm>
            <a:off x="6833152" y="1638300"/>
            <a:ext cx="40253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By join date</a:t>
            </a:r>
            <a:endParaRPr lang="en-US" sz="950" dirty="0"/>
          </a:p>
        </p:txBody>
      </p:sp>
      <p:sp>
        <p:nvSpPr>
          <p:cNvPr id="88" name="Shape 85"/>
          <p:cNvSpPr/>
          <p:nvPr/>
        </p:nvSpPr>
        <p:spPr>
          <a:xfrm>
            <a:off x="6852202" y="19526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9AA592"/>
          </a:solidFill>
          <a:ln w="12700">
            <a:solidFill>
              <a:srgbClr val="9AA592"/>
            </a:solidFill>
            <a:prstDash val="solid"/>
          </a:ln>
        </p:spPr>
      </p:sp>
      <p:sp>
        <p:nvSpPr>
          <p:cNvPr id="89" name="Text 86"/>
          <p:cNvSpPr txBox="1"/>
          <p:nvPr/>
        </p:nvSpPr>
        <p:spPr>
          <a:xfrm>
            <a:off x="7004602" y="1924050"/>
            <a:ext cx="136017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Week before (12 Oct)</a:t>
            </a:r>
            <a:endParaRPr lang="en-US" sz="860" dirty="0"/>
          </a:p>
        </p:txBody>
      </p:sp>
      <p:sp>
        <p:nvSpPr>
          <p:cNvPr id="90" name="Shape 87"/>
          <p:cNvSpPr/>
          <p:nvPr/>
        </p:nvSpPr>
        <p:spPr>
          <a:xfrm>
            <a:off x="8364772" y="19526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8517172" y="1924050"/>
            <a:ext cx="123748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Last week (19 Oct)</a:t>
            </a:r>
            <a:endParaRPr lang="en-US" sz="860" dirty="0"/>
          </a:p>
        </p:txBody>
      </p:sp>
      <p:sp>
        <p:nvSpPr>
          <p:cNvPr id="92" name="Shape 89"/>
          <p:cNvSpPr/>
          <p:nvPr/>
        </p:nvSpPr>
        <p:spPr>
          <a:xfrm>
            <a:off x="7233202" y="4819650"/>
            <a:ext cx="3491948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solid"/>
          </a:ln>
        </p:spPr>
      </p:sp>
      <p:sp>
        <p:nvSpPr>
          <p:cNvPr id="93" name="Text 90"/>
          <p:cNvSpPr txBox="1"/>
          <p:nvPr/>
        </p:nvSpPr>
        <p:spPr>
          <a:xfrm>
            <a:off x="6852202" y="4743450"/>
            <a:ext cx="3238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</a:t>
            </a:r>
            <a:endParaRPr lang="en-US" sz="800" dirty="0"/>
          </a:p>
        </p:txBody>
      </p:sp>
      <p:sp>
        <p:nvSpPr>
          <p:cNvPr id="94" name="Shape 91"/>
          <p:cNvSpPr/>
          <p:nvPr/>
        </p:nvSpPr>
        <p:spPr>
          <a:xfrm>
            <a:off x="7233202" y="3590925"/>
            <a:ext cx="3491948" cy="0"/>
          </a:xfrm>
          <a:prstGeom prst="line">
            <a:avLst/>
          </a:prstGeom>
          <a:noFill/>
          <a:ln w="9525">
            <a:solidFill>
              <a:srgbClr val="E3E8DE"/>
            </a:solidFill>
            <a:prstDash val="solid"/>
          </a:ln>
        </p:spPr>
      </p:sp>
      <p:sp>
        <p:nvSpPr>
          <p:cNvPr id="95" name="Text 92"/>
          <p:cNvSpPr txBox="1"/>
          <p:nvPr/>
        </p:nvSpPr>
        <p:spPr>
          <a:xfrm>
            <a:off x="6852202" y="3514725"/>
            <a:ext cx="3238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535</a:t>
            </a:r>
            <a:endParaRPr lang="en-US" sz="800" dirty="0"/>
          </a:p>
        </p:txBody>
      </p:sp>
      <p:sp>
        <p:nvSpPr>
          <p:cNvPr id="96" name="Shape 93"/>
          <p:cNvSpPr/>
          <p:nvPr/>
        </p:nvSpPr>
        <p:spPr>
          <a:xfrm>
            <a:off x="7233202" y="2362200"/>
            <a:ext cx="3491948" cy="0"/>
          </a:xfrm>
          <a:prstGeom prst="line">
            <a:avLst/>
          </a:prstGeom>
          <a:noFill/>
          <a:ln w="9525">
            <a:solidFill>
              <a:srgbClr val="E3E8DE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6852202" y="2286000"/>
            <a:ext cx="3238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1,070</a:t>
            </a:r>
            <a:endParaRPr lang="en-US" sz="800" dirty="0"/>
          </a:p>
        </p:txBody>
      </p:sp>
      <p:sp>
        <p:nvSpPr>
          <p:cNvPr id="98" name="Shape 95"/>
          <p:cNvSpPr/>
          <p:nvPr/>
        </p:nvSpPr>
        <p:spPr>
          <a:xfrm flipV="1">
            <a:off x="7309402" y="4681849"/>
            <a:ext cx="556591" cy="36747"/>
          </a:xfrm>
          <a:prstGeom prst="line">
            <a:avLst/>
          </a:prstGeom>
          <a:noFill/>
          <a:ln w="23813">
            <a:solidFill>
              <a:srgbClr val="9AA592"/>
            </a:solidFill>
            <a:prstDash val="solid"/>
          </a:ln>
        </p:spPr>
      </p:sp>
      <p:sp>
        <p:nvSpPr>
          <p:cNvPr id="99" name="Shape 96"/>
          <p:cNvSpPr/>
          <p:nvPr/>
        </p:nvSpPr>
        <p:spPr>
          <a:xfrm flipV="1">
            <a:off x="7865993" y="4397060"/>
            <a:ext cx="556591" cy="284789"/>
          </a:xfrm>
          <a:prstGeom prst="line">
            <a:avLst/>
          </a:prstGeom>
          <a:noFill/>
          <a:ln w="23813">
            <a:solidFill>
              <a:srgbClr val="9AA592"/>
            </a:solidFill>
            <a:prstDash val="solid"/>
          </a:ln>
        </p:spPr>
      </p:sp>
      <p:sp>
        <p:nvSpPr>
          <p:cNvPr id="100" name="Shape 97"/>
          <p:cNvSpPr/>
          <p:nvPr/>
        </p:nvSpPr>
        <p:spPr>
          <a:xfrm>
            <a:off x="8422585" y="4397060"/>
            <a:ext cx="556591" cy="176845"/>
          </a:xfrm>
          <a:prstGeom prst="line">
            <a:avLst/>
          </a:prstGeom>
          <a:noFill/>
          <a:ln w="23813">
            <a:solidFill>
              <a:srgbClr val="9AA592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8979176" y="4573905"/>
            <a:ext cx="556591" cy="84977"/>
          </a:xfrm>
          <a:prstGeom prst="line">
            <a:avLst/>
          </a:prstGeom>
          <a:noFill/>
          <a:ln w="23813">
            <a:solidFill>
              <a:srgbClr val="9AA592"/>
            </a:solidFill>
            <a:prstDash val="solid"/>
          </a:ln>
        </p:spPr>
      </p:sp>
      <p:sp>
        <p:nvSpPr>
          <p:cNvPr id="102" name="Shape 99"/>
          <p:cNvSpPr/>
          <p:nvPr/>
        </p:nvSpPr>
        <p:spPr>
          <a:xfrm flipV="1">
            <a:off x="9535767" y="4649696"/>
            <a:ext cx="556591" cy="9187"/>
          </a:xfrm>
          <a:prstGeom prst="line">
            <a:avLst/>
          </a:prstGeom>
          <a:noFill/>
          <a:ln w="23813">
            <a:solidFill>
              <a:srgbClr val="9AA592"/>
            </a:solidFill>
            <a:prstDash val="solid"/>
          </a:ln>
        </p:spPr>
      </p:sp>
      <p:sp>
        <p:nvSpPr>
          <p:cNvPr id="103" name="Shape 100"/>
          <p:cNvSpPr/>
          <p:nvPr/>
        </p:nvSpPr>
        <p:spPr>
          <a:xfrm>
            <a:off x="10092359" y="4649696"/>
            <a:ext cx="556591" cy="29857"/>
          </a:xfrm>
          <a:prstGeom prst="line">
            <a:avLst/>
          </a:prstGeom>
          <a:noFill/>
          <a:ln w="23813">
            <a:solidFill>
              <a:srgbClr val="9AA592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7266540" y="4675733"/>
            <a:ext cx="85725" cy="85725"/>
          </a:xfrm>
          <a:prstGeom prst="ellipse">
            <a:avLst/>
          </a:prstGeom>
          <a:solidFill>
            <a:srgbClr val="9AA59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>
            <a:off x="7823131" y="4638987"/>
            <a:ext cx="85725" cy="85725"/>
          </a:xfrm>
          <a:prstGeom prst="ellipse">
            <a:avLst/>
          </a:prstGeom>
          <a:solidFill>
            <a:srgbClr val="9AA59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6" name="Shape 103"/>
          <p:cNvSpPr/>
          <p:nvPr/>
        </p:nvSpPr>
        <p:spPr>
          <a:xfrm>
            <a:off x="8379722" y="4354198"/>
            <a:ext cx="85725" cy="85725"/>
          </a:xfrm>
          <a:prstGeom prst="ellipse">
            <a:avLst/>
          </a:prstGeom>
          <a:solidFill>
            <a:srgbClr val="9AA59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7" name="Text 104"/>
          <p:cNvSpPr txBox="1"/>
          <p:nvPr/>
        </p:nvSpPr>
        <p:spPr>
          <a:xfrm>
            <a:off x="7993960" y="4168460"/>
            <a:ext cx="857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184</a:t>
            </a:r>
            <a:endParaRPr lang="en-US" sz="860" dirty="0"/>
          </a:p>
        </p:txBody>
      </p:sp>
      <p:sp>
        <p:nvSpPr>
          <p:cNvPr id="108" name="Shape 105"/>
          <p:cNvSpPr/>
          <p:nvPr/>
        </p:nvSpPr>
        <p:spPr>
          <a:xfrm>
            <a:off x="8936314" y="4531043"/>
            <a:ext cx="85725" cy="85725"/>
          </a:xfrm>
          <a:prstGeom prst="ellipse">
            <a:avLst/>
          </a:prstGeom>
          <a:solidFill>
            <a:srgbClr val="9AA59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9" name="Shape 106"/>
          <p:cNvSpPr/>
          <p:nvPr/>
        </p:nvSpPr>
        <p:spPr>
          <a:xfrm>
            <a:off x="9492905" y="4616020"/>
            <a:ext cx="85725" cy="85725"/>
          </a:xfrm>
          <a:prstGeom prst="ellipse">
            <a:avLst/>
          </a:prstGeom>
          <a:solidFill>
            <a:srgbClr val="9AA59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10049496" y="4606833"/>
            <a:ext cx="85725" cy="85725"/>
          </a:xfrm>
          <a:prstGeom prst="ellipse">
            <a:avLst/>
          </a:prstGeom>
          <a:solidFill>
            <a:srgbClr val="9AA59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1" name="Shape 108"/>
          <p:cNvSpPr/>
          <p:nvPr/>
        </p:nvSpPr>
        <p:spPr>
          <a:xfrm>
            <a:off x="10606088" y="4636690"/>
            <a:ext cx="85725" cy="85725"/>
          </a:xfrm>
          <a:prstGeom prst="ellipse">
            <a:avLst/>
          </a:prstGeom>
          <a:solidFill>
            <a:srgbClr val="9AA59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2" name="Shape 109"/>
          <p:cNvSpPr/>
          <p:nvPr/>
        </p:nvSpPr>
        <p:spPr>
          <a:xfrm>
            <a:off x="7309402" y="4383280"/>
            <a:ext cx="556591" cy="300865"/>
          </a:xfrm>
          <a:prstGeom prst="line">
            <a:avLst/>
          </a:prstGeom>
          <a:noFill/>
          <a:ln w="23813">
            <a:solidFill>
              <a:srgbClr val="3E7B27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 flipV="1">
            <a:off x="7865993" y="4564718"/>
            <a:ext cx="556591" cy="119427"/>
          </a:xfrm>
          <a:prstGeom prst="line">
            <a:avLst/>
          </a:prstGeom>
          <a:noFill/>
          <a:ln w="23813">
            <a:solidFill>
              <a:srgbClr val="3E7B27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8422585" y="4564718"/>
            <a:ext cx="556591" cy="64307"/>
          </a:xfrm>
          <a:prstGeom prst="line">
            <a:avLst/>
          </a:prstGeom>
          <a:noFill/>
          <a:ln w="23813">
            <a:solidFill>
              <a:srgbClr val="3E7B27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>
            <a:off x="8979176" y="4629025"/>
            <a:ext cx="556591" cy="34450"/>
          </a:xfrm>
          <a:prstGeom prst="line">
            <a:avLst/>
          </a:prstGeom>
          <a:noFill/>
          <a:ln w="23813">
            <a:solidFill>
              <a:srgbClr val="3E7B27"/>
            </a:solidFill>
            <a:prstDash val="solid"/>
          </a:ln>
        </p:spPr>
      </p:sp>
      <p:sp>
        <p:nvSpPr>
          <p:cNvPr id="116" name="Shape 113"/>
          <p:cNvSpPr/>
          <p:nvPr/>
        </p:nvSpPr>
        <p:spPr>
          <a:xfrm flipV="1">
            <a:off x="9535767" y="4378687"/>
            <a:ext cx="556591" cy="284789"/>
          </a:xfrm>
          <a:prstGeom prst="line">
            <a:avLst/>
          </a:prstGeom>
          <a:noFill/>
          <a:ln w="23813">
            <a:solidFill>
              <a:srgbClr val="3E7B27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 flipV="1">
            <a:off x="10092359" y="2699812"/>
            <a:ext cx="556591" cy="1678875"/>
          </a:xfrm>
          <a:prstGeom prst="line">
            <a:avLst/>
          </a:prstGeom>
          <a:noFill/>
          <a:ln w="23813">
            <a:solidFill>
              <a:srgbClr val="3E7B27"/>
            </a:solidFill>
            <a:prstDash val="solid"/>
          </a:ln>
        </p:spPr>
      </p:sp>
      <p:sp>
        <p:nvSpPr>
          <p:cNvPr id="118" name="Shape 115"/>
          <p:cNvSpPr/>
          <p:nvPr/>
        </p:nvSpPr>
        <p:spPr>
          <a:xfrm>
            <a:off x="7266540" y="4340418"/>
            <a:ext cx="85725" cy="85725"/>
          </a:xfrm>
          <a:prstGeom prst="ellipse">
            <a:avLst/>
          </a:prstGeom>
          <a:solidFill>
            <a:srgbClr val="3E7B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9" name="Text 116"/>
          <p:cNvSpPr txBox="1"/>
          <p:nvPr/>
        </p:nvSpPr>
        <p:spPr>
          <a:xfrm>
            <a:off x="6880777" y="4154680"/>
            <a:ext cx="857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190</a:t>
            </a:r>
            <a:endParaRPr lang="en-US" sz="860" dirty="0"/>
          </a:p>
        </p:txBody>
      </p:sp>
      <p:sp>
        <p:nvSpPr>
          <p:cNvPr id="120" name="Shape 117"/>
          <p:cNvSpPr/>
          <p:nvPr/>
        </p:nvSpPr>
        <p:spPr>
          <a:xfrm>
            <a:off x="7823131" y="4641283"/>
            <a:ext cx="85725" cy="85725"/>
          </a:xfrm>
          <a:prstGeom prst="ellipse">
            <a:avLst/>
          </a:prstGeom>
          <a:solidFill>
            <a:srgbClr val="3E7B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1" name="Text 118"/>
          <p:cNvSpPr txBox="1"/>
          <p:nvPr/>
        </p:nvSpPr>
        <p:spPr>
          <a:xfrm>
            <a:off x="7437368" y="4455546"/>
            <a:ext cx="857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59</a:t>
            </a:r>
            <a:endParaRPr lang="en-US" sz="860" dirty="0"/>
          </a:p>
        </p:txBody>
      </p:sp>
      <p:sp>
        <p:nvSpPr>
          <p:cNvPr id="122" name="Shape 119"/>
          <p:cNvSpPr/>
          <p:nvPr/>
        </p:nvSpPr>
        <p:spPr>
          <a:xfrm>
            <a:off x="8379722" y="4521856"/>
            <a:ext cx="85725" cy="85725"/>
          </a:xfrm>
          <a:prstGeom prst="ellipse">
            <a:avLst/>
          </a:prstGeom>
          <a:solidFill>
            <a:srgbClr val="3E7B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3" name="Text 120"/>
          <p:cNvSpPr txBox="1"/>
          <p:nvPr/>
        </p:nvSpPr>
        <p:spPr>
          <a:xfrm>
            <a:off x="7993960" y="4336118"/>
            <a:ext cx="857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111</a:t>
            </a:r>
            <a:endParaRPr lang="en-US" sz="860" dirty="0"/>
          </a:p>
        </p:txBody>
      </p:sp>
      <p:sp>
        <p:nvSpPr>
          <p:cNvPr id="124" name="Shape 121"/>
          <p:cNvSpPr/>
          <p:nvPr/>
        </p:nvSpPr>
        <p:spPr>
          <a:xfrm>
            <a:off x="8936314" y="4586163"/>
            <a:ext cx="85725" cy="85725"/>
          </a:xfrm>
          <a:prstGeom prst="ellipse">
            <a:avLst/>
          </a:prstGeom>
          <a:solidFill>
            <a:srgbClr val="3E7B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5" name="Text 122"/>
          <p:cNvSpPr txBox="1"/>
          <p:nvPr/>
        </p:nvSpPr>
        <p:spPr>
          <a:xfrm>
            <a:off x="8550551" y="4400425"/>
            <a:ext cx="857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83</a:t>
            </a:r>
            <a:endParaRPr lang="en-US" sz="860" dirty="0"/>
          </a:p>
        </p:txBody>
      </p:sp>
      <p:sp>
        <p:nvSpPr>
          <p:cNvPr id="126" name="Shape 123"/>
          <p:cNvSpPr/>
          <p:nvPr/>
        </p:nvSpPr>
        <p:spPr>
          <a:xfrm>
            <a:off x="9492905" y="4620613"/>
            <a:ext cx="85725" cy="85725"/>
          </a:xfrm>
          <a:prstGeom prst="ellipse">
            <a:avLst/>
          </a:prstGeom>
          <a:solidFill>
            <a:srgbClr val="3E7B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7" name="Text 124"/>
          <p:cNvSpPr txBox="1"/>
          <p:nvPr/>
        </p:nvSpPr>
        <p:spPr>
          <a:xfrm>
            <a:off x="9107142" y="4434876"/>
            <a:ext cx="857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68</a:t>
            </a:r>
            <a:endParaRPr lang="en-US" sz="860" dirty="0"/>
          </a:p>
        </p:txBody>
      </p:sp>
      <p:sp>
        <p:nvSpPr>
          <p:cNvPr id="128" name="Shape 125"/>
          <p:cNvSpPr/>
          <p:nvPr/>
        </p:nvSpPr>
        <p:spPr>
          <a:xfrm>
            <a:off x="10049496" y="4335825"/>
            <a:ext cx="85725" cy="85725"/>
          </a:xfrm>
          <a:prstGeom prst="ellipse">
            <a:avLst/>
          </a:prstGeom>
          <a:solidFill>
            <a:srgbClr val="3E7B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9" name="Text 126"/>
          <p:cNvSpPr txBox="1"/>
          <p:nvPr/>
        </p:nvSpPr>
        <p:spPr>
          <a:xfrm>
            <a:off x="9663734" y="4150087"/>
            <a:ext cx="857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192</a:t>
            </a:r>
            <a:endParaRPr lang="en-US" sz="860" dirty="0"/>
          </a:p>
        </p:txBody>
      </p:sp>
      <p:sp>
        <p:nvSpPr>
          <p:cNvPr id="130" name="Shape 127"/>
          <p:cNvSpPr/>
          <p:nvPr/>
        </p:nvSpPr>
        <p:spPr>
          <a:xfrm>
            <a:off x="10606088" y="2656950"/>
            <a:ext cx="85725" cy="85725"/>
          </a:xfrm>
          <a:prstGeom prst="ellipse">
            <a:avLst/>
          </a:prstGeom>
          <a:solidFill>
            <a:srgbClr val="3E7B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1" name="Text 128"/>
          <p:cNvSpPr txBox="1"/>
          <p:nvPr/>
        </p:nvSpPr>
        <p:spPr>
          <a:xfrm>
            <a:off x="10220325" y="2471212"/>
            <a:ext cx="857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923</a:t>
            </a:r>
            <a:endParaRPr lang="en-US" sz="860" dirty="0"/>
          </a:p>
        </p:txBody>
      </p:sp>
      <p:sp>
        <p:nvSpPr>
          <p:cNvPr id="132" name="Text 129"/>
          <p:cNvSpPr txBox="1"/>
          <p:nvPr/>
        </p:nvSpPr>
        <p:spPr>
          <a:xfrm>
            <a:off x="6928402" y="4867275"/>
            <a:ext cx="76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Mon</a:t>
            </a:r>
            <a:endParaRPr lang="en-US" sz="800" dirty="0"/>
          </a:p>
        </p:txBody>
      </p:sp>
      <p:sp>
        <p:nvSpPr>
          <p:cNvPr id="133" name="Text 130"/>
          <p:cNvSpPr txBox="1"/>
          <p:nvPr/>
        </p:nvSpPr>
        <p:spPr>
          <a:xfrm>
            <a:off x="7484993" y="4867275"/>
            <a:ext cx="76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Tue</a:t>
            </a:r>
            <a:endParaRPr lang="en-US" sz="800" dirty="0"/>
          </a:p>
        </p:txBody>
      </p:sp>
      <p:sp>
        <p:nvSpPr>
          <p:cNvPr id="134" name="Text 131"/>
          <p:cNvSpPr txBox="1"/>
          <p:nvPr/>
        </p:nvSpPr>
        <p:spPr>
          <a:xfrm>
            <a:off x="8041585" y="4867275"/>
            <a:ext cx="76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Wed</a:t>
            </a:r>
            <a:endParaRPr lang="en-US" sz="800" dirty="0"/>
          </a:p>
        </p:txBody>
      </p:sp>
      <p:sp>
        <p:nvSpPr>
          <p:cNvPr id="135" name="Text 132"/>
          <p:cNvSpPr txBox="1"/>
          <p:nvPr/>
        </p:nvSpPr>
        <p:spPr>
          <a:xfrm>
            <a:off x="8598176" y="4867275"/>
            <a:ext cx="76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Thu</a:t>
            </a:r>
            <a:endParaRPr lang="en-US" sz="800" dirty="0"/>
          </a:p>
        </p:txBody>
      </p:sp>
      <p:sp>
        <p:nvSpPr>
          <p:cNvPr id="136" name="Text 133"/>
          <p:cNvSpPr txBox="1"/>
          <p:nvPr/>
        </p:nvSpPr>
        <p:spPr>
          <a:xfrm>
            <a:off x="9154767" y="4867275"/>
            <a:ext cx="76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Fri</a:t>
            </a:r>
            <a:endParaRPr lang="en-US" sz="800" dirty="0"/>
          </a:p>
        </p:txBody>
      </p:sp>
      <p:sp>
        <p:nvSpPr>
          <p:cNvPr id="137" name="Text 134"/>
          <p:cNvSpPr txBox="1"/>
          <p:nvPr/>
        </p:nvSpPr>
        <p:spPr>
          <a:xfrm>
            <a:off x="9711359" y="4867275"/>
            <a:ext cx="76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Sat</a:t>
            </a:r>
            <a:endParaRPr lang="en-US" sz="800" dirty="0"/>
          </a:p>
        </p:txBody>
      </p:sp>
      <p:sp>
        <p:nvSpPr>
          <p:cNvPr id="138" name="Text 135"/>
          <p:cNvSpPr txBox="1"/>
          <p:nvPr/>
        </p:nvSpPr>
        <p:spPr>
          <a:xfrm>
            <a:off x="10267950" y="4867275"/>
            <a:ext cx="76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Sun</a:t>
            </a:r>
            <a:endParaRPr lang="en-US" sz="800" dirty="0"/>
          </a:p>
        </p:txBody>
      </p:sp>
      <p:sp>
        <p:nvSpPr>
          <p:cNvPr id="139" name="Shape 136"/>
          <p:cNvSpPr/>
          <p:nvPr/>
        </p:nvSpPr>
        <p:spPr>
          <a:xfrm>
            <a:off x="762000" y="5295900"/>
            <a:ext cx="10287000" cy="723900"/>
          </a:xfrm>
          <a:prstGeom prst="roundRect">
            <a:avLst>
              <a:gd name="adj" fmla="val 15158"/>
            </a:avLst>
          </a:prstGeom>
          <a:solidFill>
            <a:srgbClr val="FBEFC4"/>
          </a:solidFill>
          <a:ln w="12700">
            <a:solidFill>
              <a:srgbClr val="FBEFC4"/>
            </a:solidFill>
            <a:prstDash val="solid"/>
          </a:ln>
        </p:spPr>
      </p:sp>
      <p:sp>
        <p:nvSpPr>
          <p:cNvPr id="140" name="Text 137"/>
          <p:cNvSpPr txBox="1"/>
          <p:nvPr/>
        </p:nvSpPr>
        <p:spPr>
          <a:xfrm>
            <a:off x="933450" y="5381625"/>
            <a:ext cx="99441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Last week had a spike: 923 farmers on Sun, against a high of 184 on any day the week before; the other days ran 59–192 a day.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Days: the file's weeks run from Monday morning to the next Monday morning; registrations before the cut on the next Monday are counted as Monday, so each day is a full 24 hours.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362075" y="114300"/>
            <a:ext cx="10287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4141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 of 6 channels fell last week; 27% of new farmers have no phone number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514350" y="942975"/>
            <a:ext cx="5905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072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ACQUISITION · CHANNELS IN DETAIL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715000" y="942975"/>
            <a:ext cx="5962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28 Oct 2026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39500" y="6076950"/>
            <a:ext cx="438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72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762000" y="1257300"/>
            <a:ext cx="5308600" cy="4076700"/>
          </a:xfrm>
          <a:prstGeom prst="roundRect">
            <a:avLst>
              <a:gd name="adj" fmla="val 2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52500" y="1409700"/>
            <a:ext cx="492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5A0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channel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952500" y="1638300"/>
            <a:ext cx="492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Acquisition channel</a:t>
            </a:r>
            <a:endParaRPr lang="en-US" sz="9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924050"/>
          <a:ext cx="5003800" cy="914400"/>
        </p:xfrm>
        <a:graphic>
          <a:graphicData uri="http://schemas.openxmlformats.org/drawingml/2006/table">
            <a:tbl>
              <a:tblPr/>
              <a:tblGrid>
                <a:gridCol w="1531776"/>
                <a:gridCol w="714829"/>
                <a:gridCol w="714829"/>
                <a:gridCol w="663769"/>
                <a:gridCol w="663769"/>
                <a:gridCol w="71482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Channel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12 Oct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19 Oct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Change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Change 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4-week avg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Organic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422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1,349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+927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+220%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323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Meta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−7%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Identified Campaigns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+13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+62%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Duta (under Duta)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+10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Google Ads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130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207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+77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+59%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Toling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Total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600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1,626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+1,026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+171%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488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952500" y="4943475"/>
            <a:ext cx="492760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4-week avg = the 4 weeks before last week (21 Sep, 28 Sep, 5 Oct, 12 Oct).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223000" y="1257300"/>
            <a:ext cx="4826000" cy="4076700"/>
          </a:xfrm>
          <a:prstGeom prst="roundRect">
            <a:avLst>
              <a:gd name="adj" fmla="val 2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13500" y="1409700"/>
            <a:ext cx="444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5A0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Non-Duta farmers by campaign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413500" y="1638300"/>
            <a:ext cx="444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Largest last week first</a:t>
            </a:r>
            <a:endParaRPr lang="en-US" sz="95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75400" y="1924050"/>
          <a:ext cx="4521200" cy="914400"/>
        </p:xfrm>
        <a:graphic>
          <a:graphicData uri="http://schemas.openxmlformats.org/drawingml/2006/table">
            <a:tbl>
              <a:tblPr/>
              <a:tblGrid>
                <a:gridCol w="2079752"/>
                <a:gridCol w="813816"/>
                <a:gridCol w="813816"/>
                <a:gridCol w="8138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Campaign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12 Oct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19 Oct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Change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0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organic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123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515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+392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direct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153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477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+324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petaniproapp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176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+132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App Purchase Campaign - DG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120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153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+33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App-Register-Campaign-DG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129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+77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No campaign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80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+44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App-Purchase-DG-Kalimantan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Instagram Boost Oktober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5A0B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+14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Other 8 campaigns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−10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Shape 11"/>
          <p:cNvSpPr/>
          <p:nvPr/>
        </p:nvSpPr>
        <p:spPr>
          <a:xfrm>
            <a:off x="762000" y="5467350"/>
            <a:ext cx="10287000" cy="552450"/>
          </a:xfrm>
          <a:prstGeom prst="roundRect">
            <a:avLst>
              <a:gd name="adj" fmla="val 19862"/>
            </a:avLst>
          </a:prstGeom>
          <a:solidFill>
            <a:srgbClr val="FBEFC4"/>
          </a:solidFill>
          <a:ln w="12700">
            <a:solidFill>
              <a:srgbClr val="FBEFC4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933450" y="5553075"/>
            <a:ext cx="9944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Phone numbers: 440 of 1,626 farmers last week (27%) and 167 of 600 the week before registered without a phone number, so sales and Dutas cannot follow them up.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362075" y="114300"/>
            <a:ext cx="10287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4141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 draft actions to grow farmer acquisition; owners and dates to be agreed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514350" y="942975"/>
            <a:ext cx="5905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072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715000" y="942975"/>
            <a:ext cx="5962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28 Oct 2026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39500" y="6076950"/>
            <a:ext cx="438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72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762000" y="1257300"/>
            <a:ext cx="3340100" cy="1905000"/>
          </a:xfrm>
          <a:prstGeom prst="roundRect">
            <a:avLst>
              <a:gd name="adj" fmla="val 57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33450" y="1390650"/>
            <a:ext cx="299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  </a:t>
            </a:r>
            <a:pPr indent="0" marL="0">
              <a:buNone/>
            </a:pPr>
            <a:r>
              <a:rPr lang="en-US" sz="1200" b="1" dirty="0">
                <a:solidFill>
                  <a:srgbClr val="0B5A0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[DRAFT] Find out what drove Organic +927 and repeat it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933450" y="1790700"/>
            <a:ext cx="29972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 went 422 → 1,349, mostly “organic” (123 → 515). Check what happened that week (a broadcast, a post, an app release, a field event) and plan it again.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933450" y="2743200"/>
            <a:ext cx="299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B5A0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Owner: [to be agreed]</a:t>
            </a:r>
            <a:pPr indent="0" marL="0">
              <a:buNone/>
            </a:pPr>
            <a:r>
              <a:rPr lang="en-US" sz="900" b="1" dirty="0">
                <a:solidFill>
                  <a:srgbClr val="9A6F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 ·  [date to be agreed]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235450" y="1257300"/>
            <a:ext cx="3340100" cy="1905000"/>
          </a:xfrm>
          <a:prstGeom prst="roundRect">
            <a:avLst>
              <a:gd name="adj" fmla="val 57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406900" y="1390650"/>
            <a:ext cx="299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  </a:t>
            </a:r>
            <a:pPr indent="0" marL="0">
              <a:buNone/>
            </a:pPr>
            <a:r>
              <a:rPr lang="en-US" sz="1200" b="1" dirty="0">
                <a:solidFill>
                  <a:srgbClr val="0B5A0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[DRAFT] Verify and call the 22 users above 100 ha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406900" y="1790700"/>
            <a:ext cx="29972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They declared 140,931 ha between them; the area is as entered by the user and not yet validated. Confirm it on the call, then hand real estates to the plantation team.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406900" y="2743200"/>
            <a:ext cx="299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B5A0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Owner: [to be agreed]</a:t>
            </a:r>
            <a:pPr indent="0" marL="0">
              <a:buNone/>
            </a:pPr>
            <a:r>
              <a:rPr lang="en-US" sz="900" b="1" dirty="0">
                <a:solidFill>
                  <a:srgbClr val="9A6F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 ·  [date to be agreed]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7708900" y="1257300"/>
            <a:ext cx="3340100" cy="1905000"/>
          </a:xfrm>
          <a:prstGeom prst="roundRect">
            <a:avLst>
              <a:gd name="adj" fmla="val 57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880350" y="1390650"/>
            <a:ext cx="299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  </a:t>
            </a:r>
            <a:pPr indent="0" marL="0">
              <a:buNone/>
            </a:pPr>
            <a:r>
              <a:rPr lang="en-US" sz="1200" b="1" dirty="0">
                <a:solidFill>
                  <a:srgbClr val="0B5A0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[DRAFT] Get 1,068 new users to add a farm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7880350" y="1790700"/>
            <a:ext cx="29972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66% of last week's users have no farm, so location and hectares are unknown. Prompt them in the app and on the first call.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7880350" y="2743200"/>
            <a:ext cx="299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B5A0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Owner: [to be agreed]</a:t>
            </a:r>
            <a:pPr indent="0" marL="0">
              <a:buNone/>
            </a:pPr>
            <a:r>
              <a:rPr lang="en-US" sz="900" b="1" dirty="0">
                <a:solidFill>
                  <a:srgbClr val="9A6F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 ·  [date to be agreed]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762000" y="3305175"/>
            <a:ext cx="3340100" cy="1905000"/>
          </a:xfrm>
          <a:prstGeom prst="roundRect">
            <a:avLst>
              <a:gd name="adj" fmla="val 57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33450" y="3438525"/>
            <a:ext cx="299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  </a:t>
            </a:r>
            <a:pPr indent="0" marL="0">
              <a:buNone/>
            </a:pPr>
            <a:r>
              <a:rPr lang="en-US" sz="1200" b="1" dirty="0">
                <a:solidFill>
                  <a:srgbClr val="0B5A0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[DRAFT] Set a weekly farmer target per Duta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933450" y="3838575"/>
            <a:ext cx="29972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Dutas brought 11 farmers last week (0 the week before). Edi Sutarsan, Simon, Meri, Satria K, Sazali Wandana registered none last week. Agree a weekly number per Duta and track it in this deck.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933450" y="4791075"/>
            <a:ext cx="299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B5A0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Owner: [to be agreed]</a:t>
            </a:r>
            <a:pPr indent="0" marL="0">
              <a:buNone/>
            </a:pPr>
            <a:r>
              <a:rPr lang="en-US" sz="900" b="1" dirty="0">
                <a:solidFill>
                  <a:srgbClr val="9A6F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 ·  [date to be agreed]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4235450" y="3305175"/>
            <a:ext cx="3340100" cy="1905000"/>
          </a:xfrm>
          <a:prstGeom prst="roundRect">
            <a:avLst>
              <a:gd name="adj" fmla="val 57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406900" y="3438525"/>
            <a:ext cx="299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  </a:t>
            </a:r>
            <a:pPr indent="0" marL="0">
              <a:buNone/>
            </a:pPr>
            <a:r>
              <a:rPr lang="en-US" sz="1200" b="1" dirty="0">
                <a:solidFill>
                  <a:srgbClr val="0B5A0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[DRAFT] Make the phone number required at registration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4406900" y="3838575"/>
            <a:ext cx="29972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27% of last week's farmers (440) have no phone number, so they cannot be followed up by sales or a Duta.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4406900" y="4791075"/>
            <a:ext cx="299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B5A0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Owner: [to be agreed]</a:t>
            </a:r>
            <a:pPr indent="0" marL="0">
              <a:buNone/>
            </a:pPr>
            <a:r>
              <a:rPr lang="en-US" sz="900" b="1" dirty="0">
                <a:solidFill>
                  <a:srgbClr val="9A6F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 ·  [date to be agreed]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47675" y="3695700"/>
            <a:ext cx="6667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414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Terima Kasih</a:t>
            </a:r>
            <a:endParaRPr lang="en-US" sz="4400" dirty="0"/>
          </a:p>
        </p:txBody>
      </p:sp>
      <p:sp>
        <p:nvSpPr>
          <p:cNvPr id="4" name="Text 1"/>
          <p:cNvSpPr txBox="1"/>
          <p:nvPr/>
        </p:nvSpPr>
        <p:spPr>
          <a:xfrm>
            <a:off x="476250" y="4457700"/>
            <a:ext cx="571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72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#TerusTumbuh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SawitPRO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Farmer Registrations, 19–25 Oct</dc:title>
  <dc:subject>PptxGenJS Presentation</dc:subject>
  <dc:creator>PptxGenJS</dc:creator>
  <cp:lastModifiedBy>PptxGenJS</cp:lastModifiedBy>
  <cp:revision>1</cp:revision>
  <dcterms:created xsi:type="dcterms:W3CDTF">2026-10-28T01:48:51Z</dcterms:created>
  <dcterms:modified xsi:type="dcterms:W3CDTF">2026-10-28T01:48:51Z</dcterms:modified>
</cp:coreProperties>
</file>