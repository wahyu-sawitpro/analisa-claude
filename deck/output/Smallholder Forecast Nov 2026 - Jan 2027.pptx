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628650" y="590550"/>
            <a:ext cx="2352675" cy="771525"/>
          </a:xfrm>
          <a:prstGeom prst="rect">
            <a:avLst/>
          </a:prstGeom>
        </p:spPr>
      </p:pic>
      <p:sp>
        <p:nvSpPr>
          <p:cNvPr id="4" name="Shape 0"/>
          <p:cNvSpPr/>
          <p:nvPr/>
        </p:nvSpPr>
        <p:spPr>
          <a:xfrm>
            <a:off x="4743450" y="3448050"/>
            <a:ext cx="7448550" cy="2447925"/>
          </a:xfrm>
          <a:prstGeom prst="rect">
            <a:avLst/>
          </a:prstGeom>
          <a:solidFill>
            <a:srgbClr val="4A653B"/>
          </a:solidFill>
          <a:ln w="12700">
            <a:solidFill>
              <a:srgbClr val="4A653B"/>
            </a:solidFill>
            <a:prstDash val="solid"/>
          </a:ln>
        </p:spPr>
      </p:sp>
      <p:sp>
        <p:nvSpPr>
          <p:cNvPr id="5" name="Shape 1"/>
          <p:cNvSpPr/>
          <p:nvPr/>
        </p:nvSpPr>
        <p:spPr>
          <a:xfrm>
            <a:off x="3533775" y="3448050"/>
            <a:ext cx="2447925" cy="2447925"/>
          </a:xfrm>
          <a:prstGeom prst="ellipse">
            <a:avLst/>
          </a:prstGeom>
          <a:solidFill>
            <a:srgbClr val="4A653B"/>
          </a:solidFill>
          <a:ln w="12700">
            <a:solidFill>
              <a:srgbClr val="4A653B"/>
            </a:solidFill>
            <a:prstDash val="solid"/>
          </a:ln>
        </p:spPr>
      </p:sp>
      <p:pic>
        <p:nvPicPr>
          <p:cNvPr id="6" name="Image 2" descr="preencoded.png">    </p:cNvPr>
          <p:cNvPicPr>
            <a:picLocks noChangeAspect="1"/>
          </p:cNvPicPr>
          <p:nvPr/>
        </p:nvPicPr>
        <p:blipFill>
          <a:blip r:embed="rId3"/>
          <a:stretch>
            <a:fillRect/>
          </a:stretch>
        </p:blipFill>
        <p:spPr>
          <a:xfrm>
            <a:off x="3695700" y="3609975"/>
            <a:ext cx="2114550" cy="2114550"/>
          </a:xfrm>
          <a:prstGeom prst="rect">
            <a:avLst/>
          </a:prstGeom>
        </p:spPr>
      </p:pic>
      <p:sp>
        <p:nvSpPr>
          <p:cNvPr id="7" name="Text 2"/>
          <p:cNvSpPr txBox="1"/>
          <p:nvPr/>
        </p:nvSpPr>
        <p:spPr>
          <a:xfrm>
            <a:off x="6210300" y="3619500"/>
            <a:ext cx="5619750" cy="457200"/>
          </a:xfrm>
          <a:prstGeom prst="rect">
            <a:avLst/>
          </a:prstGeom>
          <a:noFill/>
          <a:ln/>
        </p:spPr>
        <p:txBody>
          <a:bodyPr wrap="square" lIns="0" tIns="0" rIns="0" bIns="0" rtlCol="0" anchor="t"/>
          <a:lstStyle/>
          <a:p>
            <a:pPr indent="0" marL="0">
              <a:buNone/>
            </a:pPr>
            <a:r>
              <a:rPr lang="en-US" sz="2600" b="1" dirty="0">
                <a:solidFill>
                  <a:srgbClr val="F5D347"/>
                </a:solidFill>
                <a:latin typeface="Plus Jakarta Sans" pitchFamily="34" charset="0"/>
                <a:ea typeface="Plus Jakarta Sans" pitchFamily="34" charset="-122"/>
                <a:cs typeface="Plus Jakarta Sans" pitchFamily="34" charset="-120"/>
              </a:rPr>
              <a:t>Stock Forecast</a:t>
            </a:r>
            <a:endParaRPr lang="en-US" sz="2600" dirty="0"/>
          </a:p>
        </p:txBody>
      </p:sp>
      <p:sp>
        <p:nvSpPr>
          <p:cNvPr id="8" name="Text 3"/>
          <p:cNvSpPr txBox="1"/>
          <p:nvPr/>
        </p:nvSpPr>
        <p:spPr>
          <a:xfrm>
            <a:off x="6210300" y="4095750"/>
            <a:ext cx="5619750" cy="1005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Plus Jakarta Sans" pitchFamily="34" charset="0"/>
                <a:ea typeface="Plus Jakarta Sans" pitchFamily="34" charset="-122"/>
                <a:cs typeface="Plus Jakarta Sans" pitchFamily="34" charset="-120"/>
              </a:rPr>
              <a:t>Smallholder · Nov 2026 – Jan 2027</a:t>
            </a:r>
            <a:endParaRPr lang="en-US" sz="3400" dirty="0"/>
          </a:p>
        </p:txBody>
      </p:sp>
      <p:sp>
        <p:nvSpPr>
          <p:cNvPr id="9" name="Text 4"/>
          <p:cNvSpPr txBox="1"/>
          <p:nvPr/>
        </p:nvSpPr>
        <p:spPr>
          <a:xfrm>
            <a:off x="6210300" y="6000750"/>
            <a:ext cx="5715000" cy="274320"/>
          </a:xfrm>
          <a:prstGeom prst="rect">
            <a:avLst/>
          </a:prstGeom>
          <a:noFill/>
          <a:ln/>
        </p:spPr>
        <p:txBody>
          <a:bodyPr wrap="square" lIns="0" tIns="0" rIns="0" bIns="0" rtlCol="0" anchor="t"/>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Sales history 1 Jan – 13 Oct 2026 · target Rp4B a month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at prices of 14 Oct 2026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2</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EXECUTIVE SUMMARY</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Rp4B a month needs 600 MT in Nov, 600 MT in Dec, 469 MT in Jan: about 1.4× our best month</a:t>
            </a:r>
            <a:endParaRPr lang="en-US" sz="2300" dirty="0"/>
          </a:p>
        </p:txBody>
      </p:sp>
      <p:sp>
        <p:nvSpPr>
          <p:cNvPr id="11" name="Shape 6"/>
          <p:cNvSpPr/>
          <p:nvPr/>
        </p:nvSpPr>
        <p:spPr>
          <a:xfrm>
            <a:off x="762000" y="1714500"/>
            <a:ext cx="2438400" cy="1123950"/>
          </a:xfrm>
          <a:prstGeom prst="roundRect">
            <a:avLst>
              <a:gd name="adj" fmla="val 9763"/>
            </a:avLst>
          </a:prstGeom>
          <a:solidFill>
            <a:srgbClr val="4A653B"/>
          </a:solidFill>
          <a:ln w="12700">
            <a:solidFill>
              <a:srgbClr val="4A653B"/>
            </a:solidFill>
            <a:prstDash val="solid"/>
          </a:ln>
        </p:spPr>
      </p:sp>
      <p:sp>
        <p:nvSpPr>
          <p:cNvPr id="12" name="Text 7"/>
          <p:cNvSpPr txBox="1"/>
          <p:nvPr/>
        </p:nvSpPr>
        <p:spPr>
          <a:xfrm>
            <a:off x="914400" y="1828800"/>
            <a:ext cx="213360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600</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 MT</a:t>
            </a:r>
            <a:endParaRPr lang="en-US" sz="2800" dirty="0"/>
          </a:p>
        </p:txBody>
      </p:sp>
      <p:sp>
        <p:nvSpPr>
          <p:cNvPr id="13" name="Text 8"/>
          <p:cNvSpPr txBox="1"/>
          <p:nvPr/>
        </p:nvSpPr>
        <p:spPr>
          <a:xfrm>
            <a:off x="9144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stock for Nov 2026 (Dec 600 MT, Jan 469 MT)</a:t>
            </a:r>
            <a:endParaRPr lang="en-US" sz="950" dirty="0"/>
          </a:p>
        </p:txBody>
      </p:sp>
      <p:sp>
        <p:nvSpPr>
          <p:cNvPr id="14" name="Shape 9"/>
          <p:cNvSpPr/>
          <p:nvPr/>
        </p:nvSpPr>
        <p:spPr>
          <a:xfrm>
            <a:off x="3371850" y="1714500"/>
            <a:ext cx="2438400" cy="1123950"/>
          </a:xfrm>
          <a:prstGeom prst="roundRect">
            <a:avLst>
              <a:gd name="adj" fmla="val 9763"/>
            </a:avLst>
          </a:prstGeom>
          <a:solidFill>
            <a:srgbClr val="FFFFFF"/>
          </a:solidFill>
          <a:ln w="12700">
            <a:solidFill>
              <a:srgbClr val="FFFFFF"/>
            </a:solidFill>
            <a:prstDash val="solid"/>
          </a:ln>
        </p:spPr>
      </p:sp>
      <p:sp>
        <p:nvSpPr>
          <p:cNvPr id="15" name="Text 10"/>
          <p:cNvSpPr txBox="1"/>
          <p:nvPr/>
        </p:nvSpPr>
        <p:spPr>
          <a:xfrm>
            <a:off x="35242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4</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target a month: 1.3× the best month (Rp3B, Jan), 2.2× the 6-month average</a:t>
            </a:r>
            <a:endParaRPr lang="en-US" sz="950" dirty="0"/>
          </a:p>
        </p:txBody>
      </p:sp>
      <p:sp>
        <p:nvSpPr>
          <p:cNvPr id="17" name="Shape 12"/>
          <p:cNvSpPr/>
          <p:nvPr/>
        </p:nvSpPr>
        <p:spPr>
          <a:xfrm>
            <a:off x="5981700" y="1714500"/>
            <a:ext cx="2438400" cy="1123950"/>
          </a:xfrm>
          <a:prstGeom prst="roundRect">
            <a:avLst>
              <a:gd name="adj" fmla="val 9763"/>
            </a:avLst>
          </a:prstGeom>
          <a:solidFill>
            <a:srgbClr val="FFFFFF"/>
          </a:solidFill>
          <a:ln w="12700">
            <a:solidFill>
              <a:srgbClr val="FFFFFF"/>
            </a:solidFill>
            <a:prstDash val="solid"/>
          </a:ln>
        </p:spPr>
      </p:sp>
      <p:sp>
        <p:nvSpPr>
          <p:cNvPr id="18" name="Text 13"/>
          <p:cNvSpPr txBox="1"/>
          <p:nvPr/>
        </p:nvSpPr>
        <p:spPr>
          <a:xfrm>
            <a:off x="613410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138</a:t>
            </a:r>
            <a:pPr indent="0" marL="0">
              <a:buNone/>
            </a:pPr>
            <a:endParaRPr lang="en-US" sz="2800" dirty="0"/>
          </a:p>
        </p:txBody>
      </p:sp>
      <p:sp>
        <p:nvSpPr>
          <p:cNvPr id="19" name="Text 14"/>
          <p:cNvSpPr txBox="1"/>
          <p:nvPr/>
        </p:nvSpPr>
        <p:spPr>
          <a:xfrm>
            <a:off x="613410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fertilizer orders a month needed, vs 73 a month in Jul–Sep</a:t>
            </a:r>
            <a:endParaRPr lang="en-US" sz="950" dirty="0"/>
          </a:p>
        </p:txBody>
      </p:sp>
      <p:sp>
        <p:nvSpPr>
          <p:cNvPr id="20" name="Shape 15"/>
          <p:cNvSpPr/>
          <p:nvPr/>
        </p:nvSpPr>
        <p:spPr>
          <a:xfrm>
            <a:off x="8591550" y="1714500"/>
            <a:ext cx="2438400" cy="1123950"/>
          </a:xfrm>
          <a:prstGeom prst="roundRect">
            <a:avLst>
              <a:gd name="adj" fmla="val 9763"/>
            </a:avLst>
          </a:prstGeom>
          <a:solidFill>
            <a:srgbClr val="FFFFFF"/>
          </a:solidFill>
          <a:ln w="12700">
            <a:solidFill>
              <a:srgbClr val="FFFFFF"/>
            </a:solidFill>
            <a:prstDash val="solid"/>
          </a:ln>
        </p:spPr>
      </p:sp>
      <p:sp>
        <p:nvSpPr>
          <p:cNvPr id="21" name="Text 16"/>
          <p:cNvSpPr txBox="1"/>
          <p:nvPr/>
        </p:nvSpPr>
        <p:spPr>
          <a:xfrm>
            <a:off x="8743950" y="1828800"/>
            <a:ext cx="213360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82</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a:t>
            </a:r>
            <a:endParaRPr lang="en-US" sz="2800" dirty="0"/>
          </a:p>
        </p:txBody>
      </p:sp>
      <p:sp>
        <p:nvSpPr>
          <p:cNvPr id="22" name="Text 17"/>
          <p:cNvSpPr txBox="1"/>
          <p:nvPr/>
        </p:nvSpPr>
        <p:spPr>
          <a:xfrm>
            <a:off x="8743950" y="2247900"/>
            <a:ext cx="2133600" cy="5334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of the target and stock in Riau; Sumatera Utara 16%, Sumatera Selatan 2%</a:t>
            </a:r>
            <a:endParaRPr lang="en-US" sz="950" dirty="0"/>
          </a:p>
        </p:txBody>
      </p:sp>
      <p:sp>
        <p:nvSpPr>
          <p:cNvPr id="23" name="Shape 18"/>
          <p:cNvSpPr/>
          <p:nvPr/>
        </p:nvSpPr>
        <p:spPr>
          <a:xfrm>
            <a:off x="762000" y="3009900"/>
            <a:ext cx="6191250" cy="3105150"/>
          </a:xfrm>
          <a:prstGeom prst="roundRect">
            <a:avLst>
              <a:gd name="adj" fmla="val 3534"/>
            </a:avLst>
          </a:prstGeom>
          <a:solidFill>
            <a:srgbClr val="FFFFFF"/>
          </a:solidFill>
          <a:ln w="12700">
            <a:solidFill>
              <a:srgbClr val="FFFFFF"/>
            </a:solidFill>
            <a:prstDash val="solid"/>
          </a:ln>
        </p:spPr>
      </p:sp>
      <p:sp>
        <p:nvSpPr>
          <p:cNvPr id="24" name="Text 19"/>
          <p:cNvSpPr txBox="1"/>
          <p:nvPr/>
        </p:nvSpPr>
        <p:spPr>
          <a:xfrm>
            <a:off x="952500" y="3181350"/>
            <a:ext cx="5829300" cy="2781300"/>
          </a:xfrm>
          <a:prstGeom prst="rect">
            <a:avLst/>
          </a:prstGeom>
          <a:noFill/>
          <a:ln/>
        </p:spPr>
        <p:txBody>
          <a:bodyPr wrap="square" lIns="0" tIns="0" rIns="0" bIns="0" rtlCol="0" anchor="t">
            <a:normAutofit/>
          </a:bodyPr>
          <a:lstStyle/>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Rp4B is a step up, not a stretch of today</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The best month so far was Rp3B (Jan); the last 6 full months averaged Rp1.85B. The plan needs 557 MT a month against a record of 394 t (Sep).</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Two SKUs carry the plan</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KCL Canada Cap Mahkota 447 MT, RP Mahkota Egypt 364 MT, KCL Mentari 128 MT over the 3 months (56% of the tonnes). A stock-out of either stops the plan.</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January is a different mix</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Last season's Jan–Feb sold more KCL and NPK, so January needs 469 MT for the same Rp4B, against 600 MT in Nov.</a:t>
            </a:r>
            <a:endParaRPr lang="en-US" sz="1300" dirty="0"/>
          </a:p>
          <a:p>
            <a:pPr marL="342900" indent="-342900">
              <a:buSzPct val="100000"/>
              <a:buChar char="●"/>
            </a:pPr>
            <a:r>
              <a:rPr lang="en-US" sz="1300" b="1" dirty="0">
                <a:solidFill>
                  <a:srgbClr val="274E13"/>
                </a:solidFill>
                <a:latin typeface="Plus Jakarta Sans" pitchFamily="34" charset="0"/>
                <a:ea typeface="Plus Jakarta Sans" pitchFamily="34" charset="-122"/>
                <a:cs typeface="Plus Jakarta Sans" pitchFamily="34" charset="-120"/>
              </a:rPr>
              <a:t>The gap is orders, not price</a:t>
            </a:r>
            <a:endParaRPr lang="en-US" sz="1300" dirty="0"/>
          </a:p>
          <a:p>
            <a:pPr lvl="1" indent="0" marL="0">
              <a:spcAft>
                <a:spcPts val="900"/>
              </a:spcAft>
              <a:buNone/>
            </a:pPr>
            <a:r>
              <a:rPr lang="en-US" sz="1050" dirty="0">
                <a:solidFill>
                  <a:srgbClr val="535353"/>
                </a:solidFill>
                <a:latin typeface="Plus Jakarta Sans" pitchFamily="34" charset="0"/>
                <a:ea typeface="Plus Jakarta Sans" pitchFamily="34" charset="-122"/>
                <a:cs typeface="Plus Jakarta Sans" pitchFamily="34" charset="-120"/>
              </a:rPr>
              <a:t>At the Jul–Oct average order of Rp27.8M, Rp4B needs 138 orders a month; the team closed 73. Today's prices are within 5% of what the top SKUs sold for.</a:t>
            </a:r>
            <a:endParaRPr lang="en-US" sz="1300" dirty="0"/>
          </a:p>
        </p:txBody>
      </p:sp>
      <p:sp>
        <p:nvSpPr>
          <p:cNvPr id="25" name="Shape 20"/>
          <p:cNvSpPr/>
          <p:nvPr/>
        </p:nvSpPr>
        <p:spPr>
          <a:xfrm>
            <a:off x="7143750" y="3009900"/>
            <a:ext cx="3905250" cy="3105150"/>
          </a:xfrm>
          <a:prstGeom prst="roundRect">
            <a:avLst>
              <a:gd name="adj" fmla="val 3534"/>
            </a:avLst>
          </a:prstGeom>
          <a:solidFill>
            <a:srgbClr val="274E13"/>
          </a:solidFill>
          <a:ln w="12700">
            <a:solidFill>
              <a:srgbClr val="274E13"/>
            </a:solidFill>
            <a:prstDash val="solid"/>
          </a:ln>
        </p:spPr>
      </p:sp>
      <p:sp>
        <p:nvSpPr>
          <p:cNvPr id="26" name="Text 21"/>
          <p:cNvSpPr txBox="1"/>
          <p:nvPr/>
        </p:nvSpPr>
        <p:spPr>
          <a:xfrm>
            <a:off x="7372350" y="3219450"/>
            <a:ext cx="3448050" cy="2724150"/>
          </a:xfrm>
          <a:prstGeom prst="rect">
            <a:avLst/>
          </a:prstGeom>
          <a:noFill/>
          <a:ln/>
        </p:spPr>
        <p:txBody>
          <a:bodyPr wrap="square" lIns="0" tIns="0" rIns="0" bIns="0" rtlCol="0" anchor="t">
            <a:normAutofit/>
          </a:bodyPr>
          <a:lstStyle/>
          <a:p>
            <a:pPr indent="0" marL="0">
              <a:spcAft>
                <a:spcPts val="800"/>
              </a:spcAft>
              <a:buNone/>
            </a:pPr>
            <a:r>
              <a:rPr lang="en-US" sz="950" b="1" spc="200" kern="0" dirty="0">
                <a:solidFill>
                  <a:srgbClr val="F5D347"/>
                </a:solidFill>
                <a:latin typeface="Plus Jakarta Sans" pitchFamily="34" charset="0"/>
                <a:ea typeface="Plus Jakarta Sans" pitchFamily="34" charset="-122"/>
                <a:cs typeface="Plus Jakarta Sans" pitchFamily="34" charset="-120"/>
              </a:rPr>
              <a:t>BOTTOM LINE</a:t>
            </a:r>
            <a:endParaRPr lang="en-US" sz="950" dirty="0"/>
          </a:p>
          <a:p>
            <a:pPr indent="0" marL="0">
              <a:spcAft>
                <a:spcPts val="1000"/>
              </a:spcAft>
              <a:buNone/>
            </a:pPr>
            <a:r>
              <a:rPr lang="en-US" sz="1600" b="1" dirty="0">
                <a:solidFill>
                  <a:srgbClr val="FFFFFF"/>
                </a:solidFill>
                <a:latin typeface="Plus Jakarta Sans" pitchFamily="34" charset="0"/>
                <a:ea typeface="Plus Jakarta Sans" pitchFamily="34" charset="-122"/>
                <a:cs typeface="Plus Jakarta Sans" pitchFamily="34" charset="-120"/>
              </a:rPr>
              <a:t>Stock KCL Canada Cap Mahkota and RP Mahkota Egypt first, and plan 138 orders a month by PIC and area.</a:t>
            </a:r>
            <a:endParaRPr lang="en-US" sz="950" dirty="0"/>
          </a:p>
          <a:p>
            <a:pPr indent="0" marL="0">
              <a:buNone/>
            </a:pPr>
            <a:r>
              <a:rPr lang="en-US" sz="1050" dirty="0">
                <a:solidFill>
                  <a:srgbClr val="D8E3CF"/>
                </a:solidFill>
                <a:latin typeface="Plus Jakarta Sans" pitchFamily="34" charset="0"/>
                <a:ea typeface="Plus Jakarta Sans" pitchFamily="34" charset="-122"/>
                <a:cs typeface="Plus Jakarta Sans" pitchFamily="34" charset="-120"/>
              </a:rPr>
              <a:t>Stock required is the tonnage to sell at 14 Oct prices; stock on hand and supplier lead times are not in the data.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at prices of 14 Oct 2026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3</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RP4B A MONTH</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Rp4B a month needs about 557 t of fertilizer, 1.4× our best month (394 t in Sep)</a:t>
            </a:r>
            <a:endParaRPr lang="en-US" sz="2300" dirty="0"/>
          </a:p>
        </p:txBody>
      </p:sp>
      <p:sp>
        <p:nvSpPr>
          <p:cNvPr id="11" name="Shape 6"/>
          <p:cNvSpPr/>
          <p:nvPr/>
        </p:nvSpPr>
        <p:spPr>
          <a:xfrm>
            <a:off x="762000" y="1714500"/>
            <a:ext cx="2457450" cy="800100"/>
          </a:xfrm>
          <a:prstGeom prst="roundRect">
            <a:avLst>
              <a:gd name="adj" fmla="val 13714"/>
            </a:avLst>
          </a:prstGeom>
          <a:solidFill>
            <a:srgbClr val="4A653B"/>
          </a:solidFill>
          <a:ln w="12700">
            <a:solidFill>
              <a:srgbClr val="4A653B"/>
            </a:solidFill>
            <a:prstDash val="solid"/>
          </a:ln>
        </p:spPr>
      </p:sp>
      <p:sp>
        <p:nvSpPr>
          <p:cNvPr id="12" name="Text 7"/>
          <p:cNvSpPr txBox="1"/>
          <p:nvPr/>
        </p:nvSpPr>
        <p:spPr>
          <a:xfrm>
            <a:off x="914400" y="1828800"/>
            <a:ext cx="2152650" cy="457200"/>
          </a:xfrm>
          <a:prstGeom prst="rect">
            <a:avLst/>
          </a:prstGeom>
          <a:noFill/>
          <a:ln/>
        </p:spPr>
        <p:txBody>
          <a:bodyPr wrap="square" lIns="0" tIns="0" rIns="0" bIns="0" rtlCol="0" anchor="t"/>
          <a:lstStyle/>
          <a:p>
            <a:pPr indent="0" marL="0">
              <a:buNone/>
            </a:pPr>
            <a:r>
              <a:rPr lang="en-US" sz="2800" b="1" dirty="0">
                <a:solidFill>
                  <a:srgbClr val="FFFFFF"/>
                </a:solidFill>
                <a:latin typeface="Plus Jakarta Sans" pitchFamily="34" charset="0"/>
                <a:ea typeface="Plus Jakarta Sans" pitchFamily="34" charset="-122"/>
                <a:cs typeface="Plus Jakarta Sans" pitchFamily="34" charset="-120"/>
              </a:rPr>
              <a:t>4</a:t>
            </a:r>
            <a:pPr indent="0" marL="0">
              <a:buNone/>
            </a:pPr>
            <a:r>
              <a:rPr lang="en-US" sz="1400" b="1" dirty="0">
                <a:solidFill>
                  <a:srgbClr val="FFFFFF"/>
                </a:solidFill>
                <a:latin typeface="Plus Jakarta Sans" pitchFamily="34" charset="0"/>
                <a:ea typeface="Plus Jakarta Sans" pitchFamily="34" charset="-122"/>
                <a:cs typeface="Plus Jakarta Sans" pitchFamily="34" charset="-120"/>
              </a:rPr>
              <a:t>B</a:t>
            </a:r>
            <a:endParaRPr lang="en-US" sz="2800" dirty="0"/>
          </a:p>
        </p:txBody>
      </p:sp>
      <p:sp>
        <p:nvSpPr>
          <p:cNvPr id="13" name="Text 8"/>
          <p:cNvSpPr txBox="1"/>
          <p:nvPr/>
        </p:nvSpPr>
        <p:spPr>
          <a:xfrm>
            <a:off x="9144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E4ECDD"/>
                </a:solidFill>
                <a:latin typeface="Plus Jakarta Sans" pitchFamily="34" charset="0"/>
                <a:ea typeface="Plus Jakarta Sans" pitchFamily="34" charset="-122"/>
                <a:cs typeface="Plus Jakarta Sans" pitchFamily="34" charset="-120"/>
              </a:rPr>
              <a:t>monthly sales target used for the plan</a:t>
            </a:r>
            <a:endParaRPr lang="en-US" sz="950" dirty="0"/>
          </a:p>
        </p:txBody>
      </p:sp>
      <p:sp>
        <p:nvSpPr>
          <p:cNvPr id="14" name="Shape 9"/>
          <p:cNvSpPr/>
          <p:nvPr/>
        </p:nvSpPr>
        <p:spPr>
          <a:xfrm>
            <a:off x="3371850" y="1714500"/>
            <a:ext cx="2457450" cy="800100"/>
          </a:xfrm>
          <a:prstGeom prst="roundRect">
            <a:avLst>
              <a:gd name="adj" fmla="val 13714"/>
            </a:avLst>
          </a:prstGeom>
          <a:solidFill>
            <a:srgbClr val="FFFFFF"/>
          </a:solidFill>
          <a:ln w="12700">
            <a:solidFill>
              <a:srgbClr val="FFFFFF"/>
            </a:solidFill>
            <a:prstDash val="solid"/>
          </a:ln>
        </p:spPr>
      </p:sp>
      <p:sp>
        <p:nvSpPr>
          <p:cNvPr id="15" name="Text 10"/>
          <p:cNvSpPr txBox="1"/>
          <p:nvPr/>
        </p:nvSpPr>
        <p:spPr>
          <a:xfrm>
            <a:off x="35242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3</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6" name="Text 11"/>
          <p:cNvSpPr txBox="1"/>
          <p:nvPr/>
        </p:nvSpPr>
        <p:spPr>
          <a:xfrm>
            <a:off x="35242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best month so far (Jan; best of the last 6 months Rp2.41B in Jul)</a:t>
            </a:r>
            <a:endParaRPr lang="en-US" sz="950" dirty="0"/>
          </a:p>
        </p:txBody>
      </p:sp>
      <p:sp>
        <p:nvSpPr>
          <p:cNvPr id="17" name="Shape 12"/>
          <p:cNvSpPr/>
          <p:nvPr/>
        </p:nvSpPr>
        <p:spPr>
          <a:xfrm>
            <a:off x="5981700" y="1714500"/>
            <a:ext cx="2457450" cy="800100"/>
          </a:xfrm>
          <a:prstGeom prst="roundRect">
            <a:avLst>
              <a:gd name="adj" fmla="val 13714"/>
            </a:avLst>
          </a:prstGeom>
          <a:solidFill>
            <a:srgbClr val="FFFFFF"/>
          </a:solidFill>
          <a:ln w="12700">
            <a:solidFill>
              <a:srgbClr val="FFFFFF"/>
            </a:solidFill>
            <a:prstDash val="solid"/>
          </a:ln>
        </p:spPr>
      </p:sp>
      <p:sp>
        <p:nvSpPr>
          <p:cNvPr id="18" name="Text 13"/>
          <p:cNvSpPr txBox="1"/>
          <p:nvPr/>
        </p:nvSpPr>
        <p:spPr>
          <a:xfrm>
            <a:off x="613410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1.85</a:t>
            </a:r>
            <a:pPr indent="0" marL="0">
              <a:buNone/>
            </a:pPr>
            <a:r>
              <a:rPr lang="en-US" sz="1400" b="1" dirty="0">
                <a:solidFill>
                  <a:srgbClr val="4A653B"/>
                </a:solidFill>
                <a:latin typeface="Plus Jakarta Sans" pitchFamily="34" charset="0"/>
                <a:ea typeface="Plus Jakarta Sans" pitchFamily="34" charset="-122"/>
                <a:cs typeface="Plus Jakarta Sans" pitchFamily="34" charset="-120"/>
              </a:rPr>
              <a:t>B</a:t>
            </a:r>
            <a:endParaRPr lang="en-US" sz="2800" dirty="0"/>
          </a:p>
        </p:txBody>
      </p:sp>
      <p:sp>
        <p:nvSpPr>
          <p:cNvPr id="19" name="Text 14"/>
          <p:cNvSpPr txBox="1"/>
          <p:nvPr/>
        </p:nvSpPr>
        <p:spPr>
          <a:xfrm>
            <a:off x="613410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average month, last 6 full months; target is 2.2×</a:t>
            </a:r>
            <a:endParaRPr lang="en-US" sz="950" dirty="0"/>
          </a:p>
        </p:txBody>
      </p:sp>
      <p:sp>
        <p:nvSpPr>
          <p:cNvPr id="20" name="Shape 15"/>
          <p:cNvSpPr/>
          <p:nvPr/>
        </p:nvSpPr>
        <p:spPr>
          <a:xfrm>
            <a:off x="8591550" y="1714500"/>
            <a:ext cx="2457450" cy="800100"/>
          </a:xfrm>
          <a:prstGeom prst="roundRect">
            <a:avLst>
              <a:gd name="adj" fmla="val 13714"/>
            </a:avLst>
          </a:prstGeom>
          <a:solidFill>
            <a:srgbClr val="FFFFFF"/>
          </a:solidFill>
          <a:ln w="12700">
            <a:solidFill>
              <a:srgbClr val="FFFFFF"/>
            </a:solidFill>
            <a:prstDash val="solid"/>
          </a:ln>
        </p:spPr>
      </p:sp>
      <p:sp>
        <p:nvSpPr>
          <p:cNvPr id="21" name="Text 16"/>
          <p:cNvSpPr txBox="1"/>
          <p:nvPr/>
        </p:nvSpPr>
        <p:spPr>
          <a:xfrm>
            <a:off x="8743950" y="1828800"/>
            <a:ext cx="2152650" cy="457200"/>
          </a:xfrm>
          <a:prstGeom prst="rect">
            <a:avLst/>
          </a:prstGeom>
          <a:noFill/>
          <a:ln/>
        </p:spPr>
        <p:txBody>
          <a:bodyPr wrap="square" lIns="0" tIns="0" rIns="0" bIns="0" rtlCol="0" anchor="t"/>
          <a:lstStyle/>
          <a:p>
            <a:pPr indent="0" marL="0">
              <a:buNone/>
            </a:pPr>
            <a:r>
              <a:rPr lang="en-US" sz="2800" b="1" dirty="0">
                <a:solidFill>
                  <a:srgbClr val="274E13"/>
                </a:solidFill>
                <a:latin typeface="Plus Jakarta Sans" pitchFamily="34" charset="0"/>
                <a:ea typeface="Plus Jakarta Sans" pitchFamily="34" charset="-122"/>
                <a:cs typeface="Plus Jakarta Sans" pitchFamily="34" charset="-120"/>
              </a:rPr>
              <a:t>138</a:t>
            </a:r>
            <a:pPr indent="0" marL="0">
              <a:buNone/>
            </a:pPr>
            <a:endParaRPr lang="en-US" sz="2800" dirty="0"/>
          </a:p>
        </p:txBody>
      </p:sp>
      <p:sp>
        <p:nvSpPr>
          <p:cNvPr id="22" name="Text 17"/>
          <p:cNvSpPr txBox="1"/>
          <p:nvPr/>
        </p:nvSpPr>
        <p:spPr>
          <a:xfrm>
            <a:off x="8743950" y="2247900"/>
            <a:ext cx="2152650" cy="20955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fertilizer orders a month at the Jul–Oct average order of Rp27.8M (Jul–Sep: 73 a month)</a:t>
            </a:r>
            <a:endParaRPr lang="en-US" sz="950" dirty="0"/>
          </a:p>
        </p:txBody>
      </p:sp>
      <p:sp>
        <p:nvSpPr>
          <p:cNvPr id="23" name="Shape 18"/>
          <p:cNvSpPr/>
          <p:nvPr/>
        </p:nvSpPr>
        <p:spPr>
          <a:xfrm>
            <a:off x="762000" y="2647950"/>
            <a:ext cx="5067300" cy="1924050"/>
          </a:xfrm>
          <a:prstGeom prst="roundRect">
            <a:avLst>
              <a:gd name="adj" fmla="val 5703"/>
            </a:avLst>
          </a:prstGeom>
          <a:solidFill>
            <a:srgbClr val="FFFFFF"/>
          </a:solidFill>
          <a:ln w="12700">
            <a:solidFill>
              <a:srgbClr val="FFFFFF"/>
            </a:solidFill>
            <a:prstDash val="solid"/>
          </a:ln>
        </p:spPr>
      </p:sp>
      <p:sp>
        <p:nvSpPr>
          <p:cNvPr id="24" name="Text 19"/>
          <p:cNvSpPr txBox="1"/>
          <p:nvPr/>
        </p:nvSpPr>
        <p:spPr>
          <a:xfrm>
            <a:off x="9525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GMV by month vs the target</a:t>
            </a:r>
            <a:endParaRPr lang="en-US" sz="1300" dirty="0"/>
          </a:p>
        </p:txBody>
      </p:sp>
      <p:sp>
        <p:nvSpPr>
          <p:cNvPr id="25" name="Text 20"/>
          <p:cNvSpPr txBox="1"/>
          <p:nvPr/>
        </p:nvSpPr>
        <p:spPr>
          <a:xfrm>
            <a:off x="9525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All products; Oct (to 13 Oct) is partial</a:t>
            </a:r>
            <a:endParaRPr lang="en-US" sz="950" dirty="0"/>
          </a:p>
        </p:txBody>
      </p:sp>
      <p:sp>
        <p:nvSpPr>
          <p:cNvPr id="26" name="Shape 21"/>
          <p:cNvSpPr/>
          <p:nvPr/>
        </p:nvSpPr>
        <p:spPr>
          <a:xfrm>
            <a:off x="1051837" y="3666705"/>
            <a:ext cx="261989" cy="486195"/>
          </a:xfrm>
          <a:prstGeom prst="roundRect">
            <a:avLst>
              <a:gd name="adj" fmla="val 14543"/>
            </a:avLst>
          </a:prstGeom>
          <a:solidFill>
            <a:srgbClr val="3E7B27"/>
          </a:solidFill>
          <a:ln w="12700">
            <a:solidFill>
              <a:srgbClr val="3E7B27"/>
            </a:solidFill>
            <a:prstDash val="solid"/>
          </a:ln>
        </p:spPr>
      </p:sp>
      <p:sp>
        <p:nvSpPr>
          <p:cNvPr id="27" name="Text 22"/>
          <p:cNvSpPr txBox="1"/>
          <p:nvPr/>
        </p:nvSpPr>
        <p:spPr>
          <a:xfrm>
            <a:off x="823237" y="3495255"/>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3.0B</a:t>
            </a:r>
            <a:endParaRPr lang="en-US" sz="860" dirty="0"/>
          </a:p>
        </p:txBody>
      </p:sp>
      <p:sp>
        <p:nvSpPr>
          <p:cNvPr id="28" name="Text 23"/>
          <p:cNvSpPr txBox="1"/>
          <p:nvPr/>
        </p:nvSpPr>
        <p:spPr>
          <a:xfrm>
            <a:off x="981075"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29" name="Shape 24"/>
          <p:cNvSpPr/>
          <p:nvPr/>
        </p:nvSpPr>
        <p:spPr>
          <a:xfrm>
            <a:off x="1474401" y="3787158"/>
            <a:ext cx="261989" cy="365742"/>
          </a:xfrm>
          <a:prstGeom prst="roundRect">
            <a:avLst>
              <a:gd name="adj" fmla="val 14543"/>
            </a:avLst>
          </a:prstGeom>
          <a:solidFill>
            <a:srgbClr val="3E7B27"/>
          </a:solidFill>
          <a:ln w="12700">
            <a:solidFill>
              <a:srgbClr val="3E7B27"/>
            </a:solidFill>
            <a:prstDash val="solid"/>
          </a:ln>
        </p:spPr>
      </p:sp>
      <p:sp>
        <p:nvSpPr>
          <p:cNvPr id="30" name="Text 25"/>
          <p:cNvSpPr txBox="1"/>
          <p:nvPr/>
        </p:nvSpPr>
        <p:spPr>
          <a:xfrm>
            <a:off x="1245801" y="361570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31" name="Text 26"/>
          <p:cNvSpPr txBox="1"/>
          <p:nvPr/>
        </p:nvSpPr>
        <p:spPr>
          <a:xfrm>
            <a:off x="1403639"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32" name="Shape 27"/>
          <p:cNvSpPr/>
          <p:nvPr/>
        </p:nvSpPr>
        <p:spPr>
          <a:xfrm>
            <a:off x="1896964" y="4020889"/>
            <a:ext cx="261989" cy="132011"/>
          </a:xfrm>
          <a:prstGeom prst="roundRect">
            <a:avLst>
              <a:gd name="adj" fmla="val 28861"/>
            </a:avLst>
          </a:prstGeom>
          <a:solidFill>
            <a:srgbClr val="3E7B27"/>
          </a:solidFill>
          <a:ln w="12700">
            <a:solidFill>
              <a:srgbClr val="3E7B27"/>
            </a:solidFill>
            <a:prstDash val="solid"/>
          </a:ln>
        </p:spPr>
      </p:sp>
      <p:sp>
        <p:nvSpPr>
          <p:cNvPr id="33" name="Text 28"/>
          <p:cNvSpPr txBox="1"/>
          <p:nvPr/>
        </p:nvSpPr>
        <p:spPr>
          <a:xfrm>
            <a:off x="1668364" y="38494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815M</a:t>
            </a:r>
            <a:endParaRPr lang="en-US" sz="860" dirty="0"/>
          </a:p>
        </p:txBody>
      </p:sp>
      <p:sp>
        <p:nvSpPr>
          <p:cNvPr id="34" name="Text 29"/>
          <p:cNvSpPr txBox="1"/>
          <p:nvPr/>
        </p:nvSpPr>
        <p:spPr>
          <a:xfrm>
            <a:off x="1826202"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35" name="Shape 30"/>
          <p:cNvSpPr/>
          <p:nvPr/>
        </p:nvSpPr>
        <p:spPr>
          <a:xfrm>
            <a:off x="2319528" y="3767389"/>
            <a:ext cx="261989" cy="385511"/>
          </a:xfrm>
          <a:prstGeom prst="roundRect">
            <a:avLst>
              <a:gd name="adj" fmla="val 14543"/>
            </a:avLst>
          </a:prstGeom>
          <a:solidFill>
            <a:srgbClr val="3E7B27"/>
          </a:solidFill>
          <a:ln w="12700">
            <a:solidFill>
              <a:srgbClr val="3E7B27"/>
            </a:solidFill>
            <a:prstDash val="solid"/>
          </a:ln>
        </p:spPr>
      </p:sp>
      <p:sp>
        <p:nvSpPr>
          <p:cNvPr id="36" name="Text 31"/>
          <p:cNvSpPr txBox="1"/>
          <p:nvPr/>
        </p:nvSpPr>
        <p:spPr>
          <a:xfrm>
            <a:off x="2090928" y="359593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37" name="Text 32"/>
          <p:cNvSpPr txBox="1"/>
          <p:nvPr/>
        </p:nvSpPr>
        <p:spPr>
          <a:xfrm>
            <a:off x="2248766"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38" name="Shape 33"/>
          <p:cNvSpPr/>
          <p:nvPr/>
        </p:nvSpPr>
        <p:spPr>
          <a:xfrm>
            <a:off x="2742092" y="4090284"/>
            <a:ext cx="261989" cy="62616"/>
          </a:xfrm>
          <a:prstGeom prst="roundRect">
            <a:avLst>
              <a:gd name="adj" fmla="val 50000"/>
            </a:avLst>
          </a:prstGeom>
          <a:solidFill>
            <a:srgbClr val="3E7B27"/>
          </a:solidFill>
          <a:ln w="12700">
            <a:solidFill>
              <a:srgbClr val="3E7B27"/>
            </a:solidFill>
            <a:prstDash val="solid"/>
          </a:ln>
        </p:spPr>
      </p:sp>
      <p:sp>
        <p:nvSpPr>
          <p:cNvPr id="39" name="Text 34"/>
          <p:cNvSpPr txBox="1"/>
          <p:nvPr/>
        </p:nvSpPr>
        <p:spPr>
          <a:xfrm>
            <a:off x="2513492" y="3918834"/>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387M</a:t>
            </a:r>
            <a:endParaRPr lang="en-US" sz="860" dirty="0"/>
          </a:p>
        </p:txBody>
      </p:sp>
      <p:sp>
        <p:nvSpPr>
          <p:cNvPr id="40" name="Text 35"/>
          <p:cNvSpPr txBox="1"/>
          <p:nvPr/>
        </p:nvSpPr>
        <p:spPr>
          <a:xfrm>
            <a:off x="267133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41" name="Shape 36"/>
          <p:cNvSpPr/>
          <p:nvPr/>
        </p:nvSpPr>
        <p:spPr>
          <a:xfrm>
            <a:off x="3164655" y="3826903"/>
            <a:ext cx="261989" cy="325997"/>
          </a:xfrm>
          <a:prstGeom prst="roundRect">
            <a:avLst>
              <a:gd name="adj" fmla="val 14543"/>
            </a:avLst>
          </a:prstGeom>
          <a:solidFill>
            <a:srgbClr val="3E7B27"/>
          </a:solidFill>
          <a:ln w="12700">
            <a:solidFill>
              <a:srgbClr val="3E7B27"/>
            </a:solidFill>
            <a:prstDash val="solid"/>
          </a:ln>
        </p:spPr>
      </p:sp>
      <p:sp>
        <p:nvSpPr>
          <p:cNvPr id="42" name="Text 37"/>
          <p:cNvSpPr txBox="1"/>
          <p:nvPr/>
        </p:nvSpPr>
        <p:spPr>
          <a:xfrm>
            <a:off x="2936055" y="3655453"/>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2.0B</a:t>
            </a:r>
            <a:endParaRPr lang="en-US" sz="860" dirty="0"/>
          </a:p>
        </p:txBody>
      </p:sp>
      <p:sp>
        <p:nvSpPr>
          <p:cNvPr id="43" name="Text 38"/>
          <p:cNvSpPr txBox="1"/>
          <p:nvPr/>
        </p:nvSpPr>
        <p:spPr>
          <a:xfrm>
            <a:off x="3093893"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44" name="Shape 39"/>
          <p:cNvSpPr/>
          <p:nvPr/>
        </p:nvSpPr>
        <p:spPr>
          <a:xfrm>
            <a:off x="3587219" y="3762169"/>
            <a:ext cx="261989" cy="390731"/>
          </a:xfrm>
          <a:prstGeom prst="roundRect">
            <a:avLst>
              <a:gd name="adj" fmla="val 14543"/>
            </a:avLst>
          </a:prstGeom>
          <a:solidFill>
            <a:srgbClr val="3E7B27"/>
          </a:solidFill>
          <a:ln w="12700">
            <a:solidFill>
              <a:srgbClr val="3E7B27"/>
            </a:solidFill>
            <a:prstDash val="solid"/>
          </a:ln>
        </p:spPr>
      </p:sp>
      <p:sp>
        <p:nvSpPr>
          <p:cNvPr id="45" name="Text 40"/>
          <p:cNvSpPr txBox="1"/>
          <p:nvPr/>
        </p:nvSpPr>
        <p:spPr>
          <a:xfrm>
            <a:off x="3358619" y="359071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2.4B</a:t>
            </a:r>
            <a:endParaRPr lang="en-US" sz="860" dirty="0"/>
          </a:p>
        </p:txBody>
      </p:sp>
      <p:sp>
        <p:nvSpPr>
          <p:cNvPr id="46" name="Text 41"/>
          <p:cNvSpPr txBox="1"/>
          <p:nvPr/>
        </p:nvSpPr>
        <p:spPr>
          <a:xfrm>
            <a:off x="3516457"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47" name="Shape 42"/>
          <p:cNvSpPr/>
          <p:nvPr/>
        </p:nvSpPr>
        <p:spPr>
          <a:xfrm>
            <a:off x="4009783" y="3887368"/>
            <a:ext cx="261989" cy="265532"/>
          </a:xfrm>
          <a:prstGeom prst="roundRect">
            <a:avLst>
              <a:gd name="adj" fmla="val 14543"/>
            </a:avLst>
          </a:prstGeom>
          <a:solidFill>
            <a:srgbClr val="3E7B27"/>
          </a:solidFill>
          <a:ln w="12700">
            <a:solidFill>
              <a:srgbClr val="3E7B27"/>
            </a:solidFill>
            <a:prstDash val="solid"/>
          </a:ln>
        </p:spPr>
      </p:sp>
      <p:sp>
        <p:nvSpPr>
          <p:cNvPr id="48" name="Text 43"/>
          <p:cNvSpPr txBox="1"/>
          <p:nvPr/>
        </p:nvSpPr>
        <p:spPr>
          <a:xfrm>
            <a:off x="3781183" y="3715918"/>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1.6B</a:t>
            </a:r>
            <a:endParaRPr lang="en-US" sz="860" dirty="0"/>
          </a:p>
        </p:txBody>
      </p:sp>
      <p:sp>
        <p:nvSpPr>
          <p:cNvPr id="49" name="Text 44"/>
          <p:cNvSpPr txBox="1"/>
          <p:nvPr/>
        </p:nvSpPr>
        <p:spPr>
          <a:xfrm>
            <a:off x="3939020"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50" name="Shape 45"/>
          <p:cNvSpPr/>
          <p:nvPr/>
        </p:nvSpPr>
        <p:spPr>
          <a:xfrm>
            <a:off x="4432346" y="3787919"/>
            <a:ext cx="261989" cy="364981"/>
          </a:xfrm>
          <a:prstGeom prst="roundRect">
            <a:avLst>
              <a:gd name="adj" fmla="val 14543"/>
            </a:avLst>
          </a:prstGeom>
          <a:solidFill>
            <a:srgbClr val="3E7B27"/>
          </a:solidFill>
          <a:ln w="12700">
            <a:solidFill>
              <a:srgbClr val="3E7B27"/>
            </a:solidFill>
            <a:prstDash val="solid"/>
          </a:ln>
        </p:spPr>
      </p:sp>
      <p:sp>
        <p:nvSpPr>
          <p:cNvPr id="51" name="Text 46"/>
          <p:cNvSpPr txBox="1"/>
          <p:nvPr/>
        </p:nvSpPr>
        <p:spPr>
          <a:xfrm>
            <a:off x="4203746" y="3616469"/>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2.3B</a:t>
            </a:r>
            <a:endParaRPr lang="en-US" sz="860" dirty="0"/>
          </a:p>
        </p:txBody>
      </p:sp>
      <p:sp>
        <p:nvSpPr>
          <p:cNvPr id="52" name="Text 47"/>
          <p:cNvSpPr txBox="1"/>
          <p:nvPr/>
        </p:nvSpPr>
        <p:spPr>
          <a:xfrm>
            <a:off x="4361584"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53" name="Shape 48"/>
          <p:cNvSpPr/>
          <p:nvPr/>
        </p:nvSpPr>
        <p:spPr>
          <a:xfrm>
            <a:off x="4854910" y="4048150"/>
            <a:ext cx="261989" cy="104750"/>
          </a:xfrm>
          <a:prstGeom prst="roundRect">
            <a:avLst>
              <a:gd name="adj" fmla="val 36372"/>
            </a:avLst>
          </a:prstGeom>
          <a:solidFill>
            <a:srgbClr val="B3BBAB"/>
          </a:solidFill>
          <a:ln w="12700">
            <a:solidFill>
              <a:srgbClr val="B3BBAB"/>
            </a:solidFill>
            <a:prstDash val="solid"/>
          </a:ln>
        </p:spPr>
      </p:sp>
      <p:sp>
        <p:nvSpPr>
          <p:cNvPr id="54" name="Text 49"/>
          <p:cNvSpPr txBox="1"/>
          <p:nvPr/>
        </p:nvSpPr>
        <p:spPr>
          <a:xfrm>
            <a:off x="4626310" y="387670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647M</a:t>
            </a:r>
            <a:endParaRPr lang="en-US" sz="860" dirty="0"/>
          </a:p>
        </p:txBody>
      </p:sp>
      <p:sp>
        <p:nvSpPr>
          <p:cNvPr id="55" name="Text 50"/>
          <p:cNvSpPr txBox="1"/>
          <p:nvPr/>
        </p:nvSpPr>
        <p:spPr>
          <a:xfrm>
            <a:off x="4784148"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 13</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p:txBody>
      </p:sp>
      <p:sp>
        <p:nvSpPr>
          <p:cNvPr id="56" name="Shape 51"/>
          <p:cNvSpPr/>
          <p:nvPr/>
        </p:nvSpPr>
        <p:spPr>
          <a:xfrm>
            <a:off x="5277473" y="3505200"/>
            <a:ext cx="261989" cy="647700"/>
          </a:xfrm>
          <a:prstGeom prst="roundRect">
            <a:avLst>
              <a:gd name="adj" fmla="val 14543"/>
            </a:avLst>
          </a:prstGeom>
          <a:solidFill>
            <a:srgbClr val="D9A21B"/>
          </a:solidFill>
          <a:ln w="12700">
            <a:solidFill>
              <a:srgbClr val="D9A21B"/>
            </a:solidFill>
            <a:prstDash val="solid"/>
          </a:ln>
        </p:spPr>
      </p:sp>
      <p:sp>
        <p:nvSpPr>
          <p:cNvPr id="57" name="Text 52"/>
          <p:cNvSpPr txBox="1"/>
          <p:nvPr/>
        </p:nvSpPr>
        <p:spPr>
          <a:xfrm>
            <a:off x="5048873" y="3333750"/>
            <a:ext cx="719189"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4.0B</a:t>
            </a:r>
            <a:endParaRPr lang="en-US" sz="860" dirty="0"/>
          </a:p>
        </p:txBody>
      </p:sp>
      <p:sp>
        <p:nvSpPr>
          <p:cNvPr id="58" name="Text 53"/>
          <p:cNvSpPr txBox="1"/>
          <p:nvPr/>
        </p:nvSpPr>
        <p:spPr>
          <a:xfrm>
            <a:off x="5206711" y="4200525"/>
            <a:ext cx="40351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Target</a:t>
            </a:r>
            <a:endParaRPr lang="en-US" sz="830" dirty="0"/>
          </a:p>
        </p:txBody>
      </p:sp>
      <p:sp>
        <p:nvSpPr>
          <p:cNvPr id="59" name="Shape 54"/>
          <p:cNvSpPr/>
          <p:nvPr/>
        </p:nvSpPr>
        <p:spPr>
          <a:xfrm>
            <a:off x="971550" y="4152900"/>
            <a:ext cx="4648200" cy="0"/>
          </a:xfrm>
          <a:prstGeom prst="line">
            <a:avLst/>
          </a:prstGeom>
          <a:noFill/>
          <a:ln w="9525">
            <a:solidFill>
              <a:srgbClr val="B9C2B0"/>
            </a:solidFill>
            <a:prstDash val="solid"/>
          </a:ln>
        </p:spPr>
      </p:sp>
      <p:sp>
        <p:nvSpPr>
          <p:cNvPr id="60" name="Shape 55"/>
          <p:cNvSpPr/>
          <p:nvPr/>
        </p:nvSpPr>
        <p:spPr>
          <a:xfrm>
            <a:off x="5981700" y="2647950"/>
            <a:ext cx="5067300" cy="1924050"/>
          </a:xfrm>
          <a:prstGeom prst="roundRect">
            <a:avLst>
              <a:gd name="adj" fmla="val 5703"/>
            </a:avLst>
          </a:prstGeom>
          <a:solidFill>
            <a:srgbClr val="FFFFFF"/>
          </a:solidFill>
          <a:ln w="12700">
            <a:solidFill>
              <a:srgbClr val="FFFFFF"/>
            </a:solidFill>
            <a:prstDash val="solid"/>
          </a:ln>
        </p:spPr>
      </p:sp>
      <p:sp>
        <p:nvSpPr>
          <p:cNvPr id="61" name="Text 56"/>
          <p:cNvSpPr txBox="1"/>
          <p:nvPr/>
        </p:nvSpPr>
        <p:spPr>
          <a:xfrm>
            <a:off x="6172200" y="2800350"/>
            <a:ext cx="46863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Fertilizer tonnes: history and the plan</a:t>
            </a:r>
            <a:endParaRPr lang="en-US" sz="1300" dirty="0"/>
          </a:p>
        </p:txBody>
      </p:sp>
      <p:sp>
        <p:nvSpPr>
          <p:cNvPr id="62" name="Text 57"/>
          <p:cNvSpPr txBox="1"/>
          <p:nvPr/>
        </p:nvSpPr>
        <p:spPr>
          <a:xfrm>
            <a:off x="6172200" y="3028950"/>
            <a:ext cx="46863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sold per month; plan months in yellow</a:t>
            </a:r>
            <a:endParaRPr lang="en-US" sz="950" dirty="0"/>
          </a:p>
        </p:txBody>
      </p:sp>
      <p:sp>
        <p:nvSpPr>
          <p:cNvPr id="63" name="Shape 58"/>
          <p:cNvSpPr/>
          <p:nvPr/>
        </p:nvSpPr>
        <p:spPr>
          <a:xfrm>
            <a:off x="6259185" y="3747717"/>
            <a:ext cx="221683" cy="405183"/>
          </a:xfrm>
          <a:prstGeom prst="roundRect">
            <a:avLst>
              <a:gd name="adj" fmla="val 17187"/>
            </a:avLst>
          </a:prstGeom>
          <a:solidFill>
            <a:srgbClr val="3E7B27"/>
          </a:solidFill>
          <a:ln w="12700">
            <a:solidFill>
              <a:srgbClr val="3E7B27"/>
            </a:solidFill>
            <a:prstDash val="solid"/>
          </a:ln>
        </p:spPr>
      </p:sp>
      <p:sp>
        <p:nvSpPr>
          <p:cNvPr id="64" name="Text 59"/>
          <p:cNvSpPr txBox="1"/>
          <p:nvPr/>
        </p:nvSpPr>
        <p:spPr>
          <a:xfrm>
            <a:off x="6030585" y="357626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376</a:t>
            </a:r>
            <a:endParaRPr lang="en-US" sz="860" dirty="0"/>
          </a:p>
        </p:txBody>
      </p:sp>
      <p:sp>
        <p:nvSpPr>
          <p:cNvPr id="65" name="Text 60"/>
          <p:cNvSpPr txBox="1"/>
          <p:nvPr/>
        </p:nvSpPr>
        <p:spPr>
          <a:xfrm>
            <a:off x="6200775"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p:txBody>
      </p:sp>
      <p:sp>
        <p:nvSpPr>
          <p:cNvPr id="66" name="Shape 61"/>
          <p:cNvSpPr/>
          <p:nvPr/>
        </p:nvSpPr>
        <p:spPr>
          <a:xfrm>
            <a:off x="6616739" y="3823736"/>
            <a:ext cx="221683" cy="329164"/>
          </a:xfrm>
          <a:prstGeom prst="roundRect">
            <a:avLst>
              <a:gd name="adj" fmla="val 17187"/>
            </a:avLst>
          </a:prstGeom>
          <a:solidFill>
            <a:srgbClr val="3E7B27"/>
          </a:solidFill>
          <a:ln w="12700">
            <a:solidFill>
              <a:srgbClr val="3E7B27"/>
            </a:solidFill>
            <a:prstDash val="solid"/>
          </a:ln>
        </p:spPr>
      </p:sp>
      <p:sp>
        <p:nvSpPr>
          <p:cNvPr id="67" name="Text 62"/>
          <p:cNvSpPr txBox="1"/>
          <p:nvPr/>
        </p:nvSpPr>
        <p:spPr>
          <a:xfrm>
            <a:off x="6388139" y="3652286"/>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305</a:t>
            </a:r>
            <a:endParaRPr lang="en-US" sz="860" dirty="0"/>
          </a:p>
        </p:txBody>
      </p:sp>
      <p:sp>
        <p:nvSpPr>
          <p:cNvPr id="68" name="Text 63"/>
          <p:cNvSpPr txBox="1"/>
          <p:nvPr/>
        </p:nvSpPr>
        <p:spPr>
          <a:xfrm>
            <a:off x="6558329"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Feb</a:t>
            </a:r>
            <a:endParaRPr lang="en-US" sz="830" dirty="0"/>
          </a:p>
        </p:txBody>
      </p:sp>
      <p:sp>
        <p:nvSpPr>
          <p:cNvPr id="69" name="Shape 64"/>
          <p:cNvSpPr/>
          <p:nvPr/>
        </p:nvSpPr>
        <p:spPr>
          <a:xfrm>
            <a:off x="6974293" y="4055906"/>
            <a:ext cx="221683" cy="96994"/>
          </a:xfrm>
          <a:prstGeom prst="roundRect">
            <a:avLst>
              <a:gd name="adj" fmla="val 39281"/>
            </a:avLst>
          </a:prstGeom>
          <a:solidFill>
            <a:srgbClr val="3E7B27"/>
          </a:solidFill>
          <a:ln w="12700">
            <a:solidFill>
              <a:srgbClr val="3E7B27"/>
            </a:solidFill>
            <a:prstDash val="solid"/>
          </a:ln>
        </p:spPr>
      </p:sp>
      <p:sp>
        <p:nvSpPr>
          <p:cNvPr id="70" name="Text 65"/>
          <p:cNvSpPr txBox="1"/>
          <p:nvPr/>
        </p:nvSpPr>
        <p:spPr>
          <a:xfrm>
            <a:off x="6745693" y="3884456"/>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90</a:t>
            </a:r>
            <a:endParaRPr lang="en-US" sz="860" dirty="0"/>
          </a:p>
        </p:txBody>
      </p:sp>
      <p:sp>
        <p:nvSpPr>
          <p:cNvPr id="71" name="Text 66"/>
          <p:cNvSpPr txBox="1"/>
          <p:nvPr/>
        </p:nvSpPr>
        <p:spPr>
          <a:xfrm>
            <a:off x="691588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Mar</a:t>
            </a:r>
            <a:endParaRPr lang="en-US" sz="830" dirty="0"/>
          </a:p>
        </p:txBody>
      </p:sp>
      <p:sp>
        <p:nvSpPr>
          <p:cNvPr id="72" name="Shape 67"/>
          <p:cNvSpPr/>
          <p:nvPr/>
        </p:nvSpPr>
        <p:spPr>
          <a:xfrm>
            <a:off x="7331847" y="3840557"/>
            <a:ext cx="221683" cy="312343"/>
          </a:xfrm>
          <a:prstGeom prst="roundRect">
            <a:avLst>
              <a:gd name="adj" fmla="val 17187"/>
            </a:avLst>
          </a:prstGeom>
          <a:solidFill>
            <a:srgbClr val="3E7B27"/>
          </a:solidFill>
          <a:ln w="12700">
            <a:solidFill>
              <a:srgbClr val="3E7B27"/>
            </a:solidFill>
            <a:prstDash val="solid"/>
          </a:ln>
        </p:spPr>
      </p:sp>
      <p:sp>
        <p:nvSpPr>
          <p:cNvPr id="73" name="Text 68"/>
          <p:cNvSpPr txBox="1"/>
          <p:nvPr/>
        </p:nvSpPr>
        <p:spPr>
          <a:xfrm>
            <a:off x="7103247" y="366910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290</a:t>
            </a:r>
            <a:endParaRPr lang="en-US" sz="860" dirty="0"/>
          </a:p>
        </p:txBody>
      </p:sp>
      <p:sp>
        <p:nvSpPr>
          <p:cNvPr id="74" name="Text 69"/>
          <p:cNvSpPr txBox="1"/>
          <p:nvPr/>
        </p:nvSpPr>
        <p:spPr>
          <a:xfrm>
            <a:off x="727343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Apr</a:t>
            </a:r>
            <a:endParaRPr lang="en-US" sz="830" dirty="0"/>
          </a:p>
        </p:txBody>
      </p:sp>
      <p:sp>
        <p:nvSpPr>
          <p:cNvPr id="75" name="Shape 70"/>
          <p:cNvSpPr/>
          <p:nvPr/>
        </p:nvSpPr>
        <p:spPr>
          <a:xfrm>
            <a:off x="7689401" y="4106939"/>
            <a:ext cx="221683" cy="45961"/>
          </a:xfrm>
          <a:prstGeom prst="roundRect">
            <a:avLst>
              <a:gd name="adj" fmla="val 50000"/>
            </a:avLst>
          </a:prstGeom>
          <a:solidFill>
            <a:srgbClr val="3E7B27"/>
          </a:solidFill>
          <a:ln w="12700">
            <a:solidFill>
              <a:srgbClr val="3E7B27"/>
            </a:solidFill>
            <a:prstDash val="solid"/>
          </a:ln>
        </p:spPr>
      </p:sp>
      <p:sp>
        <p:nvSpPr>
          <p:cNvPr id="76" name="Text 71"/>
          <p:cNvSpPr txBox="1"/>
          <p:nvPr/>
        </p:nvSpPr>
        <p:spPr>
          <a:xfrm>
            <a:off x="7460801" y="3935489"/>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43</a:t>
            </a:r>
            <a:endParaRPr lang="en-US" sz="860" dirty="0"/>
          </a:p>
        </p:txBody>
      </p:sp>
      <p:sp>
        <p:nvSpPr>
          <p:cNvPr id="77" name="Text 72"/>
          <p:cNvSpPr txBox="1"/>
          <p:nvPr/>
        </p:nvSpPr>
        <p:spPr>
          <a:xfrm>
            <a:off x="763099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May</a:t>
            </a:r>
            <a:endParaRPr lang="en-US" sz="830" dirty="0"/>
          </a:p>
        </p:txBody>
      </p:sp>
      <p:sp>
        <p:nvSpPr>
          <p:cNvPr id="78" name="Shape 73"/>
          <p:cNvSpPr/>
          <p:nvPr/>
        </p:nvSpPr>
        <p:spPr>
          <a:xfrm>
            <a:off x="8046954" y="3943673"/>
            <a:ext cx="221683" cy="209227"/>
          </a:xfrm>
          <a:prstGeom prst="roundRect">
            <a:avLst>
              <a:gd name="adj" fmla="val 18210"/>
            </a:avLst>
          </a:prstGeom>
          <a:solidFill>
            <a:srgbClr val="3E7B27"/>
          </a:solidFill>
          <a:ln w="12700">
            <a:solidFill>
              <a:srgbClr val="3E7B27"/>
            </a:solidFill>
            <a:prstDash val="solid"/>
          </a:ln>
        </p:spPr>
      </p:sp>
      <p:sp>
        <p:nvSpPr>
          <p:cNvPr id="79" name="Text 74"/>
          <p:cNvSpPr txBox="1"/>
          <p:nvPr/>
        </p:nvSpPr>
        <p:spPr>
          <a:xfrm>
            <a:off x="7818354" y="377222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194</a:t>
            </a:r>
            <a:endParaRPr lang="en-US" sz="860" dirty="0"/>
          </a:p>
        </p:txBody>
      </p:sp>
      <p:sp>
        <p:nvSpPr>
          <p:cNvPr id="80" name="Text 75"/>
          <p:cNvSpPr txBox="1"/>
          <p:nvPr/>
        </p:nvSpPr>
        <p:spPr>
          <a:xfrm>
            <a:off x="7988544"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Jun</a:t>
            </a:r>
            <a:endParaRPr lang="en-US" sz="830" dirty="0"/>
          </a:p>
        </p:txBody>
      </p:sp>
      <p:sp>
        <p:nvSpPr>
          <p:cNvPr id="81" name="Shape 76"/>
          <p:cNvSpPr/>
          <p:nvPr/>
        </p:nvSpPr>
        <p:spPr>
          <a:xfrm>
            <a:off x="8404508" y="3805627"/>
            <a:ext cx="221683" cy="347273"/>
          </a:xfrm>
          <a:prstGeom prst="roundRect">
            <a:avLst>
              <a:gd name="adj" fmla="val 17187"/>
            </a:avLst>
          </a:prstGeom>
          <a:solidFill>
            <a:srgbClr val="3E7B27"/>
          </a:solidFill>
          <a:ln w="12700">
            <a:solidFill>
              <a:srgbClr val="3E7B27"/>
            </a:solidFill>
            <a:prstDash val="solid"/>
          </a:ln>
        </p:spPr>
      </p:sp>
      <p:sp>
        <p:nvSpPr>
          <p:cNvPr id="82" name="Text 77"/>
          <p:cNvSpPr txBox="1"/>
          <p:nvPr/>
        </p:nvSpPr>
        <p:spPr>
          <a:xfrm>
            <a:off x="8175908" y="363417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322</a:t>
            </a:r>
            <a:endParaRPr lang="en-US" sz="860" dirty="0"/>
          </a:p>
        </p:txBody>
      </p:sp>
      <p:sp>
        <p:nvSpPr>
          <p:cNvPr id="83" name="Text 78"/>
          <p:cNvSpPr txBox="1"/>
          <p:nvPr/>
        </p:nvSpPr>
        <p:spPr>
          <a:xfrm>
            <a:off x="8346098"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Jul</a:t>
            </a:r>
            <a:endParaRPr lang="en-US" sz="830" dirty="0"/>
          </a:p>
        </p:txBody>
      </p:sp>
      <p:sp>
        <p:nvSpPr>
          <p:cNvPr id="84" name="Shape 79"/>
          <p:cNvSpPr/>
          <p:nvPr/>
        </p:nvSpPr>
        <p:spPr>
          <a:xfrm>
            <a:off x="8762062" y="3911441"/>
            <a:ext cx="221683" cy="241459"/>
          </a:xfrm>
          <a:prstGeom prst="roundRect">
            <a:avLst>
              <a:gd name="adj" fmla="val 17187"/>
            </a:avLst>
          </a:prstGeom>
          <a:solidFill>
            <a:srgbClr val="3E7B27"/>
          </a:solidFill>
          <a:ln w="12700">
            <a:solidFill>
              <a:srgbClr val="3E7B27"/>
            </a:solidFill>
            <a:prstDash val="solid"/>
          </a:ln>
        </p:spPr>
      </p:sp>
      <p:sp>
        <p:nvSpPr>
          <p:cNvPr id="85" name="Text 80"/>
          <p:cNvSpPr txBox="1"/>
          <p:nvPr/>
        </p:nvSpPr>
        <p:spPr>
          <a:xfrm>
            <a:off x="8533462" y="373999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224</a:t>
            </a:r>
            <a:endParaRPr lang="en-US" sz="860" dirty="0"/>
          </a:p>
        </p:txBody>
      </p:sp>
      <p:sp>
        <p:nvSpPr>
          <p:cNvPr id="86" name="Text 81"/>
          <p:cNvSpPr txBox="1"/>
          <p:nvPr/>
        </p:nvSpPr>
        <p:spPr>
          <a:xfrm>
            <a:off x="8703652"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Aug</a:t>
            </a:r>
            <a:endParaRPr lang="en-US" sz="830" dirty="0"/>
          </a:p>
        </p:txBody>
      </p:sp>
      <p:sp>
        <p:nvSpPr>
          <p:cNvPr id="87" name="Shape 82"/>
          <p:cNvSpPr/>
          <p:nvPr/>
        </p:nvSpPr>
        <p:spPr>
          <a:xfrm>
            <a:off x="9119616" y="3728027"/>
            <a:ext cx="221683" cy="424873"/>
          </a:xfrm>
          <a:prstGeom prst="roundRect">
            <a:avLst>
              <a:gd name="adj" fmla="val 17187"/>
            </a:avLst>
          </a:prstGeom>
          <a:solidFill>
            <a:srgbClr val="3E7B27"/>
          </a:solidFill>
          <a:ln w="12700">
            <a:solidFill>
              <a:srgbClr val="3E7B27"/>
            </a:solidFill>
            <a:prstDash val="solid"/>
          </a:ln>
        </p:spPr>
      </p:sp>
      <p:sp>
        <p:nvSpPr>
          <p:cNvPr id="88" name="Text 83"/>
          <p:cNvSpPr txBox="1"/>
          <p:nvPr/>
        </p:nvSpPr>
        <p:spPr>
          <a:xfrm>
            <a:off x="8891016" y="3556577"/>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394</a:t>
            </a:r>
            <a:endParaRPr lang="en-US" sz="860" dirty="0"/>
          </a:p>
        </p:txBody>
      </p:sp>
      <p:sp>
        <p:nvSpPr>
          <p:cNvPr id="89" name="Text 84"/>
          <p:cNvSpPr txBox="1"/>
          <p:nvPr/>
        </p:nvSpPr>
        <p:spPr>
          <a:xfrm>
            <a:off x="9061206"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Sep</a:t>
            </a:r>
            <a:endParaRPr lang="en-US" sz="830" dirty="0"/>
          </a:p>
        </p:txBody>
      </p:sp>
      <p:sp>
        <p:nvSpPr>
          <p:cNvPr id="90" name="Shape 85"/>
          <p:cNvSpPr/>
          <p:nvPr/>
        </p:nvSpPr>
        <p:spPr>
          <a:xfrm>
            <a:off x="9477170" y="4048893"/>
            <a:ext cx="221683" cy="104007"/>
          </a:xfrm>
          <a:prstGeom prst="roundRect">
            <a:avLst>
              <a:gd name="adj" fmla="val 36632"/>
            </a:avLst>
          </a:prstGeom>
          <a:solidFill>
            <a:srgbClr val="B3BBAB"/>
          </a:solidFill>
          <a:ln w="12700">
            <a:solidFill>
              <a:srgbClr val="B3BBAB"/>
            </a:solidFill>
            <a:prstDash val="solid"/>
          </a:ln>
        </p:spPr>
      </p:sp>
      <p:sp>
        <p:nvSpPr>
          <p:cNvPr id="91" name="Text 86"/>
          <p:cNvSpPr txBox="1"/>
          <p:nvPr/>
        </p:nvSpPr>
        <p:spPr>
          <a:xfrm>
            <a:off x="9248570" y="3877443"/>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96</a:t>
            </a:r>
            <a:endParaRPr lang="en-US" sz="860" dirty="0"/>
          </a:p>
        </p:txBody>
      </p:sp>
      <p:sp>
        <p:nvSpPr>
          <p:cNvPr id="92" name="Text 87"/>
          <p:cNvSpPr txBox="1"/>
          <p:nvPr/>
        </p:nvSpPr>
        <p:spPr>
          <a:xfrm>
            <a:off x="9418760"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Oct</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(to</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13…</a:t>
            </a:r>
            <a:endParaRPr lang="en-US" sz="830" dirty="0"/>
          </a:p>
        </p:txBody>
      </p:sp>
      <p:sp>
        <p:nvSpPr>
          <p:cNvPr id="93" name="Shape 88"/>
          <p:cNvSpPr/>
          <p:nvPr/>
        </p:nvSpPr>
        <p:spPr>
          <a:xfrm>
            <a:off x="9834724" y="3505200"/>
            <a:ext cx="221683" cy="647700"/>
          </a:xfrm>
          <a:prstGeom prst="roundRect">
            <a:avLst>
              <a:gd name="adj" fmla="val 17187"/>
            </a:avLst>
          </a:prstGeom>
          <a:solidFill>
            <a:srgbClr val="D9A21B"/>
          </a:solidFill>
          <a:ln w="12700">
            <a:solidFill>
              <a:srgbClr val="D9A21B"/>
            </a:solidFill>
            <a:prstDash val="solid"/>
          </a:ln>
        </p:spPr>
      </p:sp>
      <p:sp>
        <p:nvSpPr>
          <p:cNvPr id="94" name="Text 89"/>
          <p:cNvSpPr txBox="1"/>
          <p:nvPr/>
        </p:nvSpPr>
        <p:spPr>
          <a:xfrm>
            <a:off x="9606124"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95" name="Text 90"/>
          <p:cNvSpPr txBox="1"/>
          <p:nvPr/>
        </p:nvSpPr>
        <p:spPr>
          <a:xfrm>
            <a:off x="9776313"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Nov</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6" name="Shape 91"/>
          <p:cNvSpPr/>
          <p:nvPr/>
        </p:nvSpPr>
        <p:spPr>
          <a:xfrm>
            <a:off x="10192278" y="3505200"/>
            <a:ext cx="221683" cy="647700"/>
          </a:xfrm>
          <a:prstGeom prst="roundRect">
            <a:avLst>
              <a:gd name="adj" fmla="val 17187"/>
            </a:avLst>
          </a:prstGeom>
          <a:solidFill>
            <a:srgbClr val="D9A21B"/>
          </a:solidFill>
          <a:ln w="12700">
            <a:solidFill>
              <a:srgbClr val="D9A21B"/>
            </a:solidFill>
            <a:prstDash val="solid"/>
          </a:ln>
        </p:spPr>
      </p:sp>
      <p:sp>
        <p:nvSpPr>
          <p:cNvPr id="97" name="Text 92"/>
          <p:cNvSpPr txBox="1"/>
          <p:nvPr/>
        </p:nvSpPr>
        <p:spPr>
          <a:xfrm>
            <a:off x="9963678" y="3333750"/>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98" name="Text 93"/>
          <p:cNvSpPr txBox="1"/>
          <p:nvPr/>
        </p:nvSpPr>
        <p:spPr>
          <a:xfrm>
            <a:off x="10133867"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Dec</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2026</a:t>
            </a:r>
            <a:endParaRPr lang="en-US" sz="830" dirty="0"/>
          </a:p>
        </p:txBody>
      </p:sp>
      <p:sp>
        <p:nvSpPr>
          <p:cNvPr id="99" name="Shape 94"/>
          <p:cNvSpPr/>
          <p:nvPr/>
        </p:nvSpPr>
        <p:spPr>
          <a:xfrm>
            <a:off x="10549831" y="3646941"/>
            <a:ext cx="221683" cy="505959"/>
          </a:xfrm>
          <a:prstGeom prst="roundRect">
            <a:avLst>
              <a:gd name="adj" fmla="val 17187"/>
            </a:avLst>
          </a:prstGeom>
          <a:solidFill>
            <a:srgbClr val="D9A21B"/>
          </a:solidFill>
          <a:ln w="12700">
            <a:solidFill>
              <a:srgbClr val="D9A21B"/>
            </a:solidFill>
            <a:prstDash val="solid"/>
          </a:ln>
        </p:spPr>
      </p:sp>
      <p:sp>
        <p:nvSpPr>
          <p:cNvPr id="100" name="Text 95"/>
          <p:cNvSpPr txBox="1"/>
          <p:nvPr/>
        </p:nvSpPr>
        <p:spPr>
          <a:xfrm>
            <a:off x="10321231" y="3475491"/>
            <a:ext cx="678883"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469</a:t>
            </a:r>
            <a:endParaRPr lang="en-US" sz="860" dirty="0"/>
          </a:p>
        </p:txBody>
      </p:sp>
      <p:sp>
        <p:nvSpPr>
          <p:cNvPr id="101" name="Text 96"/>
          <p:cNvSpPr txBox="1"/>
          <p:nvPr/>
        </p:nvSpPr>
        <p:spPr>
          <a:xfrm>
            <a:off x="10491421" y="4200525"/>
            <a:ext cx="338504" cy="23812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a:t>
            </a:r>
            <a:endParaRPr lang="en-US" sz="830" dirty="0"/>
          </a:p>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2027</a:t>
            </a:r>
            <a:endParaRPr lang="en-US" sz="830" dirty="0"/>
          </a:p>
        </p:txBody>
      </p:sp>
      <p:sp>
        <p:nvSpPr>
          <p:cNvPr id="102" name="Shape 97"/>
          <p:cNvSpPr/>
          <p:nvPr/>
        </p:nvSpPr>
        <p:spPr>
          <a:xfrm>
            <a:off x="6191250" y="4152900"/>
            <a:ext cx="4648200" cy="0"/>
          </a:xfrm>
          <a:prstGeom prst="line">
            <a:avLst/>
          </a:prstGeom>
          <a:noFill/>
          <a:ln w="9525">
            <a:solidFill>
              <a:srgbClr val="B9C2B0"/>
            </a:solidFill>
            <a:prstDash val="solid"/>
          </a:ln>
        </p:spPr>
      </p:sp>
      <p:sp>
        <p:nvSpPr>
          <p:cNvPr id="103" name="Shape 98"/>
          <p:cNvSpPr/>
          <p:nvPr/>
        </p:nvSpPr>
        <p:spPr>
          <a:xfrm>
            <a:off x="762000" y="4705350"/>
            <a:ext cx="10287000" cy="1409700"/>
          </a:xfrm>
          <a:prstGeom prst="roundRect">
            <a:avLst>
              <a:gd name="adj" fmla="val 7784"/>
            </a:avLst>
          </a:prstGeom>
          <a:solidFill>
            <a:srgbClr val="FBEFC4"/>
          </a:solidFill>
          <a:ln w="12700">
            <a:solidFill>
              <a:srgbClr val="FBEFC4"/>
            </a:solidFill>
            <a:prstDash val="solid"/>
          </a:ln>
        </p:spPr>
      </p:sp>
      <p:sp>
        <p:nvSpPr>
          <p:cNvPr id="104" name="Text 99"/>
          <p:cNvSpPr txBox="1"/>
          <p:nvPr/>
        </p:nvSpPr>
        <p:spPr>
          <a:xfrm>
            <a:off x="933450" y="4791075"/>
            <a:ext cx="9944100" cy="12382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Method: the Rp4B target is split by each area's share of fertilizer GMV (Riau 82%, Sumatera Utara 16%, Sumatera Selatan 2%); 96% of GMV is fertilizer and 1.8% is shipping. The rest is turned into kg at the prices in “Price per 14 Oct 2026”, with each area's product and price-tier mix from the last 4 months (Jul–Oct); January uses the same month last season (Jan–Feb 2026).</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Prices today vs what we sold at (Jul–Oct): RP Mahkota Egypt Rp120,737 → Rp122,903 a bag (+2%); KCL Canada Cap Mahkota Rp422,008 → Rp414,861 a bag (−2%); KCL Mentari Rp424,202 → Rp410,757 a bag (−3%); NPK Sawit 13-8-27-4 0.5 B Pak Tani Rp588,150 → Rp579,997 a bag (−1%).</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Data: 36 lines (Rp1.36B) had no province and took the customer's province from other orders (6 from the PIC's main area). 8 SKUs are not on the price list and use their last selling price (NPK Mahkota 13-6-27-4 0.65 B, KCL Kancil, Mahkota ZA…).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at prices of 14 Oct 2026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4</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WHERE THE STOCK GOES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Riau needs 79% of the stock; KCL Canada Cap Mahkota and RP Mahkota Egypt are 49% of the tonnes</a:t>
            </a:r>
            <a:endParaRPr lang="en-US" sz="2300" dirty="0"/>
          </a:p>
        </p:txBody>
      </p:sp>
      <p:sp>
        <p:nvSpPr>
          <p:cNvPr id="11" name="Shape 6"/>
          <p:cNvSpPr/>
          <p:nvPr/>
        </p:nvSpPr>
        <p:spPr>
          <a:xfrm>
            <a:off x="762000" y="1714500"/>
            <a:ext cx="4826000" cy="3543300"/>
          </a:xfrm>
          <a:prstGeom prst="roundRect">
            <a:avLst>
              <a:gd name="adj" fmla="val 3097"/>
            </a:avLst>
          </a:prstGeom>
          <a:solidFill>
            <a:srgbClr val="FFFFFF"/>
          </a:solidFill>
          <a:ln w="12700">
            <a:solidFill>
              <a:srgbClr val="FFFFFF"/>
            </a:solidFill>
            <a:prstDash val="solid"/>
          </a:ln>
        </p:spPr>
      </p:sp>
      <p:sp>
        <p:nvSpPr>
          <p:cNvPr id="12" name="Text 7"/>
          <p:cNvSpPr txBox="1"/>
          <p:nvPr/>
        </p:nvSpPr>
        <p:spPr>
          <a:xfrm>
            <a:off x="952500" y="1866900"/>
            <a:ext cx="44450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Stock required by area (MT)</a:t>
            </a:r>
            <a:endParaRPr lang="en-US" sz="1300" dirty="0"/>
          </a:p>
        </p:txBody>
      </p:sp>
      <p:sp>
        <p:nvSpPr>
          <p:cNvPr id="13" name="Text 8"/>
          <p:cNvSpPr txBox="1"/>
          <p:nvPr/>
        </p:nvSpPr>
        <p:spPr>
          <a:xfrm>
            <a:off x="952500" y="2095500"/>
            <a:ext cx="44450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per month to reach the target</a:t>
            </a:r>
            <a:endParaRPr lang="en-US" sz="950" dirty="0"/>
          </a:p>
        </p:txBody>
      </p:sp>
      <p:sp>
        <p:nvSpPr>
          <p:cNvPr id="14" name="Shape 9"/>
          <p:cNvSpPr/>
          <p:nvPr/>
        </p:nvSpPr>
        <p:spPr>
          <a:xfrm>
            <a:off x="971550" y="2409825"/>
            <a:ext cx="104775" cy="104775"/>
          </a:xfrm>
          <a:prstGeom prst="roundRect">
            <a:avLst>
              <a:gd name="adj" fmla="val 18182"/>
            </a:avLst>
          </a:prstGeom>
          <a:solidFill>
            <a:srgbClr val="3E7B27"/>
          </a:solidFill>
          <a:ln w="12700">
            <a:solidFill>
              <a:srgbClr val="3E7B27"/>
            </a:solidFill>
            <a:prstDash val="solid"/>
          </a:ln>
        </p:spPr>
      </p:sp>
      <p:sp>
        <p:nvSpPr>
          <p:cNvPr id="15" name="Text 10"/>
          <p:cNvSpPr txBox="1"/>
          <p:nvPr/>
        </p:nvSpPr>
        <p:spPr>
          <a:xfrm>
            <a:off x="1123950" y="2381250"/>
            <a:ext cx="37871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Riau</a:t>
            </a:r>
            <a:endParaRPr lang="en-US" sz="860" dirty="0"/>
          </a:p>
        </p:txBody>
      </p:sp>
      <p:sp>
        <p:nvSpPr>
          <p:cNvPr id="16" name="Shape 11"/>
          <p:cNvSpPr/>
          <p:nvPr/>
        </p:nvSpPr>
        <p:spPr>
          <a:xfrm>
            <a:off x="1502664" y="2409825"/>
            <a:ext cx="104775" cy="104775"/>
          </a:xfrm>
          <a:prstGeom prst="roundRect">
            <a:avLst>
              <a:gd name="adj" fmla="val 18182"/>
            </a:avLst>
          </a:prstGeom>
          <a:solidFill>
            <a:srgbClr val="D9A21B"/>
          </a:solidFill>
          <a:ln w="12700">
            <a:solidFill>
              <a:srgbClr val="D9A21B"/>
            </a:solidFill>
            <a:prstDash val="solid"/>
          </a:ln>
        </p:spPr>
      </p:sp>
      <p:sp>
        <p:nvSpPr>
          <p:cNvPr id="17" name="Text 12"/>
          <p:cNvSpPr txBox="1"/>
          <p:nvPr/>
        </p:nvSpPr>
        <p:spPr>
          <a:xfrm>
            <a:off x="1655064" y="2381250"/>
            <a:ext cx="992124"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Sumatera Utara</a:t>
            </a:r>
            <a:endParaRPr lang="en-US" sz="860" dirty="0"/>
          </a:p>
        </p:txBody>
      </p:sp>
      <p:sp>
        <p:nvSpPr>
          <p:cNvPr id="18" name="Shape 13"/>
          <p:cNvSpPr/>
          <p:nvPr/>
        </p:nvSpPr>
        <p:spPr>
          <a:xfrm>
            <a:off x="2647188" y="2409825"/>
            <a:ext cx="104775" cy="104775"/>
          </a:xfrm>
          <a:prstGeom prst="roundRect">
            <a:avLst>
              <a:gd name="adj" fmla="val 18182"/>
            </a:avLst>
          </a:prstGeom>
          <a:solidFill>
            <a:srgbClr val="2B7BB0"/>
          </a:solidFill>
          <a:ln w="12700">
            <a:solidFill>
              <a:srgbClr val="2B7BB0"/>
            </a:solidFill>
            <a:prstDash val="solid"/>
          </a:ln>
        </p:spPr>
      </p:sp>
      <p:sp>
        <p:nvSpPr>
          <p:cNvPr id="19" name="Text 14"/>
          <p:cNvSpPr txBox="1"/>
          <p:nvPr/>
        </p:nvSpPr>
        <p:spPr>
          <a:xfrm>
            <a:off x="2799588" y="2381250"/>
            <a:ext cx="1114806" cy="161925"/>
          </a:xfrm>
          <a:prstGeom prst="rect">
            <a:avLst/>
          </a:prstGeom>
          <a:noFill/>
          <a:ln/>
        </p:spPr>
        <p:txBody>
          <a:bodyPr wrap="square" lIns="0" tIns="0" rIns="0" bIns="0" rtlCol="0" anchor="ctr"/>
          <a:lstStyle/>
          <a:p>
            <a:pPr algn="l" indent="0" marL="0">
              <a:lnSpc>
                <a:spcPct val="95000"/>
              </a:lnSpc>
              <a:buNone/>
            </a:pPr>
            <a:r>
              <a:rPr lang="en-US" sz="860" dirty="0">
                <a:solidFill>
                  <a:srgbClr val="535353"/>
                </a:solidFill>
                <a:latin typeface="Plus Jakarta Sans" pitchFamily="34" charset="0"/>
                <a:ea typeface="Plus Jakarta Sans" pitchFamily="34" charset="-122"/>
                <a:cs typeface="Plus Jakarta Sans" pitchFamily="34" charset="-120"/>
              </a:rPr>
              <a:t>Sumatera Selatan</a:t>
            </a:r>
            <a:endParaRPr lang="en-US" sz="860" dirty="0"/>
          </a:p>
        </p:txBody>
      </p:sp>
      <p:sp>
        <p:nvSpPr>
          <p:cNvPr id="20" name="Shape 15"/>
          <p:cNvSpPr/>
          <p:nvPr/>
        </p:nvSpPr>
        <p:spPr>
          <a:xfrm>
            <a:off x="1372658" y="3249340"/>
            <a:ext cx="666750" cy="1608410"/>
          </a:xfrm>
          <a:prstGeom prst="roundRect">
            <a:avLst>
              <a:gd name="adj" fmla="val 4286"/>
            </a:avLst>
          </a:prstGeom>
          <a:solidFill>
            <a:srgbClr val="3E7B27"/>
          </a:solidFill>
          <a:ln w="12700">
            <a:solidFill>
              <a:srgbClr val="3E7B27"/>
            </a:solidFill>
            <a:prstDash val="solid"/>
          </a:ln>
        </p:spPr>
      </p:sp>
      <p:sp>
        <p:nvSpPr>
          <p:cNvPr id="21" name="Text 16"/>
          <p:cNvSpPr txBox="1"/>
          <p:nvPr/>
        </p:nvSpPr>
        <p:spPr>
          <a:xfrm>
            <a:off x="1372658" y="3249340"/>
            <a:ext cx="666750" cy="160841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474</a:t>
            </a:r>
            <a:endParaRPr lang="en-US" sz="800" dirty="0"/>
          </a:p>
        </p:txBody>
      </p:sp>
      <p:sp>
        <p:nvSpPr>
          <p:cNvPr id="22" name="Shape 17"/>
          <p:cNvSpPr/>
          <p:nvPr/>
        </p:nvSpPr>
        <p:spPr>
          <a:xfrm>
            <a:off x="1372658" y="2869312"/>
            <a:ext cx="666750" cy="360978"/>
          </a:xfrm>
          <a:prstGeom prst="roundRect">
            <a:avLst>
              <a:gd name="adj" fmla="val 7916"/>
            </a:avLst>
          </a:prstGeom>
          <a:solidFill>
            <a:srgbClr val="D9A21B"/>
          </a:solidFill>
          <a:ln w="12700">
            <a:solidFill>
              <a:srgbClr val="D9A21B"/>
            </a:solidFill>
            <a:prstDash val="solid"/>
          </a:ln>
        </p:spPr>
      </p:sp>
      <p:sp>
        <p:nvSpPr>
          <p:cNvPr id="23" name="Text 18"/>
          <p:cNvSpPr txBox="1"/>
          <p:nvPr/>
        </p:nvSpPr>
        <p:spPr>
          <a:xfrm>
            <a:off x="1372658" y="2869312"/>
            <a:ext cx="666750" cy="38002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112</a:t>
            </a:r>
            <a:endParaRPr lang="en-US" sz="800" dirty="0"/>
          </a:p>
        </p:txBody>
      </p:sp>
      <p:sp>
        <p:nvSpPr>
          <p:cNvPr id="24" name="Shape 19"/>
          <p:cNvSpPr/>
          <p:nvPr/>
        </p:nvSpPr>
        <p:spPr>
          <a:xfrm>
            <a:off x="1372658" y="2819400"/>
            <a:ext cx="666750" cy="30862"/>
          </a:xfrm>
          <a:prstGeom prst="roundRect">
            <a:avLst>
              <a:gd name="adj" fmla="val 50000"/>
            </a:avLst>
          </a:prstGeom>
          <a:solidFill>
            <a:srgbClr val="2B7BB0"/>
          </a:solidFill>
          <a:ln w="12700">
            <a:solidFill>
              <a:srgbClr val="2B7BB0"/>
            </a:solidFill>
            <a:prstDash val="solid"/>
          </a:ln>
        </p:spPr>
      </p:sp>
      <p:sp>
        <p:nvSpPr>
          <p:cNvPr id="25" name="Text 20"/>
          <p:cNvSpPr txBox="1"/>
          <p:nvPr/>
        </p:nvSpPr>
        <p:spPr>
          <a:xfrm>
            <a:off x="1325033"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26" name="Text 21"/>
          <p:cNvSpPr txBox="1"/>
          <p:nvPr/>
        </p:nvSpPr>
        <p:spPr>
          <a:xfrm>
            <a:off x="981075" y="4905375"/>
            <a:ext cx="1449917" cy="2190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Nov 2026</a:t>
            </a:r>
            <a:endParaRPr lang="en-US" sz="830" dirty="0"/>
          </a:p>
        </p:txBody>
      </p:sp>
      <p:sp>
        <p:nvSpPr>
          <p:cNvPr id="27" name="Shape 22"/>
          <p:cNvSpPr/>
          <p:nvPr/>
        </p:nvSpPr>
        <p:spPr>
          <a:xfrm>
            <a:off x="2841625" y="3249340"/>
            <a:ext cx="666750" cy="1608410"/>
          </a:xfrm>
          <a:prstGeom prst="roundRect">
            <a:avLst>
              <a:gd name="adj" fmla="val 4286"/>
            </a:avLst>
          </a:prstGeom>
          <a:solidFill>
            <a:srgbClr val="3E7B27"/>
          </a:solidFill>
          <a:ln w="12700">
            <a:solidFill>
              <a:srgbClr val="3E7B27"/>
            </a:solidFill>
            <a:prstDash val="solid"/>
          </a:ln>
        </p:spPr>
      </p:sp>
      <p:sp>
        <p:nvSpPr>
          <p:cNvPr id="28" name="Text 23"/>
          <p:cNvSpPr txBox="1"/>
          <p:nvPr/>
        </p:nvSpPr>
        <p:spPr>
          <a:xfrm>
            <a:off x="2841625" y="3249340"/>
            <a:ext cx="666750" cy="1608410"/>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474</a:t>
            </a:r>
            <a:endParaRPr lang="en-US" sz="800" dirty="0"/>
          </a:p>
        </p:txBody>
      </p:sp>
      <p:sp>
        <p:nvSpPr>
          <p:cNvPr id="29" name="Shape 24"/>
          <p:cNvSpPr/>
          <p:nvPr/>
        </p:nvSpPr>
        <p:spPr>
          <a:xfrm>
            <a:off x="2841625" y="2869312"/>
            <a:ext cx="666750" cy="360978"/>
          </a:xfrm>
          <a:prstGeom prst="roundRect">
            <a:avLst>
              <a:gd name="adj" fmla="val 7916"/>
            </a:avLst>
          </a:prstGeom>
          <a:solidFill>
            <a:srgbClr val="D9A21B"/>
          </a:solidFill>
          <a:ln w="12700">
            <a:solidFill>
              <a:srgbClr val="D9A21B"/>
            </a:solidFill>
            <a:prstDash val="solid"/>
          </a:ln>
        </p:spPr>
      </p:sp>
      <p:sp>
        <p:nvSpPr>
          <p:cNvPr id="30" name="Text 25"/>
          <p:cNvSpPr txBox="1"/>
          <p:nvPr/>
        </p:nvSpPr>
        <p:spPr>
          <a:xfrm>
            <a:off x="2841625" y="2869312"/>
            <a:ext cx="666750" cy="38002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112</a:t>
            </a:r>
            <a:endParaRPr lang="en-US" sz="800" dirty="0"/>
          </a:p>
        </p:txBody>
      </p:sp>
      <p:sp>
        <p:nvSpPr>
          <p:cNvPr id="31" name="Shape 26"/>
          <p:cNvSpPr/>
          <p:nvPr/>
        </p:nvSpPr>
        <p:spPr>
          <a:xfrm>
            <a:off x="2841625" y="2819400"/>
            <a:ext cx="666750" cy="30862"/>
          </a:xfrm>
          <a:prstGeom prst="roundRect">
            <a:avLst>
              <a:gd name="adj" fmla="val 50000"/>
            </a:avLst>
          </a:prstGeom>
          <a:solidFill>
            <a:srgbClr val="2B7BB0"/>
          </a:solidFill>
          <a:ln w="12700">
            <a:solidFill>
              <a:srgbClr val="2B7BB0"/>
            </a:solidFill>
            <a:prstDash val="solid"/>
          </a:ln>
        </p:spPr>
      </p:sp>
      <p:sp>
        <p:nvSpPr>
          <p:cNvPr id="32" name="Text 27"/>
          <p:cNvSpPr txBox="1"/>
          <p:nvPr/>
        </p:nvSpPr>
        <p:spPr>
          <a:xfrm>
            <a:off x="2794000" y="2647950"/>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600</a:t>
            </a:r>
            <a:endParaRPr lang="en-US" sz="860" dirty="0"/>
          </a:p>
        </p:txBody>
      </p:sp>
      <p:sp>
        <p:nvSpPr>
          <p:cNvPr id="33" name="Text 28"/>
          <p:cNvSpPr txBox="1"/>
          <p:nvPr/>
        </p:nvSpPr>
        <p:spPr>
          <a:xfrm>
            <a:off x="2450042" y="4905375"/>
            <a:ext cx="1449917" cy="2190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Dec 2026</a:t>
            </a:r>
            <a:endParaRPr lang="en-US" sz="830" dirty="0"/>
          </a:p>
        </p:txBody>
      </p:sp>
      <p:sp>
        <p:nvSpPr>
          <p:cNvPr id="34" name="Shape 29"/>
          <p:cNvSpPr/>
          <p:nvPr/>
        </p:nvSpPr>
        <p:spPr>
          <a:xfrm>
            <a:off x="4310592" y="3537506"/>
            <a:ext cx="666750" cy="1320244"/>
          </a:xfrm>
          <a:prstGeom prst="roundRect">
            <a:avLst>
              <a:gd name="adj" fmla="val 4286"/>
            </a:avLst>
          </a:prstGeom>
          <a:solidFill>
            <a:srgbClr val="3E7B27"/>
          </a:solidFill>
          <a:ln w="12700">
            <a:solidFill>
              <a:srgbClr val="3E7B27"/>
            </a:solidFill>
            <a:prstDash val="solid"/>
          </a:ln>
        </p:spPr>
      </p:sp>
      <p:sp>
        <p:nvSpPr>
          <p:cNvPr id="35" name="Text 30"/>
          <p:cNvSpPr txBox="1"/>
          <p:nvPr/>
        </p:nvSpPr>
        <p:spPr>
          <a:xfrm>
            <a:off x="4310592" y="3537506"/>
            <a:ext cx="666750" cy="1320244"/>
          </a:xfrm>
          <a:prstGeom prst="rect">
            <a:avLst/>
          </a:prstGeom>
          <a:noFill/>
          <a:ln/>
        </p:spPr>
        <p:txBody>
          <a:bodyPr wrap="square" lIns="0" tIns="0" rIns="0" bIns="0" rtlCol="0" anchor="ctr"/>
          <a:lstStyle/>
          <a:p>
            <a:pPr algn="ctr" indent="0" marL="0">
              <a:lnSpc>
                <a:spcPct val="95000"/>
              </a:lnSpc>
              <a:buNone/>
            </a:pPr>
            <a:r>
              <a:rPr lang="en-US" sz="800" b="1" dirty="0">
                <a:solidFill>
                  <a:srgbClr val="FFFFFF"/>
                </a:solidFill>
                <a:latin typeface="Plus Jakarta Sans" pitchFamily="34" charset="0"/>
                <a:ea typeface="Plus Jakarta Sans" pitchFamily="34" charset="-122"/>
                <a:cs typeface="Plus Jakarta Sans" pitchFamily="34" charset="-120"/>
              </a:rPr>
              <a:t>389</a:t>
            </a:r>
            <a:endParaRPr lang="en-US" sz="800" dirty="0"/>
          </a:p>
        </p:txBody>
      </p:sp>
      <p:sp>
        <p:nvSpPr>
          <p:cNvPr id="36" name="Shape 31"/>
          <p:cNvSpPr/>
          <p:nvPr/>
        </p:nvSpPr>
        <p:spPr>
          <a:xfrm>
            <a:off x="4310592" y="3322748"/>
            <a:ext cx="666750" cy="195708"/>
          </a:xfrm>
          <a:prstGeom prst="roundRect">
            <a:avLst>
              <a:gd name="adj" fmla="val 14601"/>
            </a:avLst>
          </a:prstGeom>
          <a:solidFill>
            <a:srgbClr val="D9A21B"/>
          </a:solidFill>
          <a:ln w="12700">
            <a:solidFill>
              <a:srgbClr val="D9A21B"/>
            </a:solidFill>
            <a:prstDash val="solid"/>
          </a:ln>
        </p:spPr>
      </p:sp>
      <p:sp>
        <p:nvSpPr>
          <p:cNvPr id="37" name="Text 32"/>
          <p:cNvSpPr txBox="1"/>
          <p:nvPr/>
        </p:nvSpPr>
        <p:spPr>
          <a:xfrm>
            <a:off x="4310592" y="3322748"/>
            <a:ext cx="666750" cy="214758"/>
          </a:xfrm>
          <a:prstGeom prst="rect">
            <a:avLst/>
          </a:prstGeom>
          <a:noFill/>
          <a:ln/>
        </p:spPr>
        <p:txBody>
          <a:bodyPr wrap="square" lIns="0" tIns="0" rIns="0" bIns="0" rtlCol="0" anchor="ctr"/>
          <a:lstStyle/>
          <a:p>
            <a:pPr algn="ctr" indent="0" marL="0">
              <a:lnSpc>
                <a:spcPct val="95000"/>
              </a:lnSpc>
              <a:buNone/>
            </a:pPr>
            <a:r>
              <a:rPr lang="en-US" sz="800" b="1" dirty="0">
                <a:solidFill>
                  <a:srgbClr val="2B2F28"/>
                </a:solidFill>
                <a:latin typeface="Plus Jakarta Sans" pitchFamily="34" charset="0"/>
                <a:ea typeface="Plus Jakarta Sans" pitchFamily="34" charset="-122"/>
                <a:cs typeface="Plus Jakarta Sans" pitchFamily="34" charset="-120"/>
              </a:rPr>
              <a:t>63</a:t>
            </a:r>
            <a:endParaRPr lang="en-US" sz="800" dirty="0"/>
          </a:p>
        </p:txBody>
      </p:sp>
      <p:sp>
        <p:nvSpPr>
          <p:cNvPr id="38" name="Shape 33"/>
          <p:cNvSpPr/>
          <p:nvPr/>
        </p:nvSpPr>
        <p:spPr>
          <a:xfrm>
            <a:off x="4310592" y="3265468"/>
            <a:ext cx="666750" cy="38230"/>
          </a:xfrm>
          <a:prstGeom prst="roundRect">
            <a:avLst>
              <a:gd name="adj" fmla="val 50000"/>
            </a:avLst>
          </a:prstGeom>
          <a:solidFill>
            <a:srgbClr val="2B7BB0"/>
          </a:solidFill>
          <a:ln w="12700">
            <a:solidFill>
              <a:srgbClr val="2B7BB0"/>
            </a:solidFill>
            <a:prstDash val="solid"/>
          </a:ln>
        </p:spPr>
      </p:sp>
      <p:sp>
        <p:nvSpPr>
          <p:cNvPr id="39" name="Text 34"/>
          <p:cNvSpPr txBox="1"/>
          <p:nvPr/>
        </p:nvSpPr>
        <p:spPr>
          <a:xfrm>
            <a:off x="4262967" y="3094018"/>
            <a:ext cx="762000" cy="152400"/>
          </a:xfrm>
          <a:prstGeom prst="rect">
            <a:avLst/>
          </a:prstGeom>
          <a:noFill/>
          <a:ln/>
        </p:spPr>
        <p:txBody>
          <a:bodyPr wrap="square" lIns="0" tIns="0" rIns="0" bIns="0" rtlCol="0" anchor="ctr"/>
          <a:lstStyle/>
          <a:p>
            <a:pPr algn="ctr" indent="0" marL="0">
              <a:lnSpc>
                <a:spcPct val="95000"/>
              </a:lnSpc>
              <a:buNone/>
            </a:pPr>
            <a:r>
              <a:rPr lang="en-US" sz="860" b="1" dirty="0">
                <a:solidFill>
                  <a:srgbClr val="2B2F28"/>
                </a:solidFill>
                <a:latin typeface="Plus Jakarta Sans" pitchFamily="34" charset="0"/>
                <a:ea typeface="Plus Jakarta Sans" pitchFamily="34" charset="-122"/>
                <a:cs typeface="Plus Jakarta Sans" pitchFamily="34" charset="-120"/>
              </a:rPr>
              <a:t>469</a:t>
            </a:r>
            <a:endParaRPr lang="en-US" sz="860" dirty="0"/>
          </a:p>
        </p:txBody>
      </p:sp>
      <p:sp>
        <p:nvSpPr>
          <p:cNvPr id="40" name="Text 35"/>
          <p:cNvSpPr txBox="1"/>
          <p:nvPr/>
        </p:nvSpPr>
        <p:spPr>
          <a:xfrm>
            <a:off x="3919008" y="4905375"/>
            <a:ext cx="1449917" cy="219075"/>
          </a:xfrm>
          <a:prstGeom prst="rect">
            <a:avLst/>
          </a:prstGeom>
          <a:noFill/>
          <a:ln/>
        </p:spPr>
        <p:txBody>
          <a:bodyPr wrap="square" lIns="0" tIns="0" rIns="0" bIns="0" rtlCol="0" anchor="t"/>
          <a:lstStyle/>
          <a:p>
            <a:pPr algn="ctr" indent="0" marL="0">
              <a:lnSpc>
                <a:spcPct val="95000"/>
              </a:lnSpc>
              <a:buNone/>
            </a:pPr>
            <a:r>
              <a:rPr lang="en-US" sz="830" dirty="0">
                <a:solidFill>
                  <a:srgbClr val="2B2F28"/>
                </a:solidFill>
                <a:latin typeface="Plus Jakarta Sans" pitchFamily="34" charset="0"/>
                <a:ea typeface="Plus Jakarta Sans" pitchFamily="34" charset="-122"/>
                <a:cs typeface="Plus Jakarta Sans" pitchFamily="34" charset="-120"/>
              </a:rPr>
              <a:t>Jan 2027</a:t>
            </a:r>
            <a:endParaRPr lang="en-US" sz="830" dirty="0"/>
          </a:p>
        </p:txBody>
      </p:sp>
      <p:sp>
        <p:nvSpPr>
          <p:cNvPr id="41" name="Shape 36"/>
          <p:cNvSpPr/>
          <p:nvPr/>
        </p:nvSpPr>
        <p:spPr>
          <a:xfrm>
            <a:off x="971550" y="4857750"/>
            <a:ext cx="4406900" cy="0"/>
          </a:xfrm>
          <a:prstGeom prst="line">
            <a:avLst/>
          </a:prstGeom>
          <a:noFill/>
          <a:ln w="9525">
            <a:solidFill>
              <a:srgbClr val="B9C2B0"/>
            </a:solidFill>
            <a:prstDash val="solid"/>
          </a:ln>
        </p:spPr>
      </p:sp>
      <p:sp>
        <p:nvSpPr>
          <p:cNvPr id="42" name="Shape 37"/>
          <p:cNvSpPr/>
          <p:nvPr/>
        </p:nvSpPr>
        <p:spPr>
          <a:xfrm>
            <a:off x="5740400" y="1714500"/>
            <a:ext cx="5308600" cy="3543300"/>
          </a:xfrm>
          <a:prstGeom prst="roundRect">
            <a:avLst>
              <a:gd name="adj" fmla="val 3097"/>
            </a:avLst>
          </a:prstGeom>
          <a:solidFill>
            <a:srgbClr val="FFFFFF"/>
          </a:solidFill>
          <a:ln w="12700">
            <a:solidFill>
              <a:srgbClr val="FFFFFF"/>
            </a:solidFill>
            <a:prstDash val="solid"/>
          </a:ln>
        </p:spPr>
      </p:sp>
      <p:sp>
        <p:nvSpPr>
          <p:cNvPr id="43" name="Text 38"/>
          <p:cNvSpPr txBox="1"/>
          <p:nvPr/>
        </p:nvSpPr>
        <p:spPr>
          <a:xfrm>
            <a:off x="5930900" y="1866900"/>
            <a:ext cx="4927600" cy="256032"/>
          </a:xfrm>
          <a:prstGeom prst="rect">
            <a:avLst/>
          </a:prstGeom>
          <a:noFill/>
          <a:ln/>
        </p:spPr>
        <p:txBody>
          <a:bodyPr wrap="square" lIns="0" tIns="0" rIns="0" bIns="0" rtlCol="0" anchor="t"/>
          <a:lstStyle/>
          <a:p>
            <a:pPr indent="0" marL="0">
              <a:buNone/>
            </a:pPr>
            <a:r>
              <a:rPr lang="en-US" sz="1300" b="1" dirty="0">
                <a:solidFill>
                  <a:srgbClr val="274E13"/>
                </a:solidFill>
                <a:latin typeface="Plus Jakarta Sans" pitchFamily="34" charset="0"/>
                <a:ea typeface="Plus Jakarta Sans" pitchFamily="34" charset="-122"/>
                <a:cs typeface="Plus Jakarta Sans" pitchFamily="34" charset="-120"/>
              </a:rPr>
              <a:t>Largest SKUs, Nov–Jan (MT)</a:t>
            </a:r>
            <a:endParaRPr lang="en-US" sz="1300" dirty="0"/>
          </a:p>
        </p:txBody>
      </p:sp>
      <p:sp>
        <p:nvSpPr>
          <p:cNvPr id="44" name="Text 39"/>
          <p:cNvSpPr txBox="1"/>
          <p:nvPr/>
        </p:nvSpPr>
        <p:spPr>
          <a:xfrm>
            <a:off x="5930900" y="2095500"/>
            <a:ext cx="4927600" cy="228600"/>
          </a:xfrm>
          <a:prstGeom prst="rect">
            <a:avLst/>
          </a:prstGeom>
          <a:noFill/>
          <a:ln/>
        </p:spPr>
        <p:txBody>
          <a:bodyPr wrap="square" lIns="0" tIns="0" rIns="0" bIns="0" rtlCol="0" anchor="t">
            <a:normAutofit/>
          </a:bodyPr>
          <a:lstStyle/>
          <a:p>
            <a:pPr indent="0" marL="0">
              <a:buNone/>
            </a:pPr>
            <a:r>
              <a:rPr lang="en-US" sz="950" dirty="0">
                <a:solidFill>
                  <a:srgbClr val="7A8373"/>
                </a:solidFill>
                <a:latin typeface="Plus Jakarta Sans" pitchFamily="34" charset="0"/>
                <a:ea typeface="Plus Jakarta Sans" pitchFamily="34" charset="-122"/>
                <a:cs typeface="Plus Jakarta Sans" pitchFamily="34" charset="-120"/>
              </a:rPr>
              <a:t>Tonnes over the 3 months; bags in grey</a:t>
            </a:r>
            <a:endParaRPr lang="en-US" sz="950" dirty="0"/>
          </a:p>
        </p:txBody>
      </p:sp>
      <p:sp>
        <p:nvSpPr>
          <p:cNvPr id="45" name="Text 40"/>
          <p:cNvSpPr txBox="1"/>
          <p:nvPr/>
        </p:nvSpPr>
        <p:spPr>
          <a:xfrm>
            <a:off x="5949950" y="2381250"/>
            <a:ext cx="3714115"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Canada Cap Mahkota</a:t>
            </a:r>
            <a:endParaRPr lang="en-US" sz="940" dirty="0"/>
          </a:p>
        </p:txBody>
      </p:sp>
      <p:sp>
        <p:nvSpPr>
          <p:cNvPr id="46" name="Text 41"/>
          <p:cNvSpPr txBox="1"/>
          <p:nvPr/>
        </p:nvSpPr>
        <p:spPr>
          <a:xfrm>
            <a:off x="10467975" y="2381250"/>
            <a:ext cx="371475"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447.0</a:t>
            </a:r>
            <a:endParaRPr lang="en-US" sz="940" dirty="0"/>
          </a:p>
        </p:txBody>
      </p:sp>
      <p:sp>
        <p:nvSpPr>
          <p:cNvPr id="47" name="Text 42"/>
          <p:cNvSpPr txBox="1"/>
          <p:nvPr/>
        </p:nvSpPr>
        <p:spPr>
          <a:xfrm>
            <a:off x="9721215" y="23812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8,939 bags</a:t>
            </a:r>
            <a:endParaRPr lang="en-US" sz="860" dirty="0"/>
          </a:p>
        </p:txBody>
      </p:sp>
      <p:sp>
        <p:nvSpPr>
          <p:cNvPr id="48" name="Shape 43"/>
          <p:cNvSpPr/>
          <p:nvPr/>
        </p:nvSpPr>
        <p:spPr>
          <a:xfrm>
            <a:off x="5949950" y="2593467"/>
            <a:ext cx="4889500" cy="92583"/>
          </a:xfrm>
          <a:prstGeom prst="roundRect">
            <a:avLst>
              <a:gd name="adj" fmla="val 30864"/>
            </a:avLst>
          </a:prstGeom>
          <a:solidFill>
            <a:srgbClr val="E9EDE5"/>
          </a:solidFill>
          <a:ln w="12700">
            <a:solidFill>
              <a:srgbClr val="E9EDE5"/>
            </a:solidFill>
            <a:prstDash val="solid"/>
          </a:ln>
        </p:spPr>
      </p:sp>
      <p:sp>
        <p:nvSpPr>
          <p:cNvPr id="49" name="Shape 44"/>
          <p:cNvSpPr/>
          <p:nvPr/>
        </p:nvSpPr>
        <p:spPr>
          <a:xfrm>
            <a:off x="5949950" y="2593467"/>
            <a:ext cx="4889500" cy="92583"/>
          </a:xfrm>
          <a:prstGeom prst="roundRect">
            <a:avLst>
              <a:gd name="adj" fmla="val 30864"/>
            </a:avLst>
          </a:prstGeom>
          <a:solidFill>
            <a:srgbClr val="3E7B27"/>
          </a:solidFill>
          <a:ln w="12700">
            <a:solidFill>
              <a:srgbClr val="3E7B27"/>
            </a:solidFill>
            <a:prstDash val="solid"/>
          </a:ln>
        </p:spPr>
      </p:sp>
      <p:sp>
        <p:nvSpPr>
          <p:cNvPr id="50" name="Text 45"/>
          <p:cNvSpPr txBox="1"/>
          <p:nvPr/>
        </p:nvSpPr>
        <p:spPr>
          <a:xfrm>
            <a:off x="5949950" y="2724150"/>
            <a:ext cx="3714115"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RP Mahkota Egypt</a:t>
            </a:r>
            <a:endParaRPr lang="en-US" sz="940" dirty="0"/>
          </a:p>
        </p:txBody>
      </p:sp>
      <p:sp>
        <p:nvSpPr>
          <p:cNvPr id="51" name="Text 46"/>
          <p:cNvSpPr txBox="1"/>
          <p:nvPr/>
        </p:nvSpPr>
        <p:spPr>
          <a:xfrm>
            <a:off x="10467975" y="2724150"/>
            <a:ext cx="371475"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364.0</a:t>
            </a:r>
            <a:endParaRPr lang="en-US" sz="940" dirty="0"/>
          </a:p>
        </p:txBody>
      </p:sp>
      <p:sp>
        <p:nvSpPr>
          <p:cNvPr id="52" name="Text 47"/>
          <p:cNvSpPr txBox="1"/>
          <p:nvPr/>
        </p:nvSpPr>
        <p:spPr>
          <a:xfrm>
            <a:off x="9721215" y="27241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7,279 bags</a:t>
            </a:r>
            <a:endParaRPr lang="en-US" sz="860" dirty="0"/>
          </a:p>
        </p:txBody>
      </p:sp>
      <p:sp>
        <p:nvSpPr>
          <p:cNvPr id="53" name="Shape 48"/>
          <p:cNvSpPr/>
          <p:nvPr/>
        </p:nvSpPr>
        <p:spPr>
          <a:xfrm>
            <a:off x="5949950" y="2936367"/>
            <a:ext cx="4889500" cy="92583"/>
          </a:xfrm>
          <a:prstGeom prst="roundRect">
            <a:avLst>
              <a:gd name="adj" fmla="val 30864"/>
            </a:avLst>
          </a:prstGeom>
          <a:solidFill>
            <a:srgbClr val="E9EDE5"/>
          </a:solidFill>
          <a:ln w="12700">
            <a:solidFill>
              <a:srgbClr val="E9EDE5"/>
            </a:solidFill>
            <a:prstDash val="solid"/>
          </a:ln>
        </p:spPr>
      </p:sp>
      <p:sp>
        <p:nvSpPr>
          <p:cNvPr id="54" name="Shape 49"/>
          <p:cNvSpPr/>
          <p:nvPr/>
        </p:nvSpPr>
        <p:spPr>
          <a:xfrm>
            <a:off x="5949950" y="2936367"/>
            <a:ext cx="3981505" cy="92583"/>
          </a:xfrm>
          <a:prstGeom prst="roundRect">
            <a:avLst>
              <a:gd name="adj" fmla="val 30864"/>
            </a:avLst>
          </a:prstGeom>
          <a:solidFill>
            <a:srgbClr val="3E7B27"/>
          </a:solidFill>
          <a:ln w="12700">
            <a:solidFill>
              <a:srgbClr val="3E7B27"/>
            </a:solidFill>
            <a:prstDash val="solid"/>
          </a:ln>
        </p:spPr>
      </p:sp>
      <p:sp>
        <p:nvSpPr>
          <p:cNvPr id="55" name="Text 50"/>
          <p:cNvSpPr txBox="1"/>
          <p:nvPr/>
        </p:nvSpPr>
        <p:spPr>
          <a:xfrm>
            <a:off x="5949950" y="3067050"/>
            <a:ext cx="3714115"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KCL Mentari</a:t>
            </a:r>
            <a:endParaRPr lang="en-US" sz="940" dirty="0"/>
          </a:p>
        </p:txBody>
      </p:sp>
      <p:sp>
        <p:nvSpPr>
          <p:cNvPr id="56" name="Text 51"/>
          <p:cNvSpPr txBox="1"/>
          <p:nvPr/>
        </p:nvSpPr>
        <p:spPr>
          <a:xfrm>
            <a:off x="10467975" y="3067050"/>
            <a:ext cx="371475"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127.5</a:t>
            </a:r>
            <a:endParaRPr lang="en-US" sz="940" dirty="0"/>
          </a:p>
        </p:txBody>
      </p:sp>
      <p:sp>
        <p:nvSpPr>
          <p:cNvPr id="57" name="Text 52"/>
          <p:cNvSpPr txBox="1"/>
          <p:nvPr/>
        </p:nvSpPr>
        <p:spPr>
          <a:xfrm>
            <a:off x="9721215" y="30670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2,550 bags</a:t>
            </a:r>
            <a:endParaRPr lang="en-US" sz="860" dirty="0"/>
          </a:p>
        </p:txBody>
      </p:sp>
      <p:sp>
        <p:nvSpPr>
          <p:cNvPr id="58" name="Shape 53"/>
          <p:cNvSpPr/>
          <p:nvPr/>
        </p:nvSpPr>
        <p:spPr>
          <a:xfrm>
            <a:off x="5949950" y="3279267"/>
            <a:ext cx="4889500" cy="92583"/>
          </a:xfrm>
          <a:prstGeom prst="roundRect">
            <a:avLst>
              <a:gd name="adj" fmla="val 30864"/>
            </a:avLst>
          </a:prstGeom>
          <a:solidFill>
            <a:srgbClr val="E9EDE5"/>
          </a:solidFill>
          <a:ln w="12700">
            <a:solidFill>
              <a:srgbClr val="E9EDE5"/>
            </a:solidFill>
            <a:prstDash val="solid"/>
          </a:ln>
        </p:spPr>
      </p:sp>
      <p:sp>
        <p:nvSpPr>
          <p:cNvPr id="59" name="Shape 54"/>
          <p:cNvSpPr/>
          <p:nvPr/>
        </p:nvSpPr>
        <p:spPr>
          <a:xfrm>
            <a:off x="5949950" y="3279267"/>
            <a:ext cx="1394812" cy="92583"/>
          </a:xfrm>
          <a:prstGeom prst="roundRect">
            <a:avLst>
              <a:gd name="adj" fmla="val 30864"/>
            </a:avLst>
          </a:prstGeom>
          <a:solidFill>
            <a:srgbClr val="3E7B27"/>
          </a:solidFill>
          <a:ln w="12700">
            <a:solidFill>
              <a:srgbClr val="3E7B27"/>
            </a:solidFill>
            <a:prstDash val="solid"/>
          </a:ln>
        </p:spPr>
      </p:sp>
      <p:sp>
        <p:nvSpPr>
          <p:cNvPr id="60" name="Text 55"/>
          <p:cNvSpPr txBox="1"/>
          <p:nvPr/>
        </p:nvSpPr>
        <p:spPr>
          <a:xfrm>
            <a:off x="5949950" y="3409950"/>
            <a:ext cx="3780790"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 Sawit 13-8-27-4 0.5 B Pak Tani</a:t>
            </a:r>
            <a:endParaRPr lang="en-US" sz="940" dirty="0"/>
          </a:p>
        </p:txBody>
      </p:sp>
      <p:sp>
        <p:nvSpPr>
          <p:cNvPr id="61" name="Text 56"/>
          <p:cNvSpPr txBox="1"/>
          <p:nvPr/>
        </p:nvSpPr>
        <p:spPr>
          <a:xfrm>
            <a:off x="10534650" y="3409950"/>
            <a:ext cx="304800"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97.5</a:t>
            </a:r>
            <a:endParaRPr lang="en-US" sz="940" dirty="0"/>
          </a:p>
        </p:txBody>
      </p:sp>
      <p:sp>
        <p:nvSpPr>
          <p:cNvPr id="62" name="Text 57"/>
          <p:cNvSpPr txBox="1"/>
          <p:nvPr/>
        </p:nvSpPr>
        <p:spPr>
          <a:xfrm>
            <a:off x="9787890" y="34099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1,950 bags</a:t>
            </a:r>
            <a:endParaRPr lang="en-US" sz="860" dirty="0"/>
          </a:p>
        </p:txBody>
      </p:sp>
      <p:sp>
        <p:nvSpPr>
          <p:cNvPr id="63" name="Shape 58"/>
          <p:cNvSpPr/>
          <p:nvPr/>
        </p:nvSpPr>
        <p:spPr>
          <a:xfrm>
            <a:off x="5949950" y="3622167"/>
            <a:ext cx="4889500" cy="92583"/>
          </a:xfrm>
          <a:prstGeom prst="roundRect">
            <a:avLst>
              <a:gd name="adj" fmla="val 30864"/>
            </a:avLst>
          </a:prstGeom>
          <a:solidFill>
            <a:srgbClr val="E9EDE5"/>
          </a:solidFill>
          <a:ln w="12700">
            <a:solidFill>
              <a:srgbClr val="E9EDE5"/>
            </a:solidFill>
            <a:prstDash val="solid"/>
          </a:ln>
        </p:spPr>
      </p:sp>
      <p:sp>
        <p:nvSpPr>
          <p:cNvPr id="64" name="Shape 59"/>
          <p:cNvSpPr/>
          <p:nvPr/>
        </p:nvSpPr>
        <p:spPr>
          <a:xfrm>
            <a:off x="5949950" y="3622167"/>
            <a:ext cx="1066621" cy="92583"/>
          </a:xfrm>
          <a:prstGeom prst="roundRect">
            <a:avLst>
              <a:gd name="adj" fmla="val 30864"/>
            </a:avLst>
          </a:prstGeom>
          <a:solidFill>
            <a:srgbClr val="3E7B27"/>
          </a:solidFill>
          <a:ln w="12700">
            <a:solidFill>
              <a:srgbClr val="3E7B27"/>
            </a:solidFill>
            <a:prstDash val="solid"/>
          </a:ln>
        </p:spPr>
      </p:sp>
      <p:sp>
        <p:nvSpPr>
          <p:cNvPr id="65" name="Text 60"/>
          <p:cNvSpPr txBox="1"/>
          <p:nvPr/>
        </p:nvSpPr>
        <p:spPr>
          <a:xfrm>
            <a:off x="5949950" y="3752850"/>
            <a:ext cx="3780790"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RP Mahkota Peru</a:t>
            </a:r>
            <a:endParaRPr lang="en-US" sz="940" dirty="0"/>
          </a:p>
        </p:txBody>
      </p:sp>
      <p:sp>
        <p:nvSpPr>
          <p:cNvPr id="66" name="Text 61"/>
          <p:cNvSpPr txBox="1"/>
          <p:nvPr/>
        </p:nvSpPr>
        <p:spPr>
          <a:xfrm>
            <a:off x="10534650" y="3752850"/>
            <a:ext cx="304800"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95.4</a:t>
            </a:r>
            <a:endParaRPr lang="en-US" sz="940" dirty="0"/>
          </a:p>
        </p:txBody>
      </p:sp>
      <p:sp>
        <p:nvSpPr>
          <p:cNvPr id="67" name="Text 62"/>
          <p:cNvSpPr txBox="1"/>
          <p:nvPr/>
        </p:nvSpPr>
        <p:spPr>
          <a:xfrm>
            <a:off x="9787890" y="37528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1,908 bags</a:t>
            </a:r>
            <a:endParaRPr lang="en-US" sz="860" dirty="0"/>
          </a:p>
        </p:txBody>
      </p:sp>
      <p:sp>
        <p:nvSpPr>
          <p:cNvPr id="68" name="Shape 63"/>
          <p:cNvSpPr/>
          <p:nvPr/>
        </p:nvSpPr>
        <p:spPr>
          <a:xfrm>
            <a:off x="5949950" y="3965067"/>
            <a:ext cx="4889500" cy="92583"/>
          </a:xfrm>
          <a:prstGeom prst="roundRect">
            <a:avLst>
              <a:gd name="adj" fmla="val 30864"/>
            </a:avLst>
          </a:prstGeom>
          <a:solidFill>
            <a:srgbClr val="E9EDE5"/>
          </a:solidFill>
          <a:ln w="12700">
            <a:solidFill>
              <a:srgbClr val="E9EDE5"/>
            </a:solidFill>
            <a:prstDash val="solid"/>
          </a:ln>
        </p:spPr>
      </p:sp>
      <p:sp>
        <p:nvSpPr>
          <p:cNvPr id="69" name="Shape 64"/>
          <p:cNvSpPr/>
          <p:nvPr/>
        </p:nvSpPr>
        <p:spPr>
          <a:xfrm>
            <a:off x="5949950" y="3965067"/>
            <a:ext cx="1043648" cy="92583"/>
          </a:xfrm>
          <a:prstGeom prst="roundRect">
            <a:avLst>
              <a:gd name="adj" fmla="val 30864"/>
            </a:avLst>
          </a:prstGeom>
          <a:solidFill>
            <a:srgbClr val="3E7B27"/>
          </a:solidFill>
          <a:ln w="12700">
            <a:solidFill>
              <a:srgbClr val="3E7B27"/>
            </a:solidFill>
            <a:prstDash val="solid"/>
          </a:ln>
        </p:spPr>
      </p:sp>
      <p:sp>
        <p:nvSpPr>
          <p:cNvPr id="70" name="Text 65"/>
          <p:cNvSpPr txBox="1"/>
          <p:nvPr/>
        </p:nvSpPr>
        <p:spPr>
          <a:xfrm>
            <a:off x="5949950" y="4095750"/>
            <a:ext cx="3780790"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Urea Nitrea 46% N</a:t>
            </a:r>
            <a:endParaRPr lang="en-US" sz="940" dirty="0"/>
          </a:p>
        </p:txBody>
      </p:sp>
      <p:sp>
        <p:nvSpPr>
          <p:cNvPr id="71" name="Text 66"/>
          <p:cNvSpPr txBox="1"/>
          <p:nvPr/>
        </p:nvSpPr>
        <p:spPr>
          <a:xfrm>
            <a:off x="10534650" y="4095750"/>
            <a:ext cx="304800"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87.8</a:t>
            </a:r>
            <a:endParaRPr lang="en-US" sz="940" dirty="0"/>
          </a:p>
        </p:txBody>
      </p:sp>
      <p:sp>
        <p:nvSpPr>
          <p:cNvPr id="72" name="Text 67"/>
          <p:cNvSpPr txBox="1"/>
          <p:nvPr/>
        </p:nvSpPr>
        <p:spPr>
          <a:xfrm>
            <a:off x="9787890" y="40957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1,756 bags</a:t>
            </a:r>
            <a:endParaRPr lang="en-US" sz="860" dirty="0"/>
          </a:p>
        </p:txBody>
      </p:sp>
      <p:sp>
        <p:nvSpPr>
          <p:cNvPr id="73" name="Shape 68"/>
          <p:cNvSpPr/>
          <p:nvPr/>
        </p:nvSpPr>
        <p:spPr>
          <a:xfrm>
            <a:off x="5949950" y="4307967"/>
            <a:ext cx="4889500" cy="92583"/>
          </a:xfrm>
          <a:prstGeom prst="roundRect">
            <a:avLst>
              <a:gd name="adj" fmla="val 30864"/>
            </a:avLst>
          </a:prstGeom>
          <a:solidFill>
            <a:srgbClr val="E9EDE5"/>
          </a:solidFill>
          <a:ln w="12700">
            <a:solidFill>
              <a:srgbClr val="E9EDE5"/>
            </a:solidFill>
            <a:prstDash val="solid"/>
          </a:ln>
        </p:spPr>
      </p:sp>
      <p:sp>
        <p:nvSpPr>
          <p:cNvPr id="74" name="Shape 69"/>
          <p:cNvSpPr/>
          <p:nvPr/>
        </p:nvSpPr>
        <p:spPr>
          <a:xfrm>
            <a:off x="5949950" y="4307967"/>
            <a:ext cx="960506" cy="92583"/>
          </a:xfrm>
          <a:prstGeom prst="roundRect">
            <a:avLst>
              <a:gd name="adj" fmla="val 30864"/>
            </a:avLst>
          </a:prstGeom>
          <a:solidFill>
            <a:srgbClr val="3E7B27"/>
          </a:solidFill>
          <a:ln w="12700">
            <a:solidFill>
              <a:srgbClr val="3E7B27"/>
            </a:solidFill>
            <a:prstDash val="solid"/>
          </a:ln>
        </p:spPr>
      </p:sp>
      <p:sp>
        <p:nvSpPr>
          <p:cNvPr id="75" name="Text 70"/>
          <p:cNvSpPr txBox="1"/>
          <p:nvPr/>
        </p:nvSpPr>
        <p:spPr>
          <a:xfrm>
            <a:off x="5949950" y="4438650"/>
            <a:ext cx="3780790"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NPK Mahkota 13-8-27-4 0.5 B</a:t>
            </a:r>
            <a:endParaRPr lang="en-US" sz="940" dirty="0"/>
          </a:p>
        </p:txBody>
      </p:sp>
      <p:sp>
        <p:nvSpPr>
          <p:cNvPr id="76" name="Text 71"/>
          <p:cNvSpPr txBox="1"/>
          <p:nvPr/>
        </p:nvSpPr>
        <p:spPr>
          <a:xfrm>
            <a:off x="10534650" y="4438650"/>
            <a:ext cx="304800"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70.7</a:t>
            </a:r>
            <a:endParaRPr lang="en-US" sz="940" dirty="0"/>
          </a:p>
        </p:txBody>
      </p:sp>
      <p:sp>
        <p:nvSpPr>
          <p:cNvPr id="77" name="Text 72"/>
          <p:cNvSpPr txBox="1"/>
          <p:nvPr/>
        </p:nvSpPr>
        <p:spPr>
          <a:xfrm>
            <a:off x="9787890" y="44386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1,413 bags</a:t>
            </a:r>
            <a:endParaRPr lang="en-US" sz="860" dirty="0"/>
          </a:p>
        </p:txBody>
      </p:sp>
      <p:sp>
        <p:nvSpPr>
          <p:cNvPr id="78" name="Shape 73"/>
          <p:cNvSpPr/>
          <p:nvPr/>
        </p:nvSpPr>
        <p:spPr>
          <a:xfrm>
            <a:off x="5949950" y="4650867"/>
            <a:ext cx="4889500" cy="92583"/>
          </a:xfrm>
          <a:prstGeom prst="roundRect">
            <a:avLst>
              <a:gd name="adj" fmla="val 30864"/>
            </a:avLst>
          </a:prstGeom>
          <a:solidFill>
            <a:srgbClr val="E9EDE5"/>
          </a:solidFill>
          <a:ln w="12700">
            <a:solidFill>
              <a:srgbClr val="E9EDE5"/>
            </a:solidFill>
            <a:prstDash val="solid"/>
          </a:ln>
        </p:spPr>
      </p:sp>
      <p:sp>
        <p:nvSpPr>
          <p:cNvPr id="79" name="Shape 74"/>
          <p:cNvSpPr/>
          <p:nvPr/>
        </p:nvSpPr>
        <p:spPr>
          <a:xfrm>
            <a:off x="5949950" y="4650867"/>
            <a:ext cx="772890" cy="92583"/>
          </a:xfrm>
          <a:prstGeom prst="roundRect">
            <a:avLst>
              <a:gd name="adj" fmla="val 30864"/>
            </a:avLst>
          </a:prstGeom>
          <a:solidFill>
            <a:srgbClr val="3E7B27"/>
          </a:solidFill>
          <a:ln w="12700">
            <a:solidFill>
              <a:srgbClr val="3E7B27"/>
            </a:solidFill>
            <a:prstDash val="solid"/>
          </a:ln>
        </p:spPr>
      </p:sp>
      <p:sp>
        <p:nvSpPr>
          <p:cNvPr id="80" name="Text 75"/>
          <p:cNvSpPr txBox="1"/>
          <p:nvPr/>
        </p:nvSpPr>
        <p:spPr>
          <a:xfrm>
            <a:off x="5949950" y="4781550"/>
            <a:ext cx="3780790" cy="193167"/>
          </a:xfrm>
          <a:prstGeom prst="rect">
            <a:avLst/>
          </a:prstGeom>
          <a:noFill/>
          <a:ln/>
        </p:spPr>
        <p:txBody>
          <a:bodyPr wrap="square" lIns="0" tIns="0" rIns="0" bIns="0" rtlCol="0" anchor="b"/>
          <a:lstStyle/>
          <a:p>
            <a:pPr algn="l" indent="0" marL="0">
              <a:lnSpc>
                <a:spcPct val="95000"/>
              </a:lnSpc>
              <a:buNone/>
            </a:pPr>
            <a:r>
              <a:rPr lang="en-US" sz="940" dirty="0">
                <a:solidFill>
                  <a:srgbClr val="2B2F28"/>
                </a:solidFill>
                <a:latin typeface="Plus Jakarta Sans" pitchFamily="34" charset="0"/>
                <a:ea typeface="Plus Jakarta Sans" pitchFamily="34" charset="-122"/>
                <a:cs typeface="Plus Jakarta Sans" pitchFamily="34" charset="-120"/>
              </a:rPr>
              <a:t>AC Powder AKP</a:t>
            </a:r>
            <a:endParaRPr lang="en-US" sz="940" dirty="0"/>
          </a:p>
        </p:txBody>
      </p:sp>
      <p:sp>
        <p:nvSpPr>
          <p:cNvPr id="81" name="Text 76"/>
          <p:cNvSpPr txBox="1"/>
          <p:nvPr/>
        </p:nvSpPr>
        <p:spPr>
          <a:xfrm>
            <a:off x="10534650" y="4781550"/>
            <a:ext cx="304800" cy="193167"/>
          </a:xfrm>
          <a:prstGeom prst="rect">
            <a:avLst/>
          </a:prstGeom>
          <a:noFill/>
          <a:ln/>
        </p:spPr>
        <p:txBody>
          <a:bodyPr wrap="square" lIns="0" tIns="0" rIns="0" bIns="0" rtlCol="0" anchor="b"/>
          <a:lstStyle/>
          <a:p>
            <a:pPr algn="r" indent="0" marL="0">
              <a:lnSpc>
                <a:spcPct val="95000"/>
              </a:lnSpc>
              <a:buNone/>
            </a:pPr>
            <a:r>
              <a:rPr lang="en-US" sz="940" b="1" dirty="0">
                <a:solidFill>
                  <a:srgbClr val="2B2F28"/>
                </a:solidFill>
                <a:latin typeface="Plus Jakarta Sans" pitchFamily="34" charset="0"/>
                <a:ea typeface="Plus Jakarta Sans" pitchFamily="34" charset="-122"/>
                <a:cs typeface="Plus Jakarta Sans" pitchFamily="34" charset="-120"/>
              </a:rPr>
              <a:t>59.5</a:t>
            </a:r>
            <a:endParaRPr lang="en-US" sz="940" dirty="0"/>
          </a:p>
        </p:txBody>
      </p:sp>
      <p:sp>
        <p:nvSpPr>
          <p:cNvPr id="82" name="Text 77"/>
          <p:cNvSpPr txBox="1"/>
          <p:nvPr/>
        </p:nvSpPr>
        <p:spPr>
          <a:xfrm>
            <a:off x="9787890" y="4781550"/>
            <a:ext cx="670560" cy="193167"/>
          </a:xfrm>
          <a:prstGeom prst="rect">
            <a:avLst/>
          </a:prstGeom>
          <a:noFill/>
          <a:ln/>
        </p:spPr>
        <p:txBody>
          <a:bodyPr wrap="square" lIns="0" tIns="0" rIns="0" bIns="0" rtlCol="0" anchor="b"/>
          <a:lstStyle/>
          <a:p>
            <a:pPr algn="r" indent="0" marL="0">
              <a:lnSpc>
                <a:spcPct val="95000"/>
              </a:lnSpc>
              <a:buNone/>
            </a:pPr>
            <a:r>
              <a:rPr lang="en-US" sz="860" dirty="0">
                <a:solidFill>
                  <a:srgbClr val="7A8373"/>
                </a:solidFill>
                <a:latin typeface="Plus Jakarta Sans" pitchFamily="34" charset="0"/>
                <a:ea typeface="Plus Jakarta Sans" pitchFamily="34" charset="-122"/>
                <a:cs typeface="Plus Jakarta Sans" pitchFamily="34" charset="-120"/>
              </a:rPr>
              <a:t>1,190 bags</a:t>
            </a:r>
            <a:endParaRPr lang="en-US" sz="860" dirty="0"/>
          </a:p>
        </p:txBody>
      </p:sp>
      <p:sp>
        <p:nvSpPr>
          <p:cNvPr id="83" name="Shape 78"/>
          <p:cNvSpPr/>
          <p:nvPr/>
        </p:nvSpPr>
        <p:spPr>
          <a:xfrm>
            <a:off x="5949950" y="4993767"/>
            <a:ext cx="4889500" cy="92583"/>
          </a:xfrm>
          <a:prstGeom prst="roundRect">
            <a:avLst>
              <a:gd name="adj" fmla="val 30864"/>
            </a:avLst>
          </a:prstGeom>
          <a:solidFill>
            <a:srgbClr val="E9EDE5"/>
          </a:solidFill>
          <a:ln w="12700">
            <a:solidFill>
              <a:srgbClr val="E9EDE5"/>
            </a:solidFill>
            <a:prstDash val="solid"/>
          </a:ln>
        </p:spPr>
      </p:sp>
      <p:sp>
        <p:nvSpPr>
          <p:cNvPr id="84" name="Shape 79"/>
          <p:cNvSpPr/>
          <p:nvPr/>
        </p:nvSpPr>
        <p:spPr>
          <a:xfrm>
            <a:off x="5949950" y="4993767"/>
            <a:ext cx="650912" cy="92583"/>
          </a:xfrm>
          <a:prstGeom prst="roundRect">
            <a:avLst>
              <a:gd name="adj" fmla="val 30864"/>
            </a:avLst>
          </a:prstGeom>
          <a:solidFill>
            <a:srgbClr val="3E7B27"/>
          </a:solidFill>
          <a:ln w="12700">
            <a:solidFill>
              <a:srgbClr val="3E7B27"/>
            </a:solidFill>
            <a:prstDash val="solid"/>
          </a:ln>
        </p:spPr>
      </p:sp>
      <p:sp>
        <p:nvSpPr>
          <p:cNvPr id="85" name="Shape 80"/>
          <p:cNvSpPr/>
          <p:nvPr/>
        </p:nvSpPr>
        <p:spPr>
          <a:xfrm>
            <a:off x="762000" y="5391150"/>
            <a:ext cx="10287000" cy="723900"/>
          </a:xfrm>
          <a:prstGeom prst="roundRect">
            <a:avLst>
              <a:gd name="adj" fmla="val 15158"/>
            </a:avLst>
          </a:prstGeom>
          <a:solidFill>
            <a:srgbClr val="FBEFC4"/>
          </a:solidFill>
          <a:ln w="12700">
            <a:solidFill>
              <a:srgbClr val="FBEFC4"/>
            </a:solidFill>
            <a:prstDash val="solid"/>
          </a:ln>
        </p:spPr>
      </p:sp>
      <p:sp>
        <p:nvSpPr>
          <p:cNvPr id="86" name="Text 81"/>
          <p:cNvSpPr txBox="1"/>
          <p:nvPr/>
        </p:nvSpPr>
        <p:spPr>
          <a:xfrm>
            <a:off x="933450" y="5476875"/>
            <a:ext cx="9944100" cy="552450"/>
          </a:xfrm>
          <a:prstGeom prst="rect">
            <a:avLst/>
          </a:prstGeom>
          <a:noFill/>
          <a:ln/>
        </p:spPr>
        <p:txBody>
          <a:bodyPr wrap="square" lIns="0" tIns="0" rIns="0" bIns="0" rtlCol="0" anchor="ctr">
            <a:normAutofit/>
          </a:bodyPr>
          <a:lstStyle/>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Nov and Dec lean on rock phosphate and KCL (the Jul–Oct mix), so they need more tonnes at a lower Rp6,494/kg in Riau.</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Jan follows last season (Jan–Feb 2026): more KCL and NPK at Rp7,909/kg, so the same rupiah needs fewer tonnes (469 MT).</a:t>
            </a:r>
            <a:endParaRPr lang="en-US" sz="1000" dirty="0"/>
          </a:p>
          <a:p>
            <a:pPr indent="0" marL="0">
              <a:spcAft>
                <a:spcPts val="300"/>
              </a:spcAft>
              <a:buNone/>
            </a:pPr>
            <a:r>
              <a:rPr lang="en-US" sz="1000" dirty="0">
                <a:solidFill>
                  <a:srgbClr val="5A4600"/>
                </a:solidFill>
                <a:latin typeface="Plus Jakarta Sans" pitchFamily="34" charset="0"/>
                <a:ea typeface="Plus Jakarta Sans" pitchFamily="34" charset="-122"/>
                <a:cs typeface="Plus Jakarta Sans" pitchFamily="34" charset="-120"/>
              </a:rPr>
              <a:t>Sumatera Selatan is small and thin: 14.7 MT a month from 17 orders of history, so its mix can swing with one or two customers.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at prices of 14 Oct 2026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5</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MONTH AND AREA</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Stock needed for Rp4B a month: 600 MT in Nov, 600 MT in Dec, 469 MT in Jan</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698754"/>
                <a:gridCol w="1197864"/>
                <a:gridCol w="3992880"/>
                <a:gridCol w="1197864"/>
                <a:gridCol w="2894838"/>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Month</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Area (province)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Stock required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Target sales (IDR)</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Description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Nov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473.7 MT: RP Mahkota Egypt 128.6 · KCL Canada Cap Mahkota 83.0 · KCL Mentari 61.8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194 orders · Rp6,494/kg · 1.5×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111.9 MT: RP Mahkota Egypt 47.4 · KCL Canada Cap Mahkota 28.9 · Urea Nitrea 46% N 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44 orders · Rp5,433/kg · 1.2×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14.7 MT: AC Powder AKP 8.5 · KCL Mentari 2.0 · KCL Canada Cap Mahkota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(too few orders in Jul–Oct) · Rp5,615/kg · 0.6×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Dec 2026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473.7 MT: RP Mahkota Egypt 128.6 · KCL Canada Cap Mahkota 83.0 · KCL Mentari 61.8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194 orders · Rp6,494/kg · 1.5×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111.9 MT: RP Mahkota Egypt 47.4 · KCL Canada Cap Mahkota 28.9 · Urea Nitrea 46% N 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Jul–Oct mix, 44 orders · Rp5,433/kg · 1.2×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14.7 MT: AC Powder AKP 8.5 · KCL Mentari 2.0 · KCL Canada Cap Mahkota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Full-history mix (too few orders in Jul–Oct) · Rp5,615/kg · 0.6×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Jan 2027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388.8 MT: KCL Canada Cap Mahkota 207.1 · RP Mahkota Peru 73.6 · NPK Mahkota 13-8-27-4 0.5 B 37.9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Rp3.27B</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Rp3.13B)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65 orders · Rp7,909/kg · 1.2× best month (317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Utara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63.3 MT: Urea Nitrea 46% N 17.9 · KCL Canada Cap Mahkota 13.8 · TSP DGW 46% 13.4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Rp646M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Rp620M)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13 orders · Rp9,611/kg · 0.7× best month (95 t, Sep)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Sumatera Selatan*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16.9 MT: AC Powder AKP 14.7 · Pupuk SawitPRO + Abu Janjang 1.3 · RP Cap Daun 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Rp87.7M</a:t>
                      </a:r>
                      <a:endParaRPr lang="en-US" sz="900" dirty="0">
                        <a:latin typeface="Plus Jakarta Sans" charset="0"/>
                        <a:ea typeface="Plus Jakarta Sans" charset="0"/>
                        <a:cs typeface="Plus Jakarta Sans" charset="0"/>
                      </a:endParaRPr>
                    </a:p>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(fertilizer Rp84.1M)</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Jan–Feb mix, 10 orders · Rp4,898/kg · 0.7× best month (25 t, Jan)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
        <p:nvSpPr>
          <p:cNvPr id="13" name="Text 7"/>
          <p:cNvSpPr txBox="1"/>
          <p:nvPr/>
        </p:nvSpPr>
        <p:spPr>
          <a:xfrm>
            <a:off x="952500" y="5562600"/>
            <a:ext cx="9906000" cy="495300"/>
          </a:xfrm>
          <a:prstGeom prst="rect">
            <a:avLst/>
          </a:prstGeom>
          <a:noFill/>
          <a:ln/>
        </p:spPr>
        <p:txBody>
          <a:bodyPr wrap="square" lIns="0" tIns="0" rIns="0" bIns="0" rtlCol="0" anchor="b">
            <a:normAutofit/>
          </a:bodyPr>
          <a:lstStyle/>
          <a:p>
            <a:pPr indent="0" marL="0">
              <a:buNone/>
            </a:pPr>
            <a:r>
              <a:rPr lang="en-US" sz="1000" dirty="0">
                <a:solidFill>
                  <a:srgbClr val="535353"/>
                </a:solidFill>
                <a:latin typeface="Plus Jakarta Sans" pitchFamily="34" charset="0"/>
                <a:ea typeface="Plus Jakarta Sans" pitchFamily="34" charset="-122"/>
                <a:cs typeface="Plus Jakarta Sans" pitchFamily="34" charset="-120"/>
              </a:rPr>
              <a:t>*Sumatera Selatan incl. Lampung, Jambi, Bengkulu. Stock required = tonnes to sell at 14 Oct prices, rounded to whole bags; top 3 SKUs shown (all SKUs on the next slide).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at prices of 14 Oct 2026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6</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FORECAST · STOCK PLAN BY SKU</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KCL Canada Cap Mahkota, RP Mahkota Egypt, KCL Mentari are 56% of the tonnes to stock</a:t>
            </a:r>
            <a:endParaRPr lang="en-US" sz="2300" dirty="0"/>
          </a:p>
        </p:txBody>
      </p:sp>
      <p:sp>
        <p:nvSpPr>
          <p:cNvPr id="11" name="Shape 6"/>
          <p:cNvSpPr/>
          <p:nvPr/>
        </p:nvSpPr>
        <p:spPr>
          <a:xfrm>
            <a:off x="762000" y="1714500"/>
            <a:ext cx="10287000" cy="4400550"/>
          </a:xfrm>
          <a:prstGeom prst="roundRect">
            <a:avLst>
              <a:gd name="adj" fmla="val 2494"/>
            </a:avLst>
          </a:prstGeom>
          <a:solidFill>
            <a:srgbClr val="FFFFFF"/>
          </a:solidFill>
          <a:ln w="12700">
            <a:solidFill>
              <a:srgbClr val="FFFFF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14400" y="1885950"/>
          <a:ext cx="9982200" cy="914400"/>
        </p:xfrm>
        <a:graphic>
          <a:graphicData uri="http://schemas.openxmlformats.org/drawingml/2006/table">
            <a:tbl>
              <a:tblPr/>
              <a:tblGrid>
                <a:gridCol w="2825151"/>
                <a:gridCol w="847545"/>
                <a:gridCol w="847545"/>
                <a:gridCol w="847545"/>
                <a:gridCol w="941717"/>
                <a:gridCol w="847545"/>
                <a:gridCol w="1130060"/>
                <a:gridCol w="1695091"/>
              </a:tblGrid>
              <a:tr h="0">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SKU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Nov 2026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Dec 2026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Jan 2027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3 months (MT)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Bags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r" indent="0" marL="0">
                        <a:buNone/>
                      </a:pPr>
                      <a:r>
                        <a:rPr lang="en-US" sz="900" b="1" dirty="0">
                          <a:solidFill>
                            <a:srgbClr val="FFFFFF"/>
                          </a:solidFill>
                          <a:latin typeface="Plus Jakarta Sans" pitchFamily="34" charset="0"/>
                          <a:ea typeface="Plus Jakarta Sans" pitchFamily="34" charset="-122"/>
                          <a:cs typeface="Plus Jakarta Sans" pitchFamily="34" charset="-120"/>
                        </a:rPr>
                        <a:t>Avg price / bag</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c>
                  <a:txBody>
                    <a:bodyPr/>
                    <a:lstStyle/>
                    <a:p>
                      <a:pPr algn="l" indent="0" marL="0">
                        <a:buNone/>
                      </a:pPr>
                      <a:r>
                        <a:rPr lang="en-US" sz="900" b="1" dirty="0">
                          <a:solidFill>
                            <a:srgbClr val="FFFFFF"/>
                          </a:solidFill>
                          <a:latin typeface="Plus Jakarta Sans" pitchFamily="34" charset="0"/>
                          <a:ea typeface="Plus Jakarta Sans" pitchFamily="34" charset="-122"/>
                          <a:cs typeface="Plus Jakarta Sans" pitchFamily="34" charset="-120"/>
                        </a:rPr>
                        <a:t>Main areas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solidFill>
                      <a:srgbClr val="4A653B"/>
                    </a:solidFill>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Canada Cap Mahkota</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221.2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447.0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8,939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Rp417,883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83%, SumUtara 16%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364.0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7,279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Rp123,006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74%, SumUtara 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Mentari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2,550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Rp411,137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97%, SumSelatan 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Sawit 13-8-27-4 0.5 B Pak Tani</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48.8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97.5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1,950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Rp580,225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98%, SumUtara 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Mahkota Peru</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10.9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95.4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1,908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Rp245,966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94%, SumUtara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Urea Nitrea 46% 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27.5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32.9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87.8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1,756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Rp469,818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57%, SumUtara 42%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Mahkota 13-8-27-4 0.5 B</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12.8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70.7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Rp550,689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90%, SumUtara 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AC Powder AKP</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22.4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59.5</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1,190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Rp237,639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SumSelatan 53%, Riau 41%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Sasco Egypt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42.6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852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Rp120,734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73%, SumUtara 27%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KCL Sasco</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21.0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41.9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Rp424,854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94%, SumUtara 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Dolomite M-100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0.1</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Rp59,347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97%, SumUtara 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RP Cap Daun</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16.0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4.9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36.9</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737</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Rp127,632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59%, SumUtara 38%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NPK DGW 13-8-27-4 TE</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8.4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15.4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32.2</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644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Rp536,490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Riau 100%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Other 18 SKUs</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39.8</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50.4</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130.0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dirty="0">
                          <a:solidFill>
                            <a:srgbClr val="2B2F28"/>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r h="0">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Total</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600.3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600.3</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469.0</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1,669.6</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r"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c>
                  <a:txBody>
                    <a:bodyPr/>
                    <a:lstStyle/>
                    <a:p>
                      <a:pPr algn="l" indent="0" marL="0">
                        <a:buNone/>
                      </a:pPr>
                      <a:r>
                        <a:rPr lang="en-US" sz="900" b="1" dirty="0">
                          <a:solidFill>
                            <a:srgbClr val="274E13"/>
                          </a:solidFill>
                          <a:latin typeface="Plus Jakarta Sans" pitchFamily="34" charset="0"/>
                          <a:ea typeface="Plus Jakarta Sans" pitchFamily="34" charset="-122"/>
                          <a:cs typeface="Plus Jakarta Sans" pitchFamily="34" charset="-120"/>
                        </a:rPr>
                        <a:t>–</a:t>
                      </a:r>
                      <a:endParaRPr lang="en-US" sz="900" dirty="0">
                        <a:latin typeface="Plus Jakarta Sans" charset="0"/>
                        <a:ea typeface="Plus Jakarta Sans" charset="0"/>
                        <a:cs typeface="Plus Jakarta Sans" charset="0"/>
                      </a:endParaRPr>
                    </a:p>
                  </a:txBody>
                  <a:tcPr marL="36576" marR="36576" marT="36576" marB="36576" anchor="ctr">
                    <a:lnL w="6350" cap="flat" cmpd="sng" algn="ctr">
                      <a:solidFill>
                        <a:srgbClr val="DCE2D6"/>
                      </a:solidFill>
                      <a:prstDash val="solid"/>
                      <a:round/>
                      <a:headEnd type="none" w="med" len="med"/>
                      <a:tailEnd type="none" w="med" len="med"/>
                    </a:lnL>
                    <a:lnR w="6350" cap="flat" cmpd="sng" algn="ctr">
                      <a:solidFill>
                        <a:srgbClr val="DCE2D6"/>
                      </a:solidFill>
                      <a:prstDash val="solid"/>
                      <a:round/>
                      <a:headEnd type="none" w="med" len="med"/>
                      <a:tailEnd type="none" w="med" len="med"/>
                    </a:lnR>
                    <a:lnT w="6350" cap="flat" cmpd="sng" algn="ctr">
                      <a:solidFill>
                        <a:srgbClr val="DCE2D6"/>
                      </a:solidFill>
                      <a:prstDash val="solid"/>
                      <a:round/>
                      <a:headEnd type="none" w="med" len="med"/>
                      <a:tailEnd type="none" w="med" len="med"/>
                    </a:lnT>
                    <a:lnB w="6350" cap="flat" cmpd="sng" algn="ctr">
                      <a:solidFill>
                        <a:srgbClr val="DCE2D6"/>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361950" y="361950"/>
            <a:ext cx="11468100" cy="6134100"/>
          </a:xfrm>
          <a:prstGeom prst="rect">
            <a:avLst/>
          </a:prstGeom>
        </p:spPr>
      </p:pic>
      <p:sp>
        <p:nvSpPr>
          <p:cNvPr id="3" name="Shape 0"/>
          <p:cNvSpPr/>
          <p:nvPr/>
        </p:nvSpPr>
        <p:spPr>
          <a:xfrm>
            <a:off x="361950" y="6238875"/>
            <a:ext cx="10991850" cy="123825"/>
          </a:xfrm>
          <a:prstGeom prst="rect">
            <a:avLst/>
          </a:prstGeom>
          <a:solidFill>
            <a:srgbClr val="F5D347"/>
          </a:solidFill>
          <a:ln w="12700">
            <a:solidFill>
              <a:srgbClr val="F5D347"/>
            </a:solidFill>
            <a:prstDash val="solid"/>
          </a:ln>
        </p:spPr>
      </p:sp>
      <p:pic>
        <p:nvPicPr>
          <p:cNvPr id="4" name="Image 1" descr="preencoded.png">    </p:cNvPr>
          <p:cNvPicPr>
            <a:picLocks noChangeAspect="1"/>
          </p:cNvPicPr>
          <p:nvPr/>
        </p:nvPicPr>
        <p:blipFill>
          <a:blip r:embed="rId2"/>
          <a:stretch>
            <a:fillRect/>
          </a:stretch>
        </p:blipFill>
        <p:spPr>
          <a:xfrm>
            <a:off x="11315700" y="5772150"/>
            <a:ext cx="800100" cy="838200"/>
          </a:xfrm>
          <a:prstGeom prst="rect">
            <a:avLst/>
          </a:prstGeom>
        </p:spPr>
      </p:pic>
      <p:pic>
        <p:nvPicPr>
          <p:cNvPr id="5" name="Image 2" descr="preencoded.png">    </p:cNvPr>
          <p:cNvPicPr>
            <a:picLocks noChangeAspect="1"/>
          </p:cNvPicPr>
          <p:nvPr/>
        </p:nvPicPr>
        <p:blipFill>
          <a:blip r:embed="rId3"/>
          <a:stretch>
            <a:fillRect/>
          </a:stretch>
        </p:blipFill>
        <p:spPr>
          <a:xfrm>
            <a:off x="10972800" y="285750"/>
            <a:ext cx="895350" cy="895350"/>
          </a:xfrm>
          <a:prstGeom prst="rect">
            <a:avLst/>
          </a:prstGeom>
        </p:spPr>
      </p:pic>
      <p:sp>
        <p:nvSpPr>
          <p:cNvPr id="6" name="Text 1"/>
          <p:cNvSpPr txBox="1"/>
          <p:nvPr/>
        </p:nvSpPr>
        <p:spPr>
          <a:xfrm>
            <a:off x="381000" y="6572250"/>
            <a:ext cx="5429250" cy="201168"/>
          </a:xfrm>
          <a:prstGeom prst="rect">
            <a:avLst/>
          </a:prstGeom>
          <a:noFill/>
          <a:ln/>
        </p:spPr>
        <p:txBody>
          <a:bodyPr wrap="square" lIns="0" tIns="0" rIns="0" bIns="0" rtlCol="0" anchor="t"/>
          <a:lstStyle/>
          <a:p>
            <a:pPr indent="0" marL="0">
              <a:buNone/>
            </a:pPr>
            <a:r>
              <a:rPr lang="en-US" sz="900" dirty="0">
                <a:solidFill>
                  <a:srgbClr val="7A8373"/>
                </a:solidFill>
                <a:latin typeface="Plus Jakarta Sans" pitchFamily="34" charset="0"/>
                <a:ea typeface="Plus Jakarta Sans" pitchFamily="34" charset="-122"/>
                <a:cs typeface="Plus Jakarta Sans" pitchFamily="34" charset="-120"/>
              </a:rPr>
              <a:t>GMV incl. shipping, before discount · target Rp4B a month at prices of 14 Oct 2026 · data to 13 Oct 2026</a:t>
            </a:r>
            <a:endParaRPr lang="en-US" sz="900" dirty="0"/>
          </a:p>
        </p:txBody>
      </p:sp>
      <p:sp>
        <p:nvSpPr>
          <p:cNvPr id="7" name="Text 2"/>
          <p:cNvSpPr txBox="1"/>
          <p:nvPr/>
        </p:nvSpPr>
        <p:spPr>
          <a:xfrm>
            <a:off x="5905500" y="6572250"/>
            <a:ext cx="365760" cy="201168"/>
          </a:xfrm>
          <a:prstGeom prst="rect">
            <a:avLst/>
          </a:prstGeom>
          <a:noFill/>
          <a:ln/>
        </p:spPr>
        <p:txBody>
          <a:bodyPr wrap="square" lIns="0" tIns="0" rIns="0" bIns="0" rtlCol="0" anchor="t"/>
          <a:lstStyle/>
          <a:p>
            <a:pPr algn="ctr" indent="0" marL="0">
              <a:buNone/>
            </a:pPr>
            <a:r>
              <a:rPr lang="en-US" sz="900" b="1" dirty="0">
                <a:solidFill>
                  <a:srgbClr val="4A653B"/>
                </a:solidFill>
                <a:latin typeface="Plus Jakarta Sans" pitchFamily="34" charset="0"/>
                <a:ea typeface="Plus Jakarta Sans" pitchFamily="34" charset="-122"/>
                <a:cs typeface="Plus Jakarta Sans" pitchFamily="34" charset="-120"/>
              </a:rPr>
              <a:t>7</a:t>
            </a:r>
            <a:endParaRPr lang="en-US" sz="900" dirty="0"/>
          </a:p>
        </p:txBody>
      </p:sp>
      <p:sp>
        <p:nvSpPr>
          <p:cNvPr id="8" name="Text 3"/>
          <p:cNvSpPr txBox="1"/>
          <p:nvPr/>
        </p:nvSpPr>
        <p:spPr>
          <a:xfrm>
            <a:off x="6667500" y="6572250"/>
            <a:ext cx="5143500" cy="201168"/>
          </a:xfrm>
          <a:prstGeom prst="rect">
            <a:avLst/>
          </a:prstGeom>
          <a:noFill/>
          <a:ln/>
        </p:spPr>
        <p:txBody>
          <a:bodyPr wrap="square" lIns="0" tIns="0" rIns="0" bIns="0" rtlCol="0" anchor="t"/>
          <a:lstStyle/>
          <a:p>
            <a:pPr algn="r" indent="0" marL="0">
              <a:buNone/>
            </a:pPr>
            <a:r>
              <a:rPr lang="en-US" sz="900" dirty="0">
                <a:solidFill>
                  <a:srgbClr val="7A8373"/>
                </a:solidFill>
                <a:latin typeface="Plus Jakarta Sans" pitchFamily="34" charset="0"/>
                <a:ea typeface="Plus Jakarta Sans" pitchFamily="34" charset="-122"/>
                <a:cs typeface="Plus Jakarta Sans" pitchFamily="34" charset="-120"/>
              </a:rPr>
              <a:t>Do not use or distribute without permission from SawitPRO</a:t>
            </a:r>
            <a:endParaRPr lang="en-US" sz="900" dirty="0"/>
          </a:p>
        </p:txBody>
      </p:sp>
      <p:sp>
        <p:nvSpPr>
          <p:cNvPr id="9" name="Text 4"/>
          <p:cNvSpPr txBox="1"/>
          <p:nvPr/>
        </p:nvSpPr>
        <p:spPr>
          <a:xfrm>
            <a:off x="781050" y="609600"/>
            <a:ext cx="7315200" cy="228600"/>
          </a:xfrm>
          <a:prstGeom prst="rect">
            <a:avLst/>
          </a:prstGeom>
          <a:noFill/>
          <a:ln/>
        </p:spPr>
        <p:txBody>
          <a:bodyPr wrap="square" lIns="0" tIns="0" rIns="0" bIns="0" rtlCol="0" anchor="t"/>
          <a:lstStyle/>
          <a:p>
            <a:pPr indent="0" marL="0">
              <a:buNone/>
            </a:pPr>
            <a:r>
              <a:rPr lang="en-US" sz="1000" b="1" spc="200" kern="0" dirty="0">
                <a:solidFill>
                  <a:srgbClr val="D9A21B"/>
                </a:solidFill>
                <a:latin typeface="Plus Jakarta Sans" pitchFamily="34" charset="0"/>
                <a:ea typeface="Plus Jakarta Sans" pitchFamily="34" charset="-122"/>
                <a:cs typeface="Plus Jakarta Sans" pitchFamily="34" charset="-120"/>
              </a:rPr>
              <a:t>NEXT STEPS</a:t>
            </a:r>
            <a:endParaRPr lang="en-US" sz="1000" dirty="0"/>
          </a:p>
        </p:txBody>
      </p:sp>
      <p:sp>
        <p:nvSpPr>
          <p:cNvPr id="10" name="Text 5"/>
          <p:cNvSpPr txBox="1"/>
          <p:nvPr/>
        </p:nvSpPr>
        <p:spPr>
          <a:xfrm>
            <a:off x="762000" y="838200"/>
            <a:ext cx="9906000" cy="800100"/>
          </a:xfrm>
          <a:prstGeom prst="rect">
            <a:avLst/>
          </a:prstGeom>
          <a:noFill/>
          <a:ln/>
        </p:spPr>
        <p:txBody>
          <a:bodyPr wrap="square" lIns="0" tIns="0" rIns="0" bIns="0" rtlCol="0" anchor="t">
            <a:normAutofit/>
          </a:bodyPr>
          <a:lstStyle/>
          <a:p>
            <a:pPr indent="0" marL="0">
              <a:buNone/>
            </a:pPr>
            <a:r>
              <a:rPr lang="en-US" sz="2300" b="1" dirty="0">
                <a:solidFill>
                  <a:srgbClr val="4A653B"/>
                </a:solidFill>
                <a:latin typeface="Plus Jakarta Sans" pitchFamily="34" charset="0"/>
                <a:ea typeface="Plus Jakarta Sans" pitchFamily="34" charset="-122"/>
                <a:cs typeface="Plus Jakarta Sans" pitchFamily="34" charset="-120"/>
              </a:rPr>
              <a:t>5 draft actions to deliver the stock plan; owners and dates to be agreed</a:t>
            </a:r>
            <a:endParaRPr lang="en-US" sz="2300" dirty="0"/>
          </a:p>
        </p:txBody>
      </p:sp>
      <p:sp>
        <p:nvSpPr>
          <p:cNvPr id="11" name="Shape 6"/>
          <p:cNvSpPr/>
          <p:nvPr/>
        </p:nvSpPr>
        <p:spPr>
          <a:xfrm>
            <a:off x="762000" y="1714500"/>
            <a:ext cx="3340100" cy="1809750"/>
          </a:xfrm>
          <a:prstGeom prst="roundRect">
            <a:avLst>
              <a:gd name="adj" fmla="val 6063"/>
            </a:avLst>
          </a:prstGeom>
          <a:solidFill>
            <a:srgbClr val="FFFFFF"/>
          </a:solidFill>
          <a:ln w="12700">
            <a:solidFill>
              <a:srgbClr val="FFFFFF"/>
            </a:solidFill>
            <a:prstDash val="solid"/>
          </a:ln>
        </p:spPr>
      </p:sp>
      <p:sp>
        <p:nvSpPr>
          <p:cNvPr id="12" name="Text 7"/>
          <p:cNvSpPr txBox="1"/>
          <p:nvPr/>
        </p:nvSpPr>
        <p:spPr>
          <a:xfrm>
            <a:off x="9334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1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Secure 600 MT for Nov 2026</a:t>
            </a:r>
            <a:endParaRPr lang="en-US" sz="1200" dirty="0"/>
          </a:p>
        </p:txBody>
      </p:sp>
      <p:sp>
        <p:nvSpPr>
          <p:cNvPr id="13" name="Text 8"/>
          <p:cNvSpPr txBox="1"/>
          <p:nvPr/>
        </p:nvSpPr>
        <p:spPr>
          <a:xfrm>
            <a:off x="9334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 Mahkota Egypt 177 MT, KCL Canada Cap Mahkota 113 MT, KCL Mentari 64 MT are the largest lines. Check stock on hand and supplier lead time against the plan by area (Riau 474 MT, Sumatera Utara 112 MT, Sumatera Selatan 15 MT).</a:t>
            </a:r>
            <a:endParaRPr lang="en-US" sz="950" dirty="0"/>
          </a:p>
        </p:txBody>
      </p:sp>
      <p:sp>
        <p:nvSpPr>
          <p:cNvPr id="14" name="Text 9"/>
          <p:cNvSpPr txBox="1"/>
          <p:nvPr/>
        </p:nvSpPr>
        <p:spPr>
          <a:xfrm>
            <a:off x="9334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5" name="Shape 10"/>
          <p:cNvSpPr/>
          <p:nvPr/>
        </p:nvSpPr>
        <p:spPr>
          <a:xfrm>
            <a:off x="4235450" y="1714500"/>
            <a:ext cx="3340100" cy="1809750"/>
          </a:xfrm>
          <a:prstGeom prst="roundRect">
            <a:avLst>
              <a:gd name="adj" fmla="val 6063"/>
            </a:avLst>
          </a:prstGeom>
          <a:solidFill>
            <a:srgbClr val="FFFFFF"/>
          </a:solidFill>
          <a:ln w="12700">
            <a:solidFill>
              <a:srgbClr val="FFFFFF"/>
            </a:solidFill>
            <a:prstDash val="solid"/>
          </a:ln>
        </p:spPr>
      </p:sp>
      <p:sp>
        <p:nvSpPr>
          <p:cNvPr id="16" name="Text 11"/>
          <p:cNvSpPr txBox="1"/>
          <p:nvPr/>
        </p:nvSpPr>
        <p:spPr>
          <a:xfrm>
            <a:off x="440690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2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Plan 138 fertilizer orders a month</a:t>
            </a:r>
            <a:endParaRPr lang="en-US" sz="1200" dirty="0"/>
          </a:p>
        </p:txBody>
      </p:sp>
      <p:sp>
        <p:nvSpPr>
          <p:cNvPr id="17" name="Text 12"/>
          <p:cNvSpPr txBox="1"/>
          <p:nvPr/>
        </p:nvSpPr>
        <p:spPr>
          <a:xfrm>
            <a:off x="440690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Rp4B a month at the Jul–Oct average order of Rp27.8M needs 138 orders; the team closed 73 a month in Jul–Sep. Split the gap by PIC and area.</a:t>
            </a:r>
            <a:endParaRPr lang="en-US" sz="950" dirty="0"/>
          </a:p>
        </p:txBody>
      </p:sp>
      <p:sp>
        <p:nvSpPr>
          <p:cNvPr id="18" name="Text 13"/>
          <p:cNvSpPr txBox="1"/>
          <p:nvPr/>
        </p:nvSpPr>
        <p:spPr>
          <a:xfrm>
            <a:off x="440690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19" name="Shape 14"/>
          <p:cNvSpPr/>
          <p:nvPr/>
        </p:nvSpPr>
        <p:spPr>
          <a:xfrm>
            <a:off x="7708900" y="1714500"/>
            <a:ext cx="3340100" cy="1809750"/>
          </a:xfrm>
          <a:prstGeom prst="roundRect">
            <a:avLst>
              <a:gd name="adj" fmla="val 6063"/>
            </a:avLst>
          </a:prstGeom>
          <a:solidFill>
            <a:srgbClr val="FFFFFF"/>
          </a:solidFill>
          <a:ln w="12700">
            <a:solidFill>
              <a:srgbClr val="FFFFFF"/>
            </a:solidFill>
            <a:prstDash val="solid"/>
          </a:ln>
        </p:spPr>
      </p:sp>
      <p:sp>
        <p:nvSpPr>
          <p:cNvPr id="20" name="Text 15"/>
          <p:cNvSpPr txBox="1"/>
          <p:nvPr/>
        </p:nvSpPr>
        <p:spPr>
          <a:xfrm>
            <a:off x="7880350" y="1847850"/>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3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Book 221 MT of KCL Canada Cap Mahkota for Jan</a:t>
            </a:r>
            <a:endParaRPr lang="en-US" sz="1200" dirty="0"/>
          </a:p>
        </p:txBody>
      </p:sp>
      <p:sp>
        <p:nvSpPr>
          <p:cNvPr id="21" name="Text 16"/>
          <p:cNvSpPr txBox="1"/>
          <p:nvPr/>
        </p:nvSpPr>
        <p:spPr>
          <a:xfrm>
            <a:off x="7880350" y="2247900"/>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Jan shifts to last season's mix (Jan–Feb 2026); KCL Canada Cap Mahkota is the largest line at 221 MT, against 113 MT in Nov. Confirm supplier allocation before December.</a:t>
            </a:r>
            <a:endParaRPr lang="en-US" sz="950" dirty="0"/>
          </a:p>
        </p:txBody>
      </p:sp>
      <p:sp>
        <p:nvSpPr>
          <p:cNvPr id="22" name="Text 17"/>
          <p:cNvSpPr txBox="1"/>
          <p:nvPr/>
        </p:nvSpPr>
        <p:spPr>
          <a:xfrm>
            <a:off x="7880350" y="3200400"/>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3" name="Shape 18"/>
          <p:cNvSpPr/>
          <p:nvPr/>
        </p:nvSpPr>
        <p:spPr>
          <a:xfrm>
            <a:off x="762000" y="3667125"/>
            <a:ext cx="3340100" cy="1809750"/>
          </a:xfrm>
          <a:prstGeom prst="roundRect">
            <a:avLst>
              <a:gd name="adj" fmla="val 6063"/>
            </a:avLst>
          </a:prstGeom>
          <a:solidFill>
            <a:srgbClr val="FFFFFF"/>
          </a:solidFill>
          <a:ln w="12700">
            <a:solidFill>
              <a:srgbClr val="FFFFFF"/>
            </a:solidFill>
            <a:prstDash val="solid"/>
          </a:ln>
        </p:spPr>
      </p:sp>
      <p:sp>
        <p:nvSpPr>
          <p:cNvPr id="24" name="Text 19"/>
          <p:cNvSpPr txBox="1"/>
          <p:nvPr/>
        </p:nvSpPr>
        <p:spPr>
          <a:xfrm>
            <a:off x="93345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4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Add 8 SKUs to the price list</a:t>
            </a:r>
            <a:endParaRPr lang="en-US" sz="1200" dirty="0"/>
          </a:p>
        </p:txBody>
      </p:sp>
      <p:sp>
        <p:nvSpPr>
          <p:cNvPr id="25" name="Text 20"/>
          <p:cNvSpPr txBox="1"/>
          <p:nvPr/>
        </p:nvSpPr>
        <p:spPr>
          <a:xfrm>
            <a:off x="93345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NPK Mahkota 13-6-27-4 0.65 B, KCL Kancil, Mahkota ZA, Borat Mahkota and others sell but are not on the 14 Oct price list, so the plan uses their last selling price.</a:t>
            </a:r>
            <a:endParaRPr lang="en-US" sz="950" dirty="0"/>
          </a:p>
        </p:txBody>
      </p:sp>
      <p:sp>
        <p:nvSpPr>
          <p:cNvPr id="26" name="Text 21"/>
          <p:cNvSpPr txBox="1"/>
          <p:nvPr/>
        </p:nvSpPr>
        <p:spPr>
          <a:xfrm>
            <a:off x="93345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
        <p:nvSpPr>
          <p:cNvPr id="27" name="Shape 22"/>
          <p:cNvSpPr/>
          <p:nvPr/>
        </p:nvSpPr>
        <p:spPr>
          <a:xfrm>
            <a:off x="4235450" y="3667125"/>
            <a:ext cx="3340100" cy="1809750"/>
          </a:xfrm>
          <a:prstGeom prst="roundRect">
            <a:avLst>
              <a:gd name="adj" fmla="val 6063"/>
            </a:avLst>
          </a:prstGeom>
          <a:solidFill>
            <a:srgbClr val="FFFFFF"/>
          </a:solidFill>
          <a:ln w="12700">
            <a:solidFill>
              <a:srgbClr val="FFFFFF"/>
            </a:solidFill>
            <a:prstDash val="solid"/>
          </a:ln>
        </p:spPr>
      </p:sp>
      <p:sp>
        <p:nvSpPr>
          <p:cNvPr id="28" name="Text 23"/>
          <p:cNvSpPr txBox="1"/>
          <p:nvPr/>
        </p:nvSpPr>
        <p:spPr>
          <a:xfrm>
            <a:off x="4406900" y="3800475"/>
            <a:ext cx="2997200" cy="381000"/>
          </a:xfrm>
          <a:prstGeom prst="rect">
            <a:avLst/>
          </a:prstGeom>
          <a:noFill/>
          <a:ln/>
        </p:spPr>
        <p:txBody>
          <a:bodyPr wrap="square" lIns="0" tIns="0" rIns="0" bIns="0" rtlCol="0" anchor="t">
            <a:normAutofit/>
          </a:bodyPr>
          <a:lstStyle/>
          <a:p>
            <a:pPr indent="0" marL="0">
              <a:buNone/>
            </a:pPr>
            <a:r>
              <a:rPr lang="en-US" sz="1200" b="1" dirty="0">
                <a:solidFill>
                  <a:srgbClr val="D9A21B"/>
                </a:solidFill>
                <a:latin typeface="Plus Jakarta Sans" pitchFamily="34" charset="0"/>
                <a:ea typeface="Plus Jakarta Sans" pitchFamily="34" charset="-122"/>
                <a:cs typeface="Plus Jakarta Sans" pitchFamily="34" charset="-120"/>
              </a:rPr>
              <a:t>5  </a:t>
            </a:r>
            <a:pPr indent="0" marL="0">
              <a:buNone/>
            </a:pPr>
            <a:r>
              <a:rPr lang="en-US" sz="1200" b="1" dirty="0">
                <a:solidFill>
                  <a:srgbClr val="274E13"/>
                </a:solidFill>
                <a:latin typeface="Plus Jakarta Sans" pitchFamily="34" charset="0"/>
                <a:ea typeface="Plus Jakarta Sans" pitchFamily="34" charset="-122"/>
                <a:cs typeface="Plus Jakarta Sans" pitchFamily="34" charset="-120"/>
              </a:rPr>
              <a:t>[DRAFT] Fill the province on 36 order lines</a:t>
            </a:r>
            <a:endParaRPr lang="en-US" sz="1200" dirty="0"/>
          </a:p>
        </p:txBody>
      </p:sp>
      <p:sp>
        <p:nvSpPr>
          <p:cNvPr id="29" name="Text 24"/>
          <p:cNvSpPr txBox="1"/>
          <p:nvPr/>
        </p:nvSpPr>
        <p:spPr>
          <a:xfrm>
            <a:off x="4406900" y="4200525"/>
            <a:ext cx="2997200" cy="876300"/>
          </a:xfrm>
          <a:prstGeom prst="rect">
            <a:avLst/>
          </a:prstGeom>
          <a:noFill/>
          <a:ln/>
        </p:spPr>
        <p:txBody>
          <a:bodyPr wrap="square" lIns="0" tIns="0" rIns="0" bIns="0" rtlCol="0" anchor="t">
            <a:normAutofit/>
          </a:bodyPr>
          <a:lstStyle/>
          <a:p>
            <a:pPr indent="0" marL="0">
              <a:buNone/>
            </a:pPr>
            <a:r>
              <a:rPr lang="en-US" sz="950" dirty="0">
                <a:solidFill>
                  <a:srgbClr val="535353"/>
                </a:solidFill>
                <a:latin typeface="Plus Jakarta Sans" pitchFamily="34" charset="0"/>
                <a:ea typeface="Plus Jakarta Sans" pitchFamily="34" charset="-122"/>
                <a:cs typeface="Plus Jakarta Sans" pitchFamily="34" charset="-120"/>
              </a:rPr>
              <a:t>Rp1.36B of sales had no province (mostly Jan–Feb); the plan took it from the customer's other orders. Fix it at the source so the area split stays right.</a:t>
            </a:r>
            <a:endParaRPr lang="en-US" sz="950" dirty="0"/>
          </a:p>
        </p:txBody>
      </p:sp>
      <p:sp>
        <p:nvSpPr>
          <p:cNvPr id="30" name="Text 25"/>
          <p:cNvSpPr txBox="1"/>
          <p:nvPr/>
        </p:nvSpPr>
        <p:spPr>
          <a:xfrm>
            <a:off x="4406900" y="5153025"/>
            <a:ext cx="2997200" cy="228600"/>
          </a:xfrm>
          <a:prstGeom prst="rect">
            <a:avLst/>
          </a:prstGeom>
          <a:noFill/>
          <a:ln/>
        </p:spPr>
        <p:txBody>
          <a:bodyPr wrap="square" lIns="0" tIns="0" rIns="0" bIns="0" rtlCol="0" anchor="t"/>
          <a:lstStyle/>
          <a:p>
            <a:pPr indent="0" marL="0">
              <a:buNone/>
            </a:pPr>
            <a:r>
              <a:rPr lang="en-US" sz="900" b="1" dirty="0">
                <a:solidFill>
                  <a:srgbClr val="274E13"/>
                </a:solidFill>
                <a:latin typeface="Plus Jakarta Sans" pitchFamily="34" charset="0"/>
                <a:ea typeface="Plus Jakarta Sans" pitchFamily="34" charset="-122"/>
                <a:cs typeface="Plus Jakarta Sans" pitchFamily="34" charset="-120"/>
              </a:rPr>
              <a:t>Owner: [to be agreed]</a:t>
            </a:r>
            <a:pPr indent="0" marL="0">
              <a:buNone/>
            </a:pPr>
            <a:r>
              <a:rPr lang="en-US" sz="900" b="1" dirty="0">
                <a:solidFill>
                  <a:srgbClr val="9A6F00"/>
                </a:solidFill>
                <a:latin typeface="Plus Jakarta Sans" pitchFamily="34" charset="0"/>
                <a:ea typeface="Plus Jakarta Sans" pitchFamily="34" charset="-122"/>
                <a:cs typeface="Plus Jakarta Sans" pitchFamily="34" charset="-120"/>
              </a:rPr>
              <a:t>  ·  [date to be agreed]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35000"/>
            </a:srgbClr>
          </a:solidFill>
          <a:ln w="12700">
            <a:solidFill>
              <a:srgbClr val="000000">
                <a:alpha val="0"/>
              </a:srgbClr>
            </a:solidFill>
            <a:prstDash val="solid"/>
          </a:ln>
        </p:spPr>
      </p:sp>
      <p:pic>
        <p:nvPicPr>
          <p:cNvPr id="4" name="Image 1" descr="preencoded.png">    </p:cNvPr>
          <p:cNvPicPr>
            <a:picLocks noChangeAspect="1"/>
          </p:cNvPicPr>
          <p:nvPr/>
        </p:nvPicPr>
        <p:blipFill>
          <a:blip r:embed="rId2"/>
          <a:stretch>
            <a:fillRect/>
          </a:stretch>
        </p:blipFill>
        <p:spPr>
          <a:xfrm>
            <a:off x="628650" y="590550"/>
            <a:ext cx="2352675" cy="771525"/>
          </a:xfrm>
          <a:prstGeom prst="rect">
            <a:avLst/>
          </a:prstGeom>
        </p:spPr>
      </p:pic>
      <p:pic>
        <p:nvPicPr>
          <p:cNvPr id="5" name="Image 2" descr="preencoded.png">    </p:cNvPr>
          <p:cNvPicPr>
            <a:picLocks noChangeAspect="1"/>
          </p:cNvPicPr>
          <p:nvPr/>
        </p:nvPicPr>
        <p:blipFill>
          <a:blip r:embed="rId3"/>
          <a:stretch>
            <a:fillRect/>
          </a:stretch>
        </p:blipFill>
        <p:spPr>
          <a:xfrm>
            <a:off x="10420350" y="457200"/>
            <a:ext cx="1143000" cy="1143000"/>
          </a:xfrm>
          <a:prstGeom prst="rect">
            <a:avLst/>
          </a:prstGeom>
        </p:spPr>
      </p:pic>
      <p:sp>
        <p:nvSpPr>
          <p:cNvPr id="6" name="Text 1"/>
          <p:cNvSpPr txBox="1"/>
          <p:nvPr/>
        </p:nvSpPr>
        <p:spPr>
          <a:xfrm>
            <a:off x="0" y="2762250"/>
            <a:ext cx="12191695" cy="1005840"/>
          </a:xfrm>
          <a:prstGeom prst="rect">
            <a:avLst/>
          </a:prstGeom>
          <a:noFill/>
          <a:ln/>
        </p:spPr>
        <p:txBody>
          <a:bodyPr wrap="square" lIns="0" tIns="0" rIns="0" bIns="0" rtlCol="0" anchor="t"/>
          <a:lstStyle/>
          <a:p>
            <a:pPr algn="ctr" indent="0" marL="0">
              <a:buNone/>
            </a:pPr>
            <a:r>
              <a:rPr lang="en-US" sz="6000" b="1" dirty="0">
                <a:solidFill>
                  <a:srgbClr val="FFFFFF"/>
                </a:solidFill>
                <a:latin typeface="Plus Jakarta Sans" pitchFamily="34" charset="0"/>
                <a:ea typeface="Plus Jakarta Sans" pitchFamily="34" charset="-122"/>
                <a:cs typeface="Plus Jakarta Sans" pitchFamily="34" charset="-120"/>
              </a:rPr>
              <a:t>Thank You</a:t>
            </a:r>
            <a:endParaRPr lang="en-US" sz="6000" dirty="0"/>
          </a:p>
        </p:txBody>
      </p:sp>
      <p:sp>
        <p:nvSpPr>
          <p:cNvPr id="7" name="Text 2"/>
          <p:cNvSpPr txBox="1"/>
          <p:nvPr/>
        </p:nvSpPr>
        <p:spPr>
          <a:xfrm>
            <a:off x="0" y="3810000"/>
            <a:ext cx="12191695" cy="548640"/>
          </a:xfrm>
          <a:prstGeom prst="rect">
            <a:avLst/>
          </a:prstGeom>
          <a:noFill/>
          <a:ln/>
        </p:spPr>
        <p:txBody>
          <a:bodyPr wrap="square" lIns="0" tIns="0" rIns="0" bIns="0" rtlCol="0" anchor="t"/>
          <a:lstStyle/>
          <a:p>
            <a:pPr algn="ctr" indent="0" marL="0">
              <a:buNone/>
            </a:pPr>
            <a:r>
              <a:rPr lang="en-US" sz="2600" b="1" dirty="0">
                <a:solidFill>
                  <a:srgbClr val="F5D347"/>
                </a:solidFill>
                <a:latin typeface="Plus Jakarta Sans" pitchFamily="34" charset="0"/>
                <a:ea typeface="Plus Jakarta Sans" pitchFamily="34" charset="-122"/>
                <a:cs typeface="Plus Jakarta Sans" pitchFamily="34" charset="-120"/>
              </a:rPr>
              <a:t>#TerusTumbuh</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SawitPRO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Smallholder · Nov 2026 – Jan 2027</dc:title>
  <dc:subject>PptxGenJS Presentation</dc:subject>
  <dc:creator>PptxGenJS</dc:creator>
  <cp:lastModifiedBy>PptxGenJS</cp:lastModifiedBy>
  <cp:revision>1</cp:revision>
  <dcterms:created xsi:type="dcterms:W3CDTF">2026-10-14T03:26:34Z</dcterms:created>
  <dcterms:modified xsi:type="dcterms:W3CDTF">2026-10-14T03:26:34Z</dcterms:modified>
</cp:coreProperties>
</file>