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628650" y="590550"/>
            <a:ext cx="2352675" cy="771525"/>
          </a:xfrm>
          <a:prstGeom prst="rect">
            <a:avLst/>
          </a:prstGeom>
        </p:spPr>
      </p:pic>
      <p:sp>
        <p:nvSpPr>
          <p:cNvPr id="4" name="Shape 0"/>
          <p:cNvSpPr/>
          <p:nvPr/>
        </p:nvSpPr>
        <p:spPr>
          <a:xfrm>
            <a:off x="4743450" y="3448050"/>
            <a:ext cx="7448550" cy="2447925"/>
          </a:xfrm>
          <a:prstGeom prst="rect">
            <a:avLst/>
          </a:prstGeom>
          <a:solidFill>
            <a:srgbClr val="4A653B"/>
          </a:solidFill>
          <a:ln w="12700">
            <a:solidFill>
              <a:srgbClr val="4A653B"/>
            </a:solidFill>
            <a:prstDash val="solid"/>
          </a:ln>
        </p:spPr>
      </p:sp>
      <p:sp>
        <p:nvSpPr>
          <p:cNvPr id="5" name="Shape 1"/>
          <p:cNvSpPr/>
          <p:nvPr/>
        </p:nvSpPr>
        <p:spPr>
          <a:xfrm>
            <a:off x="3533775" y="3448050"/>
            <a:ext cx="2447925" cy="2447925"/>
          </a:xfrm>
          <a:prstGeom prst="ellipse">
            <a:avLst/>
          </a:prstGeom>
          <a:solidFill>
            <a:srgbClr val="4A653B"/>
          </a:solidFill>
          <a:ln w="12700">
            <a:solidFill>
              <a:srgbClr val="4A653B"/>
            </a:solidFill>
            <a:prstDash val="solid"/>
          </a:ln>
        </p:spPr>
      </p:sp>
      <p:pic>
        <p:nvPicPr>
          <p:cNvPr id="6" name="Image 2" descr="preencoded.png">    </p:cNvPr>
          <p:cNvPicPr>
            <a:picLocks noChangeAspect="1"/>
          </p:cNvPicPr>
          <p:nvPr/>
        </p:nvPicPr>
        <p:blipFill>
          <a:blip r:embed="rId3"/>
          <a:stretch>
            <a:fillRect/>
          </a:stretch>
        </p:blipFill>
        <p:spPr>
          <a:xfrm>
            <a:off x="3695700" y="3609975"/>
            <a:ext cx="2114550" cy="2114550"/>
          </a:xfrm>
          <a:prstGeom prst="rect">
            <a:avLst/>
          </a:prstGeom>
        </p:spPr>
      </p:pic>
      <p:sp>
        <p:nvSpPr>
          <p:cNvPr id="7" name="Text 2"/>
          <p:cNvSpPr txBox="1"/>
          <p:nvPr/>
        </p:nvSpPr>
        <p:spPr>
          <a:xfrm>
            <a:off x="6210300" y="3619500"/>
            <a:ext cx="5619750" cy="457200"/>
          </a:xfrm>
          <a:prstGeom prst="rect">
            <a:avLst/>
          </a:prstGeom>
          <a:noFill/>
          <a:ln/>
        </p:spPr>
        <p:txBody>
          <a:bodyPr wrap="square" lIns="0" tIns="0" rIns="0" bIns="0" rtlCol="0" anchor="t"/>
          <a:lstStyle/>
          <a:p>
            <a:pPr indent="0" marL="0">
              <a:buNone/>
            </a:pPr>
            <a:r>
              <a:rPr lang="en-US" sz="2600" b="1" dirty="0">
                <a:solidFill>
                  <a:srgbClr val="F5D347"/>
                </a:solidFill>
                <a:latin typeface="Plus Jakarta Sans" pitchFamily="34" charset="0"/>
                <a:ea typeface="Plus Jakarta Sans" pitchFamily="34" charset="-122"/>
                <a:cs typeface="Plus Jakarta Sans" pitchFamily="34" charset="-120"/>
              </a:rPr>
              <a:t>DO Pipeline</a:t>
            </a:r>
            <a:endParaRPr lang="en-US" sz="2600" dirty="0"/>
          </a:p>
        </p:txBody>
      </p:sp>
      <p:sp>
        <p:nvSpPr>
          <p:cNvPr id="8" name="Text 3"/>
          <p:cNvSpPr txBox="1"/>
          <p:nvPr/>
        </p:nvSpPr>
        <p:spPr>
          <a:xfrm>
            <a:off x="6210300" y="4095750"/>
            <a:ext cx="5619750" cy="1005840"/>
          </a:xfrm>
          <a:prstGeom prst="rect">
            <a:avLst/>
          </a:prstGeom>
          <a:noFill/>
          <a:ln/>
        </p:spPr>
        <p:txBody>
          <a:bodyPr wrap="square" lIns="0" tIns="0" rIns="0" bIns="0" rtlCol="0" anchor="t">
            <a:normAutofit/>
          </a:bodyPr>
          <a:lstStyle/>
          <a:p>
            <a:pPr indent="0" marL="0">
              <a:buNone/>
            </a:pPr>
            <a:r>
              <a:rPr lang="en-US" sz="3400" b="1" dirty="0">
                <a:solidFill>
                  <a:srgbClr val="FFFFFF"/>
                </a:solidFill>
                <a:latin typeface="Plus Jakarta Sans" pitchFamily="34" charset="0"/>
                <a:ea typeface="Plus Jakarta Sans" pitchFamily="34" charset="-122"/>
                <a:cs typeface="Plus Jakarta Sans" pitchFamily="34" charset="-120"/>
              </a:rPr>
              <a:t>Smallholder DO Leads, 5 Oct</a:t>
            </a:r>
            <a:endParaRPr lang="en-US" sz="3400" dirty="0"/>
          </a:p>
        </p:txBody>
      </p:sp>
      <p:sp>
        <p:nvSpPr>
          <p:cNvPr id="9" name="Text 4"/>
          <p:cNvSpPr txBox="1"/>
          <p:nvPr/>
        </p:nvSpPr>
        <p:spPr>
          <a:xfrm>
            <a:off x="6210300" y="6000750"/>
            <a:ext cx="5715000" cy="274320"/>
          </a:xfrm>
          <a:prstGeom prst="rect">
            <a:avLst/>
          </a:prstGeom>
          <a:noFill/>
          <a:ln/>
        </p:spPr>
        <p:txBody>
          <a:bodyPr wrap="square" lIns="0" tIns="0" rIns="0" bIns="0" rtlCol="0" anchor="t"/>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Status to 18 Oct 2026 · 1 DO lead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DO leads from the CRM · status to 18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2</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EXECUTIVE SUMMARY</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1 DO lead with 50 ha and 200 t of potential FFB; it is still COLD and at first outreach</a:t>
            </a:r>
            <a:endParaRPr lang="en-US" sz="2300" dirty="0"/>
          </a:p>
        </p:txBody>
      </p:sp>
      <p:sp>
        <p:nvSpPr>
          <p:cNvPr id="11" name="Shape 6"/>
          <p:cNvSpPr/>
          <p:nvPr/>
        </p:nvSpPr>
        <p:spPr>
          <a:xfrm>
            <a:off x="762000" y="1714500"/>
            <a:ext cx="2438400" cy="1123950"/>
          </a:xfrm>
          <a:prstGeom prst="roundRect">
            <a:avLst>
              <a:gd name="adj" fmla="val 9763"/>
            </a:avLst>
          </a:prstGeom>
          <a:solidFill>
            <a:srgbClr val="4A653B"/>
          </a:solidFill>
          <a:ln w="12700">
            <a:solidFill>
              <a:srgbClr val="4A653B"/>
            </a:solidFill>
            <a:prstDash val="solid"/>
          </a:ln>
        </p:spPr>
      </p:sp>
      <p:sp>
        <p:nvSpPr>
          <p:cNvPr id="12" name="Text 7"/>
          <p:cNvSpPr txBox="1"/>
          <p:nvPr/>
        </p:nvSpPr>
        <p:spPr>
          <a:xfrm>
            <a:off x="914400" y="1828800"/>
            <a:ext cx="2133600" cy="457200"/>
          </a:xfrm>
          <a:prstGeom prst="rect">
            <a:avLst/>
          </a:prstGeom>
          <a:noFill/>
          <a:ln/>
        </p:spPr>
        <p:txBody>
          <a:bodyPr wrap="square" lIns="0" tIns="0" rIns="0" bIns="0" rtlCol="0" anchor="t"/>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1</a:t>
            </a:r>
            <a:pPr indent="0" marL="0">
              <a:buNone/>
            </a:pPr>
            <a:endParaRPr lang="en-US" sz="2800" dirty="0"/>
          </a:p>
        </p:txBody>
      </p:sp>
      <p:sp>
        <p:nvSpPr>
          <p:cNvPr id="13" name="Text 8"/>
          <p:cNvSpPr txBox="1"/>
          <p:nvPr/>
        </p:nvSpPr>
        <p:spPr>
          <a:xfrm>
            <a:off x="914400" y="2247900"/>
            <a:ext cx="2133600" cy="533400"/>
          </a:xfrm>
          <a:prstGeom prst="rect">
            <a:avLst/>
          </a:prstGeom>
          <a:noFill/>
          <a:ln/>
        </p:spPr>
        <p:txBody>
          <a:bodyPr wrap="square" lIns="0" tIns="0" rIns="0" bIns="0" rtlCol="0" anchor="t">
            <a:normAutofit/>
          </a:bodyPr>
          <a:lstStyle/>
          <a:p>
            <a:pPr indent="0" marL="0">
              <a:buNone/>
            </a:pPr>
            <a:r>
              <a:rPr lang="en-US" sz="950" dirty="0">
                <a:solidFill>
                  <a:srgbClr val="E4ECDD"/>
                </a:solidFill>
                <a:latin typeface="Plus Jakarta Sans" pitchFamily="34" charset="0"/>
                <a:ea typeface="Plus Jakarta Sans" pitchFamily="34" charset="-122"/>
                <a:cs typeface="Plus Jakarta Sans" pitchFamily="34" charset="-120"/>
              </a:rPr>
              <a:t>DO lead in this export (IDs run to 22)</a:t>
            </a:r>
            <a:endParaRPr lang="en-US" sz="950" dirty="0"/>
          </a:p>
        </p:txBody>
      </p:sp>
      <p:sp>
        <p:nvSpPr>
          <p:cNvPr id="14" name="Shape 9"/>
          <p:cNvSpPr/>
          <p:nvPr/>
        </p:nvSpPr>
        <p:spPr>
          <a:xfrm>
            <a:off x="3371850" y="1714500"/>
            <a:ext cx="2438400" cy="1123950"/>
          </a:xfrm>
          <a:prstGeom prst="roundRect">
            <a:avLst>
              <a:gd name="adj" fmla="val 9763"/>
            </a:avLst>
          </a:prstGeom>
          <a:solidFill>
            <a:srgbClr val="FFFFFF"/>
          </a:solidFill>
          <a:ln w="12700">
            <a:solidFill>
              <a:srgbClr val="FFFFFF"/>
            </a:solidFill>
            <a:prstDash val="solid"/>
          </a:ln>
        </p:spPr>
      </p:sp>
      <p:sp>
        <p:nvSpPr>
          <p:cNvPr id="15" name="Text 10"/>
          <p:cNvSpPr txBox="1"/>
          <p:nvPr/>
        </p:nvSpPr>
        <p:spPr>
          <a:xfrm>
            <a:off x="3524250" y="1828800"/>
            <a:ext cx="213360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200</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 t</a:t>
            </a:r>
            <a:endParaRPr lang="en-US" sz="2800" dirty="0"/>
          </a:p>
        </p:txBody>
      </p:sp>
      <p:sp>
        <p:nvSpPr>
          <p:cNvPr id="16" name="Text 11"/>
          <p:cNvSpPr txBox="1"/>
          <p:nvPr/>
        </p:nvSpPr>
        <p:spPr>
          <a:xfrm>
            <a:off x="3524250" y="2247900"/>
            <a:ext cx="2133600" cy="5334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potential FFB across the leads</a:t>
            </a:r>
            <a:endParaRPr lang="en-US" sz="950" dirty="0"/>
          </a:p>
        </p:txBody>
      </p:sp>
      <p:sp>
        <p:nvSpPr>
          <p:cNvPr id="17" name="Shape 12"/>
          <p:cNvSpPr/>
          <p:nvPr/>
        </p:nvSpPr>
        <p:spPr>
          <a:xfrm>
            <a:off x="5981700" y="1714500"/>
            <a:ext cx="2438400" cy="1123950"/>
          </a:xfrm>
          <a:prstGeom prst="roundRect">
            <a:avLst>
              <a:gd name="adj" fmla="val 9763"/>
            </a:avLst>
          </a:prstGeom>
          <a:solidFill>
            <a:srgbClr val="FFFFFF"/>
          </a:solidFill>
          <a:ln w="12700">
            <a:solidFill>
              <a:srgbClr val="FFFFFF"/>
            </a:solidFill>
            <a:prstDash val="solid"/>
          </a:ln>
        </p:spPr>
      </p:sp>
      <p:sp>
        <p:nvSpPr>
          <p:cNvPr id="18" name="Text 13"/>
          <p:cNvSpPr txBox="1"/>
          <p:nvPr/>
        </p:nvSpPr>
        <p:spPr>
          <a:xfrm>
            <a:off x="6134100" y="1828800"/>
            <a:ext cx="213360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50</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 ha</a:t>
            </a:r>
            <a:endParaRPr lang="en-US" sz="2800" dirty="0"/>
          </a:p>
        </p:txBody>
      </p:sp>
      <p:sp>
        <p:nvSpPr>
          <p:cNvPr id="19" name="Text 14"/>
          <p:cNvSpPr txBox="1"/>
          <p:nvPr/>
        </p:nvSpPr>
        <p:spPr>
          <a:xfrm>
            <a:off x="6134100" y="2247900"/>
            <a:ext cx="2133600" cy="5334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area across the leads</a:t>
            </a:r>
            <a:endParaRPr lang="en-US" sz="950" dirty="0"/>
          </a:p>
        </p:txBody>
      </p:sp>
      <p:sp>
        <p:nvSpPr>
          <p:cNvPr id="20" name="Shape 15"/>
          <p:cNvSpPr/>
          <p:nvPr/>
        </p:nvSpPr>
        <p:spPr>
          <a:xfrm>
            <a:off x="8591550" y="1714500"/>
            <a:ext cx="2438400" cy="1123950"/>
          </a:xfrm>
          <a:prstGeom prst="roundRect">
            <a:avLst>
              <a:gd name="adj" fmla="val 9763"/>
            </a:avLst>
          </a:prstGeom>
          <a:solidFill>
            <a:srgbClr val="FFFFFF"/>
          </a:solidFill>
          <a:ln w="12700">
            <a:solidFill>
              <a:srgbClr val="FFFFFF"/>
            </a:solidFill>
            <a:prstDash val="solid"/>
          </a:ln>
        </p:spPr>
      </p:sp>
      <p:sp>
        <p:nvSpPr>
          <p:cNvPr id="21" name="Text 16"/>
          <p:cNvSpPr txBox="1"/>
          <p:nvPr/>
        </p:nvSpPr>
        <p:spPr>
          <a:xfrm>
            <a:off x="8743950" y="1828800"/>
            <a:ext cx="213360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0</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/1</a:t>
            </a:r>
            <a:endParaRPr lang="en-US" sz="2800" dirty="0"/>
          </a:p>
        </p:txBody>
      </p:sp>
      <p:sp>
        <p:nvSpPr>
          <p:cNvPr id="22" name="Text 17"/>
          <p:cNvSpPr txBox="1"/>
          <p:nvPr/>
        </p:nvSpPr>
        <p:spPr>
          <a:xfrm>
            <a:off x="8743950" y="2247900"/>
            <a:ext cx="2133600" cy="5334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HOT leads; 1 COLD, oldest 13 days</a:t>
            </a:r>
            <a:endParaRPr lang="en-US" sz="950" dirty="0"/>
          </a:p>
        </p:txBody>
      </p:sp>
      <p:sp>
        <p:nvSpPr>
          <p:cNvPr id="23" name="Shape 18"/>
          <p:cNvSpPr/>
          <p:nvPr/>
        </p:nvSpPr>
        <p:spPr>
          <a:xfrm>
            <a:off x="762000" y="3009900"/>
            <a:ext cx="6191250" cy="3105150"/>
          </a:xfrm>
          <a:prstGeom prst="roundRect">
            <a:avLst>
              <a:gd name="adj" fmla="val 3534"/>
            </a:avLst>
          </a:prstGeom>
          <a:solidFill>
            <a:srgbClr val="FFFFFF"/>
          </a:solidFill>
          <a:ln w="12700">
            <a:solidFill>
              <a:srgbClr val="FFFFFF"/>
            </a:solidFill>
            <a:prstDash val="solid"/>
          </a:ln>
        </p:spPr>
      </p:sp>
      <p:sp>
        <p:nvSpPr>
          <p:cNvPr id="24" name="Text 19"/>
          <p:cNvSpPr txBox="1"/>
          <p:nvPr/>
        </p:nvSpPr>
        <p:spPr>
          <a:xfrm>
            <a:off x="952500" y="3181350"/>
            <a:ext cx="5829300" cy="2781300"/>
          </a:xfrm>
          <a:prstGeom prst="rect">
            <a:avLst/>
          </a:prstGeom>
          <a:noFill/>
          <a:ln/>
        </p:spPr>
        <p:txBody>
          <a:bodyPr wrap="square" lIns="0" tIns="0" rIns="0" bIns="0" rtlCol="0" anchor="t">
            <a:normAutofit/>
          </a:bodyPr>
          <a:lstStyle/>
          <a:p>
            <a:pPr marL="342900" indent="-342900">
              <a:buSzPct val="100000"/>
              <a:buChar char="●"/>
            </a:pPr>
            <a:r>
              <a:rPr lang="en-US" sz="1300" b="1" dirty="0">
                <a:solidFill>
                  <a:srgbClr val="274E13"/>
                </a:solidFill>
                <a:latin typeface="Plus Jakarta Sans" pitchFamily="34" charset="0"/>
                <a:ea typeface="Plus Jakarta Sans" pitchFamily="34" charset="-122"/>
                <a:cs typeface="Plus Jakarta Sans" pitchFamily="34" charset="-120"/>
              </a:rPr>
              <a:t>This export looks partial</a:t>
            </a:r>
            <a:endParaRPr lang="en-US" sz="1300" dirty="0"/>
          </a:p>
          <a:p>
            <a:pPr lvl="1" indent="0" marL="0">
              <a:spcAft>
                <a:spcPts val="900"/>
              </a:spcAft>
              <a:buNone/>
            </a:pPr>
            <a:r>
              <a:rPr lang="en-US" sz="1050" dirty="0">
                <a:solidFill>
                  <a:srgbClr val="535353"/>
                </a:solidFill>
                <a:latin typeface="Plus Jakarta Sans" pitchFamily="34" charset="0"/>
                <a:ea typeface="Plus Jakarta Sans" pitchFamily="34" charset="-122"/>
                <a:cs typeface="Plus Jakarta Sans" pitchFamily="34" charset="-120"/>
              </a:rPr>
              <a:t>It has 1 lead but the lead IDs run to 22, so about 21 leads are missing. Re-export the full DO pipeline before reading trends from it.</a:t>
            </a:r>
            <a:endParaRPr lang="en-US" sz="1300" dirty="0"/>
          </a:p>
          <a:p>
            <a:pPr marL="342900" indent="-342900">
              <a:buSzPct val="100000"/>
              <a:buChar char="●"/>
            </a:pPr>
            <a:r>
              <a:rPr lang="en-US" sz="1300" b="1" dirty="0">
                <a:solidFill>
                  <a:srgbClr val="274E13"/>
                </a:solidFill>
                <a:latin typeface="Plus Jakarta Sans" pitchFamily="34" charset="0"/>
                <a:ea typeface="Plus Jakarta Sans" pitchFamily="34" charset="-122"/>
                <a:cs typeface="Plus Jakarta Sans" pitchFamily="34" charset="-120"/>
              </a:rPr>
              <a:t>No lead has moved past first contact</a:t>
            </a:r>
            <a:endParaRPr lang="en-US" sz="1300" dirty="0"/>
          </a:p>
          <a:p>
            <a:pPr lvl="1" indent="0" marL="0">
              <a:spcAft>
                <a:spcPts val="900"/>
              </a:spcAft>
              <a:buNone/>
            </a:pPr>
            <a:r>
              <a:rPr lang="en-US" sz="1050" dirty="0">
                <a:solidFill>
                  <a:srgbClr val="535353"/>
                </a:solidFill>
                <a:latin typeface="Plus Jakarta Sans" pitchFamily="34" charset="0"/>
                <a:ea typeface="Plus Jakarta Sans" pitchFamily="34" charset="-122"/>
                <a:cs typeface="Plus Jakarta Sans" pitchFamily="34" charset="-120"/>
              </a:rPr>
              <a:t>1 at First Outreach; status COLD 1. DOOP-022 is 13 days old.</a:t>
            </a:r>
            <a:endParaRPr lang="en-US" sz="1300" dirty="0"/>
          </a:p>
          <a:p>
            <a:pPr marL="342900" indent="-342900">
              <a:buSzPct val="100000"/>
              <a:buChar char="●"/>
            </a:pPr>
            <a:r>
              <a:rPr lang="en-US" sz="1300" b="1" dirty="0">
                <a:solidFill>
                  <a:srgbClr val="274E13"/>
                </a:solidFill>
                <a:latin typeface="Plus Jakarta Sans" pitchFamily="34" charset="0"/>
                <a:ea typeface="Plus Jakarta Sans" pitchFamily="34" charset="-122"/>
                <a:cs typeface="Plus Jakarta Sans" pitchFamily="34" charset="-120"/>
              </a:rPr>
              <a:t>Key fields are empty</a:t>
            </a:r>
            <a:endParaRPr lang="en-US" sz="1300" dirty="0"/>
          </a:p>
          <a:p>
            <a:pPr lvl="1" indent="0" marL="0">
              <a:spcAft>
                <a:spcPts val="900"/>
              </a:spcAft>
              <a:buNone/>
            </a:pPr>
            <a:r>
              <a:rPr lang="en-US" sz="1050" dirty="0">
                <a:solidFill>
                  <a:srgbClr val="535353"/>
                </a:solidFill>
                <a:latin typeface="Plus Jakarta Sans" pitchFamily="34" charset="0"/>
                <a:ea typeface="Plus Jakarta Sans" pitchFamily="34" charset="-122"/>
                <a:cs typeface="Plus Jakarta Sans" pitchFamily="34" charset="-120"/>
              </a:rPr>
              <a:t>Distance to the nearest mill (1 of 1), who they supply today (1 of 1), engagement detail (1 of 1), closing date (1 of 1). Without the distance to the mill and the current buyer the offer can't be priced.</a:t>
            </a:r>
            <a:endParaRPr lang="en-US" sz="1300" dirty="0"/>
          </a:p>
          <a:p>
            <a:pPr marL="342900" indent="-342900">
              <a:buSzPct val="100000"/>
              <a:buChar char="●"/>
            </a:pPr>
            <a:r>
              <a:rPr lang="en-US" sz="1300" b="1" dirty="0">
                <a:solidFill>
                  <a:srgbClr val="274E13"/>
                </a:solidFill>
                <a:latin typeface="Plus Jakarta Sans" pitchFamily="34" charset="0"/>
                <a:ea typeface="Plus Jakarta Sans" pitchFamily="34" charset="-122"/>
                <a:cs typeface="Plus Jakarta Sans" pitchFamily="34" charset="-120"/>
              </a:rPr>
              <a:t>Where the volume is</a:t>
            </a:r>
            <a:endParaRPr lang="en-US" sz="1300" dirty="0"/>
          </a:p>
          <a:p>
            <a:pPr lvl="1" indent="0" marL="0">
              <a:spcAft>
                <a:spcPts val="900"/>
              </a:spcAft>
              <a:buNone/>
            </a:pPr>
            <a:r>
              <a:rPr lang="en-US" sz="1050" dirty="0">
                <a:solidFill>
                  <a:srgbClr val="535353"/>
                </a:solidFill>
                <a:latin typeface="Plus Jakarta Sans" pitchFamily="34" charset="0"/>
                <a:ea typeface="Plus Jakarta Sans" pitchFamily="34" charset="-122"/>
                <a:cs typeface="Plus Jakarta Sans" pitchFamily="34" charset="-120"/>
              </a:rPr>
              <a:t>Asahan 1, nearest mill PGS; Gapoktan / Kelompok Tani 1, found through canvassing.</a:t>
            </a:r>
            <a:endParaRPr lang="en-US" sz="1300" dirty="0"/>
          </a:p>
        </p:txBody>
      </p:sp>
      <p:sp>
        <p:nvSpPr>
          <p:cNvPr id="25" name="Shape 20"/>
          <p:cNvSpPr/>
          <p:nvPr/>
        </p:nvSpPr>
        <p:spPr>
          <a:xfrm>
            <a:off x="7143750" y="3009900"/>
            <a:ext cx="3905250" cy="3105150"/>
          </a:xfrm>
          <a:prstGeom prst="roundRect">
            <a:avLst>
              <a:gd name="adj" fmla="val 3534"/>
            </a:avLst>
          </a:prstGeom>
          <a:solidFill>
            <a:srgbClr val="274E13"/>
          </a:solidFill>
          <a:ln w="12700">
            <a:solidFill>
              <a:srgbClr val="274E13"/>
            </a:solidFill>
            <a:prstDash val="solid"/>
          </a:ln>
        </p:spPr>
      </p:sp>
      <p:sp>
        <p:nvSpPr>
          <p:cNvPr id="26" name="Text 21"/>
          <p:cNvSpPr txBox="1"/>
          <p:nvPr/>
        </p:nvSpPr>
        <p:spPr>
          <a:xfrm>
            <a:off x="7372350" y="3219450"/>
            <a:ext cx="3448050" cy="2724150"/>
          </a:xfrm>
          <a:prstGeom prst="rect">
            <a:avLst/>
          </a:prstGeom>
          <a:noFill/>
          <a:ln/>
        </p:spPr>
        <p:txBody>
          <a:bodyPr wrap="square" lIns="0" tIns="0" rIns="0" bIns="0" rtlCol="0" anchor="t">
            <a:normAutofit/>
          </a:bodyPr>
          <a:lstStyle/>
          <a:p>
            <a:pPr indent="0" marL="0">
              <a:spcAft>
                <a:spcPts val="800"/>
              </a:spcAft>
              <a:buNone/>
            </a:pPr>
            <a:r>
              <a:rPr lang="en-US" sz="950" b="1" spc="200" kern="0" dirty="0">
                <a:solidFill>
                  <a:srgbClr val="F5D347"/>
                </a:solidFill>
                <a:latin typeface="Plus Jakarta Sans" pitchFamily="34" charset="0"/>
                <a:ea typeface="Plus Jakarta Sans" pitchFamily="34" charset="-122"/>
                <a:cs typeface="Plus Jakarta Sans" pitchFamily="34" charset="-120"/>
              </a:rPr>
              <a:t>BOTTOM LINE</a:t>
            </a:r>
            <a:endParaRPr lang="en-US" sz="950" dirty="0"/>
          </a:p>
          <a:p>
            <a:pPr indent="0" marL="0">
              <a:spcAft>
                <a:spcPts val="1000"/>
              </a:spcAft>
              <a:buNone/>
            </a:pPr>
            <a:r>
              <a:rPr lang="en-US" sz="1600" b="1" dirty="0">
                <a:solidFill>
                  <a:srgbClr val="FFFFFF"/>
                </a:solidFill>
                <a:latin typeface="Plus Jakarta Sans" pitchFamily="34" charset="0"/>
                <a:ea typeface="Plus Jakarta Sans" pitchFamily="34" charset="-122"/>
                <a:cs typeface="Plus Jakarta Sans" pitchFamily="34" charset="-120"/>
              </a:rPr>
              <a:t>Get the full DO pipeline export, then move the COLD leads past first outreach with the missing facts filled in.</a:t>
            </a:r>
            <a:endParaRPr lang="en-US" sz="950" dirty="0"/>
          </a:p>
          <a:p>
            <a:pPr indent="0" marL="0">
              <a:buNone/>
            </a:pPr>
            <a:r>
              <a:rPr lang="en-US" sz="1050" dirty="0">
                <a:solidFill>
                  <a:srgbClr val="D8E3CF"/>
                </a:solidFill>
                <a:latin typeface="Plus Jakarta Sans" pitchFamily="34" charset="0"/>
                <a:ea typeface="Plus Jakarta Sans" pitchFamily="34" charset="-122"/>
                <a:cs typeface="Plus Jakarta Sans" pitchFamily="34" charset="-120"/>
              </a:rPr>
              <a:t>Status as exported from the CRM; potential FFB and area are as entered by the PIC. Owner names and phone numbers are not shown.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DO leads from the CRM · status to 18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3</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DO PIPELINE · WHERE THE LEADS STAND</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1 DO lead: 1 COLD; 1 at first outreach</a:t>
            </a:r>
            <a:endParaRPr lang="en-US" sz="2300" dirty="0"/>
          </a:p>
        </p:txBody>
      </p:sp>
      <p:sp>
        <p:nvSpPr>
          <p:cNvPr id="11" name="Shape 6"/>
          <p:cNvSpPr/>
          <p:nvPr/>
        </p:nvSpPr>
        <p:spPr>
          <a:xfrm>
            <a:off x="762000" y="1714500"/>
            <a:ext cx="5067300" cy="3714750"/>
          </a:xfrm>
          <a:prstGeom prst="roundRect">
            <a:avLst>
              <a:gd name="adj" fmla="val 2954"/>
            </a:avLst>
          </a:prstGeom>
          <a:solidFill>
            <a:srgbClr val="FFFFFF"/>
          </a:solidFill>
          <a:ln w="12700">
            <a:solidFill>
              <a:srgbClr val="FFFFFF"/>
            </a:solidFill>
            <a:prstDash val="solid"/>
          </a:ln>
        </p:spPr>
      </p:sp>
      <p:sp>
        <p:nvSpPr>
          <p:cNvPr id="12" name="Text 7"/>
          <p:cNvSpPr txBox="1"/>
          <p:nvPr/>
        </p:nvSpPr>
        <p:spPr>
          <a:xfrm>
            <a:off x="952500" y="1866900"/>
            <a:ext cx="468630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Leads by status</a:t>
            </a:r>
            <a:endParaRPr lang="en-US" sz="1300" dirty="0"/>
          </a:p>
        </p:txBody>
      </p:sp>
      <p:sp>
        <p:nvSpPr>
          <p:cNvPr id="13" name="Text 8"/>
          <p:cNvSpPr txBox="1"/>
          <p:nvPr/>
        </p:nvSpPr>
        <p:spPr>
          <a:xfrm>
            <a:off x="952500" y="2095500"/>
            <a:ext cx="468630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Potential FFB (t) at the right</a:t>
            </a:r>
            <a:endParaRPr lang="en-US" sz="950" dirty="0"/>
          </a:p>
        </p:txBody>
      </p:sp>
      <p:sp>
        <p:nvSpPr>
          <p:cNvPr id="14" name="Text 9"/>
          <p:cNvSpPr txBox="1"/>
          <p:nvPr/>
        </p:nvSpPr>
        <p:spPr>
          <a:xfrm>
            <a:off x="971550" y="2381250"/>
            <a:ext cx="4046220"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COLD</a:t>
            </a:r>
            <a:endParaRPr lang="en-US" sz="940" dirty="0"/>
          </a:p>
        </p:txBody>
      </p:sp>
      <p:sp>
        <p:nvSpPr>
          <p:cNvPr id="15" name="Text 10"/>
          <p:cNvSpPr txBox="1"/>
          <p:nvPr/>
        </p:nvSpPr>
        <p:spPr>
          <a:xfrm>
            <a:off x="5514975" y="2381250"/>
            <a:ext cx="10477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a:t>
            </a:r>
            <a:endParaRPr lang="en-US" sz="940" dirty="0"/>
          </a:p>
        </p:txBody>
      </p:sp>
      <p:sp>
        <p:nvSpPr>
          <p:cNvPr id="16" name="Text 11"/>
          <p:cNvSpPr txBox="1"/>
          <p:nvPr/>
        </p:nvSpPr>
        <p:spPr>
          <a:xfrm>
            <a:off x="5074920" y="2381250"/>
            <a:ext cx="363855"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200 t</a:t>
            </a:r>
            <a:endParaRPr lang="en-US" sz="860" dirty="0"/>
          </a:p>
        </p:txBody>
      </p:sp>
      <p:sp>
        <p:nvSpPr>
          <p:cNvPr id="17" name="Shape 12"/>
          <p:cNvSpPr/>
          <p:nvPr/>
        </p:nvSpPr>
        <p:spPr>
          <a:xfrm>
            <a:off x="971550" y="2667000"/>
            <a:ext cx="4648200" cy="114300"/>
          </a:xfrm>
          <a:prstGeom prst="roundRect">
            <a:avLst>
              <a:gd name="adj" fmla="val 25000"/>
            </a:avLst>
          </a:prstGeom>
          <a:solidFill>
            <a:srgbClr val="E9EDE5"/>
          </a:solidFill>
          <a:ln w="12700">
            <a:solidFill>
              <a:srgbClr val="E9EDE5"/>
            </a:solidFill>
            <a:prstDash val="solid"/>
          </a:ln>
        </p:spPr>
      </p:sp>
      <p:sp>
        <p:nvSpPr>
          <p:cNvPr id="18" name="Shape 13"/>
          <p:cNvSpPr/>
          <p:nvPr/>
        </p:nvSpPr>
        <p:spPr>
          <a:xfrm>
            <a:off x="971550" y="2667000"/>
            <a:ext cx="4648200" cy="114300"/>
          </a:xfrm>
          <a:prstGeom prst="roundRect">
            <a:avLst>
              <a:gd name="adj" fmla="val 25000"/>
            </a:avLst>
          </a:prstGeom>
          <a:solidFill>
            <a:srgbClr val="5B7F95"/>
          </a:solidFill>
          <a:ln w="12700">
            <a:solidFill>
              <a:srgbClr val="5B7F95"/>
            </a:solidFill>
            <a:prstDash val="solid"/>
          </a:ln>
        </p:spPr>
      </p:sp>
      <p:sp>
        <p:nvSpPr>
          <p:cNvPr id="19" name="Shape 14"/>
          <p:cNvSpPr/>
          <p:nvPr/>
        </p:nvSpPr>
        <p:spPr>
          <a:xfrm>
            <a:off x="5981700" y="1714500"/>
            <a:ext cx="5067300" cy="3714750"/>
          </a:xfrm>
          <a:prstGeom prst="roundRect">
            <a:avLst>
              <a:gd name="adj" fmla="val 2954"/>
            </a:avLst>
          </a:prstGeom>
          <a:solidFill>
            <a:srgbClr val="FFFFFF"/>
          </a:solidFill>
          <a:ln w="12700">
            <a:solidFill>
              <a:srgbClr val="FFFFFF"/>
            </a:solidFill>
            <a:prstDash val="solid"/>
          </a:ln>
        </p:spPr>
      </p:sp>
      <p:sp>
        <p:nvSpPr>
          <p:cNvPr id="20" name="Text 15"/>
          <p:cNvSpPr txBox="1"/>
          <p:nvPr/>
        </p:nvSpPr>
        <p:spPr>
          <a:xfrm>
            <a:off x="6172200" y="1866900"/>
            <a:ext cx="468630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Leads by progress stage</a:t>
            </a:r>
            <a:endParaRPr lang="en-US" sz="1300" dirty="0"/>
          </a:p>
        </p:txBody>
      </p:sp>
      <p:sp>
        <p:nvSpPr>
          <p:cNvPr id="21" name="Text 16"/>
          <p:cNvSpPr txBox="1"/>
          <p:nvPr/>
        </p:nvSpPr>
        <p:spPr>
          <a:xfrm>
            <a:off x="6172200" y="2095500"/>
            <a:ext cx="468630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Area (ha) at the right</a:t>
            </a:r>
            <a:endParaRPr lang="en-US" sz="950" dirty="0"/>
          </a:p>
        </p:txBody>
      </p:sp>
      <p:sp>
        <p:nvSpPr>
          <p:cNvPr id="22" name="Text 17"/>
          <p:cNvSpPr txBox="1"/>
          <p:nvPr/>
        </p:nvSpPr>
        <p:spPr>
          <a:xfrm>
            <a:off x="6191250" y="2381250"/>
            <a:ext cx="4046220"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First Outreach</a:t>
            </a:r>
            <a:endParaRPr lang="en-US" sz="940" dirty="0"/>
          </a:p>
        </p:txBody>
      </p:sp>
      <p:sp>
        <p:nvSpPr>
          <p:cNvPr id="23" name="Text 18"/>
          <p:cNvSpPr txBox="1"/>
          <p:nvPr/>
        </p:nvSpPr>
        <p:spPr>
          <a:xfrm>
            <a:off x="10734675" y="2381250"/>
            <a:ext cx="10477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a:t>
            </a:r>
            <a:endParaRPr lang="en-US" sz="940" dirty="0"/>
          </a:p>
        </p:txBody>
      </p:sp>
      <p:sp>
        <p:nvSpPr>
          <p:cNvPr id="24" name="Text 19"/>
          <p:cNvSpPr txBox="1"/>
          <p:nvPr/>
        </p:nvSpPr>
        <p:spPr>
          <a:xfrm>
            <a:off x="10294620" y="2381250"/>
            <a:ext cx="363855"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50 ha</a:t>
            </a:r>
            <a:endParaRPr lang="en-US" sz="860" dirty="0"/>
          </a:p>
        </p:txBody>
      </p:sp>
      <p:sp>
        <p:nvSpPr>
          <p:cNvPr id="25" name="Shape 20"/>
          <p:cNvSpPr/>
          <p:nvPr/>
        </p:nvSpPr>
        <p:spPr>
          <a:xfrm>
            <a:off x="6191250" y="2667000"/>
            <a:ext cx="4648200" cy="114300"/>
          </a:xfrm>
          <a:prstGeom prst="roundRect">
            <a:avLst>
              <a:gd name="adj" fmla="val 25000"/>
            </a:avLst>
          </a:prstGeom>
          <a:solidFill>
            <a:srgbClr val="E9EDE5"/>
          </a:solidFill>
          <a:ln w="12700">
            <a:solidFill>
              <a:srgbClr val="E9EDE5"/>
            </a:solidFill>
            <a:prstDash val="solid"/>
          </a:ln>
        </p:spPr>
      </p:sp>
      <p:sp>
        <p:nvSpPr>
          <p:cNvPr id="26" name="Shape 21"/>
          <p:cNvSpPr/>
          <p:nvPr/>
        </p:nvSpPr>
        <p:spPr>
          <a:xfrm>
            <a:off x="6191250" y="2667000"/>
            <a:ext cx="4648200" cy="114300"/>
          </a:xfrm>
          <a:prstGeom prst="roundRect">
            <a:avLst>
              <a:gd name="adj" fmla="val 25000"/>
            </a:avLst>
          </a:prstGeom>
          <a:solidFill>
            <a:srgbClr val="3E7B27"/>
          </a:solidFill>
          <a:ln w="12700">
            <a:solidFill>
              <a:srgbClr val="3E7B27"/>
            </a:solidFill>
            <a:prstDash val="solid"/>
          </a:ln>
        </p:spPr>
      </p:sp>
      <p:sp>
        <p:nvSpPr>
          <p:cNvPr id="27" name="Shape 22"/>
          <p:cNvSpPr/>
          <p:nvPr/>
        </p:nvSpPr>
        <p:spPr>
          <a:xfrm>
            <a:off x="762000" y="5562600"/>
            <a:ext cx="10287000" cy="552450"/>
          </a:xfrm>
          <a:prstGeom prst="roundRect">
            <a:avLst>
              <a:gd name="adj" fmla="val 19862"/>
            </a:avLst>
          </a:prstGeom>
          <a:solidFill>
            <a:srgbClr val="FBEFC4"/>
          </a:solidFill>
          <a:ln w="12700">
            <a:solidFill>
              <a:srgbClr val="FBEFC4"/>
            </a:solidFill>
            <a:prstDash val="solid"/>
          </a:ln>
        </p:spPr>
      </p:sp>
      <p:sp>
        <p:nvSpPr>
          <p:cNvPr id="28" name="Text 23"/>
          <p:cNvSpPr txBox="1"/>
          <p:nvPr/>
        </p:nvSpPr>
        <p:spPr>
          <a:xfrm>
            <a:off x="933450" y="5648325"/>
            <a:ext cx="9944100" cy="38100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Size: 50 ha and 200 t of potential FFB across 1 lead.</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Age: the oldest open lead (DOOP-022) was created 5 Oct, 13 days ago, and is still COLD at first outreach.</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DO leads from the CRM · status to 18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4</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DO PIPELINE · WHO AND WHERE</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Sazali Wandana 1; Asahan 1; nearest mill PGS</a:t>
            </a:r>
            <a:endParaRPr lang="en-US" sz="2300" dirty="0"/>
          </a:p>
        </p:txBody>
      </p:sp>
      <p:sp>
        <p:nvSpPr>
          <p:cNvPr id="11" name="Shape 6"/>
          <p:cNvSpPr/>
          <p:nvPr/>
        </p:nvSpPr>
        <p:spPr>
          <a:xfrm>
            <a:off x="762000" y="1714500"/>
            <a:ext cx="3327400" cy="2133600"/>
          </a:xfrm>
          <a:prstGeom prst="roundRect">
            <a:avLst>
              <a:gd name="adj" fmla="val 5143"/>
            </a:avLst>
          </a:prstGeom>
          <a:solidFill>
            <a:srgbClr val="FFFFFF"/>
          </a:solidFill>
          <a:ln w="12700">
            <a:solidFill>
              <a:srgbClr val="FFFFFF"/>
            </a:solidFill>
            <a:prstDash val="solid"/>
          </a:ln>
        </p:spPr>
      </p:sp>
      <p:sp>
        <p:nvSpPr>
          <p:cNvPr id="12" name="Text 7"/>
          <p:cNvSpPr txBox="1"/>
          <p:nvPr/>
        </p:nvSpPr>
        <p:spPr>
          <a:xfrm>
            <a:off x="952500" y="1866900"/>
            <a:ext cx="294640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By PIC</a:t>
            </a:r>
            <a:endParaRPr lang="en-US" sz="1300" dirty="0"/>
          </a:p>
        </p:txBody>
      </p:sp>
      <p:sp>
        <p:nvSpPr>
          <p:cNvPr id="13" name="Text 8"/>
          <p:cNvSpPr txBox="1"/>
          <p:nvPr/>
        </p:nvSpPr>
        <p:spPr>
          <a:xfrm>
            <a:off x="952500" y="2095500"/>
            <a:ext cx="294640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Leads per PIC</a:t>
            </a:r>
            <a:endParaRPr lang="en-US" sz="950" dirty="0"/>
          </a:p>
        </p:txBody>
      </p:sp>
      <p:sp>
        <p:nvSpPr>
          <p:cNvPr id="14" name="Text 9"/>
          <p:cNvSpPr txBox="1"/>
          <p:nvPr/>
        </p:nvSpPr>
        <p:spPr>
          <a:xfrm>
            <a:off x="971550" y="2381250"/>
            <a:ext cx="2746375" cy="22098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Sazali Wandana</a:t>
            </a:r>
            <a:endParaRPr lang="en-US" sz="940" dirty="0"/>
          </a:p>
        </p:txBody>
      </p:sp>
      <p:sp>
        <p:nvSpPr>
          <p:cNvPr id="15" name="Text 10"/>
          <p:cNvSpPr txBox="1"/>
          <p:nvPr/>
        </p:nvSpPr>
        <p:spPr>
          <a:xfrm>
            <a:off x="3775075" y="2381250"/>
            <a:ext cx="104775" cy="22098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a:t>
            </a:r>
            <a:endParaRPr lang="en-US" sz="940" dirty="0"/>
          </a:p>
        </p:txBody>
      </p:sp>
      <p:sp>
        <p:nvSpPr>
          <p:cNvPr id="16" name="Shape 11"/>
          <p:cNvSpPr/>
          <p:nvPr/>
        </p:nvSpPr>
        <p:spPr>
          <a:xfrm>
            <a:off x="971550" y="2621280"/>
            <a:ext cx="2908300" cy="102870"/>
          </a:xfrm>
          <a:prstGeom prst="roundRect">
            <a:avLst>
              <a:gd name="adj" fmla="val 27778"/>
            </a:avLst>
          </a:prstGeom>
          <a:solidFill>
            <a:srgbClr val="E9EDE5"/>
          </a:solidFill>
          <a:ln w="12700">
            <a:solidFill>
              <a:srgbClr val="E9EDE5"/>
            </a:solidFill>
            <a:prstDash val="solid"/>
          </a:ln>
        </p:spPr>
      </p:sp>
      <p:sp>
        <p:nvSpPr>
          <p:cNvPr id="17" name="Shape 12"/>
          <p:cNvSpPr/>
          <p:nvPr/>
        </p:nvSpPr>
        <p:spPr>
          <a:xfrm>
            <a:off x="971550" y="2621280"/>
            <a:ext cx="2908300" cy="102870"/>
          </a:xfrm>
          <a:prstGeom prst="roundRect">
            <a:avLst>
              <a:gd name="adj" fmla="val 27778"/>
            </a:avLst>
          </a:prstGeom>
          <a:solidFill>
            <a:srgbClr val="3E7B27"/>
          </a:solidFill>
          <a:ln w="12700">
            <a:solidFill>
              <a:srgbClr val="3E7B27"/>
            </a:solidFill>
            <a:prstDash val="solid"/>
          </a:ln>
        </p:spPr>
      </p:sp>
      <p:sp>
        <p:nvSpPr>
          <p:cNvPr id="18" name="Shape 13"/>
          <p:cNvSpPr/>
          <p:nvPr/>
        </p:nvSpPr>
        <p:spPr>
          <a:xfrm>
            <a:off x="4241800" y="1714500"/>
            <a:ext cx="3327400" cy="2133600"/>
          </a:xfrm>
          <a:prstGeom prst="roundRect">
            <a:avLst>
              <a:gd name="adj" fmla="val 5143"/>
            </a:avLst>
          </a:prstGeom>
          <a:solidFill>
            <a:srgbClr val="FFFFFF"/>
          </a:solidFill>
          <a:ln w="12700">
            <a:solidFill>
              <a:srgbClr val="FFFFFF"/>
            </a:solidFill>
            <a:prstDash val="solid"/>
          </a:ln>
        </p:spPr>
      </p:sp>
      <p:sp>
        <p:nvSpPr>
          <p:cNvPr id="19" name="Text 14"/>
          <p:cNvSpPr txBox="1"/>
          <p:nvPr/>
        </p:nvSpPr>
        <p:spPr>
          <a:xfrm>
            <a:off x="4432300" y="1866900"/>
            <a:ext cx="294640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By regency</a:t>
            </a:r>
            <a:endParaRPr lang="en-US" sz="1300" dirty="0"/>
          </a:p>
        </p:txBody>
      </p:sp>
      <p:sp>
        <p:nvSpPr>
          <p:cNvPr id="20" name="Text 15"/>
          <p:cNvSpPr txBox="1"/>
          <p:nvPr/>
        </p:nvSpPr>
        <p:spPr>
          <a:xfrm>
            <a:off x="4432300" y="2095500"/>
            <a:ext cx="294640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Sumatera Utara</a:t>
            </a:r>
            <a:endParaRPr lang="en-US" sz="950" dirty="0"/>
          </a:p>
        </p:txBody>
      </p:sp>
      <p:sp>
        <p:nvSpPr>
          <p:cNvPr id="21" name="Text 16"/>
          <p:cNvSpPr txBox="1"/>
          <p:nvPr/>
        </p:nvSpPr>
        <p:spPr>
          <a:xfrm>
            <a:off x="4451350" y="2381250"/>
            <a:ext cx="2746375" cy="22098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Asahan</a:t>
            </a:r>
            <a:endParaRPr lang="en-US" sz="940" dirty="0"/>
          </a:p>
        </p:txBody>
      </p:sp>
      <p:sp>
        <p:nvSpPr>
          <p:cNvPr id="22" name="Text 17"/>
          <p:cNvSpPr txBox="1"/>
          <p:nvPr/>
        </p:nvSpPr>
        <p:spPr>
          <a:xfrm>
            <a:off x="7254875" y="2381250"/>
            <a:ext cx="104775" cy="22098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a:t>
            </a:r>
            <a:endParaRPr lang="en-US" sz="940" dirty="0"/>
          </a:p>
        </p:txBody>
      </p:sp>
      <p:sp>
        <p:nvSpPr>
          <p:cNvPr id="23" name="Shape 18"/>
          <p:cNvSpPr/>
          <p:nvPr/>
        </p:nvSpPr>
        <p:spPr>
          <a:xfrm>
            <a:off x="4451350" y="2621280"/>
            <a:ext cx="2908300" cy="102870"/>
          </a:xfrm>
          <a:prstGeom prst="roundRect">
            <a:avLst>
              <a:gd name="adj" fmla="val 27778"/>
            </a:avLst>
          </a:prstGeom>
          <a:solidFill>
            <a:srgbClr val="E9EDE5"/>
          </a:solidFill>
          <a:ln w="12700">
            <a:solidFill>
              <a:srgbClr val="E9EDE5"/>
            </a:solidFill>
            <a:prstDash val="solid"/>
          </a:ln>
        </p:spPr>
      </p:sp>
      <p:sp>
        <p:nvSpPr>
          <p:cNvPr id="24" name="Shape 19"/>
          <p:cNvSpPr/>
          <p:nvPr/>
        </p:nvSpPr>
        <p:spPr>
          <a:xfrm>
            <a:off x="4451350" y="2621280"/>
            <a:ext cx="2908300" cy="102870"/>
          </a:xfrm>
          <a:prstGeom prst="roundRect">
            <a:avLst>
              <a:gd name="adj" fmla="val 27778"/>
            </a:avLst>
          </a:prstGeom>
          <a:solidFill>
            <a:srgbClr val="3E7B27"/>
          </a:solidFill>
          <a:ln w="12700">
            <a:solidFill>
              <a:srgbClr val="3E7B27"/>
            </a:solidFill>
            <a:prstDash val="solid"/>
          </a:ln>
        </p:spPr>
      </p:sp>
      <p:sp>
        <p:nvSpPr>
          <p:cNvPr id="25" name="Shape 20"/>
          <p:cNvSpPr/>
          <p:nvPr/>
        </p:nvSpPr>
        <p:spPr>
          <a:xfrm>
            <a:off x="7721600" y="1714500"/>
            <a:ext cx="3327400" cy="2133600"/>
          </a:xfrm>
          <a:prstGeom prst="roundRect">
            <a:avLst>
              <a:gd name="adj" fmla="val 5143"/>
            </a:avLst>
          </a:prstGeom>
          <a:solidFill>
            <a:srgbClr val="FFFFFF"/>
          </a:solidFill>
          <a:ln w="12700">
            <a:solidFill>
              <a:srgbClr val="FFFFFF"/>
            </a:solidFill>
            <a:prstDash val="solid"/>
          </a:ln>
        </p:spPr>
      </p:sp>
      <p:sp>
        <p:nvSpPr>
          <p:cNvPr id="26" name="Text 21"/>
          <p:cNvSpPr txBox="1"/>
          <p:nvPr/>
        </p:nvSpPr>
        <p:spPr>
          <a:xfrm>
            <a:off x="7912100" y="1866900"/>
            <a:ext cx="294640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By nearest mill</a:t>
            </a:r>
            <a:endParaRPr lang="en-US" sz="1300" dirty="0"/>
          </a:p>
        </p:txBody>
      </p:sp>
      <p:sp>
        <p:nvSpPr>
          <p:cNvPr id="27" name="Text 22"/>
          <p:cNvSpPr txBox="1"/>
          <p:nvPr/>
        </p:nvSpPr>
        <p:spPr>
          <a:xfrm>
            <a:off x="7912100" y="2095500"/>
            <a:ext cx="294640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Mill closest to the DO</a:t>
            </a:r>
            <a:endParaRPr lang="en-US" sz="950" dirty="0"/>
          </a:p>
        </p:txBody>
      </p:sp>
      <p:sp>
        <p:nvSpPr>
          <p:cNvPr id="28" name="Text 23"/>
          <p:cNvSpPr txBox="1"/>
          <p:nvPr/>
        </p:nvSpPr>
        <p:spPr>
          <a:xfrm>
            <a:off x="7931150" y="2381250"/>
            <a:ext cx="2746375" cy="22098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PGS</a:t>
            </a:r>
            <a:endParaRPr lang="en-US" sz="940" dirty="0"/>
          </a:p>
        </p:txBody>
      </p:sp>
      <p:sp>
        <p:nvSpPr>
          <p:cNvPr id="29" name="Text 24"/>
          <p:cNvSpPr txBox="1"/>
          <p:nvPr/>
        </p:nvSpPr>
        <p:spPr>
          <a:xfrm>
            <a:off x="10734675" y="2381250"/>
            <a:ext cx="104775" cy="22098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a:t>
            </a:r>
            <a:endParaRPr lang="en-US" sz="940" dirty="0"/>
          </a:p>
        </p:txBody>
      </p:sp>
      <p:sp>
        <p:nvSpPr>
          <p:cNvPr id="30" name="Shape 25"/>
          <p:cNvSpPr/>
          <p:nvPr/>
        </p:nvSpPr>
        <p:spPr>
          <a:xfrm>
            <a:off x="7931150" y="2621280"/>
            <a:ext cx="2908300" cy="102870"/>
          </a:xfrm>
          <a:prstGeom prst="roundRect">
            <a:avLst>
              <a:gd name="adj" fmla="val 27778"/>
            </a:avLst>
          </a:prstGeom>
          <a:solidFill>
            <a:srgbClr val="E9EDE5"/>
          </a:solidFill>
          <a:ln w="12700">
            <a:solidFill>
              <a:srgbClr val="E9EDE5"/>
            </a:solidFill>
            <a:prstDash val="solid"/>
          </a:ln>
        </p:spPr>
      </p:sp>
      <p:sp>
        <p:nvSpPr>
          <p:cNvPr id="31" name="Shape 26"/>
          <p:cNvSpPr/>
          <p:nvPr/>
        </p:nvSpPr>
        <p:spPr>
          <a:xfrm>
            <a:off x="7931150" y="2621280"/>
            <a:ext cx="2908300" cy="102870"/>
          </a:xfrm>
          <a:prstGeom prst="roundRect">
            <a:avLst>
              <a:gd name="adj" fmla="val 27778"/>
            </a:avLst>
          </a:prstGeom>
          <a:solidFill>
            <a:srgbClr val="3E7B27"/>
          </a:solidFill>
          <a:ln w="12700">
            <a:solidFill>
              <a:srgbClr val="3E7B27"/>
            </a:solidFill>
            <a:prstDash val="solid"/>
          </a:ln>
        </p:spPr>
      </p:sp>
      <p:sp>
        <p:nvSpPr>
          <p:cNvPr id="32" name="Shape 27"/>
          <p:cNvSpPr/>
          <p:nvPr/>
        </p:nvSpPr>
        <p:spPr>
          <a:xfrm>
            <a:off x="762000" y="3981450"/>
            <a:ext cx="3327400" cy="2133600"/>
          </a:xfrm>
          <a:prstGeom prst="roundRect">
            <a:avLst>
              <a:gd name="adj" fmla="val 5143"/>
            </a:avLst>
          </a:prstGeom>
          <a:solidFill>
            <a:srgbClr val="FFFFFF"/>
          </a:solidFill>
          <a:ln w="12700">
            <a:solidFill>
              <a:srgbClr val="FFFFFF"/>
            </a:solidFill>
            <a:prstDash val="solid"/>
          </a:ln>
        </p:spPr>
      </p:sp>
      <p:sp>
        <p:nvSpPr>
          <p:cNvPr id="33" name="Text 28"/>
          <p:cNvSpPr txBox="1"/>
          <p:nvPr/>
        </p:nvSpPr>
        <p:spPr>
          <a:xfrm>
            <a:off x="952500" y="4133850"/>
            <a:ext cx="294640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By lead source</a:t>
            </a:r>
            <a:endParaRPr lang="en-US" sz="1300" dirty="0"/>
          </a:p>
        </p:txBody>
      </p:sp>
      <p:sp>
        <p:nvSpPr>
          <p:cNvPr id="34" name="Text 29"/>
          <p:cNvSpPr txBox="1"/>
          <p:nvPr/>
        </p:nvSpPr>
        <p:spPr>
          <a:xfrm>
            <a:off x="952500" y="4362450"/>
            <a:ext cx="294640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How the lead was found</a:t>
            </a:r>
            <a:endParaRPr lang="en-US" sz="950" dirty="0"/>
          </a:p>
        </p:txBody>
      </p:sp>
      <p:sp>
        <p:nvSpPr>
          <p:cNvPr id="35" name="Text 30"/>
          <p:cNvSpPr txBox="1"/>
          <p:nvPr/>
        </p:nvSpPr>
        <p:spPr>
          <a:xfrm>
            <a:off x="971550" y="4648200"/>
            <a:ext cx="2746375" cy="22098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Canvassing</a:t>
            </a:r>
            <a:endParaRPr lang="en-US" sz="940" dirty="0"/>
          </a:p>
        </p:txBody>
      </p:sp>
      <p:sp>
        <p:nvSpPr>
          <p:cNvPr id="36" name="Text 31"/>
          <p:cNvSpPr txBox="1"/>
          <p:nvPr/>
        </p:nvSpPr>
        <p:spPr>
          <a:xfrm>
            <a:off x="3775075" y="4648200"/>
            <a:ext cx="104775" cy="22098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a:t>
            </a:r>
            <a:endParaRPr lang="en-US" sz="940" dirty="0"/>
          </a:p>
        </p:txBody>
      </p:sp>
      <p:sp>
        <p:nvSpPr>
          <p:cNvPr id="37" name="Shape 32"/>
          <p:cNvSpPr/>
          <p:nvPr/>
        </p:nvSpPr>
        <p:spPr>
          <a:xfrm>
            <a:off x="971550" y="4888230"/>
            <a:ext cx="2908300" cy="102870"/>
          </a:xfrm>
          <a:prstGeom prst="roundRect">
            <a:avLst>
              <a:gd name="adj" fmla="val 27778"/>
            </a:avLst>
          </a:prstGeom>
          <a:solidFill>
            <a:srgbClr val="E9EDE5"/>
          </a:solidFill>
          <a:ln w="12700">
            <a:solidFill>
              <a:srgbClr val="E9EDE5"/>
            </a:solidFill>
            <a:prstDash val="solid"/>
          </a:ln>
        </p:spPr>
      </p:sp>
      <p:sp>
        <p:nvSpPr>
          <p:cNvPr id="38" name="Shape 33"/>
          <p:cNvSpPr/>
          <p:nvPr/>
        </p:nvSpPr>
        <p:spPr>
          <a:xfrm>
            <a:off x="971550" y="4888230"/>
            <a:ext cx="2908300" cy="102870"/>
          </a:xfrm>
          <a:prstGeom prst="roundRect">
            <a:avLst>
              <a:gd name="adj" fmla="val 27778"/>
            </a:avLst>
          </a:prstGeom>
          <a:solidFill>
            <a:srgbClr val="3E7B27"/>
          </a:solidFill>
          <a:ln w="12700">
            <a:solidFill>
              <a:srgbClr val="3E7B27"/>
            </a:solidFill>
            <a:prstDash val="solid"/>
          </a:ln>
        </p:spPr>
      </p:sp>
      <p:sp>
        <p:nvSpPr>
          <p:cNvPr id="39" name="Shape 34"/>
          <p:cNvSpPr/>
          <p:nvPr/>
        </p:nvSpPr>
        <p:spPr>
          <a:xfrm>
            <a:off x="4241800" y="3981450"/>
            <a:ext cx="3327400" cy="2133600"/>
          </a:xfrm>
          <a:prstGeom prst="roundRect">
            <a:avLst>
              <a:gd name="adj" fmla="val 5143"/>
            </a:avLst>
          </a:prstGeom>
          <a:solidFill>
            <a:srgbClr val="FFFFFF"/>
          </a:solidFill>
          <a:ln w="12700">
            <a:solidFill>
              <a:srgbClr val="FFFFFF"/>
            </a:solidFill>
            <a:prstDash val="solid"/>
          </a:ln>
        </p:spPr>
      </p:sp>
      <p:sp>
        <p:nvSpPr>
          <p:cNvPr id="40" name="Text 35"/>
          <p:cNvSpPr txBox="1"/>
          <p:nvPr/>
        </p:nvSpPr>
        <p:spPr>
          <a:xfrm>
            <a:off x="4432300" y="4133850"/>
            <a:ext cx="294640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By customer type</a:t>
            </a:r>
            <a:endParaRPr lang="en-US" sz="1300" dirty="0"/>
          </a:p>
        </p:txBody>
      </p:sp>
      <p:sp>
        <p:nvSpPr>
          <p:cNvPr id="41" name="Text 36"/>
          <p:cNvSpPr txBox="1"/>
          <p:nvPr/>
        </p:nvSpPr>
        <p:spPr>
          <a:xfrm>
            <a:off x="4432300" y="4362450"/>
            <a:ext cx="294640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Type of DO</a:t>
            </a:r>
            <a:endParaRPr lang="en-US" sz="950" dirty="0"/>
          </a:p>
        </p:txBody>
      </p:sp>
      <p:sp>
        <p:nvSpPr>
          <p:cNvPr id="42" name="Text 37"/>
          <p:cNvSpPr txBox="1"/>
          <p:nvPr/>
        </p:nvSpPr>
        <p:spPr>
          <a:xfrm>
            <a:off x="4451350" y="4648200"/>
            <a:ext cx="2746375" cy="22098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Gapoktan / Kelompok Tani</a:t>
            </a:r>
            <a:endParaRPr lang="en-US" sz="940" dirty="0"/>
          </a:p>
        </p:txBody>
      </p:sp>
      <p:sp>
        <p:nvSpPr>
          <p:cNvPr id="43" name="Text 38"/>
          <p:cNvSpPr txBox="1"/>
          <p:nvPr/>
        </p:nvSpPr>
        <p:spPr>
          <a:xfrm>
            <a:off x="7254875" y="4648200"/>
            <a:ext cx="104775" cy="22098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a:t>
            </a:r>
            <a:endParaRPr lang="en-US" sz="940" dirty="0"/>
          </a:p>
        </p:txBody>
      </p:sp>
      <p:sp>
        <p:nvSpPr>
          <p:cNvPr id="44" name="Shape 39"/>
          <p:cNvSpPr/>
          <p:nvPr/>
        </p:nvSpPr>
        <p:spPr>
          <a:xfrm>
            <a:off x="4451350" y="4888230"/>
            <a:ext cx="2908300" cy="102870"/>
          </a:xfrm>
          <a:prstGeom prst="roundRect">
            <a:avLst>
              <a:gd name="adj" fmla="val 27778"/>
            </a:avLst>
          </a:prstGeom>
          <a:solidFill>
            <a:srgbClr val="E9EDE5"/>
          </a:solidFill>
          <a:ln w="12700">
            <a:solidFill>
              <a:srgbClr val="E9EDE5"/>
            </a:solidFill>
            <a:prstDash val="solid"/>
          </a:ln>
        </p:spPr>
      </p:sp>
      <p:sp>
        <p:nvSpPr>
          <p:cNvPr id="45" name="Shape 40"/>
          <p:cNvSpPr/>
          <p:nvPr/>
        </p:nvSpPr>
        <p:spPr>
          <a:xfrm>
            <a:off x="4451350" y="4888230"/>
            <a:ext cx="2908300" cy="102870"/>
          </a:xfrm>
          <a:prstGeom prst="roundRect">
            <a:avLst>
              <a:gd name="adj" fmla="val 27778"/>
            </a:avLst>
          </a:prstGeom>
          <a:solidFill>
            <a:srgbClr val="3E7B27"/>
          </a:solidFill>
          <a:ln w="12700">
            <a:solidFill>
              <a:srgbClr val="3E7B27"/>
            </a:solidFill>
            <a:prstDash val="solid"/>
          </a:ln>
        </p:spPr>
      </p:sp>
      <p:sp>
        <p:nvSpPr>
          <p:cNvPr id="46" name="Shape 41"/>
          <p:cNvSpPr/>
          <p:nvPr/>
        </p:nvSpPr>
        <p:spPr>
          <a:xfrm>
            <a:off x="7721600" y="3981450"/>
            <a:ext cx="3327400" cy="2133600"/>
          </a:xfrm>
          <a:prstGeom prst="roundRect">
            <a:avLst>
              <a:gd name="adj" fmla="val 5143"/>
            </a:avLst>
          </a:prstGeom>
          <a:solidFill>
            <a:srgbClr val="FFFFFF"/>
          </a:solidFill>
          <a:ln w="12700">
            <a:solidFill>
              <a:srgbClr val="FFFFFF"/>
            </a:solidFill>
            <a:prstDash val="solid"/>
          </a:ln>
        </p:spPr>
      </p:sp>
      <p:sp>
        <p:nvSpPr>
          <p:cNvPr id="47" name="Text 42"/>
          <p:cNvSpPr txBox="1"/>
          <p:nvPr/>
        </p:nvSpPr>
        <p:spPr>
          <a:xfrm>
            <a:off x="7912100" y="4133850"/>
            <a:ext cx="294640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Potential FFB by PIC</a:t>
            </a:r>
            <a:endParaRPr lang="en-US" sz="1300" dirty="0"/>
          </a:p>
        </p:txBody>
      </p:sp>
      <p:sp>
        <p:nvSpPr>
          <p:cNvPr id="48" name="Text 43"/>
          <p:cNvSpPr txBox="1"/>
          <p:nvPr/>
        </p:nvSpPr>
        <p:spPr>
          <a:xfrm>
            <a:off x="7912100" y="4362450"/>
            <a:ext cx="294640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Tonnes</a:t>
            </a:r>
            <a:endParaRPr lang="en-US" sz="950" dirty="0"/>
          </a:p>
        </p:txBody>
      </p:sp>
      <p:sp>
        <p:nvSpPr>
          <p:cNvPr id="49" name="Text 44"/>
          <p:cNvSpPr txBox="1"/>
          <p:nvPr/>
        </p:nvSpPr>
        <p:spPr>
          <a:xfrm>
            <a:off x="7931150" y="4648200"/>
            <a:ext cx="2479675" cy="22098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Sazali Wandana</a:t>
            </a:r>
            <a:endParaRPr lang="en-US" sz="940" dirty="0"/>
          </a:p>
        </p:txBody>
      </p:sp>
      <p:sp>
        <p:nvSpPr>
          <p:cNvPr id="50" name="Text 45"/>
          <p:cNvSpPr txBox="1"/>
          <p:nvPr/>
        </p:nvSpPr>
        <p:spPr>
          <a:xfrm>
            <a:off x="10467975" y="4648200"/>
            <a:ext cx="371475" cy="22098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200 t</a:t>
            </a:r>
            <a:endParaRPr lang="en-US" sz="940" dirty="0"/>
          </a:p>
        </p:txBody>
      </p:sp>
      <p:sp>
        <p:nvSpPr>
          <p:cNvPr id="51" name="Shape 46"/>
          <p:cNvSpPr/>
          <p:nvPr/>
        </p:nvSpPr>
        <p:spPr>
          <a:xfrm>
            <a:off x="7931150" y="4888230"/>
            <a:ext cx="2908300" cy="102870"/>
          </a:xfrm>
          <a:prstGeom prst="roundRect">
            <a:avLst>
              <a:gd name="adj" fmla="val 27778"/>
            </a:avLst>
          </a:prstGeom>
          <a:solidFill>
            <a:srgbClr val="E9EDE5"/>
          </a:solidFill>
          <a:ln w="12700">
            <a:solidFill>
              <a:srgbClr val="E9EDE5"/>
            </a:solidFill>
            <a:prstDash val="solid"/>
          </a:ln>
        </p:spPr>
      </p:sp>
      <p:sp>
        <p:nvSpPr>
          <p:cNvPr id="52" name="Shape 47"/>
          <p:cNvSpPr/>
          <p:nvPr/>
        </p:nvSpPr>
        <p:spPr>
          <a:xfrm>
            <a:off x="7931150" y="4888230"/>
            <a:ext cx="2908300" cy="102870"/>
          </a:xfrm>
          <a:prstGeom prst="roundRect">
            <a:avLst>
              <a:gd name="adj" fmla="val 27778"/>
            </a:avLst>
          </a:prstGeom>
          <a:solidFill>
            <a:srgbClr val="2B7BB0"/>
          </a:solidFill>
          <a:ln w="12700">
            <a:solidFill>
              <a:srgbClr val="2B7BB0"/>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DO leads from the CRM · status to 18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5</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DO PIPELINE · LEAD LIST</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1 of 1 lead misses key information: distance to the nearest mill, who they supply today, engagement detail</a:t>
            </a:r>
            <a:endParaRPr lang="en-US" sz="2300" dirty="0"/>
          </a:p>
        </p:txBody>
      </p:sp>
      <p:sp>
        <p:nvSpPr>
          <p:cNvPr id="11" name="Shape 6"/>
          <p:cNvSpPr/>
          <p:nvPr/>
        </p:nvSpPr>
        <p:spPr>
          <a:xfrm>
            <a:off x="762000" y="1714500"/>
            <a:ext cx="10287000" cy="4400550"/>
          </a:xfrm>
          <a:prstGeom prst="roundRect">
            <a:avLst>
              <a:gd name="adj" fmla="val 2494"/>
            </a:avLst>
          </a:prstGeom>
          <a:solidFill>
            <a:srgbClr val="FFFFFF"/>
          </a:solidFill>
          <a:ln w="12700">
            <a:solidFill>
              <a:srgbClr val="FFFFFF"/>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14400" y="1885950"/>
          <a:ext cx="9982200" cy="914400"/>
        </p:xfrm>
        <a:graphic>
          <a:graphicData uri="http://schemas.openxmlformats.org/drawingml/2006/table">
            <a:tbl>
              <a:tblPr/>
              <a:tblGrid>
                <a:gridCol w="774481"/>
                <a:gridCol w="1032641"/>
                <a:gridCol w="860534"/>
                <a:gridCol w="1118695"/>
                <a:gridCol w="946588"/>
                <a:gridCol w="602374"/>
                <a:gridCol w="602374"/>
                <a:gridCol w="602374"/>
                <a:gridCol w="688428"/>
                <a:gridCol w="688428"/>
                <a:gridCol w="516321"/>
                <a:gridCol w="1548962"/>
              </a:tblGrid>
              <a:tr h="0">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Lead</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PIC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Regency</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Customer type</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Progress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Status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Area (ha)</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FFB (t)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Nearest mill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Created</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Age</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Missing</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DOOP-022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Sazali Wandana</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Asahan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Gapoktan / Kelompok Tani</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First Outreach</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COLD</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5B7F95"/>
                    </a:solidFill>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50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200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PGS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5 Oct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distance to the nearest mill, who they supply today, engagement detail, closing date</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bl>
          </a:graphicData>
        </a:graphic>
      </p:graphicFrame>
      <p:sp>
        <p:nvSpPr>
          <p:cNvPr id="13" name="Text 7"/>
          <p:cNvSpPr txBox="1"/>
          <p:nvPr/>
        </p:nvSpPr>
        <p:spPr>
          <a:xfrm>
            <a:off x="952500" y="5724525"/>
            <a:ext cx="9906000" cy="333375"/>
          </a:xfrm>
          <a:prstGeom prst="rect">
            <a:avLst/>
          </a:prstGeom>
          <a:noFill/>
          <a:ln/>
        </p:spPr>
        <p:txBody>
          <a:bodyPr wrap="square" lIns="0" tIns="0" rIns="0" bIns="0" rtlCol="0" anchor="b">
            <a:normAutofit/>
          </a:bodyPr>
          <a:lstStyle/>
          <a:p>
            <a:pPr indent="0" marL="0">
              <a:buNone/>
            </a:pPr>
            <a:r>
              <a:rPr lang="en-US" sz="1000" dirty="0">
                <a:solidFill>
                  <a:srgbClr val="535353"/>
                </a:solidFill>
                <a:latin typeface="Plus Jakarta Sans" pitchFamily="34" charset="0"/>
                <a:ea typeface="Plus Jakarta Sans" pitchFamily="34" charset="-122"/>
                <a:cs typeface="Plus Jakarta Sans" pitchFamily="34" charset="-120"/>
              </a:rPr>
              <a:t>Hottest first, then by potential FFB. No owner names or phone numbers are shown. Age = days since the lead was created, to 18 Oct.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DO leads from the CRM · status to 18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6</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NEXT STEPS</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4 draft actions to move the DO pipeline; owners and dates to be agreed</a:t>
            </a:r>
            <a:endParaRPr lang="en-US" sz="2300" dirty="0"/>
          </a:p>
        </p:txBody>
      </p:sp>
      <p:sp>
        <p:nvSpPr>
          <p:cNvPr id="11" name="Shape 6"/>
          <p:cNvSpPr/>
          <p:nvPr/>
        </p:nvSpPr>
        <p:spPr>
          <a:xfrm>
            <a:off x="762000" y="1714500"/>
            <a:ext cx="5067300" cy="1809750"/>
          </a:xfrm>
          <a:prstGeom prst="roundRect">
            <a:avLst>
              <a:gd name="adj" fmla="val 6063"/>
            </a:avLst>
          </a:prstGeom>
          <a:solidFill>
            <a:srgbClr val="FFFFFF"/>
          </a:solidFill>
          <a:ln w="12700">
            <a:solidFill>
              <a:srgbClr val="FFFFFF"/>
            </a:solidFill>
            <a:prstDash val="solid"/>
          </a:ln>
        </p:spPr>
      </p:sp>
      <p:sp>
        <p:nvSpPr>
          <p:cNvPr id="12" name="Text 7"/>
          <p:cNvSpPr txBox="1"/>
          <p:nvPr/>
        </p:nvSpPr>
        <p:spPr>
          <a:xfrm>
            <a:off x="933450" y="1847850"/>
            <a:ext cx="4724400" cy="381000"/>
          </a:xfrm>
          <a:prstGeom prst="rect">
            <a:avLst/>
          </a:prstGeom>
          <a:noFill/>
          <a:ln/>
        </p:spPr>
        <p:txBody>
          <a:bodyPr wrap="square" lIns="0" tIns="0" rIns="0" bIns="0" rtlCol="0" anchor="t">
            <a:normAutofit/>
          </a:bodyPr>
          <a:lstStyle/>
          <a:p>
            <a:pPr indent="0" marL="0">
              <a:buNone/>
            </a:pPr>
            <a:r>
              <a:rPr lang="en-US" sz="1200" b="1" dirty="0">
                <a:solidFill>
                  <a:srgbClr val="D9A21B"/>
                </a:solidFill>
                <a:latin typeface="Plus Jakarta Sans" pitchFamily="34" charset="0"/>
                <a:ea typeface="Plus Jakarta Sans" pitchFamily="34" charset="-122"/>
                <a:cs typeface="Plus Jakarta Sans" pitchFamily="34" charset="-120"/>
              </a:rPr>
              <a:t>1  </a:t>
            </a:r>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[DRAFT] Re-export the full DO pipeline</a:t>
            </a:r>
            <a:endParaRPr lang="en-US" sz="1200" dirty="0"/>
          </a:p>
        </p:txBody>
      </p:sp>
      <p:sp>
        <p:nvSpPr>
          <p:cNvPr id="13" name="Text 8"/>
          <p:cNvSpPr txBox="1"/>
          <p:nvPr/>
        </p:nvSpPr>
        <p:spPr>
          <a:xfrm>
            <a:off x="933450" y="2247900"/>
            <a:ext cx="4724400" cy="876300"/>
          </a:xfrm>
          <a:prstGeom prst="rect">
            <a:avLst/>
          </a:prstGeom>
          <a:noFill/>
          <a:ln/>
        </p:spPr>
        <p:txBody>
          <a:bodyPr wrap="square" lIns="0" tIns="0" rIns="0" bIns="0" rtlCol="0" anchor="t">
            <a:normAutofit/>
          </a:bodyPr>
          <a:lstStyle/>
          <a:p>
            <a:pPr indent="0" marL="0">
              <a:buNone/>
            </a:pPr>
            <a:r>
              <a:rPr lang="en-US" sz="1050" dirty="0">
                <a:solidFill>
                  <a:srgbClr val="535353"/>
                </a:solidFill>
                <a:latin typeface="Plus Jakarta Sans" pitchFamily="34" charset="0"/>
                <a:ea typeface="Plus Jakarta Sans" pitchFamily="34" charset="-122"/>
                <a:cs typeface="Plus Jakarta Sans" pitchFamily="34" charset="-120"/>
              </a:rPr>
              <a:t>This file has 1 lead but IDs run to 22. Export every DO lead (all PICs, all statuses) so the deck shows the whole pipeline.</a:t>
            </a:r>
            <a:endParaRPr lang="en-US" sz="1050" dirty="0"/>
          </a:p>
        </p:txBody>
      </p:sp>
      <p:sp>
        <p:nvSpPr>
          <p:cNvPr id="14" name="Text 9"/>
          <p:cNvSpPr txBox="1"/>
          <p:nvPr/>
        </p:nvSpPr>
        <p:spPr>
          <a:xfrm>
            <a:off x="933450" y="3200400"/>
            <a:ext cx="4724400" cy="228600"/>
          </a:xfrm>
          <a:prstGeom prst="rect">
            <a:avLst/>
          </a:prstGeom>
          <a:noFill/>
          <a:ln/>
        </p:spPr>
        <p:txBody>
          <a:bodyPr wrap="square" lIns="0" tIns="0" rIns="0" bIns="0" rtlCol="0" anchor="t"/>
          <a:lstStyle/>
          <a:p>
            <a:pPr indent="0" marL="0">
              <a:buNone/>
            </a:pPr>
            <a:r>
              <a:rPr lang="en-US" sz="900" b="1" dirty="0">
                <a:solidFill>
                  <a:srgbClr val="274E13"/>
                </a:solidFill>
                <a:latin typeface="Plus Jakarta Sans" pitchFamily="34" charset="0"/>
                <a:ea typeface="Plus Jakarta Sans" pitchFamily="34" charset="-122"/>
                <a:cs typeface="Plus Jakarta Sans" pitchFamily="34" charset="-120"/>
              </a:rPr>
              <a:t>Owner: [to be agreed]</a:t>
            </a:r>
            <a:pPr indent="0" marL="0">
              <a:buNone/>
            </a:pPr>
            <a:r>
              <a:rPr lang="en-US" sz="900" b="1" dirty="0">
                <a:solidFill>
                  <a:srgbClr val="9A6F00"/>
                </a:solidFill>
                <a:latin typeface="Plus Jakarta Sans" pitchFamily="34" charset="0"/>
                <a:ea typeface="Plus Jakarta Sans" pitchFamily="34" charset="-122"/>
                <a:cs typeface="Plus Jakarta Sans" pitchFamily="34" charset="-120"/>
              </a:rPr>
              <a:t>  ·  [date to be agreed]</a:t>
            </a:r>
            <a:endParaRPr lang="en-US" sz="900" dirty="0"/>
          </a:p>
        </p:txBody>
      </p:sp>
      <p:sp>
        <p:nvSpPr>
          <p:cNvPr id="15" name="Shape 10"/>
          <p:cNvSpPr/>
          <p:nvPr/>
        </p:nvSpPr>
        <p:spPr>
          <a:xfrm>
            <a:off x="5981700" y="1714500"/>
            <a:ext cx="5067300" cy="1809750"/>
          </a:xfrm>
          <a:prstGeom prst="roundRect">
            <a:avLst>
              <a:gd name="adj" fmla="val 6063"/>
            </a:avLst>
          </a:prstGeom>
          <a:solidFill>
            <a:srgbClr val="FFFFFF"/>
          </a:solidFill>
          <a:ln w="12700">
            <a:solidFill>
              <a:srgbClr val="FFFFFF"/>
            </a:solidFill>
            <a:prstDash val="solid"/>
          </a:ln>
        </p:spPr>
      </p:sp>
      <p:sp>
        <p:nvSpPr>
          <p:cNvPr id="16" name="Text 11"/>
          <p:cNvSpPr txBox="1"/>
          <p:nvPr/>
        </p:nvSpPr>
        <p:spPr>
          <a:xfrm>
            <a:off x="6153150" y="1847850"/>
            <a:ext cx="4724400" cy="381000"/>
          </a:xfrm>
          <a:prstGeom prst="rect">
            <a:avLst/>
          </a:prstGeom>
          <a:noFill/>
          <a:ln/>
        </p:spPr>
        <p:txBody>
          <a:bodyPr wrap="square" lIns="0" tIns="0" rIns="0" bIns="0" rtlCol="0" anchor="t">
            <a:normAutofit/>
          </a:bodyPr>
          <a:lstStyle/>
          <a:p>
            <a:pPr indent="0" marL="0">
              <a:buNone/>
            </a:pPr>
            <a:r>
              <a:rPr lang="en-US" sz="1200" b="1" dirty="0">
                <a:solidFill>
                  <a:srgbClr val="D9A21B"/>
                </a:solidFill>
                <a:latin typeface="Plus Jakarta Sans" pitchFamily="34" charset="0"/>
                <a:ea typeface="Plus Jakarta Sans" pitchFamily="34" charset="-122"/>
                <a:cs typeface="Plus Jakarta Sans" pitchFamily="34" charset="-120"/>
              </a:rPr>
              <a:t>2  </a:t>
            </a:r>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[DRAFT] Second visit for DOOP-022</a:t>
            </a:r>
            <a:endParaRPr lang="en-US" sz="1200" dirty="0"/>
          </a:p>
        </p:txBody>
      </p:sp>
      <p:sp>
        <p:nvSpPr>
          <p:cNvPr id="17" name="Text 12"/>
          <p:cNvSpPr txBox="1"/>
          <p:nvPr/>
        </p:nvSpPr>
        <p:spPr>
          <a:xfrm>
            <a:off x="6153150" y="2247900"/>
            <a:ext cx="4724400" cy="876300"/>
          </a:xfrm>
          <a:prstGeom prst="rect">
            <a:avLst/>
          </a:prstGeom>
          <a:noFill/>
          <a:ln/>
        </p:spPr>
        <p:txBody>
          <a:bodyPr wrap="square" lIns="0" tIns="0" rIns="0" bIns="0" rtlCol="0" anchor="t">
            <a:normAutofit/>
          </a:bodyPr>
          <a:lstStyle/>
          <a:p>
            <a:pPr indent="0" marL="0">
              <a:buNone/>
            </a:pPr>
            <a:r>
              <a:rPr lang="en-US" sz="1050" dirty="0">
                <a:solidFill>
                  <a:srgbClr val="535353"/>
                </a:solidFill>
                <a:latin typeface="Plus Jakarta Sans" pitchFamily="34" charset="0"/>
                <a:ea typeface="Plus Jakarta Sans" pitchFamily="34" charset="-122"/>
                <a:cs typeface="Plus Jakarta Sans" pitchFamily="34" charset="-120"/>
              </a:rPr>
              <a:t>Sazali Wandana: 13 days at first outreach, 50 ha and 200 t potential FFB near PGS. Agree the next step and a closing date.</a:t>
            </a:r>
            <a:endParaRPr lang="en-US" sz="1050" dirty="0"/>
          </a:p>
        </p:txBody>
      </p:sp>
      <p:sp>
        <p:nvSpPr>
          <p:cNvPr id="18" name="Text 13"/>
          <p:cNvSpPr txBox="1"/>
          <p:nvPr/>
        </p:nvSpPr>
        <p:spPr>
          <a:xfrm>
            <a:off x="6153150" y="3200400"/>
            <a:ext cx="4724400" cy="228600"/>
          </a:xfrm>
          <a:prstGeom prst="rect">
            <a:avLst/>
          </a:prstGeom>
          <a:noFill/>
          <a:ln/>
        </p:spPr>
        <p:txBody>
          <a:bodyPr wrap="square" lIns="0" tIns="0" rIns="0" bIns="0" rtlCol="0" anchor="t"/>
          <a:lstStyle/>
          <a:p>
            <a:pPr indent="0" marL="0">
              <a:buNone/>
            </a:pPr>
            <a:r>
              <a:rPr lang="en-US" sz="900" b="1" dirty="0">
                <a:solidFill>
                  <a:srgbClr val="274E13"/>
                </a:solidFill>
                <a:latin typeface="Plus Jakarta Sans" pitchFamily="34" charset="0"/>
                <a:ea typeface="Plus Jakarta Sans" pitchFamily="34" charset="-122"/>
                <a:cs typeface="Plus Jakarta Sans" pitchFamily="34" charset="-120"/>
              </a:rPr>
              <a:t>Owner: [to be agreed]</a:t>
            </a:r>
            <a:pPr indent="0" marL="0">
              <a:buNone/>
            </a:pPr>
            <a:r>
              <a:rPr lang="en-US" sz="900" b="1" dirty="0">
                <a:solidFill>
                  <a:srgbClr val="9A6F00"/>
                </a:solidFill>
                <a:latin typeface="Plus Jakarta Sans" pitchFamily="34" charset="0"/>
                <a:ea typeface="Plus Jakarta Sans" pitchFamily="34" charset="-122"/>
                <a:cs typeface="Plus Jakarta Sans" pitchFamily="34" charset="-120"/>
              </a:rPr>
              <a:t>  ·  [date to be agreed]</a:t>
            </a:r>
            <a:endParaRPr lang="en-US" sz="900" dirty="0"/>
          </a:p>
        </p:txBody>
      </p:sp>
      <p:sp>
        <p:nvSpPr>
          <p:cNvPr id="19" name="Shape 14"/>
          <p:cNvSpPr/>
          <p:nvPr/>
        </p:nvSpPr>
        <p:spPr>
          <a:xfrm>
            <a:off x="762000" y="3667125"/>
            <a:ext cx="5067300" cy="1809750"/>
          </a:xfrm>
          <a:prstGeom prst="roundRect">
            <a:avLst>
              <a:gd name="adj" fmla="val 6063"/>
            </a:avLst>
          </a:prstGeom>
          <a:solidFill>
            <a:srgbClr val="FFFFFF"/>
          </a:solidFill>
          <a:ln w="12700">
            <a:solidFill>
              <a:srgbClr val="FFFFFF"/>
            </a:solidFill>
            <a:prstDash val="solid"/>
          </a:ln>
        </p:spPr>
      </p:sp>
      <p:sp>
        <p:nvSpPr>
          <p:cNvPr id="20" name="Text 15"/>
          <p:cNvSpPr txBox="1"/>
          <p:nvPr/>
        </p:nvSpPr>
        <p:spPr>
          <a:xfrm>
            <a:off x="933450" y="3800475"/>
            <a:ext cx="4724400" cy="381000"/>
          </a:xfrm>
          <a:prstGeom prst="rect">
            <a:avLst/>
          </a:prstGeom>
          <a:noFill/>
          <a:ln/>
        </p:spPr>
        <p:txBody>
          <a:bodyPr wrap="square" lIns="0" tIns="0" rIns="0" bIns="0" rtlCol="0" anchor="t">
            <a:normAutofit/>
          </a:bodyPr>
          <a:lstStyle/>
          <a:p>
            <a:pPr indent="0" marL="0">
              <a:buNone/>
            </a:pPr>
            <a:r>
              <a:rPr lang="en-US" sz="1200" b="1" dirty="0">
                <a:solidFill>
                  <a:srgbClr val="D9A21B"/>
                </a:solidFill>
                <a:latin typeface="Plus Jakarta Sans" pitchFamily="34" charset="0"/>
                <a:ea typeface="Plus Jakarta Sans" pitchFamily="34" charset="-122"/>
                <a:cs typeface="Plus Jakarta Sans" pitchFamily="34" charset="-120"/>
              </a:rPr>
              <a:t>3  </a:t>
            </a:r>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[DRAFT] Fill in distance to the nearest mill and who they supply today</a:t>
            </a:r>
            <a:endParaRPr lang="en-US" sz="1200" dirty="0"/>
          </a:p>
        </p:txBody>
      </p:sp>
      <p:sp>
        <p:nvSpPr>
          <p:cNvPr id="21" name="Text 16"/>
          <p:cNvSpPr txBox="1"/>
          <p:nvPr/>
        </p:nvSpPr>
        <p:spPr>
          <a:xfrm>
            <a:off x="933450" y="4200525"/>
            <a:ext cx="4724400" cy="876300"/>
          </a:xfrm>
          <a:prstGeom prst="rect">
            <a:avLst/>
          </a:prstGeom>
          <a:noFill/>
          <a:ln/>
        </p:spPr>
        <p:txBody>
          <a:bodyPr wrap="square" lIns="0" tIns="0" rIns="0" bIns="0" rtlCol="0" anchor="t">
            <a:normAutofit/>
          </a:bodyPr>
          <a:lstStyle/>
          <a:p>
            <a:pPr indent="0" marL="0">
              <a:buNone/>
            </a:pPr>
            <a:r>
              <a:rPr lang="en-US" sz="1050" dirty="0">
                <a:solidFill>
                  <a:srgbClr val="535353"/>
                </a:solidFill>
                <a:latin typeface="Plus Jakarta Sans" pitchFamily="34" charset="0"/>
                <a:ea typeface="Plus Jakarta Sans" pitchFamily="34" charset="-122"/>
                <a:cs typeface="Plus Jakarta Sans" pitchFamily="34" charset="-120"/>
              </a:rPr>
              <a:t>Distance to the nearest mill empty on 1 of 1; who they supply today empty on 1 of 1; engagement detail empty on 1 of 1; closing date empty on 1 of 1. Make them required before a lead moves past first outreach.</a:t>
            </a:r>
            <a:endParaRPr lang="en-US" sz="1050" dirty="0"/>
          </a:p>
        </p:txBody>
      </p:sp>
      <p:sp>
        <p:nvSpPr>
          <p:cNvPr id="22" name="Text 17"/>
          <p:cNvSpPr txBox="1"/>
          <p:nvPr/>
        </p:nvSpPr>
        <p:spPr>
          <a:xfrm>
            <a:off x="933450" y="5153025"/>
            <a:ext cx="4724400" cy="228600"/>
          </a:xfrm>
          <a:prstGeom prst="rect">
            <a:avLst/>
          </a:prstGeom>
          <a:noFill/>
          <a:ln/>
        </p:spPr>
        <p:txBody>
          <a:bodyPr wrap="square" lIns="0" tIns="0" rIns="0" bIns="0" rtlCol="0" anchor="t"/>
          <a:lstStyle/>
          <a:p>
            <a:pPr indent="0" marL="0">
              <a:buNone/>
            </a:pPr>
            <a:r>
              <a:rPr lang="en-US" sz="900" b="1" dirty="0">
                <a:solidFill>
                  <a:srgbClr val="274E13"/>
                </a:solidFill>
                <a:latin typeface="Plus Jakarta Sans" pitchFamily="34" charset="0"/>
                <a:ea typeface="Plus Jakarta Sans" pitchFamily="34" charset="-122"/>
                <a:cs typeface="Plus Jakarta Sans" pitchFamily="34" charset="-120"/>
              </a:rPr>
              <a:t>Owner: [to be agreed]</a:t>
            </a:r>
            <a:pPr indent="0" marL="0">
              <a:buNone/>
            </a:pPr>
            <a:r>
              <a:rPr lang="en-US" sz="900" b="1" dirty="0">
                <a:solidFill>
                  <a:srgbClr val="9A6F00"/>
                </a:solidFill>
                <a:latin typeface="Plus Jakarta Sans" pitchFamily="34" charset="0"/>
                <a:ea typeface="Plus Jakarta Sans" pitchFamily="34" charset="-122"/>
                <a:cs typeface="Plus Jakarta Sans" pitchFamily="34" charset="-120"/>
              </a:rPr>
              <a:t>  ·  [date to be agreed]</a:t>
            </a:r>
            <a:endParaRPr lang="en-US" sz="900" dirty="0"/>
          </a:p>
        </p:txBody>
      </p:sp>
      <p:sp>
        <p:nvSpPr>
          <p:cNvPr id="23" name="Shape 18"/>
          <p:cNvSpPr/>
          <p:nvPr/>
        </p:nvSpPr>
        <p:spPr>
          <a:xfrm>
            <a:off x="5981700" y="3667125"/>
            <a:ext cx="5067300" cy="1809750"/>
          </a:xfrm>
          <a:prstGeom prst="roundRect">
            <a:avLst>
              <a:gd name="adj" fmla="val 6063"/>
            </a:avLst>
          </a:prstGeom>
          <a:solidFill>
            <a:srgbClr val="FFFFFF"/>
          </a:solidFill>
          <a:ln w="12700">
            <a:solidFill>
              <a:srgbClr val="FFFFFF"/>
            </a:solidFill>
            <a:prstDash val="solid"/>
          </a:ln>
        </p:spPr>
      </p:sp>
      <p:sp>
        <p:nvSpPr>
          <p:cNvPr id="24" name="Text 19"/>
          <p:cNvSpPr txBox="1"/>
          <p:nvPr/>
        </p:nvSpPr>
        <p:spPr>
          <a:xfrm>
            <a:off x="6153150" y="3800475"/>
            <a:ext cx="4724400" cy="381000"/>
          </a:xfrm>
          <a:prstGeom prst="rect">
            <a:avLst/>
          </a:prstGeom>
          <a:noFill/>
          <a:ln/>
        </p:spPr>
        <p:txBody>
          <a:bodyPr wrap="square" lIns="0" tIns="0" rIns="0" bIns="0" rtlCol="0" anchor="t">
            <a:normAutofit/>
          </a:bodyPr>
          <a:lstStyle/>
          <a:p>
            <a:pPr indent="0" marL="0">
              <a:buNone/>
            </a:pPr>
            <a:r>
              <a:rPr lang="en-US" sz="1200" b="1" dirty="0">
                <a:solidFill>
                  <a:srgbClr val="D9A21B"/>
                </a:solidFill>
                <a:latin typeface="Plus Jakarta Sans" pitchFamily="34" charset="0"/>
                <a:ea typeface="Plus Jakarta Sans" pitchFamily="34" charset="-122"/>
                <a:cs typeface="Plus Jakarta Sans" pitchFamily="34" charset="-120"/>
              </a:rPr>
              <a:t>4  </a:t>
            </a:r>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[DRAFT] Weekly DO pipeline review by PIC</a:t>
            </a:r>
            <a:endParaRPr lang="en-US" sz="1200" dirty="0"/>
          </a:p>
        </p:txBody>
      </p:sp>
      <p:sp>
        <p:nvSpPr>
          <p:cNvPr id="25" name="Text 20"/>
          <p:cNvSpPr txBox="1"/>
          <p:nvPr/>
        </p:nvSpPr>
        <p:spPr>
          <a:xfrm>
            <a:off x="6153150" y="4200525"/>
            <a:ext cx="4724400" cy="876300"/>
          </a:xfrm>
          <a:prstGeom prst="rect">
            <a:avLst/>
          </a:prstGeom>
          <a:noFill/>
          <a:ln/>
        </p:spPr>
        <p:txBody>
          <a:bodyPr wrap="square" lIns="0" tIns="0" rIns="0" bIns="0" rtlCol="0" anchor="t">
            <a:normAutofit/>
          </a:bodyPr>
          <a:lstStyle/>
          <a:p>
            <a:pPr indent="0" marL="0">
              <a:buNone/>
            </a:pPr>
            <a:r>
              <a:rPr lang="en-US" sz="1050" dirty="0">
                <a:solidFill>
                  <a:srgbClr val="535353"/>
                </a:solidFill>
                <a:latin typeface="Plus Jakarta Sans" pitchFamily="34" charset="0"/>
                <a:ea typeface="Plus Jakarta Sans" pitchFamily="34" charset="-122"/>
                <a:cs typeface="Plus Jakarta Sans" pitchFamily="34" charset="-120"/>
              </a:rPr>
              <a:t>Leads not yet HOT: Sazali Wandana 1. Review progress, status and closing dates each week in this deck.</a:t>
            </a:r>
            <a:endParaRPr lang="en-US" sz="1050" dirty="0"/>
          </a:p>
        </p:txBody>
      </p:sp>
      <p:sp>
        <p:nvSpPr>
          <p:cNvPr id="26" name="Text 21"/>
          <p:cNvSpPr txBox="1"/>
          <p:nvPr/>
        </p:nvSpPr>
        <p:spPr>
          <a:xfrm>
            <a:off x="6153150" y="5153025"/>
            <a:ext cx="4724400" cy="228600"/>
          </a:xfrm>
          <a:prstGeom prst="rect">
            <a:avLst/>
          </a:prstGeom>
          <a:noFill/>
          <a:ln/>
        </p:spPr>
        <p:txBody>
          <a:bodyPr wrap="square" lIns="0" tIns="0" rIns="0" bIns="0" rtlCol="0" anchor="t"/>
          <a:lstStyle/>
          <a:p>
            <a:pPr indent="0" marL="0">
              <a:buNone/>
            </a:pPr>
            <a:r>
              <a:rPr lang="en-US" sz="900" b="1" dirty="0">
                <a:solidFill>
                  <a:srgbClr val="274E13"/>
                </a:solidFill>
                <a:latin typeface="Plus Jakarta Sans" pitchFamily="34" charset="0"/>
                <a:ea typeface="Plus Jakarta Sans" pitchFamily="34" charset="-122"/>
                <a:cs typeface="Plus Jakarta Sans" pitchFamily="34" charset="-120"/>
              </a:rPr>
              <a:t>Owner: [to be agreed]</a:t>
            </a:r>
            <a:pPr indent="0" marL="0">
              <a:buNone/>
            </a:pPr>
            <a:r>
              <a:rPr lang="en-US" sz="900" b="1" dirty="0">
                <a:solidFill>
                  <a:srgbClr val="9A6F00"/>
                </a:solidFill>
                <a:latin typeface="Plus Jakarta Sans" pitchFamily="34" charset="0"/>
                <a:ea typeface="Plus Jakarta Sans" pitchFamily="34" charset="-122"/>
                <a:cs typeface="Plus Jakarta Sans" pitchFamily="34" charset="-120"/>
              </a:rPr>
              <a:t>  ·  [date to be agreed]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35000"/>
            </a:srgbClr>
          </a:solidFill>
          <a:ln w="12700">
            <a:solidFill>
              <a:srgbClr val="000000">
                <a:alpha val="0"/>
              </a:srgbClr>
            </a:solidFill>
            <a:prstDash val="solid"/>
          </a:ln>
        </p:spPr>
      </p:sp>
      <p:pic>
        <p:nvPicPr>
          <p:cNvPr id="4" name="Image 1" descr="preencoded.png">    </p:cNvPr>
          <p:cNvPicPr>
            <a:picLocks noChangeAspect="1"/>
          </p:cNvPicPr>
          <p:nvPr/>
        </p:nvPicPr>
        <p:blipFill>
          <a:blip r:embed="rId2"/>
          <a:stretch>
            <a:fillRect/>
          </a:stretch>
        </p:blipFill>
        <p:spPr>
          <a:xfrm>
            <a:off x="628650" y="590550"/>
            <a:ext cx="2352675" cy="771525"/>
          </a:xfrm>
          <a:prstGeom prst="rect">
            <a:avLst/>
          </a:prstGeom>
        </p:spPr>
      </p:pic>
      <p:pic>
        <p:nvPicPr>
          <p:cNvPr id="5" name="Image 2" descr="preencoded.png">    </p:cNvPr>
          <p:cNvPicPr>
            <a:picLocks noChangeAspect="1"/>
          </p:cNvPicPr>
          <p:nvPr/>
        </p:nvPicPr>
        <p:blipFill>
          <a:blip r:embed="rId3"/>
          <a:stretch>
            <a:fillRect/>
          </a:stretch>
        </p:blipFill>
        <p:spPr>
          <a:xfrm>
            <a:off x="10420350" y="457200"/>
            <a:ext cx="1143000" cy="1143000"/>
          </a:xfrm>
          <a:prstGeom prst="rect">
            <a:avLst/>
          </a:prstGeom>
        </p:spPr>
      </p:pic>
      <p:sp>
        <p:nvSpPr>
          <p:cNvPr id="6" name="Text 1"/>
          <p:cNvSpPr txBox="1"/>
          <p:nvPr/>
        </p:nvSpPr>
        <p:spPr>
          <a:xfrm>
            <a:off x="0" y="2762250"/>
            <a:ext cx="12191695" cy="1005840"/>
          </a:xfrm>
          <a:prstGeom prst="rect">
            <a:avLst/>
          </a:prstGeom>
          <a:noFill/>
          <a:ln/>
        </p:spPr>
        <p:txBody>
          <a:bodyPr wrap="square" lIns="0" tIns="0" rIns="0" bIns="0" rtlCol="0" anchor="t"/>
          <a:lstStyle/>
          <a:p>
            <a:pPr algn="ctr" indent="0" marL="0">
              <a:buNone/>
            </a:pPr>
            <a:r>
              <a:rPr lang="en-US" sz="6000" b="1" dirty="0">
                <a:solidFill>
                  <a:srgbClr val="FFFFFF"/>
                </a:solidFill>
                <a:latin typeface="Plus Jakarta Sans" pitchFamily="34" charset="0"/>
                <a:ea typeface="Plus Jakarta Sans" pitchFamily="34" charset="-122"/>
                <a:cs typeface="Plus Jakarta Sans" pitchFamily="34" charset="-120"/>
              </a:rPr>
              <a:t>Thank You</a:t>
            </a:r>
            <a:endParaRPr lang="en-US" sz="6000" dirty="0"/>
          </a:p>
        </p:txBody>
      </p:sp>
      <p:sp>
        <p:nvSpPr>
          <p:cNvPr id="7" name="Text 2"/>
          <p:cNvSpPr txBox="1"/>
          <p:nvPr/>
        </p:nvSpPr>
        <p:spPr>
          <a:xfrm>
            <a:off x="0" y="3810000"/>
            <a:ext cx="12191695" cy="548640"/>
          </a:xfrm>
          <a:prstGeom prst="rect">
            <a:avLst/>
          </a:prstGeom>
          <a:noFill/>
          <a:ln/>
        </p:spPr>
        <p:txBody>
          <a:bodyPr wrap="square" lIns="0" tIns="0" rIns="0" bIns="0" rtlCol="0" anchor="t"/>
          <a:lstStyle/>
          <a:p>
            <a:pPr algn="ctr" indent="0" marL="0">
              <a:buNone/>
            </a:pPr>
            <a:r>
              <a:rPr lang="en-US" sz="2600" b="1" dirty="0">
                <a:solidFill>
                  <a:srgbClr val="F5D347"/>
                </a:solidFill>
                <a:latin typeface="Plus Jakarta Sans" pitchFamily="34" charset="0"/>
                <a:ea typeface="Plus Jakarta Sans" pitchFamily="34" charset="-122"/>
                <a:cs typeface="Plus Jakarta Sans" pitchFamily="34" charset="-120"/>
              </a:rPr>
              <a:t>#TerusTumbuh</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SawitPRO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Smallholder DO Leads, 5 Oct</dc:title>
  <dc:subject>PptxGenJS Presentation</dc:subject>
  <dc:creator>PptxGenJS</dc:creator>
  <cp:lastModifiedBy>PptxGenJS</cp:lastModifiedBy>
  <cp:revision>1</cp:revision>
  <dcterms:created xsi:type="dcterms:W3CDTF">2026-10-18T13:22:18Z</dcterms:created>
  <dcterms:modified xsi:type="dcterms:W3CDTF">2026-10-18T13:22:18Z</dcterms:modified>
</cp:coreProperties>
</file>