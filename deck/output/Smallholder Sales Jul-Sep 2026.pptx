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628650" y="590550"/>
            <a:ext cx="2352675" cy="771525"/>
          </a:xfrm>
          <a:prstGeom prst="rect">
            <a:avLst/>
          </a:prstGeom>
        </p:spPr>
      </p:pic>
      <p:sp>
        <p:nvSpPr>
          <p:cNvPr id="4" name="Shape 0"/>
          <p:cNvSpPr/>
          <p:nvPr/>
        </p:nvSpPr>
        <p:spPr>
          <a:xfrm>
            <a:off x="4743450" y="3448050"/>
            <a:ext cx="7448550" cy="2447925"/>
          </a:xfrm>
          <a:prstGeom prst="rect">
            <a:avLst/>
          </a:prstGeom>
          <a:solidFill>
            <a:srgbClr val="4A653B"/>
          </a:solidFill>
          <a:ln w="12700">
            <a:solidFill>
              <a:srgbClr val="4A653B"/>
            </a:solidFill>
            <a:prstDash val="solid"/>
          </a:ln>
        </p:spPr>
      </p:sp>
      <p:sp>
        <p:nvSpPr>
          <p:cNvPr id="5" name="Shape 1"/>
          <p:cNvSpPr/>
          <p:nvPr/>
        </p:nvSpPr>
        <p:spPr>
          <a:xfrm>
            <a:off x="3533775" y="3448050"/>
            <a:ext cx="2447925" cy="2447925"/>
          </a:xfrm>
          <a:prstGeom prst="ellipse">
            <a:avLst/>
          </a:prstGeom>
          <a:solidFill>
            <a:srgbClr val="4A653B"/>
          </a:solidFill>
          <a:ln w="12700">
            <a:solidFill>
              <a:srgbClr val="4A653B"/>
            </a:solidFill>
            <a:prstDash val="solid"/>
          </a:ln>
        </p:spPr>
      </p:sp>
      <p:pic>
        <p:nvPicPr>
          <p:cNvPr id="6" name="Image 2" descr="preencoded.png">    </p:cNvPr>
          <p:cNvPicPr>
            <a:picLocks noChangeAspect="1"/>
          </p:cNvPicPr>
          <p:nvPr/>
        </p:nvPicPr>
        <p:blipFill>
          <a:blip r:embed="rId3"/>
          <a:stretch>
            <a:fillRect/>
          </a:stretch>
        </p:blipFill>
        <p:spPr>
          <a:xfrm>
            <a:off x="3695700" y="3609975"/>
            <a:ext cx="2114550" cy="2114550"/>
          </a:xfrm>
          <a:prstGeom prst="rect">
            <a:avLst/>
          </a:prstGeom>
        </p:spPr>
      </p:pic>
      <p:sp>
        <p:nvSpPr>
          <p:cNvPr id="7" name="Text 2"/>
          <p:cNvSpPr txBox="1"/>
          <p:nvPr/>
        </p:nvSpPr>
        <p:spPr>
          <a:xfrm>
            <a:off x="6210300" y="3619500"/>
            <a:ext cx="5619750" cy="457200"/>
          </a:xfrm>
          <a:prstGeom prst="rect">
            <a:avLst/>
          </a:prstGeom>
          <a:noFill/>
          <a:ln/>
        </p:spPr>
        <p:txBody>
          <a:bodyPr wrap="square" lIns="0" tIns="0" rIns="0" bIns="0" rtlCol="0" anchor="t"/>
          <a:lstStyle/>
          <a:p>
            <a:pPr indent="0" marL="0">
              <a:buNone/>
            </a:pPr>
            <a:r>
              <a:rPr lang="en-US" sz="2600" b="1" dirty="0">
                <a:solidFill>
                  <a:srgbClr val="F5D347"/>
                </a:solidFill>
                <a:latin typeface="Plus Jakarta Sans" pitchFamily="34" charset="0"/>
                <a:ea typeface="Plus Jakarta Sans" pitchFamily="34" charset="-122"/>
                <a:cs typeface="Plus Jakarta Sans" pitchFamily="34" charset="-120"/>
              </a:rPr>
              <a:t>Sales Decline Review</a:t>
            </a:r>
            <a:endParaRPr lang="en-US" sz="2600" dirty="0"/>
          </a:p>
        </p:txBody>
      </p:sp>
      <p:sp>
        <p:nvSpPr>
          <p:cNvPr id="8" name="Text 3"/>
          <p:cNvSpPr txBox="1"/>
          <p:nvPr/>
        </p:nvSpPr>
        <p:spPr>
          <a:xfrm>
            <a:off x="6210300" y="4095750"/>
            <a:ext cx="5619750" cy="1005840"/>
          </a:xfrm>
          <a:prstGeom prst="rect">
            <a:avLst/>
          </a:prstGeom>
          <a:noFill/>
          <a:ln/>
        </p:spPr>
        <p:txBody>
          <a:bodyPr wrap="square" lIns="0" tIns="0" rIns="0" bIns="0" rtlCol="0" anchor="t">
            <a:normAutofit/>
          </a:bodyPr>
          <a:lstStyle/>
          <a:p>
            <a:pPr indent="0" marL="0">
              <a:buNone/>
            </a:pPr>
            <a:r>
              <a:rPr lang="en-US" sz="3400" b="1" dirty="0">
                <a:solidFill>
                  <a:srgbClr val="FFFFFF"/>
                </a:solidFill>
                <a:latin typeface="Plus Jakarta Sans" pitchFamily="34" charset="0"/>
                <a:ea typeface="Plus Jakarta Sans" pitchFamily="34" charset="-122"/>
                <a:cs typeface="Plus Jakarta Sans" pitchFamily="34" charset="-120"/>
              </a:rPr>
              <a:t>Smallholder Sales Jul–Sep</a:t>
            </a:r>
            <a:endParaRPr lang="en-US" sz="3400" dirty="0"/>
          </a:p>
        </p:txBody>
      </p:sp>
      <p:sp>
        <p:nvSpPr>
          <p:cNvPr id="9" name="Text 4"/>
          <p:cNvSpPr txBox="1"/>
          <p:nvPr/>
        </p:nvSpPr>
        <p:spPr>
          <a:xfrm>
            <a:off x="6210300" y="6000750"/>
            <a:ext cx="5715000" cy="274320"/>
          </a:xfrm>
          <a:prstGeom prst="rect">
            <a:avLst/>
          </a:prstGeom>
          <a:noFill/>
          <a:ln/>
        </p:spPr>
        <p:txBody>
          <a:bodyPr wrap="square" lIns="0" tIns="0" rIns="0" bIns="0" rtlCol="0" anchor="t"/>
          <a:lstStyle/>
          <a:p>
            <a:pPr indent="0" marL="0">
              <a:buNone/>
            </a:pPr>
            <a:r>
              <a:rPr lang="en-US" sz="1200" b="1" dirty="0">
                <a:solidFill>
                  <a:srgbClr val="FFFFFF"/>
                </a:solidFill>
                <a:latin typeface="Plus Jakarta Sans" pitchFamily="34" charset="0"/>
                <a:ea typeface="Plus Jakarta Sans" pitchFamily="34" charset="-122"/>
                <a:cs typeface="Plus Jakarta Sans" pitchFamily="34" charset="-120"/>
              </a:rPr>
              <a:t>1 Jul – 30 Sep 2026 · 237 orders · 133 customers · 849 CRM engagements (1 Jul – 30 Sep)</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2</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EXECUTIVE SUMMARY</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GMV down 7% from Jul to Sep (Rp2.41B → Rp2.25B): 3 accounts stopped ordering, everyone else grew 67%</a:t>
            </a:r>
            <a:endParaRPr lang="en-US" sz="2300" dirty="0"/>
          </a:p>
        </p:txBody>
      </p:sp>
      <p:sp>
        <p:nvSpPr>
          <p:cNvPr id="11" name="Shape 6"/>
          <p:cNvSpPr/>
          <p:nvPr/>
        </p:nvSpPr>
        <p:spPr>
          <a:xfrm>
            <a:off x="762000" y="1714500"/>
            <a:ext cx="2438400" cy="1123950"/>
          </a:xfrm>
          <a:prstGeom prst="roundRect">
            <a:avLst>
              <a:gd name="adj" fmla="val 9763"/>
            </a:avLst>
          </a:prstGeom>
          <a:solidFill>
            <a:srgbClr val="4A653B"/>
          </a:solidFill>
          <a:ln w="12700">
            <a:solidFill>
              <a:srgbClr val="4A653B"/>
            </a:solidFill>
            <a:prstDash val="solid"/>
          </a:ln>
        </p:spPr>
      </p:sp>
      <p:sp>
        <p:nvSpPr>
          <p:cNvPr id="12" name="Text 7"/>
          <p:cNvSpPr txBox="1"/>
          <p:nvPr/>
        </p:nvSpPr>
        <p:spPr>
          <a:xfrm>
            <a:off x="914400" y="1828800"/>
            <a:ext cx="2133600"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2.25</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B</a:t>
            </a:r>
            <a:endParaRPr lang="en-US" sz="2800" dirty="0"/>
          </a:p>
        </p:txBody>
      </p:sp>
      <p:sp>
        <p:nvSpPr>
          <p:cNvPr id="13" name="Text 8"/>
          <p:cNvSpPr txBox="1"/>
          <p:nvPr/>
        </p:nvSpPr>
        <p:spPr>
          <a:xfrm>
            <a:off x="91440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Sep GMV, ▼ 7% vs Rp2.41B in Jul</a:t>
            </a:r>
            <a:endParaRPr lang="en-US" sz="950" dirty="0"/>
          </a:p>
        </p:txBody>
      </p:sp>
      <p:sp>
        <p:nvSpPr>
          <p:cNvPr id="14" name="Shape 9"/>
          <p:cNvSpPr/>
          <p:nvPr/>
        </p:nvSpPr>
        <p:spPr>
          <a:xfrm>
            <a:off x="3371850" y="1714500"/>
            <a:ext cx="2438400" cy="1123950"/>
          </a:xfrm>
          <a:prstGeom prst="roundRect">
            <a:avLst>
              <a:gd name="adj" fmla="val 9763"/>
            </a:avLst>
          </a:prstGeom>
          <a:solidFill>
            <a:srgbClr val="FFFFFF"/>
          </a:solidFill>
          <a:ln w="12700">
            <a:solidFill>
              <a:srgbClr val="FFFFFF"/>
            </a:solidFill>
            <a:prstDash val="solid"/>
          </a:ln>
        </p:spPr>
      </p:sp>
      <p:sp>
        <p:nvSpPr>
          <p:cNvPr id="15" name="Text 10"/>
          <p:cNvSpPr txBox="1"/>
          <p:nvPr/>
        </p:nvSpPr>
        <p:spPr>
          <a:xfrm>
            <a:off x="3524250" y="1828800"/>
            <a:ext cx="213360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6.31</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B</a:t>
            </a:r>
            <a:endParaRPr lang="en-US" sz="2800" dirty="0"/>
          </a:p>
        </p:txBody>
      </p:sp>
      <p:sp>
        <p:nvSpPr>
          <p:cNvPr id="16" name="Text 11"/>
          <p:cNvSpPr txBox="1"/>
          <p:nvPr/>
        </p:nvSpPr>
        <p:spPr>
          <a:xfrm>
            <a:off x="352425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total GMV Jul–Sep from 237 orders</a:t>
            </a:r>
            <a:endParaRPr lang="en-US" sz="950" dirty="0"/>
          </a:p>
        </p:txBody>
      </p:sp>
      <p:sp>
        <p:nvSpPr>
          <p:cNvPr id="17" name="Shape 12"/>
          <p:cNvSpPr/>
          <p:nvPr/>
        </p:nvSpPr>
        <p:spPr>
          <a:xfrm>
            <a:off x="5981700" y="1714500"/>
            <a:ext cx="2438400" cy="1123950"/>
          </a:xfrm>
          <a:prstGeom prst="roundRect">
            <a:avLst>
              <a:gd name="adj" fmla="val 9763"/>
            </a:avLst>
          </a:prstGeom>
          <a:solidFill>
            <a:srgbClr val="FFFFFF"/>
          </a:solidFill>
          <a:ln w="12700">
            <a:solidFill>
              <a:srgbClr val="FFFFFF"/>
            </a:solidFill>
            <a:prstDash val="solid"/>
          </a:ln>
        </p:spPr>
      </p:sp>
      <p:sp>
        <p:nvSpPr>
          <p:cNvPr id="18" name="Text 13"/>
          <p:cNvSpPr txBox="1"/>
          <p:nvPr/>
        </p:nvSpPr>
        <p:spPr>
          <a:xfrm>
            <a:off x="6134100" y="1828800"/>
            <a:ext cx="213360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1.06</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B</a:t>
            </a:r>
            <a:endParaRPr lang="en-US" sz="2800" dirty="0"/>
          </a:p>
        </p:txBody>
      </p:sp>
      <p:sp>
        <p:nvSpPr>
          <p:cNvPr id="19" name="Text 14"/>
          <p:cNvSpPr txBox="1"/>
          <p:nvPr/>
        </p:nvSpPr>
        <p:spPr>
          <a:xfrm>
            <a:off x="613410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Jul GMV from 3 accounts that stopped ordering (44%)</a:t>
            </a:r>
            <a:endParaRPr lang="en-US" sz="950" dirty="0"/>
          </a:p>
        </p:txBody>
      </p:sp>
      <p:sp>
        <p:nvSpPr>
          <p:cNvPr id="20" name="Shape 15"/>
          <p:cNvSpPr/>
          <p:nvPr/>
        </p:nvSpPr>
        <p:spPr>
          <a:xfrm>
            <a:off x="8591550" y="1714500"/>
            <a:ext cx="2438400" cy="1123950"/>
          </a:xfrm>
          <a:prstGeom prst="roundRect">
            <a:avLst>
              <a:gd name="adj" fmla="val 9763"/>
            </a:avLst>
          </a:prstGeom>
          <a:solidFill>
            <a:srgbClr val="FFFFFF"/>
          </a:solidFill>
          <a:ln w="12700">
            <a:solidFill>
              <a:srgbClr val="FFFFFF"/>
            </a:solidFill>
            <a:prstDash val="solid"/>
          </a:ln>
        </p:spPr>
      </p:sp>
      <p:sp>
        <p:nvSpPr>
          <p:cNvPr id="21" name="Text 16"/>
          <p:cNvSpPr txBox="1"/>
          <p:nvPr/>
        </p:nvSpPr>
        <p:spPr>
          <a:xfrm>
            <a:off x="8743950" y="1828800"/>
            <a:ext cx="213360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36</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a:t>
            </a:r>
            <a:endParaRPr lang="en-US" sz="2800" dirty="0"/>
          </a:p>
        </p:txBody>
      </p:sp>
      <p:sp>
        <p:nvSpPr>
          <p:cNvPr id="22" name="Text 17"/>
          <p:cNvSpPr txBox="1"/>
          <p:nvPr/>
        </p:nvSpPr>
        <p:spPr>
          <a:xfrm>
            <a:off x="8743950" y="2247900"/>
            <a:ext cx="2133600" cy="533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of Jul customers ordered again in Aug or Sep (24 of 67)</a:t>
            </a:r>
            <a:endParaRPr lang="en-US" sz="950" dirty="0"/>
          </a:p>
        </p:txBody>
      </p:sp>
      <p:sp>
        <p:nvSpPr>
          <p:cNvPr id="23" name="Shape 18"/>
          <p:cNvSpPr/>
          <p:nvPr/>
        </p:nvSpPr>
        <p:spPr>
          <a:xfrm>
            <a:off x="762000" y="3009900"/>
            <a:ext cx="6191250" cy="3105150"/>
          </a:xfrm>
          <a:prstGeom prst="roundRect">
            <a:avLst>
              <a:gd name="adj" fmla="val 3534"/>
            </a:avLst>
          </a:prstGeom>
          <a:solidFill>
            <a:srgbClr val="FFFFFF"/>
          </a:solidFill>
          <a:ln w="12700">
            <a:solidFill>
              <a:srgbClr val="FFFFFF"/>
            </a:solidFill>
            <a:prstDash val="solid"/>
          </a:ln>
        </p:spPr>
      </p:sp>
      <p:sp>
        <p:nvSpPr>
          <p:cNvPr id="24" name="Text 19"/>
          <p:cNvSpPr txBox="1"/>
          <p:nvPr/>
        </p:nvSpPr>
        <p:spPr>
          <a:xfrm>
            <a:off x="952500" y="3181350"/>
            <a:ext cx="5829300" cy="2781300"/>
          </a:xfrm>
          <a:prstGeom prst="rect">
            <a:avLst/>
          </a:prstGeom>
          <a:noFill/>
          <a:ln/>
        </p:spPr>
        <p:txBody>
          <a:bodyPr wrap="square" lIns="0" tIns="0" rIns="0" bIns="0" rtlCol="0" anchor="t">
            <a:normAutofit/>
          </a:bodyPr>
          <a:lstStyle/>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GMV down 7% from Jul to Sep</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Rp2.41B → Rp1.64B → Rp2.25B, with Aug the low point.</a:t>
            </a:r>
            <a:endParaRPr lang="en-US" sz="1300" dirty="0"/>
          </a:p>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3 accounts stopped ordering</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Rp1.06B in Jul (44% of the month), nothing in Sep; Pupuk Grosir, handled by Muhammad Abdul Wahab.</a:t>
            </a:r>
            <a:endParaRPr lang="en-US" sz="1300" dirty="0"/>
          </a:p>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More fertilizer sold, less per kg</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322t → 394t (+22%), but GMV per kg fell 26%: a cheaper mix −Rp582M, price cuts −Rp165M (Urea Nitrea 46% N 50kg −28%).</a:t>
            </a:r>
            <a:endParaRPr lang="en-US" sz="1300" dirty="0"/>
          </a:p>
          <a:p>
            <a:pPr marL="342900" indent="-342900">
              <a:buSzPct val="100000"/>
              <a:buChar char="●"/>
            </a:pPr>
            <a:r>
              <a:rPr lang="en-US" sz="1300" b="1" dirty="0">
                <a:solidFill>
                  <a:srgbClr val="274E13"/>
                </a:solidFill>
                <a:latin typeface="Plus Jakarta Sans" pitchFamily="34" charset="0"/>
                <a:ea typeface="Plus Jakarta Sans" pitchFamily="34" charset="-122"/>
                <a:cs typeface="Plus Jakarta Sans" pitchFamily="34" charset="-120"/>
              </a:rPr>
              <a:t>62 customers lapsed, and the CRM isn't chasing them</a:t>
            </a:r>
            <a:endParaRPr lang="en-US" sz="1300" dirty="0"/>
          </a:p>
          <a:p>
            <a:pPr lvl="1" indent="0" marL="0">
              <a:spcAft>
                <a:spcPts val="900"/>
              </a:spcAft>
              <a:buNone/>
            </a:pPr>
            <a:r>
              <a:rPr lang="en-US" sz="1050" dirty="0">
                <a:solidFill>
                  <a:srgbClr val="535353"/>
                </a:solidFill>
                <a:latin typeface="Plus Jakarta Sans" pitchFamily="34" charset="0"/>
                <a:ea typeface="Plus Jakarta Sans" pitchFamily="34" charset="-122"/>
                <a:cs typeface="Plus Jakarta Sans" pitchFamily="34" charset="-120"/>
              </a:rPr>
              <a:t>19 were repeat buyers (Rp2.22B); 27 of 62 lapsed customers and 0 of 3 stopped accounts were contacted (1 Jul – 30 Sep 2026).</a:t>
            </a:r>
            <a:endParaRPr lang="en-US" sz="1300" dirty="0"/>
          </a:p>
        </p:txBody>
      </p:sp>
      <p:sp>
        <p:nvSpPr>
          <p:cNvPr id="25" name="Shape 20"/>
          <p:cNvSpPr/>
          <p:nvPr/>
        </p:nvSpPr>
        <p:spPr>
          <a:xfrm>
            <a:off x="7143750" y="3009900"/>
            <a:ext cx="3905250" cy="3105150"/>
          </a:xfrm>
          <a:prstGeom prst="roundRect">
            <a:avLst>
              <a:gd name="adj" fmla="val 3534"/>
            </a:avLst>
          </a:prstGeom>
          <a:solidFill>
            <a:srgbClr val="274E13"/>
          </a:solidFill>
          <a:ln w="12700">
            <a:solidFill>
              <a:srgbClr val="274E13"/>
            </a:solidFill>
            <a:prstDash val="solid"/>
          </a:ln>
        </p:spPr>
      </p:sp>
      <p:sp>
        <p:nvSpPr>
          <p:cNvPr id="26" name="Text 21"/>
          <p:cNvSpPr txBox="1"/>
          <p:nvPr/>
        </p:nvSpPr>
        <p:spPr>
          <a:xfrm>
            <a:off x="7372350" y="3219450"/>
            <a:ext cx="3448050" cy="2724150"/>
          </a:xfrm>
          <a:prstGeom prst="rect">
            <a:avLst/>
          </a:prstGeom>
          <a:noFill/>
          <a:ln/>
        </p:spPr>
        <p:txBody>
          <a:bodyPr wrap="square" lIns="0" tIns="0" rIns="0" bIns="0" rtlCol="0" anchor="t">
            <a:normAutofit/>
          </a:bodyPr>
          <a:lstStyle/>
          <a:p>
            <a:pPr indent="0" marL="0">
              <a:spcAft>
                <a:spcPts val="800"/>
              </a:spcAft>
              <a:buNone/>
            </a:pPr>
            <a:r>
              <a:rPr lang="en-US" sz="950" b="1" spc="200" kern="0" dirty="0">
                <a:solidFill>
                  <a:srgbClr val="F5D347"/>
                </a:solidFill>
                <a:latin typeface="Plus Jakarta Sans" pitchFamily="34" charset="0"/>
                <a:ea typeface="Plus Jakarta Sans" pitchFamily="34" charset="-122"/>
                <a:cs typeface="Plus Jakarta Sans" pitchFamily="34" charset="-120"/>
              </a:rPr>
              <a:t>BOTTOM LINE</a:t>
            </a:r>
            <a:endParaRPr lang="en-US" sz="950" dirty="0"/>
          </a:p>
          <a:p>
            <a:pPr indent="0" marL="0">
              <a:spcAft>
                <a:spcPts val="1000"/>
              </a:spcAft>
              <a:buNone/>
            </a:pPr>
            <a:r>
              <a:rPr lang="en-US" sz="1600" b="1" dirty="0">
                <a:solidFill>
                  <a:srgbClr val="FFFFFF"/>
                </a:solidFill>
                <a:latin typeface="Plus Jakarta Sans" pitchFamily="34" charset="0"/>
                <a:ea typeface="Plus Jakarta Sans" pitchFamily="34" charset="-122"/>
                <a:cs typeface="Plus Jakarta Sans" pitchFamily="34" charset="-120"/>
              </a:rPr>
              <a:t>The drop is 3 accounts, not the base: win them back and keep the 67% growth everyone else delivered.</a:t>
            </a:r>
            <a:endParaRPr lang="en-US" sz="950" dirty="0"/>
          </a:p>
          <a:p>
            <a:pPr indent="0" marL="0">
              <a:buNone/>
            </a:pPr>
            <a:r>
              <a:rPr lang="en-US" sz="1050" dirty="0">
                <a:solidFill>
                  <a:srgbClr val="D8E3CF"/>
                </a:solidFill>
                <a:latin typeface="Plus Jakarta Sans" pitchFamily="34" charset="0"/>
                <a:ea typeface="Plus Jakarta Sans" pitchFamily="34" charset="-122"/>
                <a:cs typeface="Plus Jakarta Sans" pitchFamily="34" charset="-120"/>
              </a:rPr>
              <a:t>Rp569M of Sep orders still need to be completed. Point the call list at the 62 lapsed customers.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3</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TREND · JUL–SEP</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GMV down 7% from Jul to Sep (Rp2.41B → Rp2.25B): 3 accounts stopped ordering, everyone else grew 67%</a:t>
            </a:r>
            <a:endParaRPr lang="en-US" sz="2300" dirty="0"/>
          </a:p>
        </p:txBody>
      </p:sp>
      <p:sp>
        <p:nvSpPr>
          <p:cNvPr id="11" name="Shape 6"/>
          <p:cNvSpPr/>
          <p:nvPr/>
        </p:nvSpPr>
        <p:spPr>
          <a:xfrm>
            <a:off x="762000" y="1714500"/>
            <a:ext cx="2457450" cy="800100"/>
          </a:xfrm>
          <a:prstGeom prst="roundRect">
            <a:avLst>
              <a:gd name="adj" fmla="val 13714"/>
            </a:avLst>
          </a:prstGeom>
          <a:solidFill>
            <a:srgbClr val="4A653B"/>
          </a:solidFill>
          <a:ln w="12700">
            <a:solidFill>
              <a:srgbClr val="4A653B"/>
            </a:solidFill>
            <a:prstDash val="solid"/>
          </a:ln>
        </p:spPr>
      </p:sp>
      <p:sp>
        <p:nvSpPr>
          <p:cNvPr id="12" name="Text 7"/>
          <p:cNvSpPr txBox="1"/>
          <p:nvPr/>
        </p:nvSpPr>
        <p:spPr>
          <a:xfrm>
            <a:off x="914400" y="1828800"/>
            <a:ext cx="2152650"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2.25</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B</a:t>
            </a:r>
            <a:endParaRPr lang="en-US" sz="2800" dirty="0"/>
          </a:p>
        </p:txBody>
      </p:sp>
      <p:sp>
        <p:nvSpPr>
          <p:cNvPr id="13" name="Text 8"/>
          <p:cNvSpPr txBox="1"/>
          <p:nvPr/>
        </p:nvSpPr>
        <p:spPr>
          <a:xfrm>
            <a:off x="9144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Sep GMV, ▼ 7% from Rp2.41B in Jul</a:t>
            </a:r>
            <a:endParaRPr lang="en-US" sz="950" dirty="0"/>
          </a:p>
        </p:txBody>
      </p:sp>
      <p:sp>
        <p:nvSpPr>
          <p:cNvPr id="14" name="Shape 9"/>
          <p:cNvSpPr/>
          <p:nvPr/>
        </p:nvSpPr>
        <p:spPr>
          <a:xfrm>
            <a:off x="3371850" y="1714500"/>
            <a:ext cx="2457450" cy="800100"/>
          </a:xfrm>
          <a:prstGeom prst="roundRect">
            <a:avLst>
              <a:gd name="adj" fmla="val 13714"/>
            </a:avLst>
          </a:prstGeom>
          <a:solidFill>
            <a:srgbClr val="FFFFFF"/>
          </a:solidFill>
          <a:ln w="12700">
            <a:solidFill>
              <a:srgbClr val="FFFFFF"/>
            </a:solidFill>
            <a:prstDash val="solid"/>
          </a:ln>
        </p:spPr>
      </p:sp>
      <p:sp>
        <p:nvSpPr>
          <p:cNvPr id="15" name="Text 10"/>
          <p:cNvSpPr txBox="1"/>
          <p:nvPr/>
        </p:nvSpPr>
        <p:spPr>
          <a:xfrm>
            <a:off x="35242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100</a:t>
            </a:r>
            <a:pPr indent="0" marL="0">
              <a:buNone/>
            </a:pPr>
            <a:endParaRPr lang="en-US" sz="2800" dirty="0"/>
          </a:p>
        </p:txBody>
      </p:sp>
      <p:sp>
        <p:nvSpPr>
          <p:cNvPr id="16" name="Text 11"/>
          <p:cNvSpPr txBox="1"/>
          <p:nvPr/>
        </p:nvSpPr>
        <p:spPr>
          <a:xfrm>
            <a:off x="35242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orders in Sep, ▲ 18% from 85</a:t>
            </a:r>
            <a:endParaRPr lang="en-US" sz="950" dirty="0"/>
          </a:p>
        </p:txBody>
      </p:sp>
      <p:sp>
        <p:nvSpPr>
          <p:cNvPr id="17" name="Shape 12"/>
          <p:cNvSpPr/>
          <p:nvPr/>
        </p:nvSpPr>
        <p:spPr>
          <a:xfrm>
            <a:off x="5981700" y="1714500"/>
            <a:ext cx="2457450" cy="800100"/>
          </a:xfrm>
          <a:prstGeom prst="roundRect">
            <a:avLst>
              <a:gd name="adj" fmla="val 13714"/>
            </a:avLst>
          </a:prstGeom>
          <a:solidFill>
            <a:srgbClr val="FFFFFF"/>
          </a:solidFill>
          <a:ln w="12700">
            <a:solidFill>
              <a:srgbClr val="FFFFFF"/>
            </a:solidFill>
            <a:prstDash val="solid"/>
          </a:ln>
        </p:spPr>
      </p:sp>
      <p:sp>
        <p:nvSpPr>
          <p:cNvPr id="18" name="Text 13"/>
          <p:cNvSpPr txBox="1"/>
          <p:nvPr/>
        </p:nvSpPr>
        <p:spPr>
          <a:xfrm>
            <a:off x="613410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71</a:t>
            </a:r>
            <a:pPr indent="0" marL="0">
              <a:buNone/>
            </a:pPr>
            <a:endParaRPr lang="en-US" sz="2800" dirty="0"/>
          </a:p>
        </p:txBody>
      </p:sp>
      <p:sp>
        <p:nvSpPr>
          <p:cNvPr id="19" name="Text 14"/>
          <p:cNvSpPr txBox="1"/>
          <p:nvPr/>
        </p:nvSpPr>
        <p:spPr>
          <a:xfrm>
            <a:off x="61341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customers, ▲ 6% from 67</a:t>
            </a:r>
            <a:endParaRPr lang="en-US" sz="950" dirty="0"/>
          </a:p>
        </p:txBody>
      </p:sp>
      <p:sp>
        <p:nvSpPr>
          <p:cNvPr id="20" name="Shape 15"/>
          <p:cNvSpPr/>
          <p:nvPr/>
        </p:nvSpPr>
        <p:spPr>
          <a:xfrm>
            <a:off x="8591550" y="1714500"/>
            <a:ext cx="2457450" cy="800100"/>
          </a:xfrm>
          <a:prstGeom prst="roundRect">
            <a:avLst>
              <a:gd name="adj" fmla="val 13714"/>
            </a:avLst>
          </a:prstGeom>
          <a:solidFill>
            <a:srgbClr val="FFFFFF"/>
          </a:solidFill>
          <a:ln w="12700">
            <a:solidFill>
              <a:srgbClr val="FFFFFF"/>
            </a:solidFill>
            <a:prstDash val="solid"/>
          </a:ln>
        </p:spPr>
      </p:sp>
      <p:sp>
        <p:nvSpPr>
          <p:cNvPr id="21" name="Text 16"/>
          <p:cNvSpPr txBox="1"/>
          <p:nvPr/>
        </p:nvSpPr>
        <p:spPr>
          <a:xfrm>
            <a:off x="87439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22.5</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M</a:t>
            </a:r>
            <a:endParaRPr lang="en-US" sz="2800" dirty="0"/>
          </a:p>
        </p:txBody>
      </p:sp>
      <p:sp>
        <p:nvSpPr>
          <p:cNvPr id="22" name="Text 17"/>
          <p:cNvSpPr txBox="1"/>
          <p:nvPr/>
        </p:nvSpPr>
        <p:spPr>
          <a:xfrm>
            <a:off x="87439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average order, ▼ 21% from Rp28.4M</a:t>
            </a:r>
            <a:endParaRPr lang="en-US" sz="950" dirty="0"/>
          </a:p>
        </p:txBody>
      </p:sp>
      <p:sp>
        <p:nvSpPr>
          <p:cNvPr id="23" name="Shape 18"/>
          <p:cNvSpPr/>
          <p:nvPr/>
        </p:nvSpPr>
        <p:spPr>
          <a:xfrm>
            <a:off x="762000" y="2647950"/>
            <a:ext cx="4279053" cy="2266950"/>
          </a:xfrm>
          <a:prstGeom prst="roundRect">
            <a:avLst>
              <a:gd name="adj" fmla="val 4840"/>
            </a:avLst>
          </a:prstGeom>
          <a:solidFill>
            <a:srgbClr val="FFFFFF"/>
          </a:solidFill>
          <a:ln w="12700">
            <a:solidFill>
              <a:srgbClr val="FFFFFF"/>
            </a:solidFill>
            <a:prstDash val="solid"/>
          </a:ln>
        </p:spPr>
      </p:sp>
      <p:sp>
        <p:nvSpPr>
          <p:cNvPr id="24" name="Text 19"/>
          <p:cNvSpPr txBox="1"/>
          <p:nvPr/>
        </p:nvSpPr>
        <p:spPr>
          <a:xfrm>
            <a:off x="952500" y="2800350"/>
            <a:ext cx="3898053"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month</a:t>
            </a:r>
            <a:endParaRPr lang="en-US" sz="1300" dirty="0"/>
          </a:p>
        </p:txBody>
      </p:sp>
      <p:sp>
        <p:nvSpPr>
          <p:cNvPr id="25" name="Text 20"/>
          <p:cNvSpPr txBox="1"/>
          <p:nvPr/>
        </p:nvSpPr>
        <p:spPr>
          <a:xfrm>
            <a:off x="952500" y="3028950"/>
            <a:ext cx="3898053"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3 accounts that stopped ordering vs everyone else</a:t>
            </a:r>
            <a:endParaRPr lang="en-US" sz="950" dirty="0"/>
          </a:p>
        </p:txBody>
      </p:sp>
      <p:sp>
        <p:nvSpPr>
          <p:cNvPr id="26" name="Shape 21"/>
          <p:cNvSpPr/>
          <p:nvPr/>
        </p:nvSpPr>
        <p:spPr>
          <a:xfrm>
            <a:off x="971550" y="3343275"/>
            <a:ext cx="104775" cy="104775"/>
          </a:xfrm>
          <a:prstGeom prst="roundRect">
            <a:avLst>
              <a:gd name="adj" fmla="val 18182"/>
            </a:avLst>
          </a:prstGeom>
          <a:solidFill>
            <a:srgbClr val="3E7B27"/>
          </a:solidFill>
          <a:ln w="12700">
            <a:solidFill>
              <a:srgbClr val="3E7B27"/>
            </a:solidFill>
            <a:prstDash val="solid"/>
          </a:ln>
        </p:spPr>
      </p:sp>
      <p:sp>
        <p:nvSpPr>
          <p:cNvPr id="27" name="Text 22"/>
          <p:cNvSpPr txBox="1"/>
          <p:nvPr/>
        </p:nvSpPr>
        <p:spPr>
          <a:xfrm>
            <a:off x="1123950" y="3314700"/>
            <a:ext cx="1298829"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All other customers</a:t>
            </a:r>
            <a:endParaRPr lang="en-US" sz="860" dirty="0"/>
          </a:p>
        </p:txBody>
      </p:sp>
      <p:sp>
        <p:nvSpPr>
          <p:cNvPr id="28" name="Shape 23"/>
          <p:cNvSpPr/>
          <p:nvPr/>
        </p:nvSpPr>
        <p:spPr>
          <a:xfrm>
            <a:off x="2422779" y="3343275"/>
            <a:ext cx="104775" cy="104775"/>
          </a:xfrm>
          <a:prstGeom prst="roundRect">
            <a:avLst>
              <a:gd name="adj" fmla="val 18182"/>
            </a:avLst>
          </a:prstGeom>
          <a:solidFill>
            <a:srgbClr val="B85A28"/>
          </a:solidFill>
          <a:ln w="12700">
            <a:solidFill>
              <a:srgbClr val="B85A28"/>
            </a:solidFill>
            <a:prstDash val="solid"/>
          </a:ln>
        </p:spPr>
      </p:sp>
      <p:sp>
        <p:nvSpPr>
          <p:cNvPr id="29" name="Text 24"/>
          <p:cNvSpPr txBox="1"/>
          <p:nvPr/>
        </p:nvSpPr>
        <p:spPr>
          <a:xfrm>
            <a:off x="2575179" y="3314700"/>
            <a:ext cx="1544193"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3 accounts that stopped</a:t>
            </a:r>
            <a:endParaRPr lang="en-US" sz="860" dirty="0"/>
          </a:p>
        </p:txBody>
      </p:sp>
      <p:sp>
        <p:nvSpPr>
          <p:cNvPr id="30" name="Shape 25"/>
          <p:cNvSpPr/>
          <p:nvPr/>
        </p:nvSpPr>
        <p:spPr>
          <a:xfrm>
            <a:off x="1281501" y="4038605"/>
            <a:ext cx="666750" cy="361945"/>
          </a:xfrm>
          <a:prstGeom prst="roundRect">
            <a:avLst>
              <a:gd name="adj" fmla="val 7895"/>
            </a:avLst>
          </a:prstGeom>
          <a:solidFill>
            <a:srgbClr val="3E7B27"/>
          </a:solidFill>
          <a:ln w="12700">
            <a:solidFill>
              <a:srgbClr val="3E7B27"/>
            </a:solidFill>
            <a:prstDash val="solid"/>
          </a:ln>
        </p:spPr>
      </p:sp>
      <p:sp>
        <p:nvSpPr>
          <p:cNvPr id="31" name="Text 26"/>
          <p:cNvSpPr txBox="1"/>
          <p:nvPr/>
        </p:nvSpPr>
        <p:spPr>
          <a:xfrm>
            <a:off x="1281501" y="4038605"/>
            <a:ext cx="666750" cy="361945"/>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Rp1.35B</a:t>
            </a:r>
            <a:endParaRPr lang="en-US" sz="800" dirty="0"/>
          </a:p>
        </p:txBody>
      </p:sp>
      <p:sp>
        <p:nvSpPr>
          <p:cNvPr id="32" name="Shape 27"/>
          <p:cNvSpPr/>
          <p:nvPr/>
        </p:nvSpPr>
        <p:spPr>
          <a:xfrm>
            <a:off x="1281501" y="3752850"/>
            <a:ext cx="666750" cy="266705"/>
          </a:xfrm>
          <a:prstGeom prst="roundRect">
            <a:avLst>
              <a:gd name="adj" fmla="val 10714"/>
            </a:avLst>
          </a:prstGeom>
          <a:solidFill>
            <a:srgbClr val="B85A28"/>
          </a:solidFill>
          <a:ln w="12700">
            <a:solidFill>
              <a:srgbClr val="B85A28"/>
            </a:solidFill>
            <a:prstDash val="solid"/>
          </a:ln>
        </p:spPr>
      </p:sp>
      <p:sp>
        <p:nvSpPr>
          <p:cNvPr id="33" name="Text 28"/>
          <p:cNvSpPr txBox="1"/>
          <p:nvPr/>
        </p:nvSpPr>
        <p:spPr>
          <a:xfrm>
            <a:off x="1281501" y="3752850"/>
            <a:ext cx="666750" cy="285755"/>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Rp1.06B</a:t>
            </a:r>
            <a:endParaRPr lang="en-US" sz="800" dirty="0"/>
          </a:p>
        </p:txBody>
      </p:sp>
      <p:sp>
        <p:nvSpPr>
          <p:cNvPr id="34" name="Text 29"/>
          <p:cNvSpPr txBox="1"/>
          <p:nvPr/>
        </p:nvSpPr>
        <p:spPr>
          <a:xfrm>
            <a:off x="1233876" y="358140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Rp2.41B</a:t>
            </a:r>
            <a:endParaRPr lang="en-US" sz="860" dirty="0"/>
          </a:p>
        </p:txBody>
      </p:sp>
      <p:sp>
        <p:nvSpPr>
          <p:cNvPr id="35" name="Text 30"/>
          <p:cNvSpPr txBox="1"/>
          <p:nvPr/>
        </p:nvSpPr>
        <p:spPr>
          <a:xfrm>
            <a:off x="981075" y="4448175"/>
            <a:ext cx="1267601"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85 orders</a:t>
            </a:r>
            <a:endParaRPr lang="en-US" sz="830" dirty="0"/>
          </a:p>
        </p:txBody>
      </p:sp>
      <p:sp>
        <p:nvSpPr>
          <p:cNvPr id="36" name="Shape 31"/>
          <p:cNvSpPr/>
          <p:nvPr/>
        </p:nvSpPr>
        <p:spPr>
          <a:xfrm>
            <a:off x="2568152" y="4124890"/>
            <a:ext cx="666750" cy="275660"/>
          </a:xfrm>
          <a:prstGeom prst="roundRect">
            <a:avLst>
              <a:gd name="adj" fmla="val 10366"/>
            </a:avLst>
          </a:prstGeom>
          <a:solidFill>
            <a:srgbClr val="3E7B27"/>
          </a:solidFill>
          <a:ln w="12700">
            <a:solidFill>
              <a:srgbClr val="3E7B27"/>
            </a:solidFill>
            <a:prstDash val="solid"/>
          </a:ln>
        </p:spPr>
      </p:sp>
      <p:sp>
        <p:nvSpPr>
          <p:cNvPr id="37" name="Text 32"/>
          <p:cNvSpPr txBox="1"/>
          <p:nvPr/>
        </p:nvSpPr>
        <p:spPr>
          <a:xfrm>
            <a:off x="2568152" y="4124890"/>
            <a:ext cx="666750" cy="275660"/>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Rp1.03B</a:t>
            </a:r>
            <a:endParaRPr lang="en-US" sz="800" dirty="0"/>
          </a:p>
        </p:txBody>
      </p:sp>
      <p:sp>
        <p:nvSpPr>
          <p:cNvPr id="38" name="Shape 33"/>
          <p:cNvSpPr/>
          <p:nvPr/>
        </p:nvSpPr>
        <p:spPr>
          <a:xfrm>
            <a:off x="2568152" y="3960387"/>
            <a:ext cx="666750" cy="145454"/>
          </a:xfrm>
          <a:prstGeom prst="roundRect">
            <a:avLst>
              <a:gd name="adj" fmla="val 19645"/>
            </a:avLst>
          </a:prstGeom>
          <a:solidFill>
            <a:srgbClr val="B85A28"/>
          </a:solidFill>
          <a:ln w="12700">
            <a:solidFill>
              <a:srgbClr val="B85A28"/>
            </a:solidFill>
            <a:prstDash val="solid"/>
          </a:ln>
        </p:spPr>
      </p:sp>
      <p:sp>
        <p:nvSpPr>
          <p:cNvPr id="39" name="Text 34"/>
          <p:cNvSpPr txBox="1"/>
          <p:nvPr/>
        </p:nvSpPr>
        <p:spPr>
          <a:xfrm>
            <a:off x="2568152" y="3960387"/>
            <a:ext cx="666750" cy="164504"/>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Rp613M</a:t>
            </a:r>
            <a:endParaRPr lang="en-US" sz="800" dirty="0"/>
          </a:p>
        </p:txBody>
      </p:sp>
      <p:sp>
        <p:nvSpPr>
          <p:cNvPr id="40" name="Text 35"/>
          <p:cNvSpPr txBox="1"/>
          <p:nvPr/>
        </p:nvSpPr>
        <p:spPr>
          <a:xfrm>
            <a:off x="2520527" y="3788937"/>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Rp1.64B</a:t>
            </a:r>
            <a:endParaRPr lang="en-US" sz="860" dirty="0"/>
          </a:p>
        </p:txBody>
      </p:sp>
      <p:sp>
        <p:nvSpPr>
          <p:cNvPr id="41" name="Text 36"/>
          <p:cNvSpPr txBox="1"/>
          <p:nvPr/>
        </p:nvSpPr>
        <p:spPr>
          <a:xfrm>
            <a:off x="2267726" y="4448175"/>
            <a:ext cx="1267601"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Aug</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52 orders</a:t>
            </a:r>
            <a:endParaRPr lang="en-US" sz="830" dirty="0"/>
          </a:p>
        </p:txBody>
      </p:sp>
      <p:sp>
        <p:nvSpPr>
          <p:cNvPr id="42" name="Shape 37"/>
          <p:cNvSpPr/>
          <p:nvPr/>
        </p:nvSpPr>
        <p:spPr>
          <a:xfrm>
            <a:off x="3854803" y="3795534"/>
            <a:ext cx="666750" cy="605016"/>
          </a:xfrm>
          <a:prstGeom prst="roundRect">
            <a:avLst>
              <a:gd name="adj" fmla="val 4723"/>
            </a:avLst>
          </a:prstGeom>
          <a:solidFill>
            <a:srgbClr val="3E7B27"/>
          </a:solidFill>
          <a:ln w="12700">
            <a:solidFill>
              <a:srgbClr val="3E7B27"/>
            </a:solidFill>
            <a:prstDash val="solid"/>
          </a:ln>
        </p:spPr>
      </p:sp>
      <p:sp>
        <p:nvSpPr>
          <p:cNvPr id="43" name="Text 38"/>
          <p:cNvSpPr txBox="1"/>
          <p:nvPr/>
        </p:nvSpPr>
        <p:spPr>
          <a:xfrm>
            <a:off x="3854803" y="3795534"/>
            <a:ext cx="666750" cy="605016"/>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Rp2.25B</a:t>
            </a:r>
            <a:endParaRPr lang="en-US" sz="800" dirty="0"/>
          </a:p>
        </p:txBody>
      </p:sp>
      <p:sp>
        <p:nvSpPr>
          <p:cNvPr id="44" name="Text 39"/>
          <p:cNvSpPr txBox="1"/>
          <p:nvPr/>
        </p:nvSpPr>
        <p:spPr>
          <a:xfrm>
            <a:off x="3807178" y="3624084"/>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Rp2.25B</a:t>
            </a:r>
            <a:endParaRPr lang="en-US" sz="860" dirty="0"/>
          </a:p>
        </p:txBody>
      </p:sp>
      <p:sp>
        <p:nvSpPr>
          <p:cNvPr id="45" name="Text 40"/>
          <p:cNvSpPr txBox="1"/>
          <p:nvPr/>
        </p:nvSpPr>
        <p:spPr>
          <a:xfrm>
            <a:off x="3554377" y="4448175"/>
            <a:ext cx="1267601"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100 orders</a:t>
            </a:r>
            <a:endParaRPr lang="en-US" sz="830" dirty="0"/>
          </a:p>
        </p:txBody>
      </p:sp>
      <p:sp>
        <p:nvSpPr>
          <p:cNvPr id="46" name="Shape 41"/>
          <p:cNvSpPr/>
          <p:nvPr/>
        </p:nvSpPr>
        <p:spPr>
          <a:xfrm>
            <a:off x="971550" y="4400550"/>
            <a:ext cx="3859953" cy="0"/>
          </a:xfrm>
          <a:prstGeom prst="line">
            <a:avLst/>
          </a:prstGeom>
          <a:noFill/>
          <a:ln w="9525">
            <a:solidFill>
              <a:srgbClr val="B9C2B0"/>
            </a:solidFill>
            <a:prstDash val="solid"/>
          </a:ln>
        </p:spPr>
      </p:sp>
      <p:sp>
        <p:nvSpPr>
          <p:cNvPr id="47" name="Shape 42"/>
          <p:cNvSpPr/>
          <p:nvPr/>
        </p:nvSpPr>
        <p:spPr>
          <a:xfrm>
            <a:off x="5193453" y="2647950"/>
            <a:ext cx="5855547" cy="2266950"/>
          </a:xfrm>
          <a:prstGeom prst="roundRect">
            <a:avLst>
              <a:gd name="adj" fmla="val 4840"/>
            </a:avLst>
          </a:prstGeom>
          <a:solidFill>
            <a:srgbClr val="FFFFFF"/>
          </a:solidFill>
          <a:ln w="12700">
            <a:solidFill>
              <a:srgbClr val="FFFFFF"/>
            </a:solidFill>
            <a:prstDash val="solid"/>
          </a:ln>
        </p:spPr>
      </p:sp>
      <p:sp>
        <p:nvSpPr>
          <p:cNvPr id="48" name="Text 43"/>
          <p:cNvSpPr txBox="1"/>
          <p:nvPr/>
        </p:nvSpPr>
        <p:spPr>
          <a:xfrm>
            <a:off x="5383953" y="2800350"/>
            <a:ext cx="5474547"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week</a:t>
            </a:r>
            <a:endParaRPr lang="en-US" sz="1300" dirty="0"/>
          </a:p>
        </p:txBody>
      </p:sp>
      <p:sp>
        <p:nvSpPr>
          <p:cNvPr id="49" name="Text 44"/>
          <p:cNvSpPr txBox="1"/>
          <p:nvPr/>
        </p:nvSpPr>
        <p:spPr>
          <a:xfrm>
            <a:off x="5383953" y="3028950"/>
            <a:ext cx="5474547"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Monday–Sunday weeks; best week and the last week labelled</a:t>
            </a:r>
            <a:endParaRPr lang="en-US" sz="950" dirty="0"/>
          </a:p>
        </p:txBody>
      </p:sp>
      <p:sp>
        <p:nvSpPr>
          <p:cNvPr id="50" name="Shape 45"/>
          <p:cNvSpPr/>
          <p:nvPr/>
        </p:nvSpPr>
        <p:spPr>
          <a:xfrm>
            <a:off x="5784003" y="4572000"/>
            <a:ext cx="4941147" cy="0"/>
          </a:xfrm>
          <a:prstGeom prst="line">
            <a:avLst/>
          </a:prstGeom>
          <a:noFill/>
          <a:ln w="9525">
            <a:solidFill>
              <a:srgbClr val="B9C2B0"/>
            </a:solidFill>
            <a:prstDash val="solid"/>
          </a:ln>
        </p:spPr>
      </p:sp>
      <p:sp>
        <p:nvSpPr>
          <p:cNvPr id="51" name="Text 46"/>
          <p:cNvSpPr txBox="1"/>
          <p:nvPr/>
        </p:nvSpPr>
        <p:spPr>
          <a:xfrm>
            <a:off x="5403003" y="4495800"/>
            <a:ext cx="323850" cy="152400"/>
          </a:xfrm>
          <a:prstGeom prst="rect">
            <a:avLst/>
          </a:prstGeom>
          <a:noFill/>
          <a:ln/>
        </p:spPr>
        <p:txBody>
          <a:bodyPr wrap="square" lIns="0" tIns="0" rIns="0" bIns="0" rtlCol="0" anchor="ctr"/>
          <a:lstStyle/>
          <a:p>
            <a:pPr algn="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Rp0</a:t>
            </a:r>
            <a:endParaRPr lang="en-US" sz="800" dirty="0"/>
          </a:p>
        </p:txBody>
      </p:sp>
      <p:sp>
        <p:nvSpPr>
          <p:cNvPr id="52" name="Shape 47"/>
          <p:cNvSpPr/>
          <p:nvPr/>
        </p:nvSpPr>
        <p:spPr>
          <a:xfrm>
            <a:off x="5784003" y="4038600"/>
            <a:ext cx="4941147" cy="0"/>
          </a:xfrm>
          <a:prstGeom prst="line">
            <a:avLst/>
          </a:prstGeom>
          <a:noFill/>
          <a:ln w="9525">
            <a:solidFill>
              <a:srgbClr val="E3E8DE"/>
            </a:solidFill>
            <a:prstDash val="solid"/>
          </a:ln>
        </p:spPr>
      </p:sp>
      <p:sp>
        <p:nvSpPr>
          <p:cNvPr id="53" name="Text 48"/>
          <p:cNvSpPr txBox="1"/>
          <p:nvPr/>
        </p:nvSpPr>
        <p:spPr>
          <a:xfrm>
            <a:off x="5403003" y="3962400"/>
            <a:ext cx="323850" cy="152400"/>
          </a:xfrm>
          <a:prstGeom prst="rect">
            <a:avLst/>
          </a:prstGeom>
          <a:noFill/>
          <a:ln/>
        </p:spPr>
        <p:txBody>
          <a:bodyPr wrap="square" lIns="0" tIns="0" rIns="0" bIns="0" rtlCol="0" anchor="ctr"/>
          <a:lstStyle/>
          <a:p>
            <a:pPr algn="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Rp530M</a:t>
            </a:r>
            <a:endParaRPr lang="en-US" sz="800" dirty="0"/>
          </a:p>
        </p:txBody>
      </p:sp>
      <p:sp>
        <p:nvSpPr>
          <p:cNvPr id="54" name="Shape 49"/>
          <p:cNvSpPr/>
          <p:nvPr/>
        </p:nvSpPr>
        <p:spPr>
          <a:xfrm>
            <a:off x="5784003" y="3505200"/>
            <a:ext cx="4941147" cy="0"/>
          </a:xfrm>
          <a:prstGeom prst="line">
            <a:avLst/>
          </a:prstGeom>
          <a:noFill/>
          <a:ln w="9525">
            <a:solidFill>
              <a:srgbClr val="E3E8DE"/>
            </a:solidFill>
            <a:prstDash val="solid"/>
          </a:ln>
        </p:spPr>
      </p:sp>
      <p:sp>
        <p:nvSpPr>
          <p:cNvPr id="55" name="Text 50"/>
          <p:cNvSpPr txBox="1"/>
          <p:nvPr/>
        </p:nvSpPr>
        <p:spPr>
          <a:xfrm>
            <a:off x="5403003" y="3429000"/>
            <a:ext cx="323850" cy="152400"/>
          </a:xfrm>
          <a:prstGeom prst="rect">
            <a:avLst/>
          </a:prstGeom>
          <a:noFill/>
          <a:ln/>
        </p:spPr>
        <p:txBody>
          <a:bodyPr wrap="square" lIns="0" tIns="0" rIns="0" bIns="0" rtlCol="0" anchor="ctr"/>
          <a:lstStyle/>
          <a:p>
            <a:pPr algn="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Rp1.06B</a:t>
            </a:r>
            <a:endParaRPr lang="en-US" sz="800" dirty="0"/>
          </a:p>
        </p:txBody>
      </p:sp>
      <p:sp>
        <p:nvSpPr>
          <p:cNvPr id="56" name="Shape 51"/>
          <p:cNvSpPr/>
          <p:nvPr/>
        </p:nvSpPr>
        <p:spPr>
          <a:xfrm flipV="1">
            <a:off x="5860203" y="3948924"/>
            <a:ext cx="368365" cy="323087"/>
          </a:xfrm>
          <a:prstGeom prst="line">
            <a:avLst/>
          </a:prstGeom>
          <a:noFill/>
          <a:ln w="23813">
            <a:solidFill>
              <a:srgbClr val="3E7B27"/>
            </a:solidFill>
            <a:prstDash val="solid"/>
          </a:ln>
        </p:spPr>
      </p:sp>
      <p:sp>
        <p:nvSpPr>
          <p:cNvPr id="57" name="Shape 52"/>
          <p:cNvSpPr/>
          <p:nvPr/>
        </p:nvSpPr>
        <p:spPr>
          <a:xfrm>
            <a:off x="6228568" y="3948924"/>
            <a:ext cx="368365" cy="453590"/>
          </a:xfrm>
          <a:prstGeom prst="line">
            <a:avLst/>
          </a:prstGeom>
          <a:noFill/>
          <a:ln w="23813">
            <a:solidFill>
              <a:srgbClr val="3E7B27"/>
            </a:solidFill>
            <a:prstDash val="solid"/>
          </a:ln>
        </p:spPr>
      </p:sp>
      <p:sp>
        <p:nvSpPr>
          <p:cNvPr id="58" name="Shape 53"/>
          <p:cNvSpPr/>
          <p:nvPr/>
        </p:nvSpPr>
        <p:spPr>
          <a:xfrm flipV="1">
            <a:off x="6596934" y="3584222"/>
            <a:ext cx="368365" cy="818291"/>
          </a:xfrm>
          <a:prstGeom prst="line">
            <a:avLst/>
          </a:prstGeom>
          <a:noFill/>
          <a:ln w="23813">
            <a:solidFill>
              <a:srgbClr val="3E7B27"/>
            </a:solidFill>
            <a:prstDash val="solid"/>
          </a:ln>
        </p:spPr>
      </p:sp>
      <p:sp>
        <p:nvSpPr>
          <p:cNvPr id="59" name="Shape 54"/>
          <p:cNvSpPr/>
          <p:nvPr/>
        </p:nvSpPr>
        <p:spPr>
          <a:xfrm>
            <a:off x="6965299" y="3584222"/>
            <a:ext cx="368365" cy="630066"/>
          </a:xfrm>
          <a:prstGeom prst="line">
            <a:avLst/>
          </a:prstGeom>
          <a:noFill/>
          <a:ln w="23813">
            <a:solidFill>
              <a:srgbClr val="3E7B27"/>
            </a:solidFill>
            <a:prstDash val="solid"/>
          </a:ln>
        </p:spPr>
      </p:sp>
      <p:sp>
        <p:nvSpPr>
          <p:cNvPr id="60" name="Shape 55"/>
          <p:cNvSpPr/>
          <p:nvPr/>
        </p:nvSpPr>
        <p:spPr>
          <a:xfrm flipV="1">
            <a:off x="7333664" y="4092301"/>
            <a:ext cx="368365" cy="121987"/>
          </a:xfrm>
          <a:prstGeom prst="line">
            <a:avLst/>
          </a:prstGeom>
          <a:noFill/>
          <a:ln w="23813">
            <a:solidFill>
              <a:srgbClr val="3E7B27"/>
            </a:solidFill>
            <a:prstDash val="solid"/>
          </a:ln>
        </p:spPr>
      </p:sp>
      <p:sp>
        <p:nvSpPr>
          <p:cNvPr id="61" name="Shape 56"/>
          <p:cNvSpPr/>
          <p:nvPr/>
        </p:nvSpPr>
        <p:spPr>
          <a:xfrm>
            <a:off x="7702029" y="4092301"/>
            <a:ext cx="368365" cy="214036"/>
          </a:xfrm>
          <a:prstGeom prst="line">
            <a:avLst/>
          </a:prstGeom>
          <a:noFill/>
          <a:ln w="23813">
            <a:solidFill>
              <a:srgbClr val="3E7B27"/>
            </a:solidFill>
            <a:prstDash val="solid"/>
          </a:ln>
        </p:spPr>
      </p:sp>
      <p:sp>
        <p:nvSpPr>
          <p:cNvPr id="62" name="Shape 57"/>
          <p:cNvSpPr/>
          <p:nvPr/>
        </p:nvSpPr>
        <p:spPr>
          <a:xfrm flipV="1">
            <a:off x="8070394" y="4287525"/>
            <a:ext cx="368365" cy="18812"/>
          </a:xfrm>
          <a:prstGeom prst="line">
            <a:avLst/>
          </a:prstGeom>
          <a:noFill/>
          <a:ln w="23813">
            <a:solidFill>
              <a:srgbClr val="3E7B27"/>
            </a:solidFill>
            <a:prstDash val="solid"/>
          </a:ln>
        </p:spPr>
      </p:sp>
      <p:sp>
        <p:nvSpPr>
          <p:cNvPr id="63" name="Shape 58"/>
          <p:cNvSpPr/>
          <p:nvPr/>
        </p:nvSpPr>
        <p:spPr>
          <a:xfrm flipV="1">
            <a:off x="8438759" y="3989968"/>
            <a:ext cx="368365" cy="297557"/>
          </a:xfrm>
          <a:prstGeom prst="line">
            <a:avLst/>
          </a:prstGeom>
          <a:noFill/>
          <a:ln w="23813">
            <a:solidFill>
              <a:srgbClr val="3E7B27"/>
            </a:solidFill>
            <a:prstDash val="solid"/>
          </a:ln>
        </p:spPr>
      </p:sp>
      <p:sp>
        <p:nvSpPr>
          <p:cNvPr id="64" name="Shape 59"/>
          <p:cNvSpPr/>
          <p:nvPr/>
        </p:nvSpPr>
        <p:spPr>
          <a:xfrm>
            <a:off x="8807124" y="3989968"/>
            <a:ext cx="368365" cy="290041"/>
          </a:xfrm>
          <a:prstGeom prst="line">
            <a:avLst/>
          </a:prstGeom>
          <a:noFill/>
          <a:ln w="23813">
            <a:solidFill>
              <a:srgbClr val="3E7B27"/>
            </a:solidFill>
            <a:prstDash val="solid"/>
          </a:ln>
        </p:spPr>
      </p:sp>
      <p:sp>
        <p:nvSpPr>
          <p:cNvPr id="65" name="Shape 60"/>
          <p:cNvSpPr/>
          <p:nvPr/>
        </p:nvSpPr>
        <p:spPr>
          <a:xfrm>
            <a:off x="9175489" y="4280009"/>
            <a:ext cx="368365" cy="31734"/>
          </a:xfrm>
          <a:prstGeom prst="line">
            <a:avLst/>
          </a:prstGeom>
          <a:noFill/>
          <a:ln w="23813">
            <a:solidFill>
              <a:srgbClr val="3E7B27"/>
            </a:solidFill>
            <a:prstDash val="solid"/>
          </a:ln>
        </p:spPr>
      </p:sp>
      <p:sp>
        <p:nvSpPr>
          <p:cNvPr id="66" name="Shape 61"/>
          <p:cNvSpPr/>
          <p:nvPr/>
        </p:nvSpPr>
        <p:spPr>
          <a:xfrm flipV="1">
            <a:off x="9543855" y="4085218"/>
            <a:ext cx="368365" cy="226525"/>
          </a:xfrm>
          <a:prstGeom prst="line">
            <a:avLst/>
          </a:prstGeom>
          <a:noFill/>
          <a:ln w="23813">
            <a:solidFill>
              <a:srgbClr val="3E7B27"/>
            </a:solidFill>
            <a:prstDash val="solid"/>
          </a:ln>
        </p:spPr>
      </p:sp>
      <p:sp>
        <p:nvSpPr>
          <p:cNvPr id="67" name="Shape 62"/>
          <p:cNvSpPr/>
          <p:nvPr/>
        </p:nvSpPr>
        <p:spPr>
          <a:xfrm flipV="1">
            <a:off x="9912220" y="3664487"/>
            <a:ext cx="368365" cy="420731"/>
          </a:xfrm>
          <a:prstGeom prst="line">
            <a:avLst/>
          </a:prstGeom>
          <a:noFill/>
          <a:ln w="23813">
            <a:solidFill>
              <a:srgbClr val="3E7B27"/>
            </a:solidFill>
            <a:prstDash val="solid"/>
          </a:ln>
        </p:spPr>
      </p:sp>
      <p:sp>
        <p:nvSpPr>
          <p:cNvPr id="68" name="Shape 63"/>
          <p:cNvSpPr/>
          <p:nvPr/>
        </p:nvSpPr>
        <p:spPr>
          <a:xfrm>
            <a:off x="10280585" y="3664487"/>
            <a:ext cx="368365" cy="557553"/>
          </a:xfrm>
          <a:prstGeom prst="line">
            <a:avLst/>
          </a:prstGeom>
          <a:noFill/>
          <a:ln w="23813">
            <a:solidFill>
              <a:srgbClr val="3E7B27"/>
            </a:solidFill>
            <a:prstDash val="solid"/>
          </a:ln>
        </p:spPr>
      </p:sp>
      <p:sp>
        <p:nvSpPr>
          <p:cNvPr id="69" name="Shape 64"/>
          <p:cNvSpPr/>
          <p:nvPr/>
        </p:nvSpPr>
        <p:spPr>
          <a:xfrm>
            <a:off x="5817341" y="4229148"/>
            <a:ext cx="85725" cy="85725"/>
          </a:xfrm>
          <a:prstGeom prst="ellipse">
            <a:avLst/>
          </a:prstGeom>
          <a:solidFill>
            <a:srgbClr val="3E7B27"/>
          </a:solidFill>
          <a:ln w="19050">
            <a:solidFill>
              <a:srgbClr val="FFFFFF"/>
            </a:solidFill>
            <a:prstDash val="solid"/>
          </a:ln>
        </p:spPr>
      </p:sp>
      <p:sp>
        <p:nvSpPr>
          <p:cNvPr id="70" name="Shape 65"/>
          <p:cNvSpPr/>
          <p:nvPr/>
        </p:nvSpPr>
        <p:spPr>
          <a:xfrm>
            <a:off x="6185706" y="3906061"/>
            <a:ext cx="85725" cy="85725"/>
          </a:xfrm>
          <a:prstGeom prst="ellipse">
            <a:avLst/>
          </a:prstGeom>
          <a:solidFill>
            <a:srgbClr val="3E7B27"/>
          </a:solidFill>
          <a:ln w="19050">
            <a:solidFill>
              <a:srgbClr val="FFFFFF"/>
            </a:solidFill>
            <a:prstDash val="solid"/>
          </a:ln>
        </p:spPr>
      </p:sp>
      <p:sp>
        <p:nvSpPr>
          <p:cNvPr id="71" name="Shape 66"/>
          <p:cNvSpPr/>
          <p:nvPr/>
        </p:nvSpPr>
        <p:spPr>
          <a:xfrm>
            <a:off x="6554071" y="4359651"/>
            <a:ext cx="85725" cy="85725"/>
          </a:xfrm>
          <a:prstGeom prst="ellipse">
            <a:avLst/>
          </a:prstGeom>
          <a:solidFill>
            <a:srgbClr val="3E7B27"/>
          </a:solidFill>
          <a:ln w="19050">
            <a:solidFill>
              <a:srgbClr val="FFFFFF"/>
            </a:solidFill>
            <a:prstDash val="solid"/>
          </a:ln>
        </p:spPr>
      </p:sp>
      <p:sp>
        <p:nvSpPr>
          <p:cNvPr id="72" name="Shape 67"/>
          <p:cNvSpPr/>
          <p:nvPr/>
        </p:nvSpPr>
        <p:spPr>
          <a:xfrm>
            <a:off x="6922436" y="3541360"/>
            <a:ext cx="85725" cy="85725"/>
          </a:xfrm>
          <a:prstGeom prst="ellipse">
            <a:avLst/>
          </a:prstGeom>
          <a:solidFill>
            <a:srgbClr val="3E7B27"/>
          </a:solidFill>
          <a:ln w="19050">
            <a:solidFill>
              <a:srgbClr val="FFFFFF"/>
            </a:solidFill>
            <a:prstDash val="solid"/>
          </a:ln>
        </p:spPr>
      </p:sp>
      <p:sp>
        <p:nvSpPr>
          <p:cNvPr id="73" name="Text 68"/>
          <p:cNvSpPr txBox="1"/>
          <p:nvPr/>
        </p:nvSpPr>
        <p:spPr>
          <a:xfrm>
            <a:off x="6536674" y="3355622"/>
            <a:ext cx="85725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Rp982M</a:t>
            </a:r>
            <a:endParaRPr lang="en-US" sz="860" dirty="0"/>
          </a:p>
        </p:txBody>
      </p:sp>
      <p:sp>
        <p:nvSpPr>
          <p:cNvPr id="74" name="Shape 69"/>
          <p:cNvSpPr/>
          <p:nvPr/>
        </p:nvSpPr>
        <p:spPr>
          <a:xfrm>
            <a:off x="7290801" y="4171425"/>
            <a:ext cx="85725" cy="85725"/>
          </a:xfrm>
          <a:prstGeom prst="ellipse">
            <a:avLst/>
          </a:prstGeom>
          <a:solidFill>
            <a:srgbClr val="3E7B27"/>
          </a:solidFill>
          <a:ln w="19050">
            <a:solidFill>
              <a:srgbClr val="FFFFFF"/>
            </a:solidFill>
            <a:prstDash val="solid"/>
          </a:ln>
        </p:spPr>
      </p:sp>
      <p:sp>
        <p:nvSpPr>
          <p:cNvPr id="75" name="Shape 70"/>
          <p:cNvSpPr/>
          <p:nvPr/>
        </p:nvSpPr>
        <p:spPr>
          <a:xfrm>
            <a:off x="7659166" y="4049438"/>
            <a:ext cx="85725" cy="85725"/>
          </a:xfrm>
          <a:prstGeom prst="ellipse">
            <a:avLst/>
          </a:prstGeom>
          <a:solidFill>
            <a:srgbClr val="3E7B27"/>
          </a:solidFill>
          <a:ln w="19050">
            <a:solidFill>
              <a:srgbClr val="FFFFFF"/>
            </a:solidFill>
            <a:prstDash val="solid"/>
          </a:ln>
        </p:spPr>
      </p:sp>
      <p:sp>
        <p:nvSpPr>
          <p:cNvPr id="76" name="Shape 71"/>
          <p:cNvSpPr/>
          <p:nvPr/>
        </p:nvSpPr>
        <p:spPr>
          <a:xfrm>
            <a:off x="8027532" y="4263474"/>
            <a:ext cx="85725" cy="85725"/>
          </a:xfrm>
          <a:prstGeom prst="ellipse">
            <a:avLst/>
          </a:prstGeom>
          <a:solidFill>
            <a:srgbClr val="3E7B27"/>
          </a:solidFill>
          <a:ln w="19050">
            <a:solidFill>
              <a:srgbClr val="FFFFFF"/>
            </a:solidFill>
            <a:prstDash val="solid"/>
          </a:ln>
        </p:spPr>
      </p:sp>
      <p:sp>
        <p:nvSpPr>
          <p:cNvPr id="77" name="Shape 72"/>
          <p:cNvSpPr/>
          <p:nvPr/>
        </p:nvSpPr>
        <p:spPr>
          <a:xfrm>
            <a:off x="8395897" y="4244662"/>
            <a:ext cx="85725" cy="85725"/>
          </a:xfrm>
          <a:prstGeom prst="ellipse">
            <a:avLst/>
          </a:prstGeom>
          <a:solidFill>
            <a:srgbClr val="3E7B27"/>
          </a:solidFill>
          <a:ln w="19050">
            <a:solidFill>
              <a:srgbClr val="FFFFFF"/>
            </a:solidFill>
            <a:prstDash val="solid"/>
          </a:ln>
        </p:spPr>
      </p:sp>
      <p:sp>
        <p:nvSpPr>
          <p:cNvPr id="78" name="Shape 73"/>
          <p:cNvSpPr/>
          <p:nvPr/>
        </p:nvSpPr>
        <p:spPr>
          <a:xfrm>
            <a:off x="8764262" y="3947105"/>
            <a:ext cx="85725" cy="85725"/>
          </a:xfrm>
          <a:prstGeom prst="ellipse">
            <a:avLst/>
          </a:prstGeom>
          <a:solidFill>
            <a:srgbClr val="3E7B27"/>
          </a:solidFill>
          <a:ln w="19050">
            <a:solidFill>
              <a:srgbClr val="FFFFFF"/>
            </a:solidFill>
            <a:prstDash val="solid"/>
          </a:ln>
        </p:spPr>
      </p:sp>
      <p:sp>
        <p:nvSpPr>
          <p:cNvPr id="79" name="Shape 74"/>
          <p:cNvSpPr/>
          <p:nvPr/>
        </p:nvSpPr>
        <p:spPr>
          <a:xfrm>
            <a:off x="9132627" y="4237146"/>
            <a:ext cx="85725" cy="85725"/>
          </a:xfrm>
          <a:prstGeom prst="ellipse">
            <a:avLst/>
          </a:prstGeom>
          <a:solidFill>
            <a:srgbClr val="3E7B27"/>
          </a:solidFill>
          <a:ln w="19050">
            <a:solidFill>
              <a:srgbClr val="FFFFFF"/>
            </a:solidFill>
            <a:prstDash val="solid"/>
          </a:ln>
        </p:spPr>
      </p:sp>
      <p:sp>
        <p:nvSpPr>
          <p:cNvPr id="80" name="Shape 75"/>
          <p:cNvSpPr/>
          <p:nvPr/>
        </p:nvSpPr>
        <p:spPr>
          <a:xfrm>
            <a:off x="9500992" y="4268880"/>
            <a:ext cx="85725" cy="85725"/>
          </a:xfrm>
          <a:prstGeom prst="ellipse">
            <a:avLst/>
          </a:prstGeom>
          <a:solidFill>
            <a:srgbClr val="3E7B27"/>
          </a:solidFill>
          <a:ln w="19050">
            <a:solidFill>
              <a:srgbClr val="FFFFFF"/>
            </a:solidFill>
            <a:prstDash val="solid"/>
          </a:ln>
        </p:spPr>
      </p:sp>
      <p:sp>
        <p:nvSpPr>
          <p:cNvPr id="81" name="Shape 76"/>
          <p:cNvSpPr/>
          <p:nvPr/>
        </p:nvSpPr>
        <p:spPr>
          <a:xfrm>
            <a:off x="9869357" y="4042355"/>
            <a:ext cx="85725" cy="85725"/>
          </a:xfrm>
          <a:prstGeom prst="ellipse">
            <a:avLst/>
          </a:prstGeom>
          <a:solidFill>
            <a:srgbClr val="3E7B27"/>
          </a:solidFill>
          <a:ln w="19050">
            <a:solidFill>
              <a:srgbClr val="FFFFFF"/>
            </a:solidFill>
            <a:prstDash val="solid"/>
          </a:ln>
        </p:spPr>
      </p:sp>
      <p:sp>
        <p:nvSpPr>
          <p:cNvPr id="82" name="Shape 77"/>
          <p:cNvSpPr/>
          <p:nvPr/>
        </p:nvSpPr>
        <p:spPr>
          <a:xfrm>
            <a:off x="10237722" y="3621625"/>
            <a:ext cx="85725" cy="85725"/>
          </a:xfrm>
          <a:prstGeom prst="ellipse">
            <a:avLst/>
          </a:prstGeom>
          <a:solidFill>
            <a:srgbClr val="3E7B27"/>
          </a:solidFill>
          <a:ln w="19050">
            <a:solidFill>
              <a:srgbClr val="FFFFFF"/>
            </a:solidFill>
            <a:prstDash val="solid"/>
          </a:ln>
        </p:spPr>
      </p:sp>
      <p:sp>
        <p:nvSpPr>
          <p:cNvPr id="83" name="Shape 78"/>
          <p:cNvSpPr/>
          <p:nvPr/>
        </p:nvSpPr>
        <p:spPr>
          <a:xfrm>
            <a:off x="10606088" y="4179178"/>
            <a:ext cx="85725" cy="85725"/>
          </a:xfrm>
          <a:prstGeom prst="ellipse">
            <a:avLst/>
          </a:prstGeom>
          <a:solidFill>
            <a:srgbClr val="3E7B27"/>
          </a:solidFill>
          <a:ln w="19050">
            <a:solidFill>
              <a:srgbClr val="FFFFFF"/>
            </a:solidFill>
            <a:prstDash val="solid"/>
          </a:ln>
        </p:spPr>
      </p:sp>
      <p:sp>
        <p:nvSpPr>
          <p:cNvPr id="84" name="Text 79"/>
          <p:cNvSpPr txBox="1"/>
          <p:nvPr/>
        </p:nvSpPr>
        <p:spPr>
          <a:xfrm>
            <a:off x="10220325" y="3993440"/>
            <a:ext cx="85725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Rp348M</a:t>
            </a:r>
            <a:endParaRPr lang="en-US" sz="860" dirty="0"/>
          </a:p>
        </p:txBody>
      </p:sp>
      <p:sp>
        <p:nvSpPr>
          <p:cNvPr id="85" name="Text 80"/>
          <p:cNvSpPr txBox="1"/>
          <p:nvPr/>
        </p:nvSpPr>
        <p:spPr>
          <a:xfrm>
            <a:off x="5479203"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29 Jun</a:t>
            </a:r>
            <a:endParaRPr lang="en-US" sz="800" dirty="0"/>
          </a:p>
        </p:txBody>
      </p:sp>
      <p:sp>
        <p:nvSpPr>
          <p:cNvPr id="86" name="Text 81"/>
          <p:cNvSpPr txBox="1"/>
          <p:nvPr/>
        </p:nvSpPr>
        <p:spPr>
          <a:xfrm>
            <a:off x="6215934"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13 Jul</a:t>
            </a:r>
            <a:endParaRPr lang="en-US" sz="800" dirty="0"/>
          </a:p>
        </p:txBody>
      </p:sp>
      <p:sp>
        <p:nvSpPr>
          <p:cNvPr id="87" name="Text 82"/>
          <p:cNvSpPr txBox="1"/>
          <p:nvPr/>
        </p:nvSpPr>
        <p:spPr>
          <a:xfrm>
            <a:off x="6952664"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27 Jul</a:t>
            </a:r>
            <a:endParaRPr lang="en-US" sz="800" dirty="0"/>
          </a:p>
        </p:txBody>
      </p:sp>
      <p:sp>
        <p:nvSpPr>
          <p:cNvPr id="88" name="Text 83"/>
          <p:cNvSpPr txBox="1"/>
          <p:nvPr/>
        </p:nvSpPr>
        <p:spPr>
          <a:xfrm>
            <a:off x="7689394"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10 Aug</a:t>
            </a:r>
            <a:endParaRPr lang="en-US" sz="800" dirty="0"/>
          </a:p>
        </p:txBody>
      </p:sp>
      <p:sp>
        <p:nvSpPr>
          <p:cNvPr id="89" name="Text 84"/>
          <p:cNvSpPr txBox="1"/>
          <p:nvPr/>
        </p:nvSpPr>
        <p:spPr>
          <a:xfrm>
            <a:off x="8426124"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24 Aug</a:t>
            </a:r>
            <a:endParaRPr lang="en-US" sz="800" dirty="0"/>
          </a:p>
        </p:txBody>
      </p:sp>
      <p:sp>
        <p:nvSpPr>
          <p:cNvPr id="90" name="Text 85"/>
          <p:cNvSpPr txBox="1"/>
          <p:nvPr/>
        </p:nvSpPr>
        <p:spPr>
          <a:xfrm>
            <a:off x="9162855"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7 Sep</a:t>
            </a:r>
            <a:endParaRPr lang="en-US" sz="800" dirty="0"/>
          </a:p>
        </p:txBody>
      </p:sp>
      <p:sp>
        <p:nvSpPr>
          <p:cNvPr id="91" name="Text 86"/>
          <p:cNvSpPr txBox="1"/>
          <p:nvPr/>
        </p:nvSpPr>
        <p:spPr>
          <a:xfrm>
            <a:off x="9899585"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21 Sep</a:t>
            </a:r>
            <a:endParaRPr lang="en-US" sz="800" dirty="0"/>
          </a:p>
        </p:txBody>
      </p:sp>
      <p:sp>
        <p:nvSpPr>
          <p:cNvPr id="92" name="Text 87"/>
          <p:cNvSpPr txBox="1"/>
          <p:nvPr/>
        </p:nvSpPr>
        <p:spPr>
          <a:xfrm>
            <a:off x="10267950" y="4619625"/>
            <a:ext cx="762000" cy="171450"/>
          </a:xfrm>
          <a:prstGeom prst="rect">
            <a:avLst/>
          </a:prstGeom>
          <a:noFill/>
          <a:ln/>
        </p:spPr>
        <p:txBody>
          <a:bodyPr wrap="square" lIns="0" tIns="0" rIns="0" bIns="0" rtlCol="0" anchor="t"/>
          <a:lstStyle/>
          <a:p>
            <a:pPr algn="ctr" indent="0" marL="0">
              <a:lnSpc>
                <a:spcPct val="95000"/>
              </a:lnSpc>
              <a:buNone/>
            </a:pPr>
            <a:r>
              <a:rPr lang="en-US" sz="800" dirty="0">
                <a:solidFill>
                  <a:srgbClr val="7A8373"/>
                </a:solidFill>
                <a:latin typeface="Plus Jakarta Sans" pitchFamily="34" charset="0"/>
                <a:ea typeface="Plus Jakarta Sans" pitchFamily="34" charset="-122"/>
                <a:cs typeface="Plus Jakarta Sans" pitchFamily="34" charset="-120"/>
              </a:rPr>
              <a:t>28 Sep</a:t>
            </a:r>
            <a:endParaRPr lang="en-US" sz="800" dirty="0"/>
          </a:p>
        </p:txBody>
      </p:sp>
      <p:sp>
        <p:nvSpPr>
          <p:cNvPr id="93" name="Shape 88"/>
          <p:cNvSpPr/>
          <p:nvPr/>
        </p:nvSpPr>
        <p:spPr>
          <a:xfrm>
            <a:off x="762000" y="5048250"/>
            <a:ext cx="10287000" cy="1066800"/>
          </a:xfrm>
          <a:prstGeom prst="roundRect">
            <a:avLst>
              <a:gd name="adj" fmla="val 10286"/>
            </a:avLst>
          </a:prstGeom>
          <a:solidFill>
            <a:srgbClr val="FBEFC4"/>
          </a:solidFill>
          <a:ln w="12700">
            <a:solidFill>
              <a:srgbClr val="FBEFC4"/>
            </a:solidFill>
            <a:prstDash val="solid"/>
          </a:ln>
        </p:spPr>
      </p:sp>
      <p:sp>
        <p:nvSpPr>
          <p:cNvPr id="94" name="Text 89"/>
          <p:cNvSpPr txBox="1"/>
          <p:nvPr/>
        </p:nvSpPr>
        <p:spPr>
          <a:xfrm>
            <a:off x="933450" y="5133975"/>
            <a:ext cx="9944100" cy="89535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3 accounts stopped ordering: Rp1.68B over the period, Rp1.06B in Jul (44% of that month) and nothing in Sep. All were handled by Muhammad Abdul Wahab; last orders on 27 Aug, 7 Aug and 25 Jul.</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Aug was the low point at Rp1.64B: 52 orders from 36 customers, vs 85 from 67 in Jul.</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Everyone else grew 67% (Rp1.35B → Rp2.25B); orders 85 → 100, average order Rp28.4M → Rp22.5M.</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Best week: week of 20 Jul at Rp982M.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4</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TREND · VOLUME VS PRICE</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We sold 22% more fertilizer by weight (322t → 394t), but each kg brought 26% less</a:t>
            </a:r>
            <a:endParaRPr lang="en-US" sz="2300" dirty="0"/>
          </a:p>
        </p:txBody>
      </p:sp>
      <p:sp>
        <p:nvSpPr>
          <p:cNvPr id="11" name="Shape 6"/>
          <p:cNvSpPr/>
          <p:nvPr/>
        </p:nvSpPr>
        <p:spPr>
          <a:xfrm>
            <a:off x="762000" y="1714500"/>
            <a:ext cx="2457450" cy="800100"/>
          </a:xfrm>
          <a:prstGeom prst="roundRect">
            <a:avLst>
              <a:gd name="adj" fmla="val 13714"/>
            </a:avLst>
          </a:prstGeom>
          <a:solidFill>
            <a:srgbClr val="4A653B"/>
          </a:solidFill>
          <a:ln w="12700">
            <a:solidFill>
              <a:srgbClr val="4A653B"/>
            </a:solidFill>
            <a:prstDash val="solid"/>
          </a:ln>
        </p:spPr>
      </p:sp>
      <p:sp>
        <p:nvSpPr>
          <p:cNvPr id="12" name="Text 7"/>
          <p:cNvSpPr txBox="1"/>
          <p:nvPr/>
        </p:nvSpPr>
        <p:spPr>
          <a:xfrm>
            <a:off x="914400" y="1828800"/>
            <a:ext cx="2152650"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394</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t</a:t>
            </a:r>
            <a:endParaRPr lang="en-US" sz="2800" dirty="0"/>
          </a:p>
        </p:txBody>
      </p:sp>
      <p:sp>
        <p:nvSpPr>
          <p:cNvPr id="13" name="Text 8"/>
          <p:cNvSpPr txBox="1"/>
          <p:nvPr/>
        </p:nvSpPr>
        <p:spPr>
          <a:xfrm>
            <a:off x="9144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fertilizer sold in Sep, ▲ 22% from 322t</a:t>
            </a:r>
            <a:endParaRPr lang="en-US" sz="950" dirty="0"/>
          </a:p>
        </p:txBody>
      </p:sp>
      <p:sp>
        <p:nvSpPr>
          <p:cNvPr id="14" name="Shape 9"/>
          <p:cNvSpPr/>
          <p:nvPr/>
        </p:nvSpPr>
        <p:spPr>
          <a:xfrm>
            <a:off x="3371850" y="1714500"/>
            <a:ext cx="2457450" cy="800100"/>
          </a:xfrm>
          <a:prstGeom prst="roundRect">
            <a:avLst>
              <a:gd name="adj" fmla="val 13714"/>
            </a:avLst>
          </a:prstGeom>
          <a:solidFill>
            <a:srgbClr val="FFFFFF"/>
          </a:solidFill>
          <a:ln w="12700">
            <a:solidFill>
              <a:srgbClr val="FFFFFF"/>
            </a:solidFill>
            <a:prstDash val="solid"/>
          </a:ln>
        </p:spPr>
      </p:sp>
      <p:sp>
        <p:nvSpPr>
          <p:cNvPr id="15" name="Text 10"/>
          <p:cNvSpPr txBox="1"/>
          <p:nvPr/>
        </p:nvSpPr>
        <p:spPr>
          <a:xfrm>
            <a:off x="35242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Rp5,526</a:t>
            </a:r>
            <a:pPr indent="0" marL="0">
              <a:buNone/>
            </a:pPr>
            <a:endParaRPr lang="en-US" sz="2800" dirty="0"/>
          </a:p>
        </p:txBody>
      </p:sp>
      <p:sp>
        <p:nvSpPr>
          <p:cNvPr id="16" name="Text 11"/>
          <p:cNvSpPr txBox="1"/>
          <p:nvPr/>
        </p:nvSpPr>
        <p:spPr>
          <a:xfrm>
            <a:off x="35242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GMV per kg, ▼ 26% from Rp7,422</a:t>
            </a:r>
            <a:endParaRPr lang="en-US" sz="950" dirty="0"/>
          </a:p>
        </p:txBody>
      </p:sp>
      <p:sp>
        <p:nvSpPr>
          <p:cNvPr id="17" name="Shape 12"/>
          <p:cNvSpPr/>
          <p:nvPr/>
        </p:nvSpPr>
        <p:spPr>
          <a:xfrm>
            <a:off x="5981700" y="1714500"/>
            <a:ext cx="2457450" cy="800100"/>
          </a:xfrm>
          <a:prstGeom prst="roundRect">
            <a:avLst>
              <a:gd name="adj" fmla="val 13714"/>
            </a:avLst>
          </a:prstGeom>
          <a:solidFill>
            <a:srgbClr val="FFFFFF"/>
          </a:solidFill>
          <a:ln w="12700">
            <a:solidFill>
              <a:srgbClr val="FFFFFF"/>
            </a:solidFill>
            <a:prstDash val="solid"/>
          </a:ln>
        </p:spPr>
      </p:sp>
      <p:sp>
        <p:nvSpPr>
          <p:cNvPr id="18" name="Text 13"/>
          <p:cNvSpPr txBox="1"/>
          <p:nvPr/>
        </p:nvSpPr>
        <p:spPr>
          <a:xfrm>
            <a:off x="613410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534</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M</a:t>
            </a:r>
            <a:endParaRPr lang="en-US" sz="2800" dirty="0"/>
          </a:p>
        </p:txBody>
      </p:sp>
      <p:sp>
        <p:nvSpPr>
          <p:cNvPr id="19" name="Text 14"/>
          <p:cNvSpPr txBox="1"/>
          <p:nvPr/>
        </p:nvSpPr>
        <p:spPr>
          <a:xfrm>
            <a:off x="61341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added by the extra volume</a:t>
            </a:r>
            <a:endParaRPr lang="en-US" sz="950" dirty="0"/>
          </a:p>
        </p:txBody>
      </p:sp>
      <p:sp>
        <p:nvSpPr>
          <p:cNvPr id="20" name="Shape 15"/>
          <p:cNvSpPr/>
          <p:nvPr/>
        </p:nvSpPr>
        <p:spPr>
          <a:xfrm>
            <a:off x="8591550" y="1714500"/>
            <a:ext cx="2457450" cy="800100"/>
          </a:xfrm>
          <a:prstGeom prst="roundRect">
            <a:avLst>
              <a:gd name="adj" fmla="val 13714"/>
            </a:avLst>
          </a:prstGeom>
          <a:solidFill>
            <a:srgbClr val="FFFFFF"/>
          </a:solidFill>
          <a:ln w="12700">
            <a:solidFill>
              <a:srgbClr val="FFFFFF"/>
            </a:solidFill>
            <a:prstDash val="solid"/>
          </a:ln>
        </p:spPr>
      </p:sp>
      <p:sp>
        <p:nvSpPr>
          <p:cNvPr id="21" name="Text 16"/>
          <p:cNvSpPr txBox="1"/>
          <p:nvPr/>
        </p:nvSpPr>
        <p:spPr>
          <a:xfrm>
            <a:off x="87439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−747</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M</a:t>
            </a:r>
            <a:endParaRPr lang="en-US" sz="2800" dirty="0"/>
          </a:p>
        </p:txBody>
      </p:sp>
      <p:sp>
        <p:nvSpPr>
          <p:cNvPr id="22" name="Text 17"/>
          <p:cNvSpPr txBox="1"/>
          <p:nvPr/>
        </p:nvSpPr>
        <p:spPr>
          <a:xfrm>
            <a:off x="87439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lost to a lower GMV per kg (mix −Rp582M, price −Rp165M)</a:t>
            </a:r>
            <a:endParaRPr lang="en-US" sz="950" dirty="0"/>
          </a:p>
        </p:txBody>
      </p:sp>
      <p:sp>
        <p:nvSpPr>
          <p:cNvPr id="23" name="Shape 18"/>
          <p:cNvSpPr/>
          <p:nvPr/>
        </p:nvSpPr>
        <p:spPr>
          <a:xfrm>
            <a:off x="762000" y="2647950"/>
            <a:ext cx="2772833" cy="2266950"/>
          </a:xfrm>
          <a:prstGeom prst="roundRect">
            <a:avLst>
              <a:gd name="adj" fmla="val 4840"/>
            </a:avLst>
          </a:prstGeom>
          <a:solidFill>
            <a:srgbClr val="FFFFFF"/>
          </a:solidFill>
          <a:ln w="12700">
            <a:solidFill>
              <a:srgbClr val="FFFFFF"/>
            </a:solidFill>
            <a:prstDash val="solid"/>
          </a:ln>
        </p:spPr>
      </p:sp>
      <p:sp>
        <p:nvSpPr>
          <p:cNvPr id="24" name="Text 19"/>
          <p:cNvSpPr txBox="1"/>
          <p:nvPr/>
        </p:nvSpPr>
        <p:spPr>
          <a:xfrm>
            <a:off x="952500" y="2800350"/>
            <a:ext cx="2391833"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Fertilizer sold</a:t>
            </a:r>
            <a:endParaRPr lang="en-US" sz="1300" dirty="0"/>
          </a:p>
        </p:txBody>
      </p:sp>
      <p:sp>
        <p:nvSpPr>
          <p:cNvPr id="25" name="Text 20"/>
          <p:cNvSpPr txBox="1"/>
          <p:nvPr/>
        </p:nvSpPr>
        <p:spPr>
          <a:xfrm>
            <a:off x="952500" y="3028950"/>
            <a:ext cx="2391833"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Tonnes, from pack sizes in item names</a:t>
            </a:r>
            <a:endParaRPr lang="en-US" sz="950" dirty="0"/>
          </a:p>
        </p:txBody>
      </p:sp>
      <p:sp>
        <p:nvSpPr>
          <p:cNvPr id="26" name="Shape 21"/>
          <p:cNvSpPr/>
          <p:nvPr/>
        </p:nvSpPr>
        <p:spPr>
          <a:xfrm>
            <a:off x="1120620" y="3696667"/>
            <a:ext cx="486438" cy="856283"/>
          </a:xfrm>
          <a:prstGeom prst="roundRect">
            <a:avLst>
              <a:gd name="adj" fmla="val 7832"/>
            </a:avLst>
          </a:prstGeom>
          <a:solidFill>
            <a:srgbClr val="86AD6C"/>
          </a:solidFill>
          <a:ln w="12700">
            <a:solidFill>
              <a:srgbClr val="86AD6C"/>
            </a:solidFill>
            <a:prstDash val="solid"/>
          </a:ln>
        </p:spPr>
      </p:sp>
      <p:sp>
        <p:nvSpPr>
          <p:cNvPr id="27" name="Text 22"/>
          <p:cNvSpPr txBox="1"/>
          <p:nvPr/>
        </p:nvSpPr>
        <p:spPr>
          <a:xfrm>
            <a:off x="892020" y="3525217"/>
            <a:ext cx="943638"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322t</a:t>
            </a:r>
            <a:endParaRPr lang="en-US" sz="860" dirty="0"/>
          </a:p>
        </p:txBody>
      </p:sp>
      <p:sp>
        <p:nvSpPr>
          <p:cNvPr id="28" name="Text 23"/>
          <p:cNvSpPr txBox="1"/>
          <p:nvPr/>
        </p:nvSpPr>
        <p:spPr>
          <a:xfrm>
            <a:off x="981075" y="4600575"/>
            <a:ext cx="765528"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p:txBody>
      </p:sp>
      <p:sp>
        <p:nvSpPr>
          <p:cNvPr id="29" name="Shape 24"/>
          <p:cNvSpPr/>
          <p:nvPr/>
        </p:nvSpPr>
        <p:spPr>
          <a:xfrm>
            <a:off x="1905198" y="3957275"/>
            <a:ext cx="486438" cy="595675"/>
          </a:xfrm>
          <a:prstGeom prst="roundRect">
            <a:avLst>
              <a:gd name="adj" fmla="val 7832"/>
            </a:avLst>
          </a:prstGeom>
          <a:solidFill>
            <a:srgbClr val="86AD6C"/>
          </a:solidFill>
          <a:ln w="12700">
            <a:solidFill>
              <a:srgbClr val="86AD6C"/>
            </a:solidFill>
            <a:prstDash val="solid"/>
          </a:ln>
        </p:spPr>
      </p:sp>
      <p:sp>
        <p:nvSpPr>
          <p:cNvPr id="30" name="Text 25"/>
          <p:cNvSpPr txBox="1"/>
          <p:nvPr/>
        </p:nvSpPr>
        <p:spPr>
          <a:xfrm>
            <a:off x="1676598" y="3785825"/>
            <a:ext cx="943638"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224t</a:t>
            </a:r>
            <a:endParaRPr lang="en-US" sz="860" dirty="0"/>
          </a:p>
        </p:txBody>
      </p:sp>
      <p:sp>
        <p:nvSpPr>
          <p:cNvPr id="31" name="Text 26"/>
          <p:cNvSpPr txBox="1"/>
          <p:nvPr/>
        </p:nvSpPr>
        <p:spPr>
          <a:xfrm>
            <a:off x="1765653" y="4600575"/>
            <a:ext cx="765528"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Aug</a:t>
            </a:r>
            <a:endParaRPr lang="en-US" sz="830" dirty="0"/>
          </a:p>
        </p:txBody>
      </p:sp>
      <p:sp>
        <p:nvSpPr>
          <p:cNvPr id="32" name="Shape 27"/>
          <p:cNvSpPr/>
          <p:nvPr/>
        </p:nvSpPr>
        <p:spPr>
          <a:xfrm>
            <a:off x="2689775" y="3505200"/>
            <a:ext cx="486438" cy="1047750"/>
          </a:xfrm>
          <a:prstGeom prst="roundRect">
            <a:avLst>
              <a:gd name="adj" fmla="val 7832"/>
            </a:avLst>
          </a:prstGeom>
          <a:solidFill>
            <a:srgbClr val="3E7B27"/>
          </a:solidFill>
          <a:ln w="12700">
            <a:solidFill>
              <a:srgbClr val="3E7B27"/>
            </a:solidFill>
            <a:prstDash val="solid"/>
          </a:ln>
        </p:spPr>
      </p:sp>
      <p:sp>
        <p:nvSpPr>
          <p:cNvPr id="33" name="Text 28"/>
          <p:cNvSpPr txBox="1"/>
          <p:nvPr/>
        </p:nvSpPr>
        <p:spPr>
          <a:xfrm>
            <a:off x="2461175" y="3333750"/>
            <a:ext cx="943638"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394t</a:t>
            </a:r>
            <a:endParaRPr lang="en-US" sz="860" dirty="0"/>
          </a:p>
        </p:txBody>
      </p:sp>
      <p:sp>
        <p:nvSpPr>
          <p:cNvPr id="34" name="Text 29"/>
          <p:cNvSpPr txBox="1"/>
          <p:nvPr/>
        </p:nvSpPr>
        <p:spPr>
          <a:xfrm>
            <a:off x="2550231" y="4600575"/>
            <a:ext cx="765528"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p:txBody>
      </p:sp>
      <p:sp>
        <p:nvSpPr>
          <p:cNvPr id="35" name="Shape 30"/>
          <p:cNvSpPr/>
          <p:nvPr/>
        </p:nvSpPr>
        <p:spPr>
          <a:xfrm>
            <a:off x="971550" y="4552950"/>
            <a:ext cx="2353733" cy="0"/>
          </a:xfrm>
          <a:prstGeom prst="line">
            <a:avLst/>
          </a:prstGeom>
          <a:noFill/>
          <a:ln w="9525">
            <a:solidFill>
              <a:srgbClr val="B9C2B0"/>
            </a:solidFill>
            <a:prstDash val="solid"/>
          </a:ln>
        </p:spPr>
      </p:sp>
      <p:sp>
        <p:nvSpPr>
          <p:cNvPr id="36" name="Shape 31"/>
          <p:cNvSpPr/>
          <p:nvPr/>
        </p:nvSpPr>
        <p:spPr>
          <a:xfrm>
            <a:off x="3687233" y="2647950"/>
            <a:ext cx="2772833" cy="2266950"/>
          </a:xfrm>
          <a:prstGeom prst="roundRect">
            <a:avLst>
              <a:gd name="adj" fmla="val 4840"/>
            </a:avLst>
          </a:prstGeom>
          <a:solidFill>
            <a:srgbClr val="FFFFFF"/>
          </a:solidFill>
          <a:ln w="12700">
            <a:solidFill>
              <a:srgbClr val="FFFFFF"/>
            </a:solidFill>
            <a:prstDash val="solid"/>
          </a:ln>
        </p:spPr>
      </p:sp>
      <p:sp>
        <p:nvSpPr>
          <p:cNvPr id="37" name="Text 32"/>
          <p:cNvSpPr txBox="1"/>
          <p:nvPr/>
        </p:nvSpPr>
        <p:spPr>
          <a:xfrm>
            <a:off x="3877733" y="2800350"/>
            <a:ext cx="2391833"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per kg</a:t>
            </a:r>
            <a:endParaRPr lang="en-US" sz="1300" dirty="0"/>
          </a:p>
        </p:txBody>
      </p:sp>
      <p:sp>
        <p:nvSpPr>
          <p:cNvPr id="38" name="Text 33"/>
          <p:cNvSpPr txBox="1"/>
          <p:nvPr/>
        </p:nvSpPr>
        <p:spPr>
          <a:xfrm>
            <a:off x="3877733" y="3028950"/>
            <a:ext cx="2391833"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Rupiah per kg sold</a:t>
            </a:r>
            <a:endParaRPr lang="en-US" sz="950" dirty="0"/>
          </a:p>
        </p:txBody>
      </p:sp>
      <p:sp>
        <p:nvSpPr>
          <p:cNvPr id="39" name="Shape 34"/>
          <p:cNvSpPr/>
          <p:nvPr/>
        </p:nvSpPr>
        <p:spPr>
          <a:xfrm>
            <a:off x="4045853" y="3505200"/>
            <a:ext cx="486438" cy="1047750"/>
          </a:xfrm>
          <a:prstGeom prst="roundRect">
            <a:avLst>
              <a:gd name="adj" fmla="val 7832"/>
            </a:avLst>
          </a:prstGeom>
          <a:solidFill>
            <a:srgbClr val="D9B38F"/>
          </a:solidFill>
          <a:ln w="12700">
            <a:solidFill>
              <a:srgbClr val="D9B38F"/>
            </a:solidFill>
            <a:prstDash val="solid"/>
          </a:ln>
        </p:spPr>
      </p:sp>
      <p:sp>
        <p:nvSpPr>
          <p:cNvPr id="40" name="Text 35"/>
          <p:cNvSpPr txBox="1"/>
          <p:nvPr/>
        </p:nvSpPr>
        <p:spPr>
          <a:xfrm>
            <a:off x="3817253" y="3333750"/>
            <a:ext cx="943638"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Rp7,422</a:t>
            </a:r>
            <a:endParaRPr lang="en-US" sz="860" dirty="0"/>
          </a:p>
        </p:txBody>
      </p:sp>
      <p:sp>
        <p:nvSpPr>
          <p:cNvPr id="41" name="Text 36"/>
          <p:cNvSpPr txBox="1"/>
          <p:nvPr/>
        </p:nvSpPr>
        <p:spPr>
          <a:xfrm>
            <a:off x="3906308" y="4600575"/>
            <a:ext cx="765528"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p:txBody>
      </p:sp>
      <p:sp>
        <p:nvSpPr>
          <p:cNvPr id="42" name="Shape 37"/>
          <p:cNvSpPr/>
          <p:nvPr/>
        </p:nvSpPr>
        <p:spPr>
          <a:xfrm>
            <a:off x="4830431" y="3567455"/>
            <a:ext cx="486438" cy="985495"/>
          </a:xfrm>
          <a:prstGeom prst="roundRect">
            <a:avLst>
              <a:gd name="adj" fmla="val 7832"/>
            </a:avLst>
          </a:prstGeom>
          <a:solidFill>
            <a:srgbClr val="D9B38F"/>
          </a:solidFill>
          <a:ln w="12700">
            <a:solidFill>
              <a:srgbClr val="D9B38F"/>
            </a:solidFill>
            <a:prstDash val="solid"/>
          </a:ln>
        </p:spPr>
      </p:sp>
      <p:sp>
        <p:nvSpPr>
          <p:cNvPr id="43" name="Text 38"/>
          <p:cNvSpPr txBox="1"/>
          <p:nvPr/>
        </p:nvSpPr>
        <p:spPr>
          <a:xfrm>
            <a:off x="4601831" y="3396005"/>
            <a:ext cx="943638"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Rp6,981</a:t>
            </a:r>
            <a:endParaRPr lang="en-US" sz="860" dirty="0"/>
          </a:p>
        </p:txBody>
      </p:sp>
      <p:sp>
        <p:nvSpPr>
          <p:cNvPr id="44" name="Text 39"/>
          <p:cNvSpPr txBox="1"/>
          <p:nvPr/>
        </p:nvSpPr>
        <p:spPr>
          <a:xfrm>
            <a:off x="4690886" y="4600575"/>
            <a:ext cx="765528"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Aug</a:t>
            </a:r>
            <a:endParaRPr lang="en-US" sz="830" dirty="0"/>
          </a:p>
        </p:txBody>
      </p:sp>
      <p:sp>
        <p:nvSpPr>
          <p:cNvPr id="45" name="Shape 40"/>
          <p:cNvSpPr/>
          <p:nvPr/>
        </p:nvSpPr>
        <p:spPr>
          <a:xfrm>
            <a:off x="5615009" y="3772855"/>
            <a:ext cx="486438" cy="780095"/>
          </a:xfrm>
          <a:prstGeom prst="roundRect">
            <a:avLst>
              <a:gd name="adj" fmla="val 7832"/>
            </a:avLst>
          </a:prstGeom>
          <a:solidFill>
            <a:srgbClr val="B85A28"/>
          </a:solidFill>
          <a:ln w="12700">
            <a:solidFill>
              <a:srgbClr val="B85A28"/>
            </a:solidFill>
            <a:prstDash val="solid"/>
          </a:ln>
        </p:spPr>
      </p:sp>
      <p:sp>
        <p:nvSpPr>
          <p:cNvPr id="46" name="Text 41"/>
          <p:cNvSpPr txBox="1"/>
          <p:nvPr/>
        </p:nvSpPr>
        <p:spPr>
          <a:xfrm>
            <a:off x="5386409" y="3601405"/>
            <a:ext cx="943638"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Rp5,526</a:t>
            </a:r>
            <a:endParaRPr lang="en-US" sz="860" dirty="0"/>
          </a:p>
        </p:txBody>
      </p:sp>
      <p:sp>
        <p:nvSpPr>
          <p:cNvPr id="47" name="Text 42"/>
          <p:cNvSpPr txBox="1"/>
          <p:nvPr/>
        </p:nvSpPr>
        <p:spPr>
          <a:xfrm>
            <a:off x="5475464" y="4600575"/>
            <a:ext cx="765528"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p:txBody>
      </p:sp>
      <p:sp>
        <p:nvSpPr>
          <p:cNvPr id="48" name="Shape 43"/>
          <p:cNvSpPr/>
          <p:nvPr/>
        </p:nvSpPr>
        <p:spPr>
          <a:xfrm>
            <a:off x="3896783" y="4552950"/>
            <a:ext cx="2353733" cy="0"/>
          </a:xfrm>
          <a:prstGeom prst="line">
            <a:avLst/>
          </a:prstGeom>
          <a:noFill/>
          <a:ln w="9525">
            <a:solidFill>
              <a:srgbClr val="B9C2B0"/>
            </a:solidFill>
            <a:prstDash val="solid"/>
          </a:ln>
        </p:spPr>
      </p:sp>
      <p:sp>
        <p:nvSpPr>
          <p:cNvPr id="49" name="Shape 44"/>
          <p:cNvSpPr/>
          <p:nvPr/>
        </p:nvSpPr>
        <p:spPr>
          <a:xfrm>
            <a:off x="6612467" y="2647950"/>
            <a:ext cx="4436533" cy="2266950"/>
          </a:xfrm>
          <a:prstGeom prst="roundRect">
            <a:avLst>
              <a:gd name="adj" fmla="val 4840"/>
            </a:avLst>
          </a:prstGeom>
          <a:solidFill>
            <a:srgbClr val="FFFFFF"/>
          </a:solidFill>
          <a:ln w="12700">
            <a:solidFill>
              <a:srgbClr val="FFFFFF"/>
            </a:solidFill>
            <a:prstDash val="solid"/>
          </a:ln>
        </p:spPr>
      </p:sp>
      <p:sp>
        <p:nvSpPr>
          <p:cNvPr id="50" name="Text 45"/>
          <p:cNvSpPr txBox="1"/>
          <p:nvPr/>
        </p:nvSpPr>
        <p:spPr>
          <a:xfrm>
            <a:off x="6802967" y="2800350"/>
            <a:ext cx="4055533"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Jul → Sep GMV: volume vs price</a:t>
            </a:r>
            <a:endParaRPr lang="en-US" sz="1300" dirty="0"/>
          </a:p>
        </p:txBody>
      </p:sp>
      <p:sp>
        <p:nvSpPr>
          <p:cNvPr id="51" name="Text 46"/>
          <p:cNvSpPr txBox="1"/>
          <p:nvPr/>
        </p:nvSpPr>
        <p:spPr>
          <a:xfrm>
            <a:off x="6802967" y="3028950"/>
            <a:ext cx="4055533"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Extra kg at the old price, then the effect of the lower price per kg</a:t>
            </a:r>
            <a:endParaRPr lang="en-US" sz="950" dirty="0"/>
          </a:p>
        </p:txBody>
      </p:sp>
      <p:sp>
        <p:nvSpPr>
          <p:cNvPr id="52" name="Shape 47"/>
          <p:cNvSpPr/>
          <p:nvPr/>
        </p:nvSpPr>
        <p:spPr>
          <a:xfrm>
            <a:off x="6955931" y="3682987"/>
            <a:ext cx="401743" cy="717563"/>
          </a:xfrm>
          <a:prstGeom prst="roundRect">
            <a:avLst>
              <a:gd name="adj" fmla="val 7113"/>
            </a:avLst>
          </a:prstGeom>
          <a:solidFill>
            <a:srgbClr val="8E9C84"/>
          </a:solidFill>
          <a:ln w="12700">
            <a:solidFill>
              <a:srgbClr val="8E9C84"/>
            </a:solidFill>
            <a:prstDash val="solid"/>
          </a:ln>
        </p:spPr>
      </p:sp>
      <p:sp>
        <p:nvSpPr>
          <p:cNvPr id="53" name="Text 48"/>
          <p:cNvSpPr txBox="1"/>
          <p:nvPr/>
        </p:nvSpPr>
        <p:spPr>
          <a:xfrm>
            <a:off x="6680553" y="3511537"/>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Rp2.41B</a:t>
            </a:r>
            <a:endParaRPr lang="en-US" sz="860" dirty="0"/>
          </a:p>
        </p:txBody>
      </p:sp>
      <p:sp>
        <p:nvSpPr>
          <p:cNvPr id="54" name="Shape 49"/>
          <p:cNvSpPr/>
          <p:nvPr/>
        </p:nvSpPr>
        <p:spPr>
          <a:xfrm>
            <a:off x="7357674" y="3682987"/>
            <a:ext cx="267829" cy="0"/>
          </a:xfrm>
          <a:prstGeom prst="line">
            <a:avLst/>
          </a:prstGeom>
          <a:noFill/>
          <a:ln w="9525">
            <a:solidFill>
              <a:srgbClr val="B9C2B0"/>
            </a:solidFill>
            <a:prstDash val="dash"/>
          </a:ln>
        </p:spPr>
      </p:sp>
      <p:sp>
        <p:nvSpPr>
          <p:cNvPr id="55" name="Text 50"/>
          <p:cNvSpPr txBox="1"/>
          <p:nvPr/>
        </p:nvSpPr>
        <p:spPr>
          <a:xfrm>
            <a:off x="6831542" y="4448175"/>
            <a:ext cx="650522"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p:txBody>
      </p:sp>
      <p:sp>
        <p:nvSpPr>
          <p:cNvPr id="56" name="Shape 51"/>
          <p:cNvSpPr/>
          <p:nvPr/>
        </p:nvSpPr>
        <p:spPr>
          <a:xfrm>
            <a:off x="7625503" y="3524250"/>
            <a:ext cx="401743" cy="158737"/>
          </a:xfrm>
          <a:prstGeom prst="roundRect">
            <a:avLst>
              <a:gd name="adj" fmla="val 18001"/>
            </a:avLst>
          </a:prstGeom>
          <a:solidFill>
            <a:srgbClr val="3E7B27"/>
          </a:solidFill>
          <a:ln w="12700">
            <a:solidFill>
              <a:srgbClr val="3E7B27"/>
            </a:solidFill>
            <a:prstDash val="solid"/>
          </a:ln>
        </p:spPr>
      </p:sp>
      <p:sp>
        <p:nvSpPr>
          <p:cNvPr id="57" name="Text 52"/>
          <p:cNvSpPr txBox="1"/>
          <p:nvPr/>
        </p:nvSpPr>
        <p:spPr>
          <a:xfrm>
            <a:off x="7350125" y="3352800"/>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+Rp534M</a:t>
            </a:r>
            <a:endParaRPr lang="en-US" sz="860" dirty="0"/>
          </a:p>
        </p:txBody>
      </p:sp>
      <p:sp>
        <p:nvSpPr>
          <p:cNvPr id="58" name="Shape 53"/>
          <p:cNvSpPr/>
          <p:nvPr/>
        </p:nvSpPr>
        <p:spPr>
          <a:xfrm>
            <a:off x="8027247" y="3524250"/>
            <a:ext cx="267829" cy="0"/>
          </a:xfrm>
          <a:prstGeom prst="line">
            <a:avLst/>
          </a:prstGeom>
          <a:noFill/>
          <a:ln w="9525">
            <a:solidFill>
              <a:srgbClr val="B9C2B0"/>
            </a:solidFill>
            <a:prstDash val="dash"/>
          </a:ln>
        </p:spPr>
      </p:sp>
      <p:sp>
        <p:nvSpPr>
          <p:cNvPr id="59" name="Text 54"/>
          <p:cNvSpPr txBox="1"/>
          <p:nvPr/>
        </p:nvSpPr>
        <p:spPr>
          <a:xfrm>
            <a:off x="7501114" y="4448175"/>
            <a:ext cx="650522"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More kg</a:t>
            </a:r>
            <a:endParaRPr lang="en-US" sz="830" dirty="0"/>
          </a:p>
        </p:txBody>
      </p:sp>
      <p:sp>
        <p:nvSpPr>
          <p:cNvPr id="60" name="Shape 55"/>
          <p:cNvSpPr/>
          <p:nvPr/>
        </p:nvSpPr>
        <p:spPr>
          <a:xfrm>
            <a:off x="8295076" y="3524250"/>
            <a:ext cx="401743" cy="173097"/>
          </a:xfrm>
          <a:prstGeom prst="roundRect">
            <a:avLst>
              <a:gd name="adj" fmla="val 16508"/>
            </a:avLst>
          </a:prstGeom>
          <a:solidFill>
            <a:srgbClr val="A23B72"/>
          </a:solidFill>
          <a:ln w="12700">
            <a:solidFill>
              <a:srgbClr val="A23B72"/>
            </a:solidFill>
            <a:prstDash val="solid"/>
          </a:ln>
        </p:spPr>
      </p:sp>
      <p:sp>
        <p:nvSpPr>
          <p:cNvPr id="61" name="Text 56"/>
          <p:cNvSpPr txBox="1"/>
          <p:nvPr/>
        </p:nvSpPr>
        <p:spPr>
          <a:xfrm>
            <a:off x="8019697" y="3352800"/>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A23B72"/>
                </a:solidFill>
                <a:latin typeface="Plus Jakarta Sans" pitchFamily="34" charset="0"/>
                <a:ea typeface="Plus Jakarta Sans" pitchFamily="34" charset="-122"/>
                <a:cs typeface="Plus Jakarta Sans" pitchFamily="34" charset="-120"/>
              </a:rPr>
              <a:t>−Rp582M</a:t>
            </a:r>
            <a:endParaRPr lang="en-US" sz="860" dirty="0"/>
          </a:p>
        </p:txBody>
      </p:sp>
      <p:sp>
        <p:nvSpPr>
          <p:cNvPr id="62" name="Shape 57"/>
          <p:cNvSpPr/>
          <p:nvPr/>
        </p:nvSpPr>
        <p:spPr>
          <a:xfrm>
            <a:off x="8696819" y="3697347"/>
            <a:ext cx="267829" cy="0"/>
          </a:xfrm>
          <a:prstGeom prst="line">
            <a:avLst/>
          </a:prstGeom>
          <a:noFill/>
          <a:ln w="9525">
            <a:solidFill>
              <a:srgbClr val="B9C2B0"/>
            </a:solidFill>
            <a:prstDash val="dash"/>
          </a:ln>
        </p:spPr>
      </p:sp>
      <p:sp>
        <p:nvSpPr>
          <p:cNvPr id="63" name="Text 58"/>
          <p:cNvSpPr txBox="1"/>
          <p:nvPr/>
        </p:nvSpPr>
        <p:spPr>
          <a:xfrm>
            <a:off x="8170686" y="4448175"/>
            <a:ext cx="650522"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Cheaper</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mix</a:t>
            </a:r>
            <a:endParaRPr lang="en-US" sz="830" dirty="0"/>
          </a:p>
        </p:txBody>
      </p:sp>
      <p:sp>
        <p:nvSpPr>
          <p:cNvPr id="64" name="Shape 59"/>
          <p:cNvSpPr/>
          <p:nvPr/>
        </p:nvSpPr>
        <p:spPr>
          <a:xfrm>
            <a:off x="8964648" y="3697347"/>
            <a:ext cx="401743" cy="48918"/>
          </a:xfrm>
          <a:prstGeom prst="roundRect">
            <a:avLst>
              <a:gd name="adj" fmla="val 50000"/>
            </a:avLst>
          </a:prstGeom>
          <a:solidFill>
            <a:srgbClr val="A23B72"/>
          </a:solidFill>
          <a:ln w="12700">
            <a:solidFill>
              <a:srgbClr val="A23B72"/>
            </a:solidFill>
            <a:prstDash val="solid"/>
          </a:ln>
        </p:spPr>
      </p:sp>
      <p:sp>
        <p:nvSpPr>
          <p:cNvPr id="65" name="Text 60"/>
          <p:cNvSpPr txBox="1"/>
          <p:nvPr/>
        </p:nvSpPr>
        <p:spPr>
          <a:xfrm>
            <a:off x="8689269" y="3525897"/>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A23B72"/>
                </a:solidFill>
                <a:latin typeface="Plus Jakarta Sans" pitchFamily="34" charset="0"/>
                <a:ea typeface="Plus Jakarta Sans" pitchFamily="34" charset="-122"/>
                <a:cs typeface="Plus Jakarta Sans" pitchFamily="34" charset="-120"/>
              </a:rPr>
              <a:t>−Rp165M</a:t>
            </a:r>
            <a:endParaRPr lang="en-US" sz="860" dirty="0"/>
          </a:p>
        </p:txBody>
      </p:sp>
      <p:sp>
        <p:nvSpPr>
          <p:cNvPr id="66" name="Shape 61"/>
          <p:cNvSpPr/>
          <p:nvPr/>
        </p:nvSpPr>
        <p:spPr>
          <a:xfrm>
            <a:off x="9366391" y="3746265"/>
            <a:ext cx="267829" cy="0"/>
          </a:xfrm>
          <a:prstGeom prst="line">
            <a:avLst/>
          </a:prstGeom>
          <a:noFill/>
          <a:ln w="9525">
            <a:solidFill>
              <a:srgbClr val="B9C2B0"/>
            </a:solidFill>
            <a:prstDash val="dash"/>
          </a:ln>
        </p:spPr>
      </p:sp>
      <p:sp>
        <p:nvSpPr>
          <p:cNvPr id="67" name="Text 62"/>
          <p:cNvSpPr txBox="1"/>
          <p:nvPr/>
        </p:nvSpPr>
        <p:spPr>
          <a:xfrm>
            <a:off x="8840258" y="4448175"/>
            <a:ext cx="650522"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Lower</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prices</a:t>
            </a:r>
            <a:endParaRPr lang="en-US" sz="830" dirty="0"/>
          </a:p>
        </p:txBody>
      </p:sp>
      <p:sp>
        <p:nvSpPr>
          <p:cNvPr id="68" name="Shape 63"/>
          <p:cNvSpPr/>
          <p:nvPr/>
        </p:nvSpPr>
        <p:spPr>
          <a:xfrm>
            <a:off x="9634220" y="3730275"/>
            <a:ext cx="401743" cy="19050"/>
          </a:xfrm>
          <a:prstGeom prst="rect">
            <a:avLst/>
          </a:prstGeom>
          <a:solidFill>
            <a:srgbClr val="3E7B27"/>
          </a:solidFill>
          <a:ln w="12700">
            <a:solidFill>
              <a:srgbClr val="3E7B27"/>
            </a:solidFill>
            <a:prstDash val="solid"/>
          </a:ln>
        </p:spPr>
      </p:sp>
      <p:sp>
        <p:nvSpPr>
          <p:cNvPr id="69" name="Text 64"/>
          <p:cNvSpPr txBox="1"/>
          <p:nvPr/>
        </p:nvSpPr>
        <p:spPr>
          <a:xfrm>
            <a:off x="9358842" y="3558825"/>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+Rp53.8M</a:t>
            </a:r>
            <a:endParaRPr lang="en-US" sz="860" dirty="0"/>
          </a:p>
        </p:txBody>
      </p:sp>
      <p:sp>
        <p:nvSpPr>
          <p:cNvPr id="70" name="Shape 65"/>
          <p:cNvSpPr/>
          <p:nvPr/>
        </p:nvSpPr>
        <p:spPr>
          <a:xfrm>
            <a:off x="10035963" y="3730275"/>
            <a:ext cx="267829" cy="0"/>
          </a:xfrm>
          <a:prstGeom prst="line">
            <a:avLst/>
          </a:prstGeom>
          <a:noFill/>
          <a:ln w="9525">
            <a:solidFill>
              <a:srgbClr val="B9C2B0"/>
            </a:solidFill>
            <a:prstDash val="dash"/>
          </a:ln>
        </p:spPr>
      </p:sp>
      <p:sp>
        <p:nvSpPr>
          <p:cNvPr id="71" name="Text 66"/>
          <p:cNvSpPr txBox="1"/>
          <p:nvPr/>
        </p:nvSpPr>
        <p:spPr>
          <a:xfrm>
            <a:off x="9509831" y="4448175"/>
            <a:ext cx="650522"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Other</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items</a:t>
            </a:r>
            <a:endParaRPr lang="en-US" sz="830" dirty="0"/>
          </a:p>
        </p:txBody>
      </p:sp>
      <p:sp>
        <p:nvSpPr>
          <p:cNvPr id="72" name="Shape 67"/>
          <p:cNvSpPr/>
          <p:nvPr/>
        </p:nvSpPr>
        <p:spPr>
          <a:xfrm>
            <a:off x="10303792" y="3730275"/>
            <a:ext cx="401743" cy="670275"/>
          </a:xfrm>
          <a:prstGeom prst="roundRect">
            <a:avLst>
              <a:gd name="adj" fmla="val 7113"/>
            </a:avLst>
          </a:prstGeom>
          <a:solidFill>
            <a:srgbClr val="274E13"/>
          </a:solidFill>
          <a:ln w="12700">
            <a:solidFill>
              <a:srgbClr val="274E13"/>
            </a:solidFill>
            <a:prstDash val="solid"/>
          </a:ln>
        </p:spPr>
      </p:sp>
      <p:sp>
        <p:nvSpPr>
          <p:cNvPr id="73" name="Text 68"/>
          <p:cNvSpPr txBox="1"/>
          <p:nvPr/>
        </p:nvSpPr>
        <p:spPr>
          <a:xfrm>
            <a:off x="10028414" y="3558825"/>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Rp2.25B</a:t>
            </a:r>
            <a:endParaRPr lang="en-US" sz="860" dirty="0"/>
          </a:p>
        </p:txBody>
      </p:sp>
      <p:sp>
        <p:nvSpPr>
          <p:cNvPr id="74" name="Text 69"/>
          <p:cNvSpPr txBox="1"/>
          <p:nvPr/>
        </p:nvSpPr>
        <p:spPr>
          <a:xfrm>
            <a:off x="10179403" y="4448175"/>
            <a:ext cx="650522"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p:txBody>
      </p:sp>
      <p:sp>
        <p:nvSpPr>
          <p:cNvPr id="75" name="Shape 70"/>
          <p:cNvSpPr/>
          <p:nvPr/>
        </p:nvSpPr>
        <p:spPr>
          <a:xfrm>
            <a:off x="6822017" y="4400550"/>
            <a:ext cx="4017433" cy="0"/>
          </a:xfrm>
          <a:prstGeom prst="line">
            <a:avLst/>
          </a:prstGeom>
          <a:noFill/>
          <a:ln w="9525">
            <a:solidFill>
              <a:srgbClr val="B9C2B0"/>
            </a:solidFill>
            <a:prstDash val="solid"/>
          </a:ln>
        </p:spPr>
      </p:sp>
      <p:sp>
        <p:nvSpPr>
          <p:cNvPr id="76" name="Shape 71"/>
          <p:cNvSpPr/>
          <p:nvPr/>
        </p:nvSpPr>
        <p:spPr>
          <a:xfrm>
            <a:off x="762000" y="5048250"/>
            <a:ext cx="10287000" cy="1066800"/>
          </a:xfrm>
          <a:prstGeom prst="roundRect">
            <a:avLst>
              <a:gd name="adj" fmla="val 10286"/>
            </a:avLst>
          </a:prstGeom>
          <a:solidFill>
            <a:srgbClr val="FBEFC4"/>
          </a:solidFill>
          <a:ln w="12700">
            <a:solidFill>
              <a:srgbClr val="FBEFC4"/>
            </a:solidFill>
            <a:prstDash val="solid"/>
          </a:ln>
        </p:spPr>
      </p:sp>
      <p:sp>
        <p:nvSpPr>
          <p:cNvPr id="77" name="Text 72"/>
          <p:cNvSpPr txBox="1"/>
          <p:nvPr/>
        </p:nvSpPr>
        <p:spPr>
          <a:xfrm>
            <a:off x="933450" y="5133975"/>
            <a:ext cx="9944100" cy="89535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Volume added +Rp534M; GMV per kg took −Rp747M (Rp7,422 → Rp5,526 per kg). Of that, −Rp582M is a cheaper product mix and −Rp165M lower prices on the same products.</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Mix: Rock phosphate (RP) went from 28% to 51% of kg sold (about Rp2,614/kg), NPK from 29% to 5% (about Rp11,799/kg).</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Price cuts: Urea Nitrea 46% N 50kg Rp647k → Rp466k (−28%, −Rp122M); RP Mahkota 50kg - Egypt Rp125k → Rp119k (−4%, −Rp18.6M); MOP/KCL Canada Cap Mahkota 50kg Rp429k → Rp423k (−1%, −Rp10.6M).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5</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TREND · WHAT CHANGED FROM JUL TO SEP</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49 of 67 Jul customers didn't buy in Sep; Muhammad Abdul Wahab −Rp933M and Pupuk Grosir −Rp752M moved most</a:t>
            </a:r>
            <a:endParaRPr lang="en-US" sz="2300" dirty="0"/>
          </a:p>
        </p:txBody>
      </p:sp>
      <p:sp>
        <p:nvSpPr>
          <p:cNvPr id="11" name="Shape 6"/>
          <p:cNvSpPr/>
          <p:nvPr/>
        </p:nvSpPr>
        <p:spPr>
          <a:xfrm>
            <a:off x="762000" y="1714500"/>
            <a:ext cx="3436495" cy="3371850"/>
          </a:xfrm>
          <a:prstGeom prst="roundRect">
            <a:avLst>
              <a:gd name="adj" fmla="val 3254"/>
            </a:avLst>
          </a:prstGeom>
          <a:solidFill>
            <a:srgbClr val="FFFFFF"/>
          </a:solidFill>
          <a:ln w="12700">
            <a:solidFill>
              <a:srgbClr val="FFFFFF"/>
            </a:solidFill>
            <a:prstDash val="solid"/>
          </a:ln>
        </p:spPr>
      </p:sp>
      <p:sp>
        <p:nvSpPr>
          <p:cNvPr id="12" name="Text 7"/>
          <p:cNvSpPr txBox="1"/>
          <p:nvPr/>
        </p:nvSpPr>
        <p:spPr>
          <a:xfrm>
            <a:off x="952500" y="1866900"/>
            <a:ext cx="3055495"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Customer bridge</a:t>
            </a:r>
            <a:endParaRPr lang="en-US" sz="1300" dirty="0"/>
          </a:p>
        </p:txBody>
      </p:sp>
      <p:sp>
        <p:nvSpPr>
          <p:cNvPr id="13" name="Text 8"/>
          <p:cNvSpPr txBox="1"/>
          <p:nvPr/>
        </p:nvSpPr>
        <p:spPr>
          <a:xfrm>
            <a:off x="952500" y="2095500"/>
            <a:ext cx="3055495"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Jul GMV to Sep GMV by customer</a:t>
            </a:r>
            <a:endParaRPr lang="en-US" sz="950" dirty="0"/>
          </a:p>
        </p:txBody>
      </p:sp>
      <p:sp>
        <p:nvSpPr>
          <p:cNvPr id="14" name="Shape 9"/>
          <p:cNvSpPr/>
          <p:nvPr/>
        </p:nvSpPr>
        <p:spPr>
          <a:xfrm>
            <a:off x="1092246" y="2590800"/>
            <a:ext cx="362087" cy="1981200"/>
          </a:xfrm>
          <a:prstGeom prst="roundRect">
            <a:avLst>
              <a:gd name="adj" fmla="val 7892"/>
            </a:avLst>
          </a:prstGeom>
          <a:solidFill>
            <a:srgbClr val="8E9C84"/>
          </a:solidFill>
          <a:ln w="12700">
            <a:solidFill>
              <a:srgbClr val="8E9C84"/>
            </a:solidFill>
            <a:prstDash val="solid"/>
          </a:ln>
        </p:spPr>
      </p:sp>
      <p:sp>
        <p:nvSpPr>
          <p:cNvPr id="15" name="Text 10"/>
          <p:cNvSpPr txBox="1"/>
          <p:nvPr/>
        </p:nvSpPr>
        <p:spPr>
          <a:xfrm>
            <a:off x="797040" y="2419350"/>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Rp2.41B</a:t>
            </a:r>
            <a:endParaRPr lang="en-US" sz="860" dirty="0"/>
          </a:p>
        </p:txBody>
      </p:sp>
      <p:sp>
        <p:nvSpPr>
          <p:cNvPr id="16" name="Shape 11"/>
          <p:cNvSpPr/>
          <p:nvPr/>
        </p:nvSpPr>
        <p:spPr>
          <a:xfrm>
            <a:off x="1454333" y="2590800"/>
            <a:ext cx="241392" cy="0"/>
          </a:xfrm>
          <a:prstGeom prst="line">
            <a:avLst/>
          </a:prstGeom>
          <a:noFill/>
          <a:ln w="9525">
            <a:solidFill>
              <a:srgbClr val="B9C2B0"/>
            </a:solidFill>
            <a:prstDash val="dash"/>
          </a:ln>
        </p:spPr>
      </p:sp>
      <p:sp>
        <p:nvSpPr>
          <p:cNvPr id="17" name="Text 12"/>
          <p:cNvSpPr txBox="1"/>
          <p:nvPr/>
        </p:nvSpPr>
        <p:spPr>
          <a:xfrm>
            <a:off x="981075" y="4619625"/>
            <a:ext cx="584429"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p:txBody>
      </p:sp>
      <p:sp>
        <p:nvSpPr>
          <p:cNvPr id="18" name="Shape 13"/>
          <p:cNvSpPr/>
          <p:nvPr/>
        </p:nvSpPr>
        <p:spPr>
          <a:xfrm>
            <a:off x="1695725" y="2590800"/>
            <a:ext cx="362087" cy="1667756"/>
          </a:xfrm>
          <a:prstGeom prst="roundRect">
            <a:avLst>
              <a:gd name="adj" fmla="val 7892"/>
            </a:avLst>
          </a:prstGeom>
          <a:solidFill>
            <a:srgbClr val="A23B72"/>
          </a:solidFill>
          <a:ln w="12700">
            <a:solidFill>
              <a:srgbClr val="A23B72"/>
            </a:solidFill>
            <a:prstDash val="solid"/>
          </a:ln>
        </p:spPr>
      </p:sp>
      <p:sp>
        <p:nvSpPr>
          <p:cNvPr id="19" name="Text 14"/>
          <p:cNvSpPr txBox="1"/>
          <p:nvPr/>
        </p:nvSpPr>
        <p:spPr>
          <a:xfrm>
            <a:off x="1400519" y="2419350"/>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A23B72"/>
                </a:solidFill>
                <a:latin typeface="Plus Jakarta Sans" pitchFamily="34" charset="0"/>
                <a:ea typeface="Plus Jakarta Sans" pitchFamily="34" charset="-122"/>
                <a:cs typeface="Plus Jakarta Sans" pitchFamily="34" charset="-120"/>
              </a:rPr>
              <a:t>−Rp2.03B</a:t>
            </a:r>
            <a:endParaRPr lang="en-US" sz="860" dirty="0"/>
          </a:p>
        </p:txBody>
      </p:sp>
      <p:sp>
        <p:nvSpPr>
          <p:cNvPr id="20" name="Shape 15"/>
          <p:cNvSpPr/>
          <p:nvPr/>
        </p:nvSpPr>
        <p:spPr>
          <a:xfrm>
            <a:off x="2057812" y="4258556"/>
            <a:ext cx="241392" cy="0"/>
          </a:xfrm>
          <a:prstGeom prst="line">
            <a:avLst/>
          </a:prstGeom>
          <a:noFill/>
          <a:ln w="9525">
            <a:solidFill>
              <a:srgbClr val="B9C2B0"/>
            </a:solidFill>
            <a:prstDash val="dash"/>
          </a:ln>
        </p:spPr>
      </p:sp>
      <p:sp>
        <p:nvSpPr>
          <p:cNvPr id="21" name="Text 16"/>
          <p:cNvSpPr txBox="1"/>
          <p:nvPr/>
        </p:nvSpPr>
        <p:spPr>
          <a:xfrm>
            <a:off x="1584554" y="4619625"/>
            <a:ext cx="584429"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Not in</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49 cust.</a:t>
            </a:r>
            <a:endParaRPr lang="en-US" sz="830" dirty="0"/>
          </a:p>
        </p:txBody>
      </p:sp>
      <p:sp>
        <p:nvSpPr>
          <p:cNvPr id="22" name="Shape 17"/>
          <p:cNvSpPr/>
          <p:nvPr/>
        </p:nvSpPr>
        <p:spPr>
          <a:xfrm>
            <a:off x="2299204" y="4063302"/>
            <a:ext cx="362087" cy="195255"/>
          </a:xfrm>
          <a:prstGeom prst="roundRect">
            <a:avLst>
              <a:gd name="adj" fmla="val 14635"/>
            </a:avLst>
          </a:prstGeom>
          <a:solidFill>
            <a:srgbClr val="3E7B27"/>
          </a:solidFill>
          <a:ln w="12700">
            <a:solidFill>
              <a:srgbClr val="3E7B27"/>
            </a:solidFill>
            <a:prstDash val="solid"/>
          </a:ln>
        </p:spPr>
      </p:sp>
      <p:sp>
        <p:nvSpPr>
          <p:cNvPr id="23" name="Text 18"/>
          <p:cNvSpPr txBox="1"/>
          <p:nvPr/>
        </p:nvSpPr>
        <p:spPr>
          <a:xfrm>
            <a:off x="2003998" y="3891852"/>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+Rp238M</a:t>
            </a:r>
            <a:endParaRPr lang="en-US" sz="860" dirty="0"/>
          </a:p>
        </p:txBody>
      </p:sp>
      <p:sp>
        <p:nvSpPr>
          <p:cNvPr id="24" name="Shape 19"/>
          <p:cNvSpPr/>
          <p:nvPr/>
        </p:nvSpPr>
        <p:spPr>
          <a:xfrm>
            <a:off x="2661291" y="4063302"/>
            <a:ext cx="241392" cy="0"/>
          </a:xfrm>
          <a:prstGeom prst="line">
            <a:avLst/>
          </a:prstGeom>
          <a:noFill/>
          <a:ln w="9525">
            <a:solidFill>
              <a:srgbClr val="B9C2B0"/>
            </a:solidFill>
            <a:prstDash val="dash"/>
          </a:ln>
        </p:spPr>
      </p:sp>
      <p:sp>
        <p:nvSpPr>
          <p:cNvPr id="25" name="Text 20"/>
          <p:cNvSpPr txBox="1"/>
          <p:nvPr/>
        </p:nvSpPr>
        <p:spPr>
          <a:xfrm>
            <a:off x="2188033" y="4619625"/>
            <a:ext cx="584429"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Both</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months</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18 cust.</a:t>
            </a:r>
            <a:endParaRPr lang="en-US" sz="830" dirty="0"/>
          </a:p>
        </p:txBody>
      </p:sp>
      <p:sp>
        <p:nvSpPr>
          <p:cNvPr id="26" name="Shape 21"/>
          <p:cNvSpPr/>
          <p:nvPr/>
        </p:nvSpPr>
        <p:spPr>
          <a:xfrm>
            <a:off x="2902683" y="2721362"/>
            <a:ext cx="362087" cy="1341940"/>
          </a:xfrm>
          <a:prstGeom prst="roundRect">
            <a:avLst>
              <a:gd name="adj" fmla="val 7892"/>
            </a:avLst>
          </a:prstGeom>
          <a:solidFill>
            <a:srgbClr val="3E7B27"/>
          </a:solidFill>
          <a:ln w="12700">
            <a:solidFill>
              <a:srgbClr val="3E7B27"/>
            </a:solidFill>
            <a:prstDash val="solid"/>
          </a:ln>
        </p:spPr>
      </p:sp>
      <p:sp>
        <p:nvSpPr>
          <p:cNvPr id="27" name="Text 22"/>
          <p:cNvSpPr txBox="1"/>
          <p:nvPr/>
        </p:nvSpPr>
        <p:spPr>
          <a:xfrm>
            <a:off x="2607477" y="2549912"/>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+Rp1.63B</a:t>
            </a:r>
            <a:endParaRPr lang="en-US" sz="860" dirty="0"/>
          </a:p>
        </p:txBody>
      </p:sp>
      <p:sp>
        <p:nvSpPr>
          <p:cNvPr id="28" name="Shape 23"/>
          <p:cNvSpPr/>
          <p:nvPr/>
        </p:nvSpPr>
        <p:spPr>
          <a:xfrm>
            <a:off x="3264770" y="2721362"/>
            <a:ext cx="241392" cy="0"/>
          </a:xfrm>
          <a:prstGeom prst="line">
            <a:avLst/>
          </a:prstGeom>
          <a:noFill/>
          <a:ln w="9525">
            <a:solidFill>
              <a:srgbClr val="B9C2B0"/>
            </a:solidFill>
            <a:prstDash val="dash"/>
          </a:ln>
        </p:spPr>
      </p:sp>
      <p:sp>
        <p:nvSpPr>
          <p:cNvPr id="29" name="Text 24"/>
          <p:cNvSpPr txBox="1"/>
          <p:nvPr/>
        </p:nvSpPr>
        <p:spPr>
          <a:xfrm>
            <a:off x="2791512" y="4619625"/>
            <a:ext cx="584429"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Not in</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53 cust.</a:t>
            </a:r>
            <a:endParaRPr lang="en-US" sz="830" dirty="0"/>
          </a:p>
        </p:txBody>
      </p:sp>
      <p:sp>
        <p:nvSpPr>
          <p:cNvPr id="30" name="Shape 25"/>
          <p:cNvSpPr/>
          <p:nvPr/>
        </p:nvSpPr>
        <p:spPr>
          <a:xfrm>
            <a:off x="3506162" y="2721362"/>
            <a:ext cx="362087" cy="1850638"/>
          </a:xfrm>
          <a:prstGeom prst="roundRect">
            <a:avLst>
              <a:gd name="adj" fmla="val 7892"/>
            </a:avLst>
          </a:prstGeom>
          <a:solidFill>
            <a:srgbClr val="274E13"/>
          </a:solidFill>
          <a:ln w="12700">
            <a:solidFill>
              <a:srgbClr val="274E13"/>
            </a:solidFill>
            <a:prstDash val="solid"/>
          </a:ln>
        </p:spPr>
      </p:sp>
      <p:sp>
        <p:nvSpPr>
          <p:cNvPr id="31" name="Text 26"/>
          <p:cNvSpPr txBox="1"/>
          <p:nvPr/>
        </p:nvSpPr>
        <p:spPr>
          <a:xfrm>
            <a:off x="3210956" y="2549912"/>
            <a:ext cx="952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Rp2.25B</a:t>
            </a:r>
            <a:endParaRPr lang="en-US" sz="860" dirty="0"/>
          </a:p>
        </p:txBody>
      </p:sp>
      <p:sp>
        <p:nvSpPr>
          <p:cNvPr id="32" name="Text 27"/>
          <p:cNvSpPr txBox="1"/>
          <p:nvPr/>
        </p:nvSpPr>
        <p:spPr>
          <a:xfrm>
            <a:off x="3394991" y="4619625"/>
            <a:ext cx="584429" cy="3333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p:txBody>
      </p:sp>
      <p:sp>
        <p:nvSpPr>
          <p:cNvPr id="33" name="Shape 28"/>
          <p:cNvSpPr/>
          <p:nvPr/>
        </p:nvSpPr>
        <p:spPr>
          <a:xfrm>
            <a:off x="971550" y="4572000"/>
            <a:ext cx="3017395" cy="0"/>
          </a:xfrm>
          <a:prstGeom prst="line">
            <a:avLst/>
          </a:prstGeom>
          <a:noFill/>
          <a:ln w="9525">
            <a:solidFill>
              <a:srgbClr val="B9C2B0"/>
            </a:solidFill>
            <a:prstDash val="solid"/>
          </a:ln>
        </p:spPr>
      </p:sp>
      <p:sp>
        <p:nvSpPr>
          <p:cNvPr id="34" name="Shape 29"/>
          <p:cNvSpPr/>
          <p:nvPr/>
        </p:nvSpPr>
        <p:spPr>
          <a:xfrm>
            <a:off x="4350895" y="1714500"/>
            <a:ext cx="3272852" cy="3371850"/>
          </a:xfrm>
          <a:prstGeom prst="roundRect">
            <a:avLst>
              <a:gd name="adj" fmla="val 3353"/>
            </a:avLst>
          </a:prstGeom>
          <a:solidFill>
            <a:srgbClr val="FFFFFF"/>
          </a:solidFill>
          <a:ln w="12700">
            <a:solidFill>
              <a:srgbClr val="FFFFFF"/>
            </a:solidFill>
            <a:prstDash val="solid"/>
          </a:ln>
        </p:spPr>
      </p:sp>
      <p:sp>
        <p:nvSpPr>
          <p:cNvPr id="35" name="Text 30"/>
          <p:cNvSpPr txBox="1"/>
          <p:nvPr/>
        </p:nvSpPr>
        <p:spPr>
          <a:xfrm>
            <a:off x="4541395" y="1866900"/>
            <a:ext cx="2891852"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Change by PIC</a:t>
            </a:r>
            <a:endParaRPr lang="en-US" sz="1300" dirty="0"/>
          </a:p>
        </p:txBody>
      </p:sp>
      <p:sp>
        <p:nvSpPr>
          <p:cNvPr id="36" name="Text 31"/>
          <p:cNvSpPr txBox="1"/>
          <p:nvPr/>
        </p:nvSpPr>
        <p:spPr>
          <a:xfrm>
            <a:off x="4541395" y="2095500"/>
            <a:ext cx="2891852"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Jul → Sep GMV; hover for both months</a:t>
            </a:r>
            <a:endParaRPr lang="en-US" sz="950" dirty="0"/>
          </a:p>
        </p:txBody>
      </p:sp>
      <p:sp>
        <p:nvSpPr>
          <p:cNvPr id="37" name="Shape 32"/>
          <p:cNvSpPr/>
          <p:nvPr/>
        </p:nvSpPr>
        <p:spPr>
          <a:xfrm>
            <a:off x="6500997" y="2381250"/>
            <a:ext cx="0" cy="1943100"/>
          </a:xfrm>
          <a:prstGeom prst="line">
            <a:avLst/>
          </a:prstGeom>
          <a:noFill/>
          <a:ln w="9525">
            <a:solidFill>
              <a:srgbClr val="B9C2B0"/>
            </a:solidFill>
            <a:prstDash val="solid"/>
          </a:ln>
        </p:spPr>
      </p:sp>
      <p:sp>
        <p:nvSpPr>
          <p:cNvPr id="38" name="Text 33"/>
          <p:cNvSpPr txBox="1"/>
          <p:nvPr/>
        </p:nvSpPr>
        <p:spPr>
          <a:xfrm>
            <a:off x="4560445" y="238125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Muhammad Abdul</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Wahab</a:t>
            </a:r>
            <a:endParaRPr lang="en-US" sz="900" dirty="0"/>
          </a:p>
        </p:txBody>
      </p:sp>
      <p:sp>
        <p:nvSpPr>
          <p:cNvPr id="39" name="Shape 34"/>
          <p:cNvSpPr/>
          <p:nvPr/>
        </p:nvSpPr>
        <p:spPr>
          <a:xfrm>
            <a:off x="6168821" y="2466975"/>
            <a:ext cx="322651" cy="152400"/>
          </a:xfrm>
          <a:prstGeom prst="roundRect">
            <a:avLst>
              <a:gd name="adj" fmla="val 18750"/>
            </a:avLst>
          </a:prstGeom>
          <a:solidFill>
            <a:srgbClr val="A23B72"/>
          </a:solidFill>
          <a:ln w="12700">
            <a:solidFill>
              <a:srgbClr val="A23B72"/>
            </a:solidFill>
            <a:prstDash val="solid"/>
          </a:ln>
        </p:spPr>
      </p:sp>
      <p:sp>
        <p:nvSpPr>
          <p:cNvPr id="40" name="Text 35"/>
          <p:cNvSpPr txBox="1"/>
          <p:nvPr/>
        </p:nvSpPr>
        <p:spPr>
          <a:xfrm>
            <a:off x="5597321" y="2381250"/>
            <a:ext cx="533400" cy="323850"/>
          </a:xfrm>
          <a:prstGeom prst="rect">
            <a:avLst/>
          </a:prstGeom>
          <a:noFill/>
          <a:ln/>
        </p:spPr>
        <p:txBody>
          <a:bodyPr wrap="square" lIns="0" tIns="0" rIns="0" bIns="0" rtlCol="0" anchor="ctr"/>
          <a:lstStyle/>
          <a:p>
            <a:pPr algn="r" indent="0" marL="0">
              <a:lnSpc>
                <a:spcPct val="95000"/>
              </a:lnSpc>
              <a:buNone/>
            </a:pPr>
            <a:r>
              <a:rPr lang="en-US" sz="860" b="1" dirty="0">
                <a:solidFill>
                  <a:srgbClr val="A23B72"/>
                </a:solidFill>
                <a:latin typeface="Plus Jakarta Sans" pitchFamily="34" charset="0"/>
                <a:ea typeface="Plus Jakarta Sans" pitchFamily="34" charset="-122"/>
                <a:cs typeface="Plus Jakarta Sans" pitchFamily="34" charset="-120"/>
              </a:rPr>
              <a:t>−Rp933M</a:t>
            </a:r>
            <a:endParaRPr lang="en-US" sz="860" dirty="0"/>
          </a:p>
        </p:txBody>
      </p:sp>
      <p:sp>
        <p:nvSpPr>
          <p:cNvPr id="41" name="Text 36"/>
          <p:cNvSpPr txBox="1"/>
          <p:nvPr/>
        </p:nvSpPr>
        <p:spPr>
          <a:xfrm>
            <a:off x="4560445" y="270510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Simon Sutrado</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Simanjuntak</a:t>
            </a:r>
            <a:endParaRPr lang="en-US" sz="900" dirty="0"/>
          </a:p>
        </p:txBody>
      </p:sp>
      <p:sp>
        <p:nvSpPr>
          <p:cNvPr id="42" name="Shape 37"/>
          <p:cNvSpPr/>
          <p:nvPr/>
        </p:nvSpPr>
        <p:spPr>
          <a:xfrm>
            <a:off x="6510522" y="2790825"/>
            <a:ext cx="103263" cy="152400"/>
          </a:xfrm>
          <a:prstGeom prst="roundRect">
            <a:avLst>
              <a:gd name="adj" fmla="val 27672"/>
            </a:avLst>
          </a:prstGeom>
          <a:solidFill>
            <a:srgbClr val="3E7B27"/>
          </a:solidFill>
          <a:ln w="12700">
            <a:solidFill>
              <a:srgbClr val="3E7B27"/>
            </a:solidFill>
            <a:prstDash val="solid"/>
          </a:ln>
        </p:spPr>
      </p:sp>
      <p:sp>
        <p:nvSpPr>
          <p:cNvPr id="43" name="Text 38"/>
          <p:cNvSpPr txBox="1"/>
          <p:nvPr/>
        </p:nvSpPr>
        <p:spPr>
          <a:xfrm>
            <a:off x="6651885" y="270510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+Rp299M</a:t>
            </a:r>
            <a:endParaRPr lang="en-US" sz="860" dirty="0"/>
          </a:p>
        </p:txBody>
      </p:sp>
      <p:sp>
        <p:nvSpPr>
          <p:cNvPr id="44" name="Text 39"/>
          <p:cNvSpPr txBox="1"/>
          <p:nvPr/>
        </p:nvSpPr>
        <p:spPr>
          <a:xfrm>
            <a:off x="4560445" y="302895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Deby Zea</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Efendi</a:t>
            </a:r>
            <a:endParaRPr lang="en-US" sz="900" dirty="0"/>
          </a:p>
        </p:txBody>
      </p:sp>
      <p:sp>
        <p:nvSpPr>
          <p:cNvPr id="45" name="Shape 40"/>
          <p:cNvSpPr/>
          <p:nvPr/>
        </p:nvSpPr>
        <p:spPr>
          <a:xfrm>
            <a:off x="6510522" y="3114675"/>
            <a:ext cx="64688" cy="152400"/>
          </a:xfrm>
          <a:prstGeom prst="roundRect">
            <a:avLst>
              <a:gd name="adj" fmla="val 44174"/>
            </a:avLst>
          </a:prstGeom>
          <a:solidFill>
            <a:srgbClr val="3E7B27"/>
          </a:solidFill>
          <a:ln w="12700">
            <a:solidFill>
              <a:srgbClr val="3E7B27"/>
            </a:solidFill>
            <a:prstDash val="solid"/>
          </a:ln>
        </p:spPr>
      </p:sp>
      <p:sp>
        <p:nvSpPr>
          <p:cNvPr id="46" name="Text 41"/>
          <p:cNvSpPr txBox="1"/>
          <p:nvPr/>
        </p:nvSpPr>
        <p:spPr>
          <a:xfrm>
            <a:off x="6613310" y="302895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+Rp187M</a:t>
            </a:r>
            <a:endParaRPr lang="en-US" sz="860" dirty="0"/>
          </a:p>
        </p:txBody>
      </p:sp>
      <p:sp>
        <p:nvSpPr>
          <p:cNvPr id="47" name="Text 42"/>
          <p:cNvSpPr txBox="1"/>
          <p:nvPr/>
        </p:nvSpPr>
        <p:spPr>
          <a:xfrm>
            <a:off x="4560445" y="335280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Joko Prestiwo</a:t>
            </a:r>
            <a:endParaRPr lang="en-US" sz="900" dirty="0"/>
          </a:p>
        </p:txBody>
      </p:sp>
      <p:sp>
        <p:nvSpPr>
          <p:cNvPr id="48" name="Shape 43"/>
          <p:cNvSpPr/>
          <p:nvPr/>
        </p:nvSpPr>
        <p:spPr>
          <a:xfrm>
            <a:off x="6510522" y="3438525"/>
            <a:ext cx="58286" cy="152400"/>
          </a:xfrm>
          <a:prstGeom prst="roundRect">
            <a:avLst>
              <a:gd name="adj" fmla="val 49025"/>
            </a:avLst>
          </a:prstGeom>
          <a:solidFill>
            <a:srgbClr val="3E7B27"/>
          </a:solidFill>
          <a:ln w="12700">
            <a:solidFill>
              <a:srgbClr val="3E7B27"/>
            </a:solidFill>
            <a:prstDash val="solid"/>
          </a:ln>
        </p:spPr>
      </p:sp>
      <p:sp>
        <p:nvSpPr>
          <p:cNvPr id="49" name="Text 44"/>
          <p:cNvSpPr txBox="1"/>
          <p:nvPr/>
        </p:nvSpPr>
        <p:spPr>
          <a:xfrm>
            <a:off x="6606907" y="335280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+Rp168M</a:t>
            </a:r>
            <a:endParaRPr lang="en-US" sz="860" dirty="0"/>
          </a:p>
        </p:txBody>
      </p:sp>
      <p:sp>
        <p:nvSpPr>
          <p:cNvPr id="50" name="Text 45"/>
          <p:cNvSpPr txBox="1"/>
          <p:nvPr/>
        </p:nvSpPr>
        <p:spPr>
          <a:xfrm>
            <a:off x="4560445" y="367665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Ghifari Kamil</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Ramadhan</a:t>
            </a:r>
            <a:endParaRPr lang="en-US" sz="900" dirty="0"/>
          </a:p>
        </p:txBody>
      </p:sp>
      <p:sp>
        <p:nvSpPr>
          <p:cNvPr id="51" name="Shape 46"/>
          <p:cNvSpPr/>
          <p:nvPr/>
        </p:nvSpPr>
        <p:spPr>
          <a:xfrm>
            <a:off x="6510522" y="3762375"/>
            <a:ext cx="35897" cy="152400"/>
          </a:xfrm>
          <a:prstGeom prst="roundRect">
            <a:avLst>
              <a:gd name="adj" fmla="val 50000"/>
            </a:avLst>
          </a:prstGeom>
          <a:solidFill>
            <a:srgbClr val="3E7B27"/>
          </a:solidFill>
          <a:ln w="12700">
            <a:solidFill>
              <a:srgbClr val="3E7B27"/>
            </a:solidFill>
            <a:prstDash val="solid"/>
          </a:ln>
        </p:spPr>
      </p:sp>
      <p:sp>
        <p:nvSpPr>
          <p:cNvPr id="52" name="Text 47"/>
          <p:cNvSpPr txBox="1"/>
          <p:nvPr/>
        </p:nvSpPr>
        <p:spPr>
          <a:xfrm>
            <a:off x="6584518" y="367665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+Rp104M</a:t>
            </a:r>
            <a:endParaRPr lang="en-US" sz="860" dirty="0"/>
          </a:p>
        </p:txBody>
      </p:sp>
      <p:sp>
        <p:nvSpPr>
          <p:cNvPr id="53" name="Text 48"/>
          <p:cNvSpPr txBox="1"/>
          <p:nvPr/>
        </p:nvSpPr>
        <p:spPr>
          <a:xfrm>
            <a:off x="4560445" y="400050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Sazali Wandana</a:t>
            </a:r>
            <a:endParaRPr lang="en-US" sz="900" dirty="0"/>
          </a:p>
        </p:txBody>
      </p:sp>
      <p:sp>
        <p:nvSpPr>
          <p:cNvPr id="54" name="Shape 49"/>
          <p:cNvSpPr/>
          <p:nvPr/>
        </p:nvSpPr>
        <p:spPr>
          <a:xfrm>
            <a:off x="6510522" y="4086225"/>
            <a:ext cx="34558" cy="152400"/>
          </a:xfrm>
          <a:prstGeom prst="roundRect">
            <a:avLst>
              <a:gd name="adj" fmla="val 50000"/>
            </a:avLst>
          </a:prstGeom>
          <a:solidFill>
            <a:srgbClr val="3E7B27"/>
          </a:solidFill>
          <a:ln w="12700">
            <a:solidFill>
              <a:srgbClr val="3E7B27"/>
            </a:solidFill>
            <a:prstDash val="solid"/>
          </a:ln>
        </p:spPr>
      </p:sp>
      <p:sp>
        <p:nvSpPr>
          <p:cNvPr id="55" name="Text 50"/>
          <p:cNvSpPr txBox="1"/>
          <p:nvPr/>
        </p:nvSpPr>
        <p:spPr>
          <a:xfrm>
            <a:off x="6583180" y="400050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+Rp99.9M</a:t>
            </a:r>
            <a:endParaRPr lang="en-US" sz="860" dirty="0"/>
          </a:p>
        </p:txBody>
      </p:sp>
      <p:sp>
        <p:nvSpPr>
          <p:cNvPr id="56" name="Shape 51"/>
          <p:cNvSpPr/>
          <p:nvPr/>
        </p:nvSpPr>
        <p:spPr>
          <a:xfrm>
            <a:off x="7776148" y="1714500"/>
            <a:ext cx="3272852" cy="3371850"/>
          </a:xfrm>
          <a:prstGeom prst="roundRect">
            <a:avLst>
              <a:gd name="adj" fmla="val 3353"/>
            </a:avLst>
          </a:prstGeom>
          <a:solidFill>
            <a:srgbClr val="FFFFFF"/>
          </a:solidFill>
          <a:ln w="12700">
            <a:solidFill>
              <a:srgbClr val="FFFFFF"/>
            </a:solidFill>
            <a:prstDash val="solid"/>
          </a:ln>
        </p:spPr>
      </p:sp>
      <p:sp>
        <p:nvSpPr>
          <p:cNvPr id="57" name="Text 52"/>
          <p:cNvSpPr txBox="1"/>
          <p:nvPr/>
        </p:nvSpPr>
        <p:spPr>
          <a:xfrm>
            <a:off x="7966648" y="1866900"/>
            <a:ext cx="2891852"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Change by product category</a:t>
            </a:r>
            <a:endParaRPr lang="en-US" sz="1300" dirty="0"/>
          </a:p>
        </p:txBody>
      </p:sp>
      <p:sp>
        <p:nvSpPr>
          <p:cNvPr id="58" name="Text 53"/>
          <p:cNvSpPr txBox="1"/>
          <p:nvPr/>
        </p:nvSpPr>
        <p:spPr>
          <a:xfrm>
            <a:off x="7966648" y="2095500"/>
            <a:ext cx="2891852"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Jul → Sep GMV; hover for both months</a:t>
            </a:r>
            <a:endParaRPr lang="en-US" sz="950" dirty="0"/>
          </a:p>
        </p:txBody>
      </p:sp>
      <p:sp>
        <p:nvSpPr>
          <p:cNvPr id="59" name="Shape 54"/>
          <p:cNvSpPr/>
          <p:nvPr/>
        </p:nvSpPr>
        <p:spPr>
          <a:xfrm>
            <a:off x="9926249" y="2381250"/>
            <a:ext cx="0" cy="1943100"/>
          </a:xfrm>
          <a:prstGeom prst="line">
            <a:avLst/>
          </a:prstGeom>
          <a:noFill/>
          <a:ln w="9525">
            <a:solidFill>
              <a:srgbClr val="B9C2B0"/>
            </a:solidFill>
            <a:prstDash val="solid"/>
          </a:ln>
        </p:spPr>
      </p:sp>
      <p:sp>
        <p:nvSpPr>
          <p:cNvPr id="60" name="Text 55"/>
          <p:cNvSpPr txBox="1"/>
          <p:nvPr/>
        </p:nvSpPr>
        <p:spPr>
          <a:xfrm>
            <a:off x="7985698" y="238125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Pupuk Grosir</a:t>
            </a:r>
            <a:endParaRPr lang="en-US" sz="900" dirty="0"/>
          </a:p>
        </p:txBody>
      </p:sp>
      <p:sp>
        <p:nvSpPr>
          <p:cNvPr id="61" name="Shape 56"/>
          <p:cNvSpPr/>
          <p:nvPr/>
        </p:nvSpPr>
        <p:spPr>
          <a:xfrm>
            <a:off x="9594073" y="2466975"/>
            <a:ext cx="322651" cy="152400"/>
          </a:xfrm>
          <a:prstGeom prst="roundRect">
            <a:avLst>
              <a:gd name="adj" fmla="val 18750"/>
            </a:avLst>
          </a:prstGeom>
          <a:solidFill>
            <a:srgbClr val="A23B72"/>
          </a:solidFill>
          <a:ln w="12700">
            <a:solidFill>
              <a:srgbClr val="A23B72"/>
            </a:solidFill>
            <a:prstDash val="solid"/>
          </a:ln>
        </p:spPr>
      </p:sp>
      <p:sp>
        <p:nvSpPr>
          <p:cNvPr id="62" name="Text 57"/>
          <p:cNvSpPr txBox="1"/>
          <p:nvPr/>
        </p:nvSpPr>
        <p:spPr>
          <a:xfrm>
            <a:off x="9022573" y="2381250"/>
            <a:ext cx="533400" cy="323850"/>
          </a:xfrm>
          <a:prstGeom prst="rect">
            <a:avLst/>
          </a:prstGeom>
          <a:noFill/>
          <a:ln/>
        </p:spPr>
        <p:txBody>
          <a:bodyPr wrap="square" lIns="0" tIns="0" rIns="0" bIns="0" rtlCol="0" anchor="ctr"/>
          <a:lstStyle/>
          <a:p>
            <a:pPr algn="r" indent="0" marL="0">
              <a:lnSpc>
                <a:spcPct val="95000"/>
              </a:lnSpc>
              <a:buNone/>
            </a:pPr>
            <a:r>
              <a:rPr lang="en-US" sz="860" b="1" dirty="0">
                <a:solidFill>
                  <a:srgbClr val="A23B72"/>
                </a:solidFill>
                <a:latin typeface="Plus Jakarta Sans" pitchFamily="34" charset="0"/>
                <a:ea typeface="Plus Jakarta Sans" pitchFamily="34" charset="-122"/>
                <a:cs typeface="Plus Jakarta Sans" pitchFamily="34" charset="-120"/>
              </a:rPr>
              <a:t>−Rp752M</a:t>
            </a:r>
            <a:endParaRPr lang="en-US" sz="860" dirty="0"/>
          </a:p>
        </p:txBody>
      </p:sp>
      <p:sp>
        <p:nvSpPr>
          <p:cNvPr id="63" name="Text 58"/>
          <p:cNvSpPr txBox="1"/>
          <p:nvPr/>
        </p:nvSpPr>
        <p:spPr>
          <a:xfrm>
            <a:off x="7985698" y="270510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Khusus Petani</a:t>
            </a:r>
            <a:endParaRPr lang="en-US" sz="900" dirty="0"/>
          </a:p>
        </p:txBody>
      </p:sp>
      <p:sp>
        <p:nvSpPr>
          <p:cNvPr id="64" name="Shape 59"/>
          <p:cNvSpPr/>
          <p:nvPr/>
        </p:nvSpPr>
        <p:spPr>
          <a:xfrm>
            <a:off x="9935774" y="2790825"/>
            <a:ext cx="281212" cy="152400"/>
          </a:xfrm>
          <a:prstGeom prst="roundRect">
            <a:avLst>
              <a:gd name="adj" fmla="val 18750"/>
            </a:avLst>
          </a:prstGeom>
          <a:solidFill>
            <a:srgbClr val="3E7B27"/>
          </a:solidFill>
          <a:ln w="12700">
            <a:solidFill>
              <a:srgbClr val="3E7B27"/>
            </a:solidFill>
            <a:prstDash val="solid"/>
          </a:ln>
        </p:spPr>
      </p:sp>
      <p:sp>
        <p:nvSpPr>
          <p:cNvPr id="65" name="Text 60"/>
          <p:cNvSpPr txBox="1"/>
          <p:nvPr/>
        </p:nvSpPr>
        <p:spPr>
          <a:xfrm>
            <a:off x="10255086" y="270510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+Rp655M</a:t>
            </a:r>
            <a:endParaRPr lang="en-US" sz="860" dirty="0"/>
          </a:p>
        </p:txBody>
      </p:sp>
      <p:sp>
        <p:nvSpPr>
          <p:cNvPr id="66" name="Text 61"/>
          <p:cNvSpPr txBox="1"/>
          <p:nvPr/>
        </p:nvSpPr>
        <p:spPr>
          <a:xfrm>
            <a:off x="7985698" y="302895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Pupuk</a:t>
            </a:r>
            <a:endParaRPr lang="en-US" sz="900" dirty="0"/>
          </a:p>
        </p:txBody>
      </p:sp>
      <p:sp>
        <p:nvSpPr>
          <p:cNvPr id="67" name="Shape 62"/>
          <p:cNvSpPr/>
          <p:nvPr/>
        </p:nvSpPr>
        <p:spPr>
          <a:xfrm>
            <a:off x="9825803" y="3114675"/>
            <a:ext cx="90921" cy="152400"/>
          </a:xfrm>
          <a:prstGeom prst="roundRect">
            <a:avLst>
              <a:gd name="adj" fmla="val 31428"/>
            </a:avLst>
          </a:prstGeom>
          <a:solidFill>
            <a:srgbClr val="A23B72"/>
          </a:solidFill>
          <a:ln w="12700">
            <a:solidFill>
              <a:srgbClr val="A23B72"/>
            </a:solidFill>
            <a:prstDash val="solid"/>
          </a:ln>
        </p:spPr>
      </p:sp>
      <p:sp>
        <p:nvSpPr>
          <p:cNvPr id="68" name="Text 63"/>
          <p:cNvSpPr txBox="1"/>
          <p:nvPr/>
        </p:nvSpPr>
        <p:spPr>
          <a:xfrm>
            <a:off x="9254303" y="3028950"/>
            <a:ext cx="533400" cy="323850"/>
          </a:xfrm>
          <a:prstGeom prst="rect">
            <a:avLst/>
          </a:prstGeom>
          <a:noFill/>
          <a:ln/>
        </p:spPr>
        <p:txBody>
          <a:bodyPr wrap="square" lIns="0" tIns="0" rIns="0" bIns="0" rtlCol="0" anchor="ctr"/>
          <a:lstStyle/>
          <a:p>
            <a:pPr algn="r" indent="0" marL="0">
              <a:lnSpc>
                <a:spcPct val="95000"/>
              </a:lnSpc>
              <a:buNone/>
            </a:pPr>
            <a:r>
              <a:rPr lang="en-US" sz="860" b="1" dirty="0">
                <a:solidFill>
                  <a:srgbClr val="A23B72"/>
                </a:solidFill>
                <a:latin typeface="Plus Jakarta Sans" pitchFamily="34" charset="0"/>
                <a:ea typeface="Plus Jakarta Sans" pitchFamily="34" charset="-122"/>
                <a:cs typeface="Plus Jakarta Sans" pitchFamily="34" charset="-120"/>
              </a:rPr>
              <a:t>−Rp212M</a:t>
            </a:r>
            <a:endParaRPr lang="en-US" sz="860" dirty="0"/>
          </a:p>
        </p:txBody>
      </p:sp>
      <p:sp>
        <p:nvSpPr>
          <p:cNvPr id="69" name="Text 64"/>
          <p:cNvSpPr txBox="1"/>
          <p:nvPr/>
        </p:nvSpPr>
        <p:spPr>
          <a:xfrm>
            <a:off x="7985698" y="335280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Toling</a:t>
            </a:r>
            <a:endParaRPr lang="en-US" sz="900" dirty="0"/>
          </a:p>
        </p:txBody>
      </p:sp>
      <p:sp>
        <p:nvSpPr>
          <p:cNvPr id="70" name="Shape 65"/>
          <p:cNvSpPr/>
          <p:nvPr/>
        </p:nvSpPr>
        <p:spPr>
          <a:xfrm>
            <a:off x="9935774" y="3438525"/>
            <a:ext cx="29845" cy="152400"/>
          </a:xfrm>
          <a:prstGeom prst="roundRect">
            <a:avLst>
              <a:gd name="adj" fmla="val 50000"/>
            </a:avLst>
          </a:prstGeom>
          <a:solidFill>
            <a:srgbClr val="3E7B27"/>
          </a:solidFill>
          <a:ln w="12700">
            <a:solidFill>
              <a:srgbClr val="3E7B27"/>
            </a:solidFill>
            <a:prstDash val="solid"/>
          </a:ln>
        </p:spPr>
      </p:sp>
      <p:sp>
        <p:nvSpPr>
          <p:cNvPr id="71" name="Text 66"/>
          <p:cNvSpPr txBox="1"/>
          <p:nvPr/>
        </p:nvSpPr>
        <p:spPr>
          <a:xfrm>
            <a:off x="10003719" y="335280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+Rp69.5M</a:t>
            </a:r>
            <a:endParaRPr lang="en-US" sz="860" dirty="0"/>
          </a:p>
        </p:txBody>
      </p:sp>
      <p:sp>
        <p:nvSpPr>
          <p:cNvPr id="72" name="Text 67"/>
          <p:cNvSpPr txBox="1"/>
          <p:nvPr/>
        </p:nvSpPr>
        <p:spPr>
          <a:xfrm>
            <a:off x="7985698" y="367665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Racun</a:t>
            </a:r>
            <a:endParaRPr lang="en-US" sz="900" dirty="0"/>
          </a:p>
        </p:txBody>
      </p:sp>
      <p:sp>
        <p:nvSpPr>
          <p:cNvPr id="73" name="Shape 68"/>
          <p:cNvSpPr/>
          <p:nvPr/>
        </p:nvSpPr>
        <p:spPr>
          <a:xfrm>
            <a:off x="9935774" y="3762375"/>
            <a:ext cx="19050" cy="152400"/>
          </a:xfrm>
          <a:prstGeom prst="rect">
            <a:avLst/>
          </a:prstGeom>
          <a:solidFill>
            <a:srgbClr val="3E7B27"/>
          </a:solidFill>
          <a:ln w="12700">
            <a:solidFill>
              <a:srgbClr val="3E7B27"/>
            </a:solidFill>
            <a:prstDash val="solid"/>
          </a:ln>
        </p:spPr>
      </p:sp>
      <p:sp>
        <p:nvSpPr>
          <p:cNvPr id="74" name="Text 69"/>
          <p:cNvSpPr txBox="1"/>
          <p:nvPr/>
        </p:nvSpPr>
        <p:spPr>
          <a:xfrm>
            <a:off x="9992924" y="367665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+Rp43.7M</a:t>
            </a:r>
            <a:endParaRPr lang="en-US" sz="860" dirty="0"/>
          </a:p>
        </p:txBody>
      </p:sp>
      <p:sp>
        <p:nvSpPr>
          <p:cNvPr id="75" name="Text 70"/>
          <p:cNvSpPr txBox="1"/>
          <p:nvPr/>
        </p:nvSpPr>
        <p:spPr>
          <a:xfrm>
            <a:off x="7985698" y="4000500"/>
            <a:ext cx="951151" cy="32385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Toko Keliling</a:t>
            </a:r>
            <a:endParaRPr lang="en-US" sz="900" dirty="0"/>
          </a:p>
        </p:txBody>
      </p:sp>
      <p:sp>
        <p:nvSpPr>
          <p:cNvPr id="76" name="Shape 71"/>
          <p:cNvSpPr/>
          <p:nvPr/>
        </p:nvSpPr>
        <p:spPr>
          <a:xfrm>
            <a:off x="9935774" y="4086225"/>
            <a:ext cx="19050" cy="152400"/>
          </a:xfrm>
          <a:prstGeom prst="rect">
            <a:avLst/>
          </a:prstGeom>
          <a:solidFill>
            <a:srgbClr val="3E7B27"/>
          </a:solidFill>
          <a:ln w="12700">
            <a:solidFill>
              <a:srgbClr val="3E7B27"/>
            </a:solidFill>
            <a:prstDash val="solid"/>
          </a:ln>
        </p:spPr>
      </p:sp>
      <p:sp>
        <p:nvSpPr>
          <p:cNvPr id="77" name="Text 72"/>
          <p:cNvSpPr txBox="1"/>
          <p:nvPr/>
        </p:nvSpPr>
        <p:spPr>
          <a:xfrm>
            <a:off x="9992924" y="4000500"/>
            <a:ext cx="533400" cy="323850"/>
          </a:xfrm>
          <a:prstGeom prst="rect">
            <a:avLst/>
          </a:prstGeom>
          <a:noFill/>
          <a:ln/>
        </p:spPr>
        <p:txBody>
          <a:bodyPr wrap="square" lIns="0" tIns="0" rIns="0" bIns="0" rtlCol="0" anchor="ctr"/>
          <a:lstStyle/>
          <a:p>
            <a:pPr algn="l" indent="0" marL="0">
              <a:lnSpc>
                <a:spcPct val="95000"/>
              </a:lnSpc>
              <a:buNone/>
            </a:pPr>
            <a:r>
              <a:rPr lang="en-US" sz="860" b="1" dirty="0">
                <a:solidFill>
                  <a:srgbClr val="3E7B27"/>
                </a:solidFill>
                <a:latin typeface="Plus Jakarta Sans" pitchFamily="34" charset="0"/>
                <a:ea typeface="Plus Jakarta Sans" pitchFamily="34" charset="-122"/>
                <a:cs typeface="Plus Jakarta Sans" pitchFamily="34" charset="-120"/>
              </a:rPr>
              <a:t>+Rp23.9M</a:t>
            </a:r>
            <a:endParaRPr lang="en-US" sz="860" dirty="0"/>
          </a:p>
        </p:txBody>
      </p:sp>
      <p:sp>
        <p:nvSpPr>
          <p:cNvPr id="78" name="Shape 73"/>
          <p:cNvSpPr/>
          <p:nvPr/>
        </p:nvSpPr>
        <p:spPr>
          <a:xfrm>
            <a:off x="762000" y="5219700"/>
            <a:ext cx="10287000" cy="895350"/>
          </a:xfrm>
          <a:prstGeom prst="roundRect">
            <a:avLst>
              <a:gd name="adj" fmla="val 12255"/>
            </a:avLst>
          </a:prstGeom>
          <a:solidFill>
            <a:srgbClr val="FBEFC4"/>
          </a:solidFill>
          <a:ln w="12700">
            <a:solidFill>
              <a:srgbClr val="FBEFC4"/>
            </a:solidFill>
            <a:prstDash val="solid"/>
          </a:ln>
        </p:spPr>
      </p:sp>
      <p:sp>
        <p:nvSpPr>
          <p:cNvPr id="79" name="Text 74"/>
          <p:cNvSpPr txBox="1"/>
          <p:nvPr/>
        </p:nvSpPr>
        <p:spPr>
          <a:xfrm>
            <a:off x="933450" y="5305425"/>
            <a:ext cx="9944100" cy="72390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Customers: 49 Jul customers didn't buy in Sep (Rp2.03B), 18 bought in both (Rp382M → Rp620M) and 53 Sep customers didn't buy in Jul (Rp1.63B).</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Retention: 24 of 67 Jul customers (36%) ordered again in Aug or Sep; 42 Sep customers are new to the whole period (Rp1.24B).</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PICs: Muhammad Abdul Wahab −Rp933M, Ryan Aulia Arif −Rp59.9M; Simon Sutrado Simanjuntak +Rp299M, Deby Zea Efendi +Rp187M, Joko Prestiwo +Rp168M.</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Products: Pupuk Grosir −Rp752M, Pupuk −Rp212M; Khusus Petani +Rp655M, Toling +Rp69.5M.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6</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TREND · ORDER SIZE AND ACCOUNTS</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Orders of Rp100M+ fell from 6 to 1; Rp20–100M orders went 16 → 38</a:t>
            </a:r>
            <a:endParaRPr lang="en-US" sz="2300" dirty="0"/>
          </a:p>
        </p:txBody>
      </p:sp>
      <p:sp>
        <p:nvSpPr>
          <p:cNvPr id="11" name="Shape 6"/>
          <p:cNvSpPr/>
          <p:nvPr/>
        </p:nvSpPr>
        <p:spPr>
          <a:xfrm>
            <a:off x="762000" y="1714500"/>
            <a:ext cx="2710821" cy="3543300"/>
          </a:xfrm>
          <a:prstGeom prst="roundRect">
            <a:avLst>
              <a:gd name="adj" fmla="val 4048"/>
            </a:avLst>
          </a:prstGeom>
          <a:solidFill>
            <a:srgbClr val="FFFFFF"/>
          </a:solidFill>
          <a:ln w="12700">
            <a:solidFill>
              <a:srgbClr val="FFFFFF"/>
            </a:solidFill>
            <a:prstDash val="solid"/>
          </a:ln>
        </p:spPr>
      </p:sp>
      <p:sp>
        <p:nvSpPr>
          <p:cNvPr id="12" name="Text 7"/>
          <p:cNvSpPr txBox="1"/>
          <p:nvPr/>
        </p:nvSpPr>
        <p:spPr>
          <a:xfrm>
            <a:off x="952500" y="1866900"/>
            <a:ext cx="2329821"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Orders by size</a:t>
            </a:r>
            <a:endParaRPr lang="en-US" sz="1300" dirty="0"/>
          </a:p>
        </p:txBody>
      </p:sp>
      <p:sp>
        <p:nvSpPr>
          <p:cNvPr id="13" name="Text 8"/>
          <p:cNvSpPr txBox="1"/>
          <p:nvPr/>
        </p:nvSpPr>
        <p:spPr>
          <a:xfrm>
            <a:off x="952500" y="2095500"/>
            <a:ext cx="2329821"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Orders per month, by order value (Rp)</a:t>
            </a:r>
            <a:endParaRPr lang="en-US" sz="950" dirty="0"/>
          </a:p>
        </p:txBody>
      </p:sp>
      <p:sp>
        <p:nvSpPr>
          <p:cNvPr id="14" name="Shape 9"/>
          <p:cNvSpPr/>
          <p:nvPr/>
        </p:nvSpPr>
        <p:spPr>
          <a:xfrm>
            <a:off x="971550" y="2409825"/>
            <a:ext cx="104775" cy="104775"/>
          </a:xfrm>
          <a:prstGeom prst="roundRect">
            <a:avLst>
              <a:gd name="adj" fmla="val 18182"/>
            </a:avLst>
          </a:prstGeom>
          <a:solidFill>
            <a:srgbClr val="B3CC9F"/>
          </a:solidFill>
          <a:ln w="12700">
            <a:solidFill>
              <a:srgbClr val="B3CC9F"/>
            </a:solidFill>
            <a:prstDash val="solid"/>
          </a:ln>
        </p:spPr>
      </p:sp>
      <p:sp>
        <p:nvSpPr>
          <p:cNvPr id="15" name="Text 10"/>
          <p:cNvSpPr txBox="1"/>
          <p:nvPr/>
        </p:nvSpPr>
        <p:spPr>
          <a:xfrm>
            <a:off x="1123950" y="2381250"/>
            <a:ext cx="317373"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Jul</a:t>
            </a:r>
            <a:endParaRPr lang="en-US" sz="860" dirty="0"/>
          </a:p>
        </p:txBody>
      </p:sp>
      <p:sp>
        <p:nvSpPr>
          <p:cNvPr id="16" name="Shape 11"/>
          <p:cNvSpPr/>
          <p:nvPr/>
        </p:nvSpPr>
        <p:spPr>
          <a:xfrm>
            <a:off x="1441323" y="2409825"/>
            <a:ext cx="104775" cy="104775"/>
          </a:xfrm>
          <a:prstGeom prst="roundRect">
            <a:avLst>
              <a:gd name="adj" fmla="val 18182"/>
            </a:avLst>
          </a:prstGeom>
          <a:solidFill>
            <a:srgbClr val="5E8C47"/>
          </a:solidFill>
          <a:ln w="12700">
            <a:solidFill>
              <a:srgbClr val="5E8C47"/>
            </a:solidFill>
            <a:prstDash val="solid"/>
          </a:ln>
        </p:spPr>
      </p:sp>
      <p:sp>
        <p:nvSpPr>
          <p:cNvPr id="17" name="Text 12"/>
          <p:cNvSpPr txBox="1"/>
          <p:nvPr/>
        </p:nvSpPr>
        <p:spPr>
          <a:xfrm>
            <a:off x="1593723" y="2381250"/>
            <a:ext cx="317373"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Aug</a:t>
            </a:r>
            <a:endParaRPr lang="en-US" sz="860" dirty="0"/>
          </a:p>
        </p:txBody>
      </p:sp>
      <p:sp>
        <p:nvSpPr>
          <p:cNvPr id="18" name="Shape 13"/>
          <p:cNvSpPr/>
          <p:nvPr/>
        </p:nvSpPr>
        <p:spPr>
          <a:xfrm>
            <a:off x="1911096" y="2409825"/>
            <a:ext cx="104775" cy="104775"/>
          </a:xfrm>
          <a:prstGeom prst="roundRect">
            <a:avLst>
              <a:gd name="adj" fmla="val 18182"/>
            </a:avLst>
          </a:prstGeom>
          <a:solidFill>
            <a:srgbClr val="274E13"/>
          </a:solidFill>
          <a:ln w="12700">
            <a:solidFill>
              <a:srgbClr val="274E13"/>
            </a:solidFill>
            <a:prstDash val="solid"/>
          </a:ln>
        </p:spPr>
      </p:sp>
      <p:sp>
        <p:nvSpPr>
          <p:cNvPr id="19" name="Text 14"/>
          <p:cNvSpPr txBox="1"/>
          <p:nvPr/>
        </p:nvSpPr>
        <p:spPr>
          <a:xfrm>
            <a:off x="2063496" y="2381250"/>
            <a:ext cx="317373"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Sep</a:t>
            </a:r>
            <a:endParaRPr lang="en-US" sz="860" dirty="0"/>
          </a:p>
        </p:txBody>
      </p:sp>
      <p:sp>
        <p:nvSpPr>
          <p:cNvPr id="20" name="Shape 15"/>
          <p:cNvSpPr/>
          <p:nvPr/>
        </p:nvSpPr>
        <p:spPr>
          <a:xfrm>
            <a:off x="1058635" y="3595134"/>
            <a:ext cx="75674" cy="1186416"/>
          </a:xfrm>
          <a:prstGeom prst="roundRect">
            <a:avLst>
              <a:gd name="adj" fmla="val 50000"/>
            </a:avLst>
          </a:prstGeom>
          <a:solidFill>
            <a:srgbClr val="B3CC9F"/>
          </a:solidFill>
          <a:ln w="12700">
            <a:solidFill>
              <a:srgbClr val="B3CC9F"/>
            </a:solidFill>
            <a:prstDash val="solid"/>
          </a:ln>
        </p:spPr>
      </p:sp>
      <p:sp>
        <p:nvSpPr>
          <p:cNvPr id="21" name="Text 16"/>
          <p:cNvSpPr txBox="1"/>
          <p:nvPr/>
        </p:nvSpPr>
        <p:spPr>
          <a:xfrm>
            <a:off x="830035" y="3423684"/>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26</a:t>
            </a:r>
            <a:endParaRPr lang="en-US" sz="800" dirty="0"/>
          </a:p>
        </p:txBody>
      </p:sp>
      <p:sp>
        <p:nvSpPr>
          <p:cNvPr id="22" name="Shape 17"/>
          <p:cNvSpPr/>
          <p:nvPr/>
        </p:nvSpPr>
        <p:spPr>
          <a:xfrm>
            <a:off x="1162885" y="4553393"/>
            <a:ext cx="75674" cy="228157"/>
          </a:xfrm>
          <a:prstGeom prst="roundRect">
            <a:avLst>
              <a:gd name="adj" fmla="val 50000"/>
            </a:avLst>
          </a:prstGeom>
          <a:solidFill>
            <a:srgbClr val="5E8C47"/>
          </a:solidFill>
          <a:ln w="12700">
            <a:solidFill>
              <a:srgbClr val="5E8C47"/>
            </a:solidFill>
            <a:prstDash val="solid"/>
          </a:ln>
        </p:spPr>
      </p:sp>
      <p:sp>
        <p:nvSpPr>
          <p:cNvPr id="23" name="Text 18"/>
          <p:cNvSpPr txBox="1"/>
          <p:nvPr/>
        </p:nvSpPr>
        <p:spPr>
          <a:xfrm>
            <a:off x="934285" y="4381943"/>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5</a:t>
            </a:r>
            <a:endParaRPr lang="en-US" sz="800" dirty="0"/>
          </a:p>
        </p:txBody>
      </p:sp>
      <p:sp>
        <p:nvSpPr>
          <p:cNvPr id="24" name="Shape 19"/>
          <p:cNvSpPr/>
          <p:nvPr/>
        </p:nvSpPr>
        <p:spPr>
          <a:xfrm>
            <a:off x="1267134" y="3960185"/>
            <a:ext cx="75674" cy="821365"/>
          </a:xfrm>
          <a:prstGeom prst="roundRect">
            <a:avLst>
              <a:gd name="adj" fmla="val 50000"/>
            </a:avLst>
          </a:prstGeom>
          <a:solidFill>
            <a:srgbClr val="274E13"/>
          </a:solidFill>
          <a:ln w="12700">
            <a:solidFill>
              <a:srgbClr val="274E13"/>
            </a:solidFill>
            <a:prstDash val="solid"/>
          </a:ln>
        </p:spPr>
      </p:sp>
      <p:sp>
        <p:nvSpPr>
          <p:cNvPr id="25" name="Text 20"/>
          <p:cNvSpPr txBox="1"/>
          <p:nvPr/>
        </p:nvSpPr>
        <p:spPr>
          <a:xfrm>
            <a:off x="1038534" y="3788735"/>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18</a:t>
            </a:r>
            <a:endParaRPr lang="en-US" sz="800" dirty="0"/>
          </a:p>
        </p:txBody>
      </p:sp>
      <p:sp>
        <p:nvSpPr>
          <p:cNvPr id="26" name="Text 21"/>
          <p:cNvSpPr txBox="1"/>
          <p:nvPr/>
        </p:nvSpPr>
        <p:spPr>
          <a:xfrm>
            <a:off x="981075" y="4829175"/>
            <a:ext cx="439294" cy="2952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Under</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5M</a:t>
            </a:r>
            <a:endParaRPr lang="en-US" sz="830" dirty="0"/>
          </a:p>
        </p:txBody>
      </p:sp>
      <p:sp>
        <p:nvSpPr>
          <p:cNvPr id="27" name="Shape 22"/>
          <p:cNvSpPr/>
          <p:nvPr/>
        </p:nvSpPr>
        <p:spPr>
          <a:xfrm>
            <a:off x="1516980" y="3093188"/>
            <a:ext cx="75674" cy="1688362"/>
          </a:xfrm>
          <a:prstGeom prst="roundRect">
            <a:avLst>
              <a:gd name="adj" fmla="val 50000"/>
            </a:avLst>
          </a:prstGeom>
          <a:solidFill>
            <a:srgbClr val="B3CC9F"/>
          </a:solidFill>
          <a:ln w="12700">
            <a:solidFill>
              <a:srgbClr val="B3CC9F"/>
            </a:solidFill>
            <a:prstDash val="solid"/>
          </a:ln>
        </p:spPr>
      </p:sp>
      <p:sp>
        <p:nvSpPr>
          <p:cNvPr id="28" name="Text 23"/>
          <p:cNvSpPr txBox="1"/>
          <p:nvPr/>
        </p:nvSpPr>
        <p:spPr>
          <a:xfrm>
            <a:off x="1288380" y="2921738"/>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37</a:t>
            </a:r>
            <a:endParaRPr lang="en-US" sz="800" dirty="0"/>
          </a:p>
        </p:txBody>
      </p:sp>
      <p:sp>
        <p:nvSpPr>
          <p:cNvPr id="29" name="Shape 24"/>
          <p:cNvSpPr/>
          <p:nvPr/>
        </p:nvSpPr>
        <p:spPr>
          <a:xfrm>
            <a:off x="1621229" y="3686397"/>
            <a:ext cx="75674" cy="1095153"/>
          </a:xfrm>
          <a:prstGeom prst="roundRect">
            <a:avLst>
              <a:gd name="adj" fmla="val 50000"/>
            </a:avLst>
          </a:prstGeom>
          <a:solidFill>
            <a:srgbClr val="5E8C47"/>
          </a:solidFill>
          <a:ln w="12700">
            <a:solidFill>
              <a:srgbClr val="5E8C47"/>
            </a:solidFill>
            <a:prstDash val="solid"/>
          </a:ln>
        </p:spPr>
      </p:sp>
      <p:sp>
        <p:nvSpPr>
          <p:cNvPr id="30" name="Text 25"/>
          <p:cNvSpPr txBox="1"/>
          <p:nvPr/>
        </p:nvSpPr>
        <p:spPr>
          <a:xfrm>
            <a:off x="1392629" y="3514947"/>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24</a:t>
            </a:r>
            <a:endParaRPr lang="en-US" sz="800" dirty="0"/>
          </a:p>
        </p:txBody>
      </p:sp>
      <p:sp>
        <p:nvSpPr>
          <p:cNvPr id="31" name="Shape 26"/>
          <p:cNvSpPr/>
          <p:nvPr/>
        </p:nvSpPr>
        <p:spPr>
          <a:xfrm>
            <a:off x="1725479" y="2819400"/>
            <a:ext cx="75674" cy="1962150"/>
          </a:xfrm>
          <a:prstGeom prst="roundRect">
            <a:avLst>
              <a:gd name="adj" fmla="val 50000"/>
            </a:avLst>
          </a:prstGeom>
          <a:solidFill>
            <a:srgbClr val="274E13"/>
          </a:solidFill>
          <a:ln w="12700">
            <a:solidFill>
              <a:srgbClr val="274E13"/>
            </a:solidFill>
            <a:prstDash val="solid"/>
          </a:ln>
        </p:spPr>
      </p:sp>
      <p:sp>
        <p:nvSpPr>
          <p:cNvPr id="32" name="Text 27"/>
          <p:cNvSpPr txBox="1"/>
          <p:nvPr/>
        </p:nvSpPr>
        <p:spPr>
          <a:xfrm>
            <a:off x="1496879" y="2647950"/>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43</a:t>
            </a:r>
            <a:endParaRPr lang="en-US" sz="800" dirty="0"/>
          </a:p>
        </p:txBody>
      </p:sp>
      <p:sp>
        <p:nvSpPr>
          <p:cNvPr id="33" name="Text 28"/>
          <p:cNvSpPr txBox="1"/>
          <p:nvPr/>
        </p:nvSpPr>
        <p:spPr>
          <a:xfrm>
            <a:off x="1439419" y="4829175"/>
            <a:ext cx="439294" cy="2952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5–20M</a:t>
            </a:r>
            <a:endParaRPr lang="en-US" sz="830" dirty="0"/>
          </a:p>
        </p:txBody>
      </p:sp>
      <p:sp>
        <p:nvSpPr>
          <p:cNvPr id="34" name="Shape 29"/>
          <p:cNvSpPr/>
          <p:nvPr/>
        </p:nvSpPr>
        <p:spPr>
          <a:xfrm>
            <a:off x="1975324" y="4279605"/>
            <a:ext cx="75674" cy="501945"/>
          </a:xfrm>
          <a:prstGeom prst="roundRect">
            <a:avLst>
              <a:gd name="adj" fmla="val 50000"/>
            </a:avLst>
          </a:prstGeom>
          <a:solidFill>
            <a:srgbClr val="B3CC9F"/>
          </a:solidFill>
          <a:ln w="12700">
            <a:solidFill>
              <a:srgbClr val="B3CC9F"/>
            </a:solidFill>
            <a:prstDash val="solid"/>
          </a:ln>
        </p:spPr>
      </p:sp>
      <p:sp>
        <p:nvSpPr>
          <p:cNvPr id="35" name="Text 30"/>
          <p:cNvSpPr txBox="1"/>
          <p:nvPr/>
        </p:nvSpPr>
        <p:spPr>
          <a:xfrm>
            <a:off x="1746724" y="4108155"/>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11</a:t>
            </a:r>
            <a:endParaRPr lang="en-US" sz="800" dirty="0"/>
          </a:p>
        </p:txBody>
      </p:sp>
      <p:sp>
        <p:nvSpPr>
          <p:cNvPr id="36" name="Shape 31"/>
          <p:cNvSpPr/>
          <p:nvPr/>
        </p:nvSpPr>
        <p:spPr>
          <a:xfrm>
            <a:off x="2079573" y="3960185"/>
            <a:ext cx="75674" cy="821365"/>
          </a:xfrm>
          <a:prstGeom prst="roundRect">
            <a:avLst>
              <a:gd name="adj" fmla="val 50000"/>
            </a:avLst>
          </a:prstGeom>
          <a:solidFill>
            <a:srgbClr val="5E8C47"/>
          </a:solidFill>
          <a:ln w="12700">
            <a:solidFill>
              <a:srgbClr val="5E8C47"/>
            </a:solidFill>
            <a:prstDash val="solid"/>
          </a:ln>
        </p:spPr>
      </p:sp>
      <p:sp>
        <p:nvSpPr>
          <p:cNvPr id="37" name="Text 32"/>
          <p:cNvSpPr txBox="1"/>
          <p:nvPr/>
        </p:nvSpPr>
        <p:spPr>
          <a:xfrm>
            <a:off x="1850973" y="3788735"/>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18</a:t>
            </a:r>
            <a:endParaRPr lang="en-US" sz="800" dirty="0"/>
          </a:p>
        </p:txBody>
      </p:sp>
      <p:sp>
        <p:nvSpPr>
          <p:cNvPr id="38" name="Shape 33"/>
          <p:cNvSpPr/>
          <p:nvPr/>
        </p:nvSpPr>
        <p:spPr>
          <a:xfrm>
            <a:off x="2183823" y="3549502"/>
            <a:ext cx="75674" cy="1232048"/>
          </a:xfrm>
          <a:prstGeom prst="roundRect">
            <a:avLst>
              <a:gd name="adj" fmla="val 50000"/>
            </a:avLst>
          </a:prstGeom>
          <a:solidFill>
            <a:srgbClr val="274E13"/>
          </a:solidFill>
          <a:ln w="12700">
            <a:solidFill>
              <a:srgbClr val="274E13"/>
            </a:solidFill>
            <a:prstDash val="solid"/>
          </a:ln>
        </p:spPr>
      </p:sp>
      <p:sp>
        <p:nvSpPr>
          <p:cNvPr id="39" name="Text 34"/>
          <p:cNvSpPr txBox="1"/>
          <p:nvPr/>
        </p:nvSpPr>
        <p:spPr>
          <a:xfrm>
            <a:off x="1955223" y="3378052"/>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27</a:t>
            </a:r>
            <a:endParaRPr lang="en-US" sz="800" dirty="0"/>
          </a:p>
        </p:txBody>
      </p:sp>
      <p:sp>
        <p:nvSpPr>
          <p:cNvPr id="40" name="Text 35"/>
          <p:cNvSpPr txBox="1"/>
          <p:nvPr/>
        </p:nvSpPr>
        <p:spPr>
          <a:xfrm>
            <a:off x="1897763" y="4829175"/>
            <a:ext cx="439294" cy="2952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20–50M</a:t>
            </a:r>
            <a:endParaRPr lang="en-US" sz="830" dirty="0"/>
          </a:p>
        </p:txBody>
      </p:sp>
      <p:sp>
        <p:nvSpPr>
          <p:cNvPr id="41" name="Shape 36"/>
          <p:cNvSpPr/>
          <p:nvPr/>
        </p:nvSpPr>
        <p:spPr>
          <a:xfrm>
            <a:off x="2433668" y="4553393"/>
            <a:ext cx="75674" cy="228157"/>
          </a:xfrm>
          <a:prstGeom prst="roundRect">
            <a:avLst>
              <a:gd name="adj" fmla="val 50000"/>
            </a:avLst>
          </a:prstGeom>
          <a:solidFill>
            <a:srgbClr val="B3CC9F"/>
          </a:solidFill>
          <a:ln w="12700">
            <a:solidFill>
              <a:srgbClr val="B3CC9F"/>
            </a:solidFill>
            <a:prstDash val="solid"/>
          </a:ln>
        </p:spPr>
      </p:sp>
      <p:sp>
        <p:nvSpPr>
          <p:cNvPr id="42" name="Text 37"/>
          <p:cNvSpPr txBox="1"/>
          <p:nvPr/>
        </p:nvSpPr>
        <p:spPr>
          <a:xfrm>
            <a:off x="2205068" y="4381943"/>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5</a:t>
            </a:r>
            <a:endParaRPr lang="en-US" sz="800" dirty="0"/>
          </a:p>
        </p:txBody>
      </p:sp>
      <p:sp>
        <p:nvSpPr>
          <p:cNvPr id="43" name="Shape 38"/>
          <p:cNvSpPr/>
          <p:nvPr/>
        </p:nvSpPr>
        <p:spPr>
          <a:xfrm>
            <a:off x="2537918" y="4690287"/>
            <a:ext cx="75674" cy="91263"/>
          </a:xfrm>
          <a:prstGeom prst="roundRect">
            <a:avLst>
              <a:gd name="adj" fmla="val 50000"/>
            </a:avLst>
          </a:prstGeom>
          <a:solidFill>
            <a:srgbClr val="5E8C47"/>
          </a:solidFill>
          <a:ln w="12700">
            <a:solidFill>
              <a:srgbClr val="5E8C47"/>
            </a:solidFill>
            <a:prstDash val="solid"/>
          </a:ln>
        </p:spPr>
      </p:sp>
      <p:sp>
        <p:nvSpPr>
          <p:cNvPr id="44" name="Text 39"/>
          <p:cNvSpPr txBox="1"/>
          <p:nvPr/>
        </p:nvSpPr>
        <p:spPr>
          <a:xfrm>
            <a:off x="2309318" y="4518837"/>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2</a:t>
            </a:r>
            <a:endParaRPr lang="en-US" sz="800" dirty="0"/>
          </a:p>
        </p:txBody>
      </p:sp>
      <p:sp>
        <p:nvSpPr>
          <p:cNvPr id="45" name="Shape 40"/>
          <p:cNvSpPr/>
          <p:nvPr/>
        </p:nvSpPr>
        <p:spPr>
          <a:xfrm>
            <a:off x="2642167" y="4279605"/>
            <a:ext cx="75674" cy="501945"/>
          </a:xfrm>
          <a:prstGeom prst="roundRect">
            <a:avLst>
              <a:gd name="adj" fmla="val 50000"/>
            </a:avLst>
          </a:prstGeom>
          <a:solidFill>
            <a:srgbClr val="274E13"/>
          </a:solidFill>
          <a:ln w="12700">
            <a:solidFill>
              <a:srgbClr val="274E13"/>
            </a:solidFill>
            <a:prstDash val="solid"/>
          </a:ln>
        </p:spPr>
      </p:sp>
      <p:sp>
        <p:nvSpPr>
          <p:cNvPr id="46" name="Text 41"/>
          <p:cNvSpPr txBox="1"/>
          <p:nvPr/>
        </p:nvSpPr>
        <p:spPr>
          <a:xfrm>
            <a:off x="2413567" y="4108155"/>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11</a:t>
            </a:r>
            <a:endParaRPr lang="en-US" sz="800" dirty="0"/>
          </a:p>
        </p:txBody>
      </p:sp>
      <p:sp>
        <p:nvSpPr>
          <p:cNvPr id="47" name="Text 42"/>
          <p:cNvSpPr txBox="1"/>
          <p:nvPr/>
        </p:nvSpPr>
        <p:spPr>
          <a:xfrm>
            <a:off x="2356108" y="4829175"/>
            <a:ext cx="439294" cy="2952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50–100M</a:t>
            </a:r>
            <a:endParaRPr lang="en-US" sz="830" dirty="0"/>
          </a:p>
        </p:txBody>
      </p:sp>
      <p:sp>
        <p:nvSpPr>
          <p:cNvPr id="48" name="Shape 43"/>
          <p:cNvSpPr/>
          <p:nvPr/>
        </p:nvSpPr>
        <p:spPr>
          <a:xfrm>
            <a:off x="2892012" y="4507762"/>
            <a:ext cx="75674" cy="273788"/>
          </a:xfrm>
          <a:prstGeom prst="roundRect">
            <a:avLst>
              <a:gd name="adj" fmla="val 50000"/>
            </a:avLst>
          </a:prstGeom>
          <a:solidFill>
            <a:srgbClr val="B3CC9F"/>
          </a:solidFill>
          <a:ln w="12700">
            <a:solidFill>
              <a:srgbClr val="B3CC9F"/>
            </a:solidFill>
            <a:prstDash val="solid"/>
          </a:ln>
        </p:spPr>
      </p:sp>
      <p:sp>
        <p:nvSpPr>
          <p:cNvPr id="49" name="Text 44"/>
          <p:cNvSpPr txBox="1"/>
          <p:nvPr/>
        </p:nvSpPr>
        <p:spPr>
          <a:xfrm>
            <a:off x="2663412" y="4336312"/>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6</a:t>
            </a:r>
            <a:endParaRPr lang="en-US" sz="800" dirty="0"/>
          </a:p>
        </p:txBody>
      </p:sp>
      <p:sp>
        <p:nvSpPr>
          <p:cNvPr id="50" name="Shape 45"/>
          <p:cNvSpPr/>
          <p:nvPr/>
        </p:nvSpPr>
        <p:spPr>
          <a:xfrm>
            <a:off x="2996262" y="4644656"/>
            <a:ext cx="75674" cy="136894"/>
          </a:xfrm>
          <a:prstGeom prst="roundRect">
            <a:avLst>
              <a:gd name="adj" fmla="val 50000"/>
            </a:avLst>
          </a:prstGeom>
          <a:solidFill>
            <a:srgbClr val="5E8C47"/>
          </a:solidFill>
          <a:ln w="12700">
            <a:solidFill>
              <a:srgbClr val="5E8C47"/>
            </a:solidFill>
            <a:prstDash val="solid"/>
          </a:ln>
        </p:spPr>
      </p:sp>
      <p:sp>
        <p:nvSpPr>
          <p:cNvPr id="51" name="Text 46"/>
          <p:cNvSpPr txBox="1"/>
          <p:nvPr/>
        </p:nvSpPr>
        <p:spPr>
          <a:xfrm>
            <a:off x="2767662" y="4473206"/>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3</a:t>
            </a:r>
            <a:endParaRPr lang="en-US" sz="800" dirty="0"/>
          </a:p>
        </p:txBody>
      </p:sp>
      <p:sp>
        <p:nvSpPr>
          <p:cNvPr id="52" name="Shape 47"/>
          <p:cNvSpPr/>
          <p:nvPr/>
        </p:nvSpPr>
        <p:spPr>
          <a:xfrm>
            <a:off x="3100511" y="4735919"/>
            <a:ext cx="75674" cy="45631"/>
          </a:xfrm>
          <a:prstGeom prst="roundRect">
            <a:avLst>
              <a:gd name="adj" fmla="val 50000"/>
            </a:avLst>
          </a:prstGeom>
          <a:solidFill>
            <a:srgbClr val="274E13"/>
          </a:solidFill>
          <a:ln w="12700">
            <a:solidFill>
              <a:srgbClr val="274E13"/>
            </a:solidFill>
            <a:prstDash val="solid"/>
          </a:ln>
        </p:spPr>
      </p:sp>
      <p:sp>
        <p:nvSpPr>
          <p:cNvPr id="53" name="Text 48"/>
          <p:cNvSpPr txBox="1"/>
          <p:nvPr/>
        </p:nvSpPr>
        <p:spPr>
          <a:xfrm>
            <a:off x="2871911" y="4564469"/>
            <a:ext cx="532874" cy="1524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a:t>
            </a:r>
            <a:endParaRPr lang="en-US" sz="800" dirty="0"/>
          </a:p>
        </p:txBody>
      </p:sp>
      <p:sp>
        <p:nvSpPr>
          <p:cNvPr id="54" name="Text 49"/>
          <p:cNvSpPr txBox="1"/>
          <p:nvPr/>
        </p:nvSpPr>
        <p:spPr>
          <a:xfrm>
            <a:off x="2814452" y="4829175"/>
            <a:ext cx="439294" cy="2952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100M+</a:t>
            </a:r>
            <a:endParaRPr lang="en-US" sz="830" dirty="0"/>
          </a:p>
        </p:txBody>
      </p:sp>
      <p:sp>
        <p:nvSpPr>
          <p:cNvPr id="55" name="Shape 50"/>
          <p:cNvSpPr/>
          <p:nvPr/>
        </p:nvSpPr>
        <p:spPr>
          <a:xfrm>
            <a:off x="971550" y="4781550"/>
            <a:ext cx="2291721" cy="0"/>
          </a:xfrm>
          <a:prstGeom prst="line">
            <a:avLst/>
          </a:prstGeom>
          <a:noFill/>
          <a:ln w="9525">
            <a:solidFill>
              <a:srgbClr val="B9C2B0"/>
            </a:solidFill>
            <a:prstDash val="solid"/>
          </a:ln>
        </p:spPr>
      </p:sp>
      <p:sp>
        <p:nvSpPr>
          <p:cNvPr id="56" name="Shape 51"/>
          <p:cNvSpPr/>
          <p:nvPr/>
        </p:nvSpPr>
        <p:spPr>
          <a:xfrm>
            <a:off x="3625221" y="1714500"/>
            <a:ext cx="5421642" cy="3543300"/>
          </a:xfrm>
          <a:prstGeom prst="roundRect">
            <a:avLst>
              <a:gd name="adj" fmla="val 3097"/>
            </a:avLst>
          </a:prstGeom>
          <a:solidFill>
            <a:srgbClr val="FFFFFF"/>
          </a:solidFill>
          <a:ln w="12700">
            <a:solidFill>
              <a:srgbClr val="FFFFFF"/>
            </a:solidFill>
            <a:prstDash val="solid"/>
          </a:ln>
        </p:spPr>
      </p:sp>
      <p:sp>
        <p:nvSpPr>
          <p:cNvPr id="57" name="Text 52"/>
          <p:cNvSpPr txBox="1"/>
          <p:nvPr/>
        </p:nvSpPr>
        <p:spPr>
          <a:xfrm>
            <a:off x="3815721" y="1866900"/>
            <a:ext cx="5040642"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3 accounts that stopped ordering</a:t>
            </a:r>
            <a:endParaRPr lang="en-US" sz="1300" dirty="0"/>
          </a:p>
        </p:txBody>
      </p:sp>
      <p:sp>
        <p:nvSpPr>
          <p:cNvPr id="58" name="Text 53"/>
          <p:cNvSpPr txBox="1"/>
          <p:nvPr/>
        </p:nvSpPr>
        <p:spPr>
          <a:xfrm>
            <a:off x="3815721" y="2095500"/>
            <a:ext cx="5040642"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Names and phone numbers are left out; look accounts up by PIC and month</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777621" y="2381250"/>
          <a:ext cx="5116842" cy="914400"/>
        </p:xfrm>
        <a:graphic>
          <a:graphicData uri="http://schemas.openxmlformats.org/drawingml/2006/table">
            <a:tbl>
              <a:tblPr/>
              <a:tblGrid>
                <a:gridCol w="556178"/>
                <a:gridCol w="1112357"/>
                <a:gridCol w="1223593"/>
                <a:gridCol w="556178"/>
                <a:gridCol w="556178"/>
                <a:gridCol w="556178"/>
                <a:gridCol w="556178"/>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Account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PIC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Product · region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Jul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Aug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Sep</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Last order</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Muhammad Abdul Wahab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Pupuk Grosir · Kambar</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Rp367M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Rp374M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27 Aug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Muhammad Abdul Wahab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Pupuk Grosir · Siak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Rp346M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Rp239M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7 Aug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Muhammad Abdul Wahab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Pupuk Grosir · Siak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Rp352M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25 Jul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
        <p:nvSpPr>
          <p:cNvPr id="60" name="Shape 54"/>
          <p:cNvSpPr/>
          <p:nvPr/>
        </p:nvSpPr>
        <p:spPr>
          <a:xfrm>
            <a:off x="9199263" y="1714500"/>
            <a:ext cx="1849737" cy="1092200"/>
          </a:xfrm>
          <a:prstGeom prst="roundRect">
            <a:avLst>
              <a:gd name="adj" fmla="val 10047"/>
            </a:avLst>
          </a:prstGeom>
          <a:solidFill>
            <a:srgbClr val="4A653B"/>
          </a:solidFill>
          <a:ln w="12700">
            <a:solidFill>
              <a:srgbClr val="4A653B"/>
            </a:solidFill>
            <a:prstDash val="solid"/>
          </a:ln>
        </p:spPr>
      </p:sp>
      <p:sp>
        <p:nvSpPr>
          <p:cNvPr id="61" name="Text 55"/>
          <p:cNvSpPr txBox="1"/>
          <p:nvPr/>
        </p:nvSpPr>
        <p:spPr>
          <a:xfrm>
            <a:off x="9351663" y="1828800"/>
            <a:ext cx="1544937"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36</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a:t>
            </a:r>
            <a:endParaRPr lang="en-US" sz="2800" dirty="0"/>
          </a:p>
        </p:txBody>
      </p:sp>
      <p:sp>
        <p:nvSpPr>
          <p:cNvPr id="62" name="Text 56"/>
          <p:cNvSpPr txBox="1"/>
          <p:nvPr/>
        </p:nvSpPr>
        <p:spPr>
          <a:xfrm>
            <a:off x="9351663" y="2247900"/>
            <a:ext cx="1544937" cy="50165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of Jul customers ordered again in Aug or Sep (24 of 67)</a:t>
            </a:r>
            <a:endParaRPr lang="en-US" sz="950" dirty="0"/>
          </a:p>
        </p:txBody>
      </p:sp>
      <p:sp>
        <p:nvSpPr>
          <p:cNvPr id="63" name="Shape 57"/>
          <p:cNvSpPr/>
          <p:nvPr/>
        </p:nvSpPr>
        <p:spPr>
          <a:xfrm>
            <a:off x="9199263" y="2940050"/>
            <a:ext cx="1849737" cy="1092200"/>
          </a:xfrm>
          <a:prstGeom prst="roundRect">
            <a:avLst>
              <a:gd name="adj" fmla="val 10047"/>
            </a:avLst>
          </a:prstGeom>
          <a:solidFill>
            <a:srgbClr val="FFFFFF"/>
          </a:solidFill>
          <a:ln w="12700">
            <a:solidFill>
              <a:srgbClr val="FFFFFF"/>
            </a:solidFill>
            <a:prstDash val="solid"/>
          </a:ln>
        </p:spPr>
      </p:sp>
      <p:sp>
        <p:nvSpPr>
          <p:cNvPr id="64" name="Text 58"/>
          <p:cNvSpPr txBox="1"/>
          <p:nvPr/>
        </p:nvSpPr>
        <p:spPr>
          <a:xfrm>
            <a:off x="9351663" y="3054350"/>
            <a:ext cx="1544937"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42</a:t>
            </a:r>
            <a:pPr indent="0" marL="0">
              <a:buNone/>
            </a:pPr>
            <a:endParaRPr lang="en-US" sz="2800" dirty="0"/>
          </a:p>
        </p:txBody>
      </p:sp>
      <p:sp>
        <p:nvSpPr>
          <p:cNvPr id="65" name="Text 59"/>
          <p:cNvSpPr txBox="1"/>
          <p:nvPr/>
        </p:nvSpPr>
        <p:spPr>
          <a:xfrm>
            <a:off x="9351663" y="3473450"/>
            <a:ext cx="1544937" cy="5016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Sep customers new to the period (Rp1.24B)</a:t>
            </a:r>
            <a:endParaRPr lang="en-US" sz="950" dirty="0"/>
          </a:p>
        </p:txBody>
      </p:sp>
      <p:sp>
        <p:nvSpPr>
          <p:cNvPr id="66" name="Shape 60"/>
          <p:cNvSpPr/>
          <p:nvPr/>
        </p:nvSpPr>
        <p:spPr>
          <a:xfrm>
            <a:off x="9199263" y="4165600"/>
            <a:ext cx="1849737" cy="1092200"/>
          </a:xfrm>
          <a:prstGeom prst="roundRect">
            <a:avLst>
              <a:gd name="adj" fmla="val 10047"/>
            </a:avLst>
          </a:prstGeom>
          <a:solidFill>
            <a:srgbClr val="FFFFFF"/>
          </a:solidFill>
          <a:ln w="12700">
            <a:solidFill>
              <a:srgbClr val="FFFFFF"/>
            </a:solidFill>
            <a:prstDash val="solid"/>
          </a:ln>
        </p:spPr>
      </p:sp>
      <p:sp>
        <p:nvSpPr>
          <p:cNvPr id="67" name="Text 61"/>
          <p:cNvSpPr txBox="1"/>
          <p:nvPr/>
        </p:nvSpPr>
        <p:spPr>
          <a:xfrm>
            <a:off x="9351663" y="4279900"/>
            <a:ext cx="1544937"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569</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M</a:t>
            </a:r>
            <a:endParaRPr lang="en-US" sz="2800" dirty="0"/>
          </a:p>
        </p:txBody>
      </p:sp>
      <p:sp>
        <p:nvSpPr>
          <p:cNvPr id="68" name="Text 62"/>
          <p:cNvSpPr txBox="1"/>
          <p:nvPr/>
        </p:nvSpPr>
        <p:spPr>
          <a:xfrm>
            <a:off x="9351663" y="4699000"/>
            <a:ext cx="1544937" cy="5016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of Sep GMV not completed yet (18 orders)</a:t>
            </a:r>
            <a:endParaRPr lang="en-US" sz="950" dirty="0"/>
          </a:p>
        </p:txBody>
      </p:sp>
      <p:sp>
        <p:nvSpPr>
          <p:cNvPr id="69" name="Shape 63"/>
          <p:cNvSpPr/>
          <p:nvPr/>
        </p:nvSpPr>
        <p:spPr>
          <a:xfrm>
            <a:off x="762000" y="5391150"/>
            <a:ext cx="10287000" cy="723900"/>
          </a:xfrm>
          <a:prstGeom prst="roundRect">
            <a:avLst>
              <a:gd name="adj" fmla="val 15158"/>
            </a:avLst>
          </a:prstGeom>
          <a:solidFill>
            <a:srgbClr val="FBEFC4"/>
          </a:solidFill>
          <a:ln w="12700">
            <a:solidFill>
              <a:srgbClr val="FBEFC4"/>
            </a:solidFill>
            <a:prstDash val="solid"/>
          </a:ln>
        </p:spPr>
      </p:sp>
      <p:sp>
        <p:nvSpPr>
          <p:cNvPr id="70" name="Text 64"/>
          <p:cNvSpPr txBox="1"/>
          <p:nvPr/>
        </p:nvSpPr>
        <p:spPr>
          <a:xfrm>
            <a:off x="933450" y="5476875"/>
            <a:ext cx="9944100" cy="55245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Very large orders: 6 orders of Rp100M+ in Jul (Rp1.31B) vs 1 in Sep (Rp147M).</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Discounts went Rp94.9M → Rp14.9M, so the recovery was not bought with discounts.</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Rp569M of Sep GMV is not completed yet (18 orders); Rp311M is only partially paid.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7</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TREND · MONTH BY MONTH</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Repeat customers fell (Rp2.02B → Rp1.68B); new customers went Rp395M → Rp578M</a:t>
            </a:r>
            <a:endParaRPr lang="en-US" sz="2300" dirty="0"/>
          </a:p>
        </p:txBody>
      </p:sp>
      <p:sp>
        <p:nvSpPr>
          <p:cNvPr id="11" name="Shape 6"/>
          <p:cNvSpPr/>
          <p:nvPr/>
        </p:nvSpPr>
        <p:spPr>
          <a:xfrm>
            <a:off x="762000" y="1714500"/>
            <a:ext cx="3614245" cy="3371850"/>
          </a:xfrm>
          <a:prstGeom prst="roundRect">
            <a:avLst>
              <a:gd name="adj" fmla="val 3254"/>
            </a:avLst>
          </a:prstGeom>
          <a:solidFill>
            <a:srgbClr val="FFFFFF"/>
          </a:solidFill>
          <a:ln w="12700">
            <a:solidFill>
              <a:srgbClr val="FFFFFF"/>
            </a:solidFill>
            <a:prstDash val="solid"/>
          </a:ln>
        </p:spPr>
      </p:sp>
      <p:sp>
        <p:nvSpPr>
          <p:cNvPr id="12" name="Text 7"/>
          <p:cNvSpPr txBox="1"/>
          <p:nvPr/>
        </p:nvSpPr>
        <p:spPr>
          <a:xfrm>
            <a:off x="952500" y="1866900"/>
            <a:ext cx="3233245"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PIC and month</a:t>
            </a:r>
            <a:endParaRPr lang="en-US" sz="1300" dirty="0"/>
          </a:p>
        </p:txBody>
      </p:sp>
      <p:sp>
        <p:nvSpPr>
          <p:cNvPr id="13" name="Text 8"/>
          <p:cNvSpPr txBox="1"/>
          <p:nvPr/>
        </p:nvSpPr>
        <p:spPr>
          <a:xfrm>
            <a:off x="952500" y="2095500"/>
            <a:ext cx="3233245"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Rp million; darker = more</a:t>
            </a:r>
            <a:endParaRPr lang="en-US" sz="950" dirty="0"/>
          </a:p>
        </p:txBody>
      </p:sp>
      <p:sp>
        <p:nvSpPr>
          <p:cNvPr id="14" name="Text 9"/>
          <p:cNvSpPr txBox="1"/>
          <p:nvPr/>
        </p:nvSpPr>
        <p:spPr>
          <a:xfrm>
            <a:off x="2609850" y="2381250"/>
            <a:ext cx="487198"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Jul</a:t>
            </a:r>
            <a:endParaRPr lang="en-US" sz="800" dirty="0"/>
          </a:p>
        </p:txBody>
      </p:sp>
      <p:sp>
        <p:nvSpPr>
          <p:cNvPr id="15" name="Text 10"/>
          <p:cNvSpPr txBox="1"/>
          <p:nvPr/>
        </p:nvSpPr>
        <p:spPr>
          <a:xfrm>
            <a:off x="3135148" y="2381250"/>
            <a:ext cx="487198"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Aug</a:t>
            </a:r>
            <a:endParaRPr lang="en-US" sz="800" dirty="0"/>
          </a:p>
        </p:txBody>
      </p:sp>
      <p:sp>
        <p:nvSpPr>
          <p:cNvPr id="16" name="Text 11"/>
          <p:cNvSpPr txBox="1"/>
          <p:nvPr/>
        </p:nvSpPr>
        <p:spPr>
          <a:xfrm>
            <a:off x="3660447" y="2381250"/>
            <a:ext cx="487198"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Sep</a:t>
            </a:r>
            <a:endParaRPr lang="en-US" sz="800" dirty="0"/>
          </a:p>
        </p:txBody>
      </p:sp>
      <p:sp>
        <p:nvSpPr>
          <p:cNvPr id="17" name="Text 12"/>
          <p:cNvSpPr txBox="1"/>
          <p:nvPr/>
        </p:nvSpPr>
        <p:spPr>
          <a:xfrm>
            <a:off x="971550" y="2724150"/>
            <a:ext cx="15430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Muhammad Abdul Wahab</a:t>
            </a:r>
            <a:endParaRPr lang="en-US" sz="900" dirty="0"/>
          </a:p>
        </p:txBody>
      </p:sp>
      <p:sp>
        <p:nvSpPr>
          <p:cNvPr id="18" name="Shape 13"/>
          <p:cNvSpPr/>
          <p:nvPr/>
        </p:nvSpPr>
        <p:spPr>
          <a:xfrm>
            <a:off x="2605088" y="2738438"/>
            <a:ext cx="496723" cy="289832"/>
          </a:xfrm>
          <a:prstGeom prst="roundRect">
            <a:avLst>
              <a:gd name="adj" fmla="val 9859"/>
            </a:avLst>
          </a:prstGeom>
          <a:solidFill>
            <a:srgbClr val="345921"/>
          </a:solidFill>
          <a:ln w="12700">
            <a:solidFill>
              <a:srgbClr val="345921"/>
            </a:solidFill>
            <a:prstDash val="solid"/>
          </a:ln>
        </p:spPr>
      </p:sp>
      <p:sp>
        <p:nvSpPr>
          <p:cNvPr id="19" name="Text 14"/>
          <p:cNvSpPr txBox="1"/>
          <p:nvPr/>
        </p:nvSpPr>
        <p:spPr>
          <a:xfrm>
            <a:off x="2590800" y="2724150"/>
            <a:ext cx="5252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1225</a:t>
            </a:r>
            <a:endParaRPr lang="en-US" sz="860" dirty="0"/>
          </a:p>
        </p:txBody>
      </p:sp>
      <p:sp>
        <p:nvSpPr>
          <p:cNvPr id="20" name="Shape 15"/>
          <p:cNvSpPr/>
          <p:nvPr/>
        </p:nvSpPr>
        <p:spPr>
          <a:xfrm>
            <a:off x="3130386" y="2738438"/>
            <a:ext cx="496723" cy="289832"/>
          </a:xfrm>
          <a:prstGeom prst="roundRect">
            <a:avLst>
              <a:gd name="adj" fmla="val 9859"/>
            </a:avLst>
          </a:prstGeom>
          <a:solidFill>
            <a:srgbClr val="819875"/>
          </a:solidFill>
          <a:ln w="12700">
            <a:solidFill>
              <a:srgbClr val="819875"/>
            </a:solidFill>
            <a:prstDash val="solid"/>
          </a:ln>
        </p:spPr>
      </p:sp>
      <p:sp>
        <p:nvSpPr>
          <p:cNvPr id="21" name="Text 16"/>
          <p:cNvSpPr txBox="1"/>
          <p:nvPr/>
        </p:nvSpPr>
        <p:spPr>
          <a:xfrm>
            <a:off x="3116098" y="2724150"/>
            <a:ext cx="5252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679</a:t>
            </a:r>
            <a:endParaRPr lang="en-US" sz="860" dirty="0"/>
          </a:p>
        </p:txBody>
      </p:sp>
      <p:sp>
        <p:nvSpPr>
          <p:cNvPr id="22" name="Shape 17"/>
          <p:cNvSpPr/>
          <p:nvPr/>
        </p:nvSpPr>
        <p:spPr>
          <a:xfrm>
            <a:off x="3655684" y="2738438"/>
            <a:ext cx="496723" cy="289832"/>
          </a:xfrm>
          <a:prstGeom prst="roundRect">
            <a:avLst>
              <a:gd name="adj" fmla="val 9859"/>
            </a:avLst>
          </a:prstGeom>
          <a:solidFill>
            <a:srgbClr val="B8C4B1"/>
          </a:solidFill>
          <a:ln w="12700">
            <a:solidFill>
              <a:srgbClr val="B8C4B1"/>
            </a:solidFill>
            <a:prstDash val="solid"/>
          </a:ln>
        </p:spPr>
      </p:sp>
      <p:sp>
        <p:nvSpPr>
          <p:cNvPr id="23" name="Text 18"/>
          <p:cNvSpPr txBox="1"/>
          <p:nvPr/>
        </p:nvSpPr>
        <p:spPr>
          <a:xfrm>
            <a:off x="3641397" y="2724150"/>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292</a:t>
            </a:r>
            <a:endParaRPr lang="en-US" sz="860" dirty="0"/>
          </a:p>
        </p:txBody>
      </p:sp>
      <p:sp>
        <p:nvSpPr>
          <p:cNvPr id="24" name="Text 19"/>
          <p:cNvSpPr txBox="1"/>
          <p:nvPr/>
        </p:nvSpPr>
        <p:spPr>
          <a:xfrm>
            <a:off x="971550" y="3042557"/>
            <a:ext cx="15430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Rudi Nirwana</a:t>
            </a:r>
            <a:endParaRPr lang="en-US" sz="900" dirty="0"/>
          </a:p>
        </p:txBody>
      </p:sp>
      <p:sp>
        <p:nvSpPr>
          <p:cNvPr id="25" name="Shape 20"/>
          <p:cNvSpPr/>
          <p:nvPr/>
        </p:nvSpPr>
        <p:spPr>
          <a:xfrm>
            <a:off x="2605088" y="3056845"/>
            <a:ext cx="496723" cy="289832"/>
          </a:xfrm>
          <a:prstGeom prst="roundRect">
            <a:avLst>
              <a:gd name="adj" fmla="val 9859"/>
            </a:avLst>
          </a:prstGeom>
          <a:solidFill>
            <a:srgbClr val="7C9470"/>
          </a:solidFill>
          <a:ln w="12700">
            <a:solidFill>
              <a:srgbClr val="7C9470"/>
            </a:solidFill>
            <a:prstDash val="solid"/>
          </a:ln>
        </p:spPr>
      </p:sp>
      <p:sp>
        <p:nvSpPr>
          <p:cNvPr id="26" name="Text 21"/>
          <p:cNvSpPr txBox="1"/>
          <p:nvPr/>
        </p:nvSpPr>
        <p:spPr>
          <a:xfrm>
            <a:off x="2590800" y="3042557"/>
            <a:ext cx="5252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713</a:t>
            </a:r>
            <a:endParaRPr lang="en-US" sz="860" dirty="0"/>
          </a:p>
        </p:txBody>
      </p:sp>
      <p:sp>
        <p:nvSpPr>
          <p:cNvPr id="27" name="Shape 22"/>
          <p:cNvSpPr/>
          <p:nvPr/>
        </p:nvSpPr>
        <p:spPr>
          <a:xfrm>
            <a:off x="3130386" y="3056845"/>
            <a:ext cx="496723" cy="289832"/>
          </a:xfrm>
          <a:prstGeom prst="roundRect">
            <a:avLst>
              <a:gd name="adj" fmla="val 9859"/>
            </a:avLst>
          </a:prstGeom>
          <a:solidFill>
            <a:srgbClr val="A4B49B"/>
          </a:solidFill>
          <a:ln w="12700">
            <a:solidFill>
              <a:srgbClr val="A4B49B"/>
            </a:solidFill>
            <a:prstDash val="solid"/>
          </a:ln>
        </p:spPr>
      </p:sp>
      <p:sp>
        <p:nvSpPr>
          <p:cNvPr id="28" name="Text 23"/>
          <p:cNvSpPr txBox="1"/>
          <p:nvPr/>
        </p:nvSpPr>
        <p:spPr>
          <a:xfrm>
            <a:off x="3116098" y="3042557"/>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434</a:t>
            </a:r>
            <a:endParaRPr lang="en-US" sz="860" dirty="0"/>
          </a:p>
        </p:txBody>
      </p:sp>
      <p:sp>
        <p:nvSpPr>
          <p:cNvPr id="29" name="Shape 24"/>
          <p:cNvSpPr/>
          <p:nvPr/>
        </p:nvSpPr>
        <p:spPr>
          <a:xfrm>
            <a:off x="3655684" y="3056845"/>
            <a:ext cx="496723" cy="289832"/>
          </a:xfrm>
          <a:prstGeom prst="roundRect">
            <a:avLst>
              <a:gd name="adj" fmla="val 9859"/>
            </a:avLst>
          </a:prstGeom>
          <a:solidFill>
            <a:srgbClr val="7D9571"/>
          </a:solidFill>
          <a:ln w="12700">
            <a:solidFill>
              <a:srgbClr val="7D9571"/>
            </a:solidFill>
            <a:prstDash val="solid"/>
          </a:ln>
        </p:spPr>
      </p:sp>
      <p:sp>
        <p:nvSpPr>
          <p:cNvPr id="30" name="Text 25"/>
          <p:cNvSpPr txBox="1"/>
          <p:nvPr/>
        </p:nvSpPr>
        <p:spPr>
          <a:xfrm>
            <a:off x="3641397" y="3042557"/>
            <a:ext cx="5252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705</a:t>
            </a:r>
            <a:endParaRPr lang="en-US" sz="860" dirty="0"/>
          </a:p>
        </p:txBody>
      </p:sp>
      <p:sp>
        <p:nvSpPr>
          <p:cNvPr id="31" name="Text 26"/>
          <p:cNvSpPr txBox="1"/>
          <p:nvPr/>
        </p:nvSpPr>
        <p:spPr>
          <a:xfrm>
            <a:off x="971550" y="3360964"/>
            <a:ext cx="15430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Simon Sutrado</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Simanjuntak</a:t>
            </a:r>
            <a:endParaRPr lang="en-US" sz="900" dirty="0"/>
          </a:p>
        </p:txBody>
      </p:sp>
      <p:sp>
        <p:nvSpPr>
          <p:cNvPr id="32" name="Shape 27"/>
          <p:cNvSpPr/>
          <p:nvPr/>
        </p:nvSpPr>
        <p:spPr>
          <a:xfrm>
            <a:off x="2605088" y="3375252"/>
            <a:ext cx="496723" cy="289832"/>
          </a:xfrm>
          <a:prstGeom prst="roundRect">
            <a:avLst>
              <a:gd name="adj" fmla="val 9859"/>
            </a:avLst>
          </a:prstGeom>
          <a:solidFill>
            <a:srgbClr val="C1CCBB"/>
          </a:solidFill>
          <a:ln w="12700">
            <a:solidFill>
              <a:srgbClr val="C1CCBB"/>
            </a:solidFill>
            <a:prstDash val="solid"/>
          </a:ln>
        </p:spPr>
      </p:sp>
      <p:sp>
        <p:nvSpPr>
          <p:cNvPr id="33" name="Text 28"/>
          <p:cNvSpPr txBox="1"/>
          <p:nvPr/>
        </p:nvSpPr>
        <p:spPr>
          <a:xfrm>
            <a:off x="2590800" y="3360964"/>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225</a:t>
            </a:r>
            <a:endParaRPr lang="en-US" sz="860" dirty="0"/>
          </a:p>
        </p:txBody>
      </p:sp>
      <p:sp>
        <p:nvSpPr>
          <p:cNvPr id="34" name="Shape 29"/>
          <p:cNvSpPr/>
          <p:nvPr/>
        </p:nvSpPr>
        <p:spPr>
          <a:xfrm>
            <a:off x="3130386" y="3375252"/>
            <a:ext cx="496723" cy="289832"/>
          </a:xfrm>
          <a:prstGeom prst="roundRect">
            <a:avLst>
              <a:gd name="adj" fmla="val 9859"/>
            </a:avLst>
          </a:prstGeom>
          <a:solidFill>
            <a:srgbClr val="DDE3D9"/>
          </a:solidFill>
          <a:ln w="12700">
            <a:solidFill>
              <a:srgbClr val="DDE3D9"/>
            </a:solidFill>
            <a:prstDash val="solid"/>
          </a:ln>
        </p:spPr>
      </p:sp>
      <p:sp>
        <p:nvSpPr>
          <p:cNvPr id="35" name="Text 30"/>
          <p:cNvSpPr txBox="1"/>
          <p:nvPr/>
        </p:nvSpPr>
        <p:spPr>
          <a:xfrm>
            <a:off x="3116098" y="3360964"/>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29</a:t>
            </a:r>
            <a:endParaRPr lang="en-US" sz="860" dirty="0"/>
          </a:p>
        </p:txBody>
      </p:sp>
      <p:sp>
        <p:nvSpPr>
          <p:cNvPr id="36" name="Shape 31"/>
          <p:cNvSpPr/>
          <p:nvPr/>
        </p:nvSpPr>
        <p:spPr>
          <a:xfrm>
            <a:off x="3655684" y="3375252"/>
            <a:ext cx="496723" cy="289832"/>
          </a:xfrm>
          <a:prstGeom prst="roundRect">
            <a:avLst>
              <a:gd name="adj" fmla="val 9859"/>
            </a:avLst>
          </a:prstGeom>
          <a:solidFill>
            <a:srgbClr val="97AA8D"/>
          </a:solidFill>
          <a:ln w="12700">
            <a:solidFill>
              <a:srgbClr val="97AA8D"/>
            </a:solidFill>
            <a:prstDash val="solid"/>
          </a:ln>
        </p:spPr>
      </p:sp>
      <p:sp>
        <p:nvSpPr>
          <p:cNvPr id="37" name="Text 32"/>
          <p:cNvSpPr txBox="1"/>
          <p:nvPr/>
        </p:nvSpPr>
        <p:spPr>
          <a:xfrm>
            <a:off x="3641397" y="3360964"/>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523</a:t>
            </a:r>
            <a:endParaRPr lang="en-US" sz="860" dirty="0"/>
          </a:p>
        </p:txBody>
      </p:sp>
      <p:sp>
        <p:nvSpPr>
          <p:cNvPr id="38" name="Text 33"/>
          <p:cNvSpPr txBox="1"/>
          <p:nvPr/>
        </p:nvSpPr>
        <p:spPr>
          <a:xfrm>
            <a:off x="971550" y="3679371"/>
            <a:ext cx="15430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Joko Prestiwo</a:t>
            </a:r>
            <a:endParaRPr lang="en-US" sz="900" dirty="0"/>
          </a:p>
        </p:txBody>
      </p:sp>
      <p:sp>
        <p:nvSpPr>
          <p:cNvPr id="39" name="Shape 34"/>
          <p:cNvSpPr/>
          <p:nvPr/>
        </p:nvSpPr>
        <p:spPr>
          <a:xfrm>
            <a:off x="2605088" y="3693659"/>
            <a:ext cx="496723" cy="289832"/>
          </a:xfrm>
          <a:prstGeom prst="roundRect">
            <a:avLst>
              <a:gd name="adj" fmla="val 9859"/>
            </a:avLst>
          </a:prstGeom>
          <a:solidFill>
            <a:srgbClr val="D4DCD0"/>
          </a:solidFill>
          <a:ln w="12700">
            <a:solidFill>
              <a:srgbClr val="D4DCD0"/>
            </a:solidFill>
            <a:prstDash val="solid"/>
          </a:ln>
        </p:spPr>
      </p:sp>
      <p:sp>
        <p:nvSpPr>
          <p:cNvPr id="40" name="Text 35"/>
          <p:cNvSpPr txBox="1"/>
          <p:nvPr/>
        </p:nvSpPr>
        <p:spPr>
          <a:xfrm>
            <a:off x="2590800" y="3679371"/>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88</a:t>
            </a:r>
            <a:endParaRPr lang="en-US" sz="860" dirty="0"/>
          </a:p>
        </p:txBody>
      </p:sp>
      <p:sp>
        <p:nvSpPr>
          <p:cNvPr id="41" name="Shape 36"/>
          <p:cNvSpPr/>
          <p:nvPr/>
        </p:nvSpPr>
        <p:spPr>
          <a:xfrm>
            <a:off x="3130386" y="3693659"/>
            <a:ext cx="496723" cy="289832"/>
          </a:xfrm>
          <a:prstGeom prst="roundRect">
            <a:avLst>
              <a:gd name="adj" fmla="val 9859"/>
            </a:avLst>
          </a:prstGeom>
          <a:solidFill>
            <a:srgbClr val="BDC9B7"/>
          </a:solidFill>
          <a:ln w="12700">
            <a:solidFill>
              <a:srgbClr val="BDC9B7"/>
            </a:solidFill>
            <a:prstDash val="solid"/>
          </a:ln>
        </p:spPr>
      </p:sp>
      <p:sp>
        <p:nvSpPr>
          <p:cNvPr id="42" name="Text 37"/>
          <p:cNvSpPr txBox="1"/>
          <p:nvPr/>
        </p:nvSpPr>
        <p:spPr>
          <a:xfrm>
            <a:off x="3116098" y="3679371"/>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250</a:t>
            </a:r>
            <a:endParaRPr lang="en-US" sz="860" dirty="0"/>
          </a:p>
        </p:txBody>
      </p:sp>
      <p:sp>
        <p:nvSpPr>
          <p:cNvPr id="43" name="Shape 38"/>
          <p:cNvSpPr/>
          <p:nvPr/>
        </p:nvSpPr>
        <p:spPr>
          <a:xfrm>
            <a:off x="3655684" y="3693659"/>
            <a:ext cx="496723" cy="289832"/>
          </a:xfrm>
          <a:prstGeom prst="roundRect">
            <a:avLst>
              <a:gd name="adj" fmla="val 9859"/>
            </a:avLst>
          </a:prstGeom>
          <a:solidFill>
            <a:srgbClr val="BDC9B6"/>
          </a:solidFill>
          <a:ln w="12700">
            <a:solidFill>
              <a:srgbClr val="BDC9B6"/>
            </a:solidFill>
            <a:prstDash val="solid"/>
          </a:ln>
        </p:spPr>
      </p:sp>
      <p:sp>
        <p:nvSpPr>
          <p:cNvPr id="44" name="Text 39"/>
          <p:cNvSpPr txBox="1"/>
          <p:nvPr/>
        </p:nvSpPr>
        <p:spPr>
          <a:xfrm>
            <a:off x="3641397" y="3679371"/>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257</a:t>
            </a:r>
            <a:endParaRPr lang="en-US" sz="860" dirty="0"/>
          </a:p>
        </p:txBody>
      </p:sp>
      <p:sp>
        <p:nvSpPr>
          <p:cNvPr id="45" name="Text 40"/>
          <p:cNvSpPr txBox="1"/>
          <p:nvPr/>
        </p:nvSpPr>
        <p:spPr>
          <a:xfrm>
            <a:off x="971550" y="3997779"/>
            <a:ext cx="15430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Sazali Wandana</a:t>
            </a:r>
            <a:endParaRPr lang="en-US" sz="900" dirty="0"/>
          </a:p>
        </p:txBody>
      </p:sp>
      <p:sp>
        <p:nvSpPr>
          <p:cNvPr id="46" name="Shape 41"/>
          <p:cNvSpPr/>
          <p:nvPr/>
        </p:nvSpPr>
        <p:spPr>
          <a:xfrm>
            <a:off x="2605088" y="4012066"/>
            <a:ext cx="496723" cy="289832"/>
          </a:xfrm>
          <a:prstGeom prst="roundRect">
            <a:avLst>
              <a:gd name="adj" fmla="val 9859"/>
            </a:avLst>
          </a:prstGeom>
          <a:solidFill>
            <a:srgbClr val="D9E0D6"/>
          </a:solidFill>
          <a:ln w="12700">
            <a:solidFill>
              <a:srgbClr val="D9E0D6"/>
            </a:solidFill>
            <a:prstDash val="solid"/>
          </a:ln>
        </p:spPr>
      </p:sp>
      <p:sp>
        <p:nvSpPr>
          <p:cNvPr id="47" name="Text 42"/>
          <p:cNvSpPr txBox="1"/>
          <p:nvPr/>
        </p:nvSpPr>
        <p:spPr>
          <a:xfrm>
            <a:off x="2590800" y="3997779"/>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52</a:t>
            </a:r>
            <a:endParaRPr lang="en-US" sz="860" dirty="0"/>
          </a:p>
        </p:txBody>
      </p:sp>
      <p:sp>
        <p:nvSpPr>
          <p:cNvPr id="48" name="Shape 43"/>
          <p:cNvSpPr/>
          <p:nvPr/>
        </p:nvSpPr>
        <p:spPr>
          <a:xfrm>
            <a:off x="3130386" y="4012066"/>
            <a:ext cx="496723" cy="289832"/>
          </a:xfrm>
          <a:prstGeom prst="roundRect">
            <a:avLst>
              <a:gd name="adj" fmla="val 9859"/>
            </a:avLst>
          </a:prstGeom>
          <a:solidFill>
            <a:srgbClr val="C9D3C4"/>
          </a:solidFill>
          <a:ln w="12700">
            <a:solidFill>
              <a:srgbClr val="C9D3C4"/>
            </a:solidFill>
            <a:prstDash val="solid"/>
          </a:ln>
        </p:spPr>
      </p:sp>
      <p:sp>
        <p:nvSpPr>
          <p:cNvPr id="49" name="Text 44"/>
          <p:cNvSpPr txBox="1"/>
          <p:nvPr/>
        </p:nvSpPr>
        <p:spPr>
          <a:xfrm>
            <a:off x="3116098" y="3997779"/>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169</a:t>
            </a:r>
            <a:endParaRPr lang="en-US" sz="860" dirty="0"/>
          </a:p>
        </p:txBody>
      </p:sp>
      <p:sp>
        <p:nvSpPr>
          <p:cNvPr id="50" name="Shape 45"/>
          <p:cNvSpPr/>
          <p:nvPr/>
        </p:nvSpPr>
        <p:spPr>
          <a:xfrm>
            <a:off x="3655684" y="4012066"/>
            <a:ext cx="496723" cy="289832"/>
          </a:xfrm>
          <a:prstGeom prst="roundRect">
            <a:avLst>
              <a:gd name="adj" fmla="val 9859"/>
            </a:avLst>
          </a:prstGeom>
          <a:solidFill>
            <a:srgbClr val="CBD5C6"/>
          </a:solidFill>
          <a:ln w="12700">
            <a:solidFill>
              <a:srgbClr val="CBD5C6"/>
            </a:solidFill>
            <a:prstDash val="solid"/>
          </a:ln>
        </p:spPr>
      </p:sp>
      <p:sp>
        <p:nvSpPr>
          <p:cNvPr id="51" name="Text 46"/>
          <p:cNvSpPr txBox="1"/>
          <p:nvPr/>
        </p:nvSpPr>
        <p:spPr>
          <a:xfrm>
            <a:off x="3641397" y="3997779"/>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152</a:t>
            </a:r>
            <a:endParaRPr lang="en-US" sz="860" dirty="0"/>
          </a:p>
        </p:txBody>
      </p:sp>
      <p:sp>
        <p:nvSpPr>
          <p:cNvPr id="52" name="Text 47"/>
          <p:cNvSpPr txBox="1"/>
          <p:nvPr/>
        </p:nvSpPr>
        <p:spPr>
          <a:xfrm>
            <a:off x="971550" y="4316186"/>
            <a:ext cx="15430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Deby Zea Efendi</a:t>
            </a:r>
            <a:endParaRPr lang="en-US" sz="900" dirty="0"/>
          </a:p>
        </p:txBody>
      </p:sp>
      <p:sp>
        <p:nvSpPr>
          <p:cNvPr id="53" name="Shape 48"/>
          <p:cNvSpPr/>
          <p:nvPr/>
        </p:nvSpPr>
        <p:spPr>
          <a:xfrm>
            <a:off x="2605088" y="4330473"/>
            <a:ext cx="496723" cy="289832"/>
          </a:xfrm>
          <a:prstGeom prst="roundRect">
            <a:avLst>
              <a:gd name="adj" fmla="val 9859"/>
            </a:avLst>
          </a:prstGeom>
          <a:solidFill>
            <a:srgbClr val="DCE2D9"/>
          </a:solidFill>
          <a:ln w="12700">
            <a:solidFill>
              <a:srgbClr val="DCE2D9"/>
            </a:solidFill>
            <a:prstDash val="solid"/>
          </a:ln>
        </p:spPr>
      </p:sp>
      <p:sp>
        <p:nvSpPr>
          <p:cNvPr id="54" name="Text 49"/>
          <p:cNvSpPr txBox="1"/>
          <p:nvPr/>
        </p:nvSpPr>
        <p:spPr>
          <a:xfrm>
            <a:off x="2590800" y="4316186"/>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33</a:t>
            </a:r>
            <a:endParaRPr lang="en-US" sz="860" dirty="0"/>
          </a:p>
        </p:txBody>
      </p:sp>
      <p:sp>
        <p:nvSpPr>
          <p:cNvPr id="55" name="Shape 50"/>
          <p:cNvSpPr/>
          <p:nvPr/>
        </p:nvSpPr>
        <p:spPr>
          <a:xfrm>
            <a:off x="3130386" y="4330473"/>
            <a:ext cx="496723" cy="289832"/>
          </a:xfrm>
          <a:prstGeom prst="roundRect">
            <a:avLst>
              <a:gd name="adj" fmla="val 9859"/>
            </a:avLst>
          </a:prstGeom>
          <a:solidFill>
            <a:srgbClr val="D9E0D5"/>
          </a:solidFill>
          <a:ln w="12700">
            <a:solidFill>
              <a:srgbClr val="D9E0D5"/>
            </a:solidFill>
            <a:prstDash val="solid"/>
          </a:ln>
        </p:spPr>
      </p:sp>
      <p:sp>
        <p:nvSpPr>
          <p:cNvPr id="56" name="Text 51"/>
          <p:cNvSpPr txBox="1"/>
          <p:nvPr/>
        </p:nvSpPr>
        <p:spPr>
          <a:xfrm>
            <a:off x="3116098" y="4316186"/>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57</a:t>
            </a:r>
            <a:endParaRPr lang="en-US" sz="860" dirty="0"/>
          </a:p>
        </p:txBody>
      </p:sp>
      <p:sp>
        <p:nvSpPr>
          <p:cNvPr id="57" name="Shape 52"/>
          <p:cNvSpPr/>
          <p:nvPr/>
        </p:nvSpPr>
        <p:spPr>
          <a:xfrm>
            <a:off x="3655684" y="4330473"/>
            <a:ext cx="496723" cy="289832"/>
          </a:xfrm>
          <a:prstGeom prst="roundRect">
            <a:avLst>
              <a:gd name="adj" fmla="val 9859"/>
            </a:avLst>
          </a:prstGeom>
          <a:solidFill>
            <a:srgbClr val="C2CDBC"/>
          </a:solidFill>
          <a:ln w="12700">
            <a:solidFill>
              <a:srgbClr val="C2CDBC"/>
            </a:solidFill>
            <a:prstDash val="solid"/>
          </a:ln>
        </p:spPr>
      </p:sp>
      <p:sp>
        <p:nvSpPr>
          <p:cNvPr id="58" name="Text 53"/>
          <p:cNvSpPr txBox="1"/>
          <p:nvPr/>
        </p:nvSpPr>
        <p:spPr>
          <a:xfrm>
            <a:off x="3641397" y="4316186"/>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220</a:t>
            </a:r>
            <a:endParaRPr lang="en-US" sz="860" dirty="0"/>
          </a:p>
        </p:txBody>
      </p:sp>
      <p:sp>
        <p:nvSpPr>
          <p:cNvPr id="59" name="Text 54"/>
          <p:cNvSpPr txBox="1"/>
          <p:nvPr/>
        </p:nvSpPr>
        <p:spPr>
          <a:xfrm>
            <a:off x="971550" y="4634593"/>
            <a:ext cx="15430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Ghifari Kamil Ramadhan</a:t>
            </a:r>
            <a:endParaRPr lang="en-US" sz="900" dirty="0"/>
          </a:p>
        </p:txBody>
      </p:sp>
      <p:sp>
        <p:nvSpPr>
          <p:cNvPr id="60" name="Shape 55"/>
          <p:cNvSpPr/>
          <p:nvPr/>
        </p:nvSpPr>
        <p:spPr>
          <a:xfrm>
            <a:off x="2605088" y="4648880"/>
            <a:ext cx="496723" cy="289832"/>
          </a:xfrm>
          <a:prstGeom prst="roundRect">
            <a:avLst>
              <a:gd name="adj" fmla="val 9859"/>
            </a:avLst>
          </a:prstGeom>
          <a:solidFill>
            <a:srgbClr val="F4F6F1"/>
          </a:solidFill>
          <a:ln w="12700">
            <a:solidFill>
              <a:srgbClr val="F4F6F1"/>
            </a:solidFill>
            <a:prstDash val="solid"/>
          </a:ln>
        </p:spPr>
      </p:sp>
      <p:sp>
        <p:nvSpPr>
          <p:cNvPr id="61" name="Shape 56"/>
          <p:cNvSpPr/>
          <p:nvPr/>
        </p:nvSpPr>
        <p:spPr>
          <a:xfrm>
            <a:off x="3130386" y="4648880"/>
            <a:ext cx="496723" cy="289832"/>
          </a:xfrm>
          <a:prstGeom prst="roundRect">
            <a:avLst>
              <a:gd name="adj" fmla="val 9859"/>
            </a:avLst>
          </a:prstGeom>
          <a:solidFill>
            <a:srgbClr val="DEE4DB"/>
          </a:solidFill>
          <a:ln w="12700">
            <a:solidFill>
              <a:srgbClr val="DEE4DB"/>
            </a:solidFill>
            <a:prstDash val="solid"/>
          </a:ln>
        </p:spPr>
      </p:sp>
      <p:sp>
        <p:nvSpPr>
          <p:cNvPr id="62" name="Text 57"/>
          <p:cNvSpPr txBox="1"/>
          <p:nvPr/>
        </p:nvSpPr>
        <p:spPr>
          <a:xfrm>
            <a:off x="3116098" y="4634593"/>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21</a:t>
            </a:r>
            <a:endParaRPr lang="en-US" sz="860" dirty="0"/>
          </a:p>
        </p:txBody>
      </p:sp>
      <p:sp>
        <p:nvSpPr>
          <p:cNvPr id="63" name="Shape 58"/>
          <p:cNvSpPr/>
          <p:nvPr/>
        </p:nvSpPr>
        <p:spPr>
          <a:xfrm>
            <a:off x="3655684" y="4648880"/>
            <a:ext cx="496723" cy="289832"/>
          </a:xfrm>
          <a:prstGeom prst="roundRect">
            <a:avLst>
              <a:gd name="adj" fmla="val 9859"/>
            </a:avLst>
          </a:prstGeom>
          <a:solidFill>
            <a:srgbClr val="D2DACE"/>
          </a:solidFill>
          <a:ln w="12700">
            <a:solidFill>
              <a:srgbClr val="D2DACE"/>
            </a:solidFill>
            <a:prstDash val="solid"/>
          </a:ln>
        </p:spPr>
      </p:sp>
      <p:sp>
        <p:nvSpPr>
          <p:cNvPr id="64" name="Text 59"/>
          <p:cNvSpPr txBox="1"/>
          <p:nvPr/>
        </p:nvSpPr>
        <p:spPr>
          <a:xfrm>
            <a:off x="3641397" y="4634593"/>
            <a:ext cx="5252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104</a:t>
            </a:r>
            <a:endParaRPr lang="en-US" sz="860" dirty="0"/>
          </a:p>
        </p:txBody>
      </p:sp>
      <p:sp>
        <p:nvSpPr>
          <p:cNvPr id="65" name="Shape 60"/>
          <p:cNvSpPr/>
          <p:nvPr/>
        </p:nvSpPr>
        <p:spPr>
          <a:xfrm>
            <a:off x="4528645" y="1714500"/>
            <a:ext cx="3614245" cy="3371850"/>
          </a:xfrm>
          <a:prstGeom prst="roundRect">
            <a:avLst>
              <a:gd name="adj" fmla="val 3254"/>
            </a:avLst>
          </a:prstGeom>
          <a:solidFill>
            <a:srgbClr val="FFFFFF"/>
          </a:solidFill>
          <a:ln w="12700">
            <a:solidFill>
              <a:srgbClr val="FFFFFF"/>
            </a:solidFill>
            <a:prstDash val="solid"/>
          </a:ln>
        </p:spPr>
      </p:sp>
      <p:sp>
        <p:nvSpPr>
          <p:cNvPr id="66" name="Text 61"/>
          <p:cNvSpPr txBox="1"/>
          <p:nvPr/>
        </p:nvSpPr>
        <p:spPr>
          <a:xfrm>
            <a:off x="4719145" y="1866900"/>
            <a:ext cx="3233245"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product category and month</a:t>
            </a:r>
            <a:endParaRPr lang="en-US" sz="1300" dirty="0"/>
          </a:p>
        </p:txBody>
      </p:sp>
      <p:sp>
        <p:nvSpPr>
          <p:cNvPr id="67" name="Text 62"/>
          <p:cNvSpPr txBox="1"/>
          <p:nvPr/>
        </p:nvSpPr>
        <p:spPr>
          <a:xfrm>
            <a:off x="4719145" y="2095500"/>
            <a:ext cx="3233245"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Rp million; darker = more</a:t>
            </a:r>
            <a:endParaRPr lang="en-US" sz="950" dirty="0"/>
          </a:p>
        </p:txBody>
      </p:sp>
      <p:sp>
        <p:nvSpPr>
          <p:cNvPr id="68" name="Text 63"/>
          <p:cNvSpPr txBox="1"/>
          <p:nvPr/>
        </p:nvSpPr>
        <p:spPr>
          <a:xfrm>
            <a:off x="6185995" y="2381250"/>
            <a:ext cx="550698"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Jul</a:t>
            </a:r>
            <a:endParaRPr lang="en-US" sz="800" dirty="0"/>
          </a:p>
        </p:txBody>
      </p:sp>
      <p:sp>
        <p:nvSpPr>
          <p:cNvPr id="69" name="Text 64"/>
          <p:cNvSpPr txBox="1"/>
          <p:nvPr/>
        </p:nvSpPr>
        <p:spPr>
          <a:xfrm>
            <a:off x="6774793" y="2381250"/>
            <a:ext cx="550698"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Aug</a:t>
            </a:r>
            <a:endParaRPr lang="en-US" sz="800" dirty="0"/>
          </a:p>
        </p:txBody>
      </p:sp>
      <p:sp>
        <p:nvSpPr>
          <p:cNvPr id="70" name="Text 65"/>
          <p:cNvSpPr txBox="1"/>
          <p:nvPr/>
        </p:nvSpPr>
        <p:spPr>
          <a:xfrm>
            <a:off x="7363591" y="2381250"/>
            <a:ext cx="550698"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Sep</a:t>
            </a:r>
            <a:endParaRPr lang="en-US" sz="800" dirty="0"/>
          </a:p>
        </p:txBody>
      </p:sp>
      <p:sp>
        <p:nvSpPr>
          <p:cNvPr id="71" name="Text 66"/>
          <p:cNvSpPr txBox="1"/>
          <p:nvPr/>
        </p:nvSpPr>
        <p:spPr>
          <a:xfrm>
            <a:off x="4738195" y="2724150"/>
            <a:ext cx="13525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Pupuk Grosir</a:t>
            </a:r>
            <a:endParaRPr lang="en-US" sz="900" dirty="0"/>
          </a:p>
        </p:txBody>
      </p:sp>
      <p:sp>
        <p:nvSpPr>
          <p:cNvPr id="72" name="Shape 67"/>
          <p:cNvSpPr/>
          <p:nvPr/>
        </p:nvSpPr>
        <p:spPr>
          <a:xfrm>
            <a:off x="6181232" y="2738438"/>
            <a:ext cx="560223" cy="289832"/>
          </a:xfrm>
          <a:prstGeom prst="roundRect">
            <a:avLst>
              <a:gd name="adj" fmla="val 9859"/>
            </a:avLst>
          </a:prstGeom>
          <a:solidFill>
            <a:srgbClr val="345921"/>
          </a:solidFill>
          <a:ln w="12700">
            <a:solidFill>
              <a:srgbClr val="345921"/>
            </a:solidFill>
            <a:prstDash val="solid"/>
          </a:ln>
        </p:spPr>
      </p:sp>
      <p:sp>
        <p:nvSpPr>
          <p:cNvPr id="73" name="Text 68"/>
          <p:cNvSpPr txBox="1"/>
          <p:nvPr/>
        </p:nvSpPr>
        <p:spPr>
          <a:xfrm>
            <a:off x="6166945" y="2724150"/>
            <a:ext cx="5887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1015</a:t>
            </a:r>
            <a:endParaRPr lang="en-US" sz="860" dirty="0"/>
          </a:p>
        </p:txBody>
      </p:sp>
      <p:sp>
        <p:nvSpPr>
          <p:cNvPr id="74" name="Shape 69"/>
          <p:cNvSpPr/>
          <p:nvPr/>
        </p:nvSpPr>
        <p:spPr>
          <a:xfrm>
            <a:off x="6770031" y="2738438"/>
            <a:ext cx="560223" cy="289832"/>
          </a:xfrm>
          <a:prstGeom prst="roundRect">
            <a:avLst>
              <a:gd name="adj" fmla="val 9859"/>
            </a:avLst>
          </a:prstGeom>
          <a:solidFill>
            <a:srgbClr val="5E7B4F"/>
          </a:solidFill>
          <a:ln w="12700">
            <a:solidFill>
              <a:srgbClr val="5E7B4F"/>
            </a:solidFill>
            <a:prstDash val="solid"/>
          </a:ln>
        </p:spPr>
      </p:sp>
      <p:sp>
        <p:nvSpPr>
          <p:cNvPr id="75" name="Text 70"/>
          <p:cNvSpPr txBox="1"/>
          <p:nvPr/>
        </p:nvSpPr>
        <p:spPr>
          <a:xfrm>
            <a:off x="6755743" y="2724150"/>
            <a:ext cx="5887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770</a:t>
            </a:r>
            <a:endParaRPr lang="en-US" sz="860" dirty="0"/>
          </a:p>
        </p:txBody>
      </p:sp>
      <p:sp>
        <p:nvSpPr>
          <p:cNvPr id="76" name="Shape 71"/>
          <p:cNvSpPr/>
          <p:nvPr/>
        </p:nvSpPr>
        <p:spPr>
          <a:xfrm>
            <a:off x="7358829" y="2738438"/>
            <a:ext cx="560223" cy="289832"/>
          </a:xfrm>
          <a:prstGeom prst="roundRect">
            <a:avLst>
              <a:gd name="adj" fmla="val 9859"/>
            </a:avLst>
          </a:prstGeom>
          <a:solidFill>
            <a:srgbClr val="B4C1AD"/>
          </a:solidFill>
          <a:ln w="12700">
            <a:solidFill>
              <a:srgbClr val="B4C1AD"/>
            </a:solidFill>
            <a:prstDash val="solid"/>
          </a:ln>
        </p:spPr>
      </p:sp>
      <p:sp>
        <p:nvSpPr>
          <p:cNvPr id="77" name="Text 72"/>
          <p:cNvSpPr txBox="1"/>
          <p:nvPr/>
        </p:nvSpPr>
        <p:spPr>
          <a:xfrm>
            <a:off x="7344541" y="2724150"/>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263</a:t>
            </a:r>
            <a:endParaRPr lang="en-US" sz="860" dirty="0"/>
          </a:p>
        </p:txBody>
      </p:sp>
      <p:sp>
        <p:nvSpPr>
          <p:cNvPr id="78" name="Text 73"/>
          <p:cNvSpPr txBox="1"/>
          <p:nvPr/>
        </p:nvSpPr>
        <p:spPr>
          <a:xfrm>
            <a:off x="4738195" y="3042557"/>
            <a:ext cx="13525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Khusus Petani</a:t>
            </a:r>
            <a:endParaRPr lang="en-US" sz="900" dirty="0"/>
          </a:p>
        </p:txBody>
      </p:sp>
      <p:sp>
        <p:nvSpPr>
          <p:cNvPr id="79" name="Shape 74"/>
          <p:cNvSpPr/>
          <p:nvPr/>
        </p:nvSpPr>
        <p:spPr>
          <a:xfrm>
            <a:off x="6181232" y="3056845"/>
            <a:ext cx="560223" cy="289832"/>
          </a:xfrm>
          <a:prstGeom prst="roundRect">
            <a:avLst>
              <a:gd name="adj" fmla="val 9859"/>
            </a:avLst>
          </a:prstGeom>
          <a:solidFill>
            <a:srgbClr val="A6B69D"/>
          </a:solidFill>
          <a:ln w="12700">
            <a:solidFill>
              <a:srgbClr val="A6B69D"/>
            </a:solidFill>
            <a:prstDash val="solid"/>
          </a:ln>
        </p:spPr>
      </p:sp>
      <p:sp>
        <p:nvSpPr>
          <p:cNvPr id="80" name="Text 75"/>
          <p:cNvSpPr txBox="1"/>
          <p:nvPr/>
        </p:nvSpPr>
        <p:spPr>
          <a:xfrm>
            <a:off x="6166945" y="3042557"/>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348</a:t>
            </a:r>
            <a:endParaRPr lang="en-US" sz="860" dirty="0"/>
          </a:p>
        </p:txBody>
      </p:sp>
      <p:sp>
        <p:nvSpPr>
          <p:cNvPr id="81" name="Shape 76"/>
          <p:cNvSpPr/>
          <p:nvPr/>
        </p:nvSpPr>
        <p:spPr>
          <a:xfrm>
            <a:off x="6770031" y="3056845"/>
            <a:ext cx="560223" cy="289832"/>
          </a:xfrm>
          <a:prstGeom prst="roundRect">
            <a:avLst>
              <a:gd name="adj" fmla="val 9859"/>
            </a:avLst>
          </a:prstGeom>
          <a:solidFill>
            <a:srgbClr val="AEBCA6"/>
          </a:solidFill>
          <a:ln w="12700">
            <a:solidFill>
              <a:srgbClr val="AEBCA6"/>
            </a:solidFill>
            <a:prstDash val="solid"/>
          </a:ln>
        </p:spPr>
      </p:sp>
      <p:sp>
        <p:nvSpPr>
          <p:cNvPr id="82" name="Text 77"/>
          <p:cNvSpPr txBox="1"/>
          <p:nvPr/>
        </p:nvSpPr>
        <p:spPr>
          <a:xfrm>
            <a:off x="6755743" y="3042557"/>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301</a:t>
            </a:r>
            <a:endParaRPr lang="en-US" sz="860" dirty="0"/>
          </a:p>
        </p:txBody>
      </p:sp>
      <p:sp>
        <p:nvSpPr>
          <p:cNvPr id="83" name="Shape 78"/>
          <p:cNvSpPr/>
          <p:nvPr/>
        </p:nvSpPr>
        <p:spPr>
          <a:xfrm>
            <a:off x="7358829" y="3056845"/>
            <a:ext cx="560223" cy="289832"/>
          </a:xfrm>
          <a:prstGeom prst="roundRect">
            <a:avLst>
              <a:gd name="adj" fmla="val 9859"/>
            </a:avLst>
          </a:prstGeom>
          <a:solidFill>
            <a:srgbClr val="365A23"/>
          </a:solidFill>
          <a:ln w="12700">
            <a:solidFill>
              <a:srgbClr val="365A23"/>
            </a:solidFill>
            <a:prstDash val="solid"/>
          </a:ln>
        </p:spPr>
      </p:sp>
      <p:sp>
        <p:nvSpPr>
          <p:cNvPr id="84" name="Text 79"/>
          <p:cNvSpPr txBox="1"/>
          <p:nvPr/>
        </p:nvSpPr>
        <p:spPr>
          <a:xfrm>
            <a:off x="7344541" y="3042557"/>
            <a:ext cx="5887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1003</a:t>
            </a:r>
            <a:endParaRPr lang="en-US" sz="860" dirty="0"/>
          </a:p>
        </p:txBody>
      </p:sp>
      <p:sp>
        <p:nvSpPr>
          <p:cNvPr id="85" name="Text 80"/>
          <p:cNvSpPr txBox="1"/>
          <p:nvPr/>
        </p:nvSpPr>
        <p:spPr>
          <a:xfrm>
            <a:off x="4738195" y="3360964"/>
            <a:ext cx="13525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Toling</a:t>
            </a:r>
            <a:endParaRPr lang="en-US" sz="900" dirty="0"/>
          </a:p>
        </p:txBody>
      </p:sp>
      <p:sp>
        <p:nvSpPr>
          <p:cNvPr id="86" name="Shape 81"/>
          <p:cNvSpPr/>
          <p:nvPr/>
        </p:nvSpPr>
        <p:spPr>
          <a:xfrm>
            <a:off x="6181232" y="3375252"/>
            <a:ext cx="560223" cy="289832"/>
          </a:xfrm>
          <a:prstGeom prst="roundRect">
            <a:avLst>
              <a:gd name="adj" fmla="val 9859"/>
            </a:avLst>
          </a:prstGeom>
          <a:solidFill>
            <a:srgbClr val="8A9F7F"/>
          </a:solidFill>
          <a:ln w="12700">
            <a:solidFill>
              <a:srgbClr val="8A9F7F"/>
            </a:solidFill>
            <a:prstDash val="solid"/>
          </a:ln>
        </p:spPr>
      </p:sp>
      <p:sp>
        <p:nvSpPr>
          <p:cNvPr id="87" name="Text 82"/>
          <p:cNvSpPr txBox="1"/>
          <p:nvPr/>
        </p:nvSpPr>
        <p:spPr>
          <a:xfrm>
            <a:off x="6166945" y="3360964"/>
            <a:ext cx="5887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509</a:t>
            </a:r>
            <a:endParaRPr lang="en-US" sz="860" dirty="0"/>
          </a:p>
        </p:txBody>
      </p:sp>
      <p:sp>
        <p:nvSpPr>
          <p:cNvPr id="88" name="Shape 83"/>
          <p:cNvSpPr/>
          <p:nvPr/>
        </p:nvSpPr>
        <p:spPr>
          <a:xfrm>
            <a:off x="6770031" y="3375252"/>
            <a:ext cx="560223" cy="289832"/>
          </a:xfrm>
          <a:prstGeom prst="roundRect">
            <a:avLst>
              <a:gd name="adj" fmla="val 9859"/>
            </a:avLst>
          </a:prstGeom>
          <a:solidFill>
            <a:srgbClr val="8CA182"/>
          </a:solidFill>
          <a:ln w="12700">
            <a:solidFill>
              <a:srgbClr val="8CA182"/>
            </a:solidFill>
            <a:prstDash val="solid"/>
          </a:ln>
        </p:spPr>
      </p:sp>
      <p:sp>
        <p:nvSpPr>
          <p:cNvPr id="89" name="Text 84"/>
          <p:cNvSpPr txBox="1"/>
          <p:nvPr/>
        </p:nvSpPr>
        <p:spPr>
          <a:xfrm>
            <a:off x="6755743" y="3360964"/>
            <a:ext cx="5887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497</a:t>
            </a:r>
            <a:endParaRPr lang="en-US" sz="860" dirty="0"/>
          </a:p>
        </p:txBody>
      </p:sp>
      <p:sp>
        <p:nvSpPr>
          <p:cNvPr id="90" name="Shape 85"/>
          <p:cNvSpPr/>
          <p:nvPr/>
        </p:nvSpPr>
        <p:spPr>
          <a:xfrm>
            <a:off x="7358829" y="3375252"/>
            <a:ext cx="560223" cy="289832"/>
          </a:xfrm>
          <a:prstGeom prst="roundRect">
            <a:avLst>
              <a:gd name="adj" fmla="val 9859"/>
            </a:avLst>
          </a:prstGeom>
          <a:solidFill>
            <a:srgbClr val="7E9672"/>
          </a:solidFill>
          <a:ln w="12700">
            <a:solidFill>
              <a:srgbClr val="7E9672"/>
            </a:solidFill>
            <a:prstDash val="solid"/>
          </a:ln>
        </p:spPr>
      </p:sp>
      <p:sp>
        <p:nvSpPr>
          <p:cNvPr id="91" name="Text 86"/>
          <p:cNvSpPr txBox="1"/>
          <p:nvPr/>
        </p:nvSpPr>
        <p:spPr>
          <a:xfrm>
            <a:off x="7344541" y="3360964"/>
            <a:ext cx="5887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578</a:t>
            </a:r>
            <a:endParaRPr lang="en-US" sz="860" dirty="0"/>
          </a:p>
        </p:txBody>
      </p:sp>
      <p:sp>
        <p:nvSpPr>
          <p:cNvPr id="92" name="Text 87"/>
          <p:cNvSpPr txBox="1"/>
          <p:nvPr/>
        </p:nvSpPr>
        <p:spPr>
          <a:xfrm>
            <a:off x="4738195" y="3679371"/>
            <a:ext cx="13525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Pupuk</a:t>
            </a:r>
            <a:endParaRPr lang="en-US" sz="900" dirty="0"/>
          </a:p>
        </p:txBody>
      </p:sp>
      <p:sp>
        <p:nvSpPr>
          <p:cNvPr id="93" name="Shape 88"/>
          <p:cNvSpPr/>
          <p:nvPr/>
        </p:nvSpPr>
        <p:spPr>
          <a:xfrm>
            <a:off x="6181232" y="3693659"/>
            <a:ext cx="560223" cy="289832"/>
          </a:xfrm>
          <a:prstGeom prst="roundRect">
            <a:avLst>
              <a:gd name="adj" fmla="val 9859"/>
            </a:avLst>
          </a:prstGeom>
          <a:solidFill>
            <a:srgbClr val="879D7C"/>
          </a:solidFill>
          <a:ln w="12700">
            <a:solidFill>
              <a:srgbClr val="879D7C"/>
            </a:solidFill>
            <a:prstDash val="solid"/>
          </a:ln>
        </p:spPr>
      </p:sp>
      <p:sp>
        <p:nvSpPr>
          <p:cNvPr id="94" name="Text 89"/>
          <p:cNvSpPr txBox="1"/>
          <p:nvPr/>
        </p:nvSpPr>
        <p:spPr>
          <a:xfrm>
            <a:off x="6166945" y="3679371"/>
            <a:ext cx="588798" cy="318407"/>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525</a:t>
            </a:r>
            <a:endParaRPr lang="en-US" sz="860" dirty="0"/>
          </a:p>
        </p:txBody>
      </p:sp>
      <p:sp>
        <p:nvSpPr>
          <p:cNvPr id="95" name="Shape 90"/>
          <p:cNvSpPr/>
          <p:nvPr/>
        </p:nvSpPr>
        <p:spPr>
          <a:xfrm>
            <a:off x="6770031" y="3693659"/>
            <a:ext cx="560223" cy="289832"/>
          </a:xfrm>
          <a:prstGeom prst="roundRect">
            <a:avLst>
              <a:gd name="adj" fmla="val 9859"/>
            </a:avLst>
          </a:prstGeom>
          <a:solidFill>
            <a:srgbClr val="DCE2D8"/>
          </a:solidFill>
          <a:ln w="12700">
            <a:solidFill>
              <a:srgbClr val="DCE2D8"/>
            </a:solidFill>
            <a:prstDash val="solid"/>
          </a:ln>
        </p:spPr>
      </p:sp>
      <p:sp>
        <p:nvSpPr>
          <p:cNvPr id="96" name="Text 91"/>
          <p:cNvSpPr txBox="1"/>
          <p:nvPr/>
        </p:nvSpPr>
        <p:spPr>
          <a:xfrm>
            <a:off x="6755743" y="3679371"/>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30</a:t>
            </a:r>
            <a:endParaRPr lang="en-US" sz="860" dirty="0"/>
          </a:p>
        </p:txBody>
      </p:sp>
      <p:sp>
        <p:nvSpPr>
          <p:cNvPr id="97" name="Shape 92"/>
          <p:cNvSpPr/>
          <p:nvPr/>
        </p:nvSpPr>
        <p:spPr>
          <a:xfrm>
            <a:off x="7358829" y="3693659"/>
            <a:ext cx="560223" cy="289832"/>
          </a:xfrm>
          <a:prstGeom prst="roundRect">
            <a:avLst>
              <a:gd name="adj" fmla="val 9859"/>
            </a:avLst>
          </a:prstGeom>
          <a:solidFill>
            <a:srgbClr val="ACBBA4"/>
          </a:solidFill>
          <a:ln w="12700">
            <a:solidFill>
              <a:srgbClr val="ACBBA4"/>
            </a:solidFill>
            <a:prstDash val="solid"/>
          </a:ln>
        </p:spPr>
      </p:sp>
      <p:sp>
        <p:nvSpPr>
          <p:cNvPr id="98" name="Text 93"/>
          <p:cNvSpPr txBox="1"/>
          <p:nvPr/>
        </p:nvSpPr>
        <p:spPr>
          <a:xfrm>
            <a:off x="7344541" y="3679371"/>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313</a:t>
            </a:r>
            <a:endParaRPr lang="en-US" sz="860" dirty="0"/>
          </a:p>
        </p:txBody>
      </p:sp>
      <p:sp>
        <p:nvSpPr>
          <p:cNvPr id="99" name="Text 94"/>
          <p:cNvSpPr txBox="1"/>
          <p:nvPr/>
        </p:nvSpPr>
        <p:spPr>
          <a:xfrm>
            <a:off x="4738195" y="3997779"/>
            <a:ext cx="13525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Racun</a:t>
            </a:r>
            <a:endParaRPr lang="en-US" sz="900" dirty="0"/>
          </a:p>
        </p:txBody>
      </p:sp>
      <p:sp>
        <p:nvSpPr>
          <p:cNvPr id="100" name="Shape 95"/>
          <p:cNvSpPr/>
          <p:nvPr/>
        </p:nvSpPr>
        <p:spPr>
          <a:xfrm>
            <a:off x="6181232" y="4012066"/>
            <a:ext cx="560223" cy="289832"/>
          </a:xfrm>
          <a:prstGeom prst="roundRect">
            <a:avLst>
              <a:gd name="adj" fmla="val 9859"/>
            </a:avLst>
          </a:prstGeom>
          <a:solidFill>
            <a:srgbClr val="E0E6DE"/>
          </a:solidFill>
          <a:ln w="12700">
            <a:solidFill>
              <a:srgbClr val="E0E6DE"/>
            </a:solidFill>
            <a:prstDash val="solid"/>
          </a:ln>
        </p:spPr>
      </p:sp>
      <p:sp>
        <p:nvSpPr>
          <p:cNvPr id="101" name="Text 96"/>
          <p:cNvSpPr txBox="1"/>
          <p:nvPr/>
        </p:nvSpPr>
        <p:spPr>
          <a:xfrm>
            <a:off x="6166945" y="3997779"/>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2.3</a:t>
            </a:r>
            <a:endParaRPr lang="en-US" sz="860" dirty="0"/>
          </a:p>
        </p:txBody>
      </p:sp>
      <p:sp>
        <p:nvSpPr>
          <p:cNvPr id="102" name="Shape 97"/>
          <p:cNvSpPr/>
          <p:nvPr/>
        </p:nvSpPr>
        <p:spPr>
          <a:xfrm>
            <a:off x="6770031" y="4012066"/>
            <a:ext cx="560223" cy="289832"/>
          </a:xfrm>
          <a:prstGeom prst="roundRect">
            <a:avLst>
              <a:gd name="adj" fmla="val 9859"/>
            </a:avLst>
          </a:prstGeom>
          <a:solidFill>
            <a:srgbClr val="DBE1D7"/>
          </a:solidFill>
          <a:ln w="12700">
            <a:solidFill>
              <a:srgbClr val="DBE1D7"/>
            </a:solidFill>
            <a:prstDash val="solid"/>
          </a:ln>
        </p:spPr>
      </p:sp>
      <p:sp>
        <p:nvSpPr>
          <p:cNvPr id="103" name="Text 98"/>
          <p:cNvSpPr txBox="1"/>
          <p:nvPr/>
        </p:nvSpPr>
        <p:spPr>
          <a:xfrm>
            <a:off x="6755743" y="3997779"/>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35</a:t>
            </a:r>
            <a:endParaRPr lang="en-US" sz="860" dirty="0"/>
          </a:p>
        </p:txBody>
      </p:sp>
      <p:sp>
        <p:nvSpPr>
          <p:cNvPr id="104" name="Shape 99"/>
          <p:cNvSpPr/>
          <p:nvPr/>
        </p:nvSpPr>
        <p:spPr>
          <a:xfrm>
            <a:off x="7358829" y="4012066"/>
            <a:ext cx="560223" cy="289832"/>
          </a:xfrm>
          <a:prstGeom prst="roundRect">
            <a:avLst>
              <a:gd name="adj" fmla="val 9859"/>
            </a:avLst>
          </a:prstGeom>
          <a:solidFill>
            <a:srgbClr val="D9E0D5"/>
          </a:solidFill>
          <a:ln w="12700">
            <a:solidFill>
              <a:srgbClr val="D9E0D5"/>
            </a:solidFill>
            <a:prstDash val="solid"/>
          </a:ln>
        </p:spPr>
      </p:sp>
      <p:sp>
        <p:nvSpPr>
          <p:cNvPr id="105" name="Text 100"/>
          <p:cNvSpPr txBox="1"/>
          <p:nvPr/>
        </p:nvSpPr>
        <p:spPr>
          <a:xfrm>
            <a:off x="7344541" y="3997779"/>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46</a:t>
            </a:r>
            <a:endParaRPr lang="en-US" sz="860" dirty="0"/>
          </a:p>
        </p:txBody>
      </p:sp>
      <p:sp>
        <p:nvSpPr>
          <p:cNvPr id="106" name="Text 101"/>
          <p:cNvSpPr txBox="1"/>
          <p:nvPr/>
        </p:nvSpPr>
        <p:spPr>
          <a:xfrm>
            <a:off x="4738195" y="4316186"/>
            <a:ext cx="13525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Benih</a:t>
            </a:r>
            <a:endParaRPr lang="en-US" sz="900" dirty="0"/>
          </a:p>
        </p:txBody>
      </p:sp>
      <p:sp>
        <p:nvSpPr>
          <p:cNvPr id="107" name="Shape 102"/>
          <p:cNvSpPr/>
          <p:nvPr/>
        </p:nvSpPr>
        <p:spPr>
          <a:xfrm>
            <a:off x="6181232" y="4330473"/>
            <a:ext cx="560223" cy="289832"/>
          </a:xfrm>
          <a:prstGeom prst="roundRect">
            <a:avLst>
              <a:gd name="adj" fmla="val 9859"/>
            </a:avLst>
          </a:prstGeom>
          <a:solidFill>
            <a:srgbClr val="DEE4DB"/>
          </a:solidFill>
          <a:ln w="12700">
            <a:solidFill>
              <a:srgbClr val="DEE4DB"/>
            </a:solidFill>
            <a:prstDash val="solid"/>
          </a:ln>
        </p:spPr>
      </p:sp>
      <p:sp>
        <p:nvSpPr>
          <p:cNvPr id="108" name="Text 103"/>
          <p:cNvSpPr txBox="1"/>
          <p:nvPr/>
        </p:nvSpPr>
        <p:spPr>
          <a:xfrm>
            <a:off x="6166945" y="4316186"/>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14</a:t>
            </a:r>
            <a:endParaRPr lang="en-US" sz="860" dirty="0"/>
          </a:p>
        </p:txBody>
      </p:sp>
      <p:sp>
        <p:nvSpPr>
          <p:cNvPr id="109" name="Shape 104"/>
          <p:cNvSpPr/>
          <p:nvPr/>
        </p:nvSpPr>
        <p:spPr>
          <a:xfrm>
            <a:off x="6770031" y="4330473"/>
            <a:ext cx="560223" cy="289832"/>
          </a:xfrm>
          <a:prstGeom prst="roundRect">
            <a:avLst>
              <a:gd name="adj" fmla="val 9859"/>
            </a:avLst>
          </a:prstGeom>
          <a:solidFill>
            <a:srgbClr val="F4F6F1"/>
          </a:solidFill>
          <a:ln w="12700">
            <a:solidFill>
              <a:srgbClr val="F4F6F1"/>
            </a:solidFill>
            <a:prstDash val="solid"/>
          </a:ln>
        </p:spPr>
      </p:sp>
      <p:sp>
        <p:nvSpPr>
          <p:cNvPr id="110" name="Shape 105"/>
          <p:cNvSpPr/>
          <p:nvPr/>
        </p:nvSpPr>
        <p:spPr>
          <a:xfrm>
            <a:off x="7358829" y="4330473"/>
            <a:ext cx="560223" cy="289832"/>
          </a:xfrm>
          <a:prstGeom prst="roundRect">
            <a:avLst>
              <a:gd name="adj" fmla="val 9859"/>
            </a:avLst>
          </a:prstGeom>
          <a:solidFill>
            <a:srgbClr val="DCE3D9"/>
          </a:solidFill>
          <a:ln w="12700">
            <a:solidFill>
              <a:srgbClr val="DCE3D9"/>
            </a:solidFill>
            <a:prstDash val="solid"/>
          </a:ln>
        </p:spPr>
      </p:sp>
      <p:sp>
        <p:nvSpPr>
          <p:cNvPr id="111" name="Text 106"/>
          <p:cNvSpPr txBox="1"/>
          <p:nvPr/>
        </p:nvSpPr>
        <p:spPr>
          <a:xfrm>
            <a:off x="7344541" y="4316186"/>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26</a:t>
            </a:r>
            <a:endParaRPr lang="en-US" sz="860" dirty="0"/>
          </a:p>
        </p:txBody>
      </p:sp>
      <p:sp>
        <p:nvSpPr>
          <p:cNvPr id="112" name="Text 107"/>
          <p:cNvSpPr txBox="1"/>
          <p:nvPr/>
        </p:nvSpPr>
        <p:spPr>
          <a:xfrm>
            <a:off x="4738195" y="4634593"/>
            <a:ext cx="1352550" cy="318407"/>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Toko Keliling</a:t>
            </a:r>
            <a:endParaRPr lang="en-US" sz="900" dirty="0"/>
          </a:p>
        </p:txBody>
      </p:sp>
      <p:sp>
        <p:nvSpPr>
          <p:cNvPr id="113" name="Shape 108"/>
          <p:cNvSpPr/>
          <p:nvPr/>
        </p:nvSpPr>
        <p:spPr>
          <a:xfrm>
            <a:off x="6181232" y="4648880"/>
            <a:ext cx="560223" cy="289832"/>
          </a:xfrm>
          <a:prstGeom prst="roundRect">
            <a:avLst>
              <a:gd name="adj" fmla="val 9859"/>
            </a:avLst>
          </a:prstGeom>
          <a:solidFill>
            <a:srgbClr val="F4F6F1"/>
          </a:solidFill>
          <a:ln w="12700">
            <a:solidFill>
              <a:srgbClr val="F4F6F1"/>
            </a:solidFill>
            <a:prstDash val="solid"/>
          </a:ln>
        </p:spPr>
      </p:sp>
      <p:sp>
        <p:nvSpPr>
          <p:cNvPr id="114" name="Shape 109"/>
          <p:cNvSpPr/>
          <p:nvPr/>
        </p:nvSpPr>
        <p:spPr>
          <a:xfrm>
            <a:off x="6770031" y="4648880"/>
            <a:ext cx="560223" cy="289832"/>
          </a:xfrm>
          <a:prstGeom prst="roundRect">
            <a:avLst>
              <a:gd name="adj" fmla="val 9859"/>
            </a:avLst>
          </a:prstGeom>
          <a:solidFill>
            <a:srgbClr val="F4F6F1"/>
          </a:solidFill>
          <a:ln w="12700">
            <a:solidFill>
              <a:srgbClr val="F4F6F1"/>
            </a:solidFill>
            <a:prstDash val="solid"/>
          </a:ln>
        </p:spPr>
      </p:sp>
      <p:sp>
        <p:nvSpPr>
          <p:cNvPr id="115" name="Shape 110"/>
          <p:cNvSpPr/>
          <p:nvPr/>
        </p:nvSpPr>
        <p:spPr>
          <a:xfrm>
            <a:off x="7358829" y="4648880"/>
            <a:ext cx="560223" cy="289832"/>
          </a:xfrm>
          <a:prstGeom prst="roundRect">
            <a:avLst>
              <a:gd name="adj" fmla="val 9859"/>
            </a:avLst>
          </a:prstGeom>
          <a:solidFill>
            <a:srgbClr val="DDE3DA"/>
          </a:solidFill>
          <a:ln w="12700">
            <a:solidFill>
              <a:srgbClr val="DDE3DA"/>
            </a:solidFill>
            <a:prstDash val="solid"/>
          </a:ln>
        </p:spPr>
      </p:sp>
      <p:sp>
        <p:nvSpPr>
          <p:cNvPr id="116" name="Text 111"/>
          <p:cNvSpPr txBox="1"/>
          <p:nvPr/>
        </p:nvSpPr>
        <p:spPr>
          <a:xfrm>
            <a:off x="7344541" y="4634593"/>
            <a:ext cx="588798" cy="318407"/>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24</a:t>
            </a:r>
            <a:endParaRPr lang="en-US" sz="860" dirty="0"/>
          </a:p>
        </p:txBody>
      </p:sp>
      <p:sp>
        <p:nvSpPr>
          <p:cNvPr id="117" name="Shape 112"/>
          <p:cNvSpPr/>
          <p:nvPr/>
        </p:nvSpPr>
        <p:spPr>
          <a:xfrm>
            <a:off x="8295290" y="1714500"/>
            <a:ext cx="2753710" cy="3371850"/>
          </a:xfrm>
          <a:prstGeom prst="roundRect">
            <a:avLst>
              <a:gd name="adj" fmla="val 3985"/>
            </a:avLst>
          </a:prstGeom>
          <a:solidFill>
            <a:srgbClr val="FFFFFF"/>
          </a:solidFill>
          <a:ln w="12700">
            <a:solidFill>
              <a:srgbClr val="FFFFFF"/>
            </a:solidFill>
            <a:prstDash val="solid"/>
          </a:ln>
        </p:spPr>
      </p:sp>
      <p:sp>
        <p:nvSpPr>
          <p:cNvPr id="118" name="Text 113"/>
          <p:cNvSpPr txBox="1"/>
          <p:nvPr/>
        </p:nvSpPr>
        <p:spPr>
          <a:xfrm>
            <a:off x="8485790" y="1866900"/>
            <a:ext cx="237271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New vs repeat customers</a:t>
            </a:r>
            <a:endParaRPr lang="en-US" sz="1300" dirty="0"/>
          </a:p>
        </p:txBody>
      </p:sp>
      <p:sp>
        <p:nvSpPr>
          <p:cNvPr id="119" name="Text 114"/>
          <p:cNvSpPr txBox="1"/>
          <p:nvPr/>
        </p:nvSpPr>
        <p:spPr>
          <a:xfrm>
            <a:off x="8485790" y="2095500"/>
            <a:ext cx="237271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GMV per month by customer status</a:t>
            </a:r>
            <a:endParaRPr lang="en-US" sz="950" dirty="0"/>
          </a:p>
        </p:txBody>
      </p:sp>
      <p:sp>
        <p:nvSpPr>
          <p:cNvPr id="120" name="Shape 115"/>
          <p:cNvSpPr/>
          <p:nvPr/>
        </p:nvSpPr>
        <p:spPr>
          <a:xfrm>
            <a:off x="8504840" y="2409825"/>
            <a:ext cx="104775" cy="104775"/>
          </a:xfrm>
          <a:prstGeom prst="roundRect">
            <a:avLst>
              <a:gd name="adj" fmla="val 18182"/>
            </a:avLst>
          </a:prstGeom>
          <a:solidFill>
            <a:srgbClr val="3E7B27"/>
          </a:solidFill>
          <a:ln w="12700">
            <a:solidFill>
              <a:srgbClr val="3E7B27"/>
            </a:solidFill>
            <a:prstDash val="solid"/>
          </a:ln>
        </p:spPr>
      </p:sp>
      <p:sp>
        <p:nvSpPr>
          <p:cNvPr id="121" name="Text 116"/>
          <p:cNvSpPr txBox="1"/>
          <p:nvPr/>
        </p:nvSpPr>
        <p:spPr>
          <a:xfrm>
            <a:off x="8657240" y="2381250"/>
            <a:ext cx="501396"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Repeat</a:t>
            </a:r>
            <a:endParaRPr lang="en-US" sz="860" dirty="0"/>
          </a:p>
        </p:txBody>
      </p:sp>
      <p:sp>
        <p:nvSpPr>
          <p:cNvPr id="122" name="Shape 117"/>
          <p:cNvSpPr/>
          <p:nvPr/>
        </p:nvSpPr>
        <p:spPr>
          <a:xfrm>
            <a:off x="9158636" y="2409825"/>
            <a:ext cx="104775" cy="104775"/>
          </a:xfrm>
          <a:prstGeom prst="roundRect">
            <a:avLst>
              <a:gd name="adj" fmla="val 18182"/>
            </a:avLst>
          </a:prstGeom>
          <a:solidFill>
            <a:srgbClr val="D9A21B"/>
          </a:solidFill>
          <a:ln w="12700">
            <a:solidFill>
              <a:srgbClr val="D9A21B"/>
            </a:solidFill>
            <a:prstDash val="solid"/>
          </a:ln>
        </p:spPr>
      </p:sp>
      <p:sp>
        <p:nvSpPr>
          <p:cNvPr id="123" name="Text 118"/>
          <p:cNvSpPr txBox="1"/>
          <p:nvPr/>
        </p:nvSpPr>
        <p:spPr>
          <a:xfrm>
            <a:off x="9311036" y="2381250"/>
            <a:ext cx="317373"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New</a:t>
            </a:r>
            <a:endParaRPr lang="en-US" sz="860" dirty="0"/>
          </a:p>
        </p:txBody>
      </p:sp>
      <p:sp>
        <p:nvSpPr>
          <p:cNvPr id="124" name="Shape 119"/>
          <p:cNvSpPr/>
          <p:nvPr/>
        </p:nvSpPr>
        <p:spPr>
          <a:xfrm>
            <a:off x="8652698" y="3131424"/>
            <a:ext cx="482486" cy="1592976"/>
          </a:xfrm>
          <a:prstGeom prst="roundRect">
            <a:avLst>
              <a:gd name="adj" fmla="val 5922"/>
            </a:avLst>
          </a:prstGeom>
          <a:solidFill>
            <a:srgbClr val="3E7B27"/>
          </a:solidFill>
          <a:ln w="12700">
            <a:solidFill>
              <a:srgbClr val="3E7B27"/>
            </a:solidFill>
            <a:prstDash val="solid"/>
          </a:ln>
        </p:spPr>
      </p:sp>
      <p:sp>
        <p:nvSpPr>
          <p:cNvPr id="125" name="Text 120"/>
          <p:cNvSpPr txBox="1"/>
          <p:nvPr/>
        </p:nvSpPr>
        <p:spPr>
          <a:xfrm>
            <a:off x="8652698" y="3131424"/>
            <a:ext cx="482486" cy="1592976"/>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Rp2.02B</a:t>
            </a:r>
            <a:endParaRPr lang="en-US" sz="800" dirty="0"/>
          </a:p>
        </p:txBody>
      </p:sp>
      <p:sp>
        <p:nvSpPr>
          <p:cNvPr id="126" name="Shape 121"/>
          <p:cNvSpPr/>
          <p:nvPr/>
        </p:nvSpPr>
        <p:spPr>
          <a:xfrm>
            <a:off x="8652698" y="2819400"/>
            <a:ext cx="482486" cy="292974"/>
          </a:xfrm>
          <a:prstGeom prst="roundRect">
            <a:avLst>
              <a:gd name="adj" fmla="val 9753"/>
            </a:avLst>
          </a:prstGeom>
          <a:solidFill>
            <a:srgbClr val="D9A21B"/>
          </a:solidFill>
          <a:ln w="12700">
            <a:solidFill>
              <a:srgbClr val="D9A21B"/>
            </a:solidFill>
            <a:prstDash val="solid"/>
          </a:ln>
        </p:spPr>
      </p:sp>
      <p:sp>
        <p:nvSpPr>
          <p:cNvPr id="127" name="Text 122"/>
          <p:cNvSpPr txBox="1"/>
          <p:nvPr/>
        </p:nvSpPr>
        <p:spPr>
          <a:xfrm>
            <a:off x="8652698" y="2819400"/>
            <a:ext cx="482486" cy="312024"/>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Rp395M</a:t>
            </a:r>
            <a:endParaRPr lang="en-US" sz="800" dirty="0"/>
          </a:p>
        </p:txBody>
      </p:sp>
      <p:sp>
        <p:nvSpPr>
          <p:cNvPr id="128" name="Text 123"/>
          <p:cNvSpPr txBox="1"/>
          <p:nvPr/>
        </p:nvSpPr>
        <p:spPr>
          <a:xfrm>
            <a:off x="8512941" y="264795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Rp2.41B</a:t>
            </a:r>
            <a:endParaRPr lang="en-US" sz="860" dirty="0"/>
          </a:p>
        </p:txBody>
      </p:sp>
      <p:sp>
        <p:nvSpPr>
          <p:cNvPr id="129" name="Text 124"/>
          <p:cNvSpPr txBox="1"/>
          <p:nvPr/>
        </p:nvSpPr>
        <p:spPr>
          <a:xfrm>
            <a:off x="8514365" y="4772025"/>
            <a:ext cx="759153"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Jul</a:t>
            </a:r>
            <a:endParaRPr lang="en-US" sz="830" dirty="0"/>
          </a:p>
        </p:txBody>
      </p:sp>
      <p:sp>
        <p:nvSpPr>
          <p:cNvPr id="130" name="Shape 125"/>
          <p:cNvSpPr/>
          <p:nvPr/>
        </p:nvSpPr>
        <p:spPr>
          <a:xfrm>
            <a:off x="9430902" y="3633672"/>
            <a:ext cx="482486" cy="1090728"/>
          </a:xfrm>
          <a:prstGeom prst="roundRect">
            <a:avLst>
              <a:gd name="adj" fmla="val 5922"/>
            </a:avLst>
          </a:prstGeom>
          <a:solidFill>
            <a:srgbClr val="3E7B27"/>
          </a:solidFill>
          <a:ln w="12700">
            <a:solidFill>
              <a:srgbClr val="3E7B27"/>
            </a:solidFill>
            <a:prstDash val="solid"/>
          </a:ln>
        </p:spPr>
      </p:sp>
      <p:sp>
        <p:nvSpPr>
          <p:cNvPr id="131" name="Text 126"/>
          <p:cNvSpPr txBox="1"/>
          <p:nvPr/>
        </p:nvSpPr>
        <p:spPr>
          <a:xfrm>
            <a:off x="9430902" y="3633672"/>
            <a:ext cx="482486" cy="1090728"/>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Rp1.38B</a:t>
            </a:r>
            <a:endParaRPr lang="en-US" sz="800" dirty="0"/>
          </a:p>
        </p:txBody>
      </p:sp>
      <p:sp>
        <p:nvSpPr>
          <p:cNvPr id="132" name="Shape 127"/>
          <p:cNvSpPr/>
          <p:nvPr/>
        </p:nvSpPr>
        <p:spPr>
          <a:xfrm>
            <a:off x="9430902" y="3429802"/>
            <a:ext cx="482486" cy="184820"/>
          </a:xfrm>
          <a:prstGeom prst="roundRect">
            <a:avLst>
              <a:gd name="adj" fmla="val 15461"/>
            </a:avLst>
          </a:prstGeom>
          <a:solidFill>
            <a:srgbClr val="D9A21B"/>
          </a:solidFill>
          <a:ln w="12700">
            <a:solidFill>
              <a:srgbClr val="D9A21B"/>
            </a:solidFill>
            <a:prstDash val="solid"/>
          </a:ln>
        </p:spPr>
      </p:sp>
      <p:sp>
        <p:nvSpPr>
          <p:cNvPr id="133" name="Text 128"/>
          <p:cNvSpPr txBox="1"/>
          <p:nvPr/>
        </p:nvSpPr>
        <p:spPr>
          <a:xfrm>
            <a:off x="9430902" y="3429802"/>
            <a:ext cx="482486" cy="20387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Rp258M</a:t>
            </a:r>
            <a:endParaRPr lang="en-US" sz="800" dirty="0"/>
          </a:p>
        </p:txBody>
      </p:sp>
      <p:sp>
        <p:nvSpPr>
          <p:cNvPr id="134" name="Text 129"/>
          <p:cNvSpPr txBox="1"/>
          <p:nvPr/>
        </p:nvSpPr>
        <p:spPr>
          <a:xfrm>
            <a:off x="9291145" y="3258352"/>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Rp1.64B</a:t>
            </a:r>
            <a:endParaRPr lang="en-US" sz="860" dirty="0"/>
          </a:p>
        </p:txBody>
      </p:sp>
      <p:sp>
        <p:nvSpPr>
          <p:cNvPr id="135" name="Text 130"/>
          <p:cNvSpPr txBox="1"/>
          <p:nvPr/>
        </p:nvSpPr>
        <p:spPr>
          <a:xfrm>
            <a:off x="9292568" y="4772025"/>
            <a:ext cx="759153"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Aug</a:t>
            </a:r>
            <a:endParaRPr lang="en-US" sz="830" dirty="0"/>
          </a:p>
        </p:txBody>
      </p:sp>
      <p:sp>
        <p:nvSpPr>
          <p:cNvPr id="136" name="Shape 131"/>
          <p:cNvSpPr/>
          <p:nvPr/>
        </p:nvSpPr>
        <p:spPr>
          <a:xfrm>
            <a:off x="10209105" y="3401172"/>
            <a:ext cx="482486" cy="1323228"/>
          </a:xfrm>
          <a:prstGeom prst="roundRect">
            <a:avLst>
              <a:gd name="adj" fmla="val 5922"/>
            </a:avLst>
          </a:prstGeom>
          <a:solidFill>
            <a:srgbClr val="3E7B27"/>
          </a:solidFill>
          <a:ln w="12700">
            <a:solidFill>
              <a:srgbClr val="3E7B27"/>
            </a:solidFill>
            <a:prstDash val="solid"/>
          </a:ln>
        </p:spPr>
      </p:sp>
      <p:sp>
        <p:nvSpPr>
          <p:cNvPr id="137" name="Text 132"/>
          <p:cNvSpPr txBox="1"/>
          <p:nvPr/>
        </p:nvSpPr>
        <p:spPr>
          <a:xfrm>
            <a:off x="10209105" y="3401172"/>
            <a:ext cx="482486" cy="1323228"/>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Rp1.68B</a:t>
            </a:r>
            <a:endParaRPr lang="en-US" sz="800" dirty="0"/>
          </a:p>
        </p:txBody>
      </p:sp>
      <p:sp>
        <p:nvSpPr>
          <p:cNvPr id="138" name="Shape 133"/>
          <p:cNvSpPr/>
          <p:nvPr/>
        </p:nvSpPr>
        <p:spPr>
          <a:xfrm>
            <a:off x="10209105" y="2944940"/>
            <a:ext cx="482486" cy="437182"/>
          </a:xfrm>
          <a:prstGeom prst="roundRect">
            <a:avLst>
              <a:gd name="adj" fmla="val 6536"/>
            </a:avLst>
          </a:prstGeom>
          <a:solidFill>
            <a:srgbClr val="D9A21B"/>
          </a:solidFill>
          <a:ln w="12700">
            <a:solidFill>
              <a:srgbClr val="D9A21B"/>
            </a:solidFill>
            <a:prstDash val="solid"/>
          </a:ln>
        </p:spPr>
      </p:sp>
      <p:sp>
        <p:nvSpPr>
          <p:cNvPr id="139" name="Text 134"/>
          <p:cNvSpPr txBox="1"/>
          <p:nvPr/>
        </p:nvSpPr>
        <p:spPr>
          <a:xfrm>
            <a:off x="10209105" y="2944940"/>
            <a:ext cx="482486" cy="456232"/>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Rp578M</a:t>
            </a:r>
            <a:endParaRPr lang="en-US" sz="800" dirty="0"/>
          </a:p>
        </p:txBody>
      </p:sp>
      <p:sp>
        <p:nvSpPr>
          <p:cNvPr id="140" name="Text 135"/>
          <p:cNvSpPr txBox="1"/>
          <p:nvPr/>
        </p:nvSpPr>
        <p:spPr>
          <a:xfrm>
            <a:off x="10069348" y="277349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Rp2.25B</a:t>
            </a:r>
            <a:endParaRPr lang="en-US" sz="860" dirty="0"/>
          </a:p>
        </p:txBody>
      </p:sp>
      <p:sp>
        <p:nvSpPr>
          <p:cNvPr id="141" name="Text 136"/>
          <p:cNvSpPr txBox="1"/>
          <p:nvPr/>
        </p:nvSpPr>
        <p:spPr>
          <a:xfrm>
            <a:off x="10070772" y="4772025"/>
            <a:ext cx="759153"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Sep</a:t>
            </a:r>
            <a:endParaRPr lang="en-US" sz="830" dirty="0"/>
          </a:p>
        </p:txBody>
      </p:sp>
      <p:sp>
        <p:nvSpPr>
          <p:cNvPr id="142" name="Shape 137"/>
          <p:cNvSpPr/>
          <p:nvPr/>
        </p:nvSpPr>
        <p:spPr>
          <a:xfrm>
            <a:off x="8504840" y="4724400"/>
            <a:ext cx="2334610" cy="0"/>
          </a:xfrm>
          <a:prstGeom prst="line">
            <a:avLst/>
          </a:prstGeom>
          <a:noFill/>
          <a:ln w="9525">
            <a:solidFill>
              <a:srgbClr val="B9C2B0"/>
            </a:solidFill>
            <a:prstDash val="solid"/>
          </a:ln>
        </p:spPr>
      </p:sp>
      <p:sp>
        <p:nvSpPr>
          <p:cNvPr id="143" name="Shape 138"/>
          <p:cNvSpPr/>
          <p:nvPr/>
        </p:nvSpPr>
        <p:spPr>
          <a:xfrm>
            <a:off x="762000" y="5219700"/>
            <a:ext cx="10287000" cy="895350"/>
          </a:xfrm>
          <a:prstGeom prst="roundRect">
            <a:avLst>
              <a:gd name="adj" fmla="val 12255"/>
            </a:avLst>
          </a:prstGeom>
          <a:solidFill>
            <a:srgbClr val="FBEFC4"/>
          </a:solidFill>
          <a:ln w="12700">
            <a:solidFill>
              <a:srgbClr val="FBEFC4"/>
            </a:solidFill>
            <a:prstDash val="solid"/>
          </a:ln>
        </p:spPr>
      </p:sp>
      <p:sp>
        <p:nvSpPr>
          <p:cNvPr id="144" name="Text 139"/>
          <p:cNvSpPr txBox="1"/>
          <p:nvPr/>
        </p:nvSpPr>
        <p:spPr>
          <a:xfrm>
            <a:off x="933450" y="5305425"/>
            <a:ext cx="9944100" cy="72390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Aug dip: Muhammad Abdul Wahab −Rp546M vs Jul; 52 orders from 36 customers.</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Less reliance on a few buyers: the top 5 customers were 58% → 59% → 32% of GMV (Jul, Aug, Sep).</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Month-end heavy: days 21–31 brought 51% → 42% → 55% of each month's GMV; Jul also had a strong start (Rp892M in days 1–10).</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Channels and regions: Web −Rp522M, Petani app +Rp352M; new in Sep: Pelalawan Rp319M, Sarolangun Rp92.2M, Pasir Pengaraian Rp58.7M.</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8</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TREND · WHO TO WIN BACK FIRST</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62 customers stopped buying before Sep (Rp3.1B); 19 of them were repeat buyers</a:t>
            </a:r>
            <a:endParaRPr lang="en-US" sz="2300" dirty="0"/>
          </a:p>
        </p:txBody>
      </p:sp>
      <p:sp>
        <p:nvSpPr>
          <p:cNvPr id="11" name="Shape 6"/>
          <p:cNvSpPr/>
          <p:nvPr/>
        </p:nvSpPr>
        <p:spPr>
          <a:xfrm>
            <a:off x="762000" y="1714500"/>
            <a:ext cx="2457450" cy="800100"/>
          </a:xfrm>
          <a:prstGeom prst="roundRect">
            <a:avLst>
              <a:gd name="adj" fmla="val 13714"/>
            </a:avLst>
          </a:prstGeom>
          <a:solidFill>
            <a:srgbClr val="FFFFFF"/>
          </a:solidFill>
          <a:ln w="12700">
            <a:solidFill>
              <a:srgbClr val="FFFFFF"/>
            </a:solidFill>
            <a:prstDash val="solid"/>
          </a:ln>
        </p:spPr>
      </p:sp>
      <p:sp>
        <p:nvSpPr>
          <p:cNvPr id="12" name="Text 7"/>
          <p:cNvSpPr txBox="1"/>
          <p:nvPr/>
        </p:nvSpPr>
        <p:spPr>
          <a:xfrm>
            <a:off x="91440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62</a:t>
            </a:r>
            <a:pPr indent="0" marL="0">
              <a:buNone/>
            </a:pPr>
            <a:endParaRPr lang="en-US" sz="2800" dirty="0"/>
          </a:p>
        </p:txBody>
      </p:sp>
      <p:sp>
        <p:nvSpPr>
          <p:cNvPr id="13" name="Text 8"/>
          <p:cNvSpPr txBox="1"/>
          <p:nvPr/>
        </p:nvSpPr>
        <p:spPr>
          <a:xfrm>
            <a:off x="9144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customers bought in Jul–Aug but not in Sep (Rp3.1B)</a:t>
            </a:r>
            <a:endParaRPr lang="en-US" sz="950" dirty="0"/>
          </a:p>
        </p:txBody>
      </p:sp>
      <p:sp>
        <p:nvSpPr>
          <p:cNvPr id="14" name="Shape 9"/>
          <p:cNvSpPr/>
          <p:nvPr/>
        </p:nvSpPr>
        <p:spPr>
          <a:xfrm>
            <a:off x="3371850" y="1714500"/>
            <a:ext cx="2457450" cy="800100"/>
          </a:xfrm>
          <a:prstGeom prst="roundRect">
            <a:avLst>
              <a:gd name="adj" fmla="val 13714"/>
            </a:avLst>
          </a:prstGeom>
          <a:solidFill>
            <a:srgbClr val="4A653B"/>
          </a:solidFill>
          <a:ln w="12700">
            <a:solidFill>
              <a:srgbClr val="4A653B"/>
            </a:solidFill>
            <a:prstDash val="solid"/>
          </a:ln>
        </p:spPr>
      </p:sp>
      <p:sp>
        <p:nvSpPr>
          <p:cNvPr id="15" name="Text 10"/>
          <p:cNvSpPr txBox="1"/>
          <p:nvPr/>
        </p:nvSpPr>
        <p:spPr>
          <a:xfrm>
            <a:off x="3524250" y="1828800"/>
            <a:ext cx="2152650"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19</a:t>
            </a:r>
            <a:pPr indent="0" marL="0">
              <a:buNone/>
            </a:pPr>
            <a:endParaRPr lang="en-US" sz="2800" dirty="0"/>
          </a:p>
        </p:txBody>
      </p:sp>
      <p:sp>
        <p:nvSpPr>
          <p:cNvPr id="16" name="Text 11"/>
          <p:cNvSpPr txBox="1"/>
          <p:nvPr/>
        </p:nvSpPr>
        <p:spPr>
          <a:xfrm>
            <a:off x="35242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of them repeat buyers, 2+ orders (Rp2.22B)</a:t>
            </a:r>
            <a:endParaRPr lang="en-US" sz="950" dirty="0"/>
          </a:p>
        </p:txBody>
      </p:sp>
      <p:sp>
        <p:nvSpPr>
          <p:cNvPr id="17" name="Shape 12"/>
          <p:cNvSpPr/>
          <p:nvPr/>
        </p:nvSpPr>
        <p:spPr>
          <a:xfrm>
            <a:off x="5981700" y="1714500"/>
            <a:ext cx="2457450" cy="800100"/>
          </a:xfrm>
          <a:prstGeom prst="roundRect">
            <a:avLst>
              <a:gd name="adj" fmla="val 13714"/>
            </a:avLst>
          </a:prstGeom>
          <a:solidFill>
            <a:srgbClr val="FFFFFF"/>
          </a:solidFill>
          <a:ln w="12700">
            <a:solidFill>
              <a:srgbClr val="FFFFFF"/>
            </a:solidFill>
            <a:prstDash val="solid"/>
          </a:ln>
        </p:spPr>
      </p:sp>
      <p:sp>
        <p:nvSpPr>
          <p:cNvPr id="18" name="Text 13"/>
          <p:cNvSpPr txBox="1"/>
          <p:nvPr/>
        </p:nvSpPr>
        <p:spPr>
          <a:xfrm>
            <a:off x="613410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27</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/62</a:t>
            </a:r>
            <a:endParaRPr lang="en-US" sz="2800" dirty="0"/>
          </a:p>
        </p:txBody>
      </p:sp>
      <p:sp>
        <p:nvSpPr>
          <p:cNvPr id="19" name="Text 14"/>
          <p:cNvSpPr txBox="1"/>
          <p:nvPr/>
        </p:nvSpPr>
        <p:spPr>
          <a:xfrm>
            <a:off x="613410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contacted in the CRM (1 Jul – 30 Sep 2026)</a:t>
            </a:r>
            <a:endParaRPr lang="en-US" sz="950" dirty="0"/>
          </a:p>
        </p:txBody>
      </p:sp>
      <p:sp>
        <p:nvSpPr>
          <p:cNvPr id="20" name="Shape 15"/>
          <p:cNvSpPr/>
          <p:nvPr/>
        </p:nvSpPr>
        <p:spPr>
          <a:xfrm>
            <a:off x="8591550" y="1714500"/>
            <a:ext cx="2457450" cy="800100"/>
          </a:xfrm>
          <a:prstGeom prst="roundRect">
            <a:avLst>
              <a:gd name="adj" fmla="val 13714"/>
            </a:avLst>
          </a:prstGeom>
          <a:solidFill>
            <a:srgbClr val="FFFFFF"/>
          </a:solidFill>
          <a:ln w="12700">
            <a:solidFill>
              <a:srgbClr val="FFFFFF"/>
            </a:solidFill>
            <a:prstDash val="solid"/>
          </a:ln>
        </p:spPr>
      </p:sp>
      <p:sp>
        <p:nvSpPr>
          <p:cNvPr id="21" name="Text 16"/>
          <p:cNvSpPr txBox="1"/>
          <p:nvPr/>
        </p:nvSpPr>
        <p:spPr>
          <a:xfrm>
            <a:off x="87439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0</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/3</a:t>
            </a:r>
            <a:endParaRPr lang="en-US" sz="2800" dirty="0"/>
          </a:p>
        </p:txBody>
      </p:sp>
      <p:sp>
        <p:nvSpPr>
          <p:cNvPr id="22" name="Text 17"/>
          <p:cNvSpPr txBox="1"/>
          <p:nvPr/>
        </p:nvSpPr>
        <p:spPr>
          <a:xfrm>
            <a:off x="8743950" y="2247900"/>
            <a:ext cx="2152650" cy="2095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accounts that stopped ordering contacted</a:t>
            </a:r>
            <a:endParaRPr lang="en-US" sz="950" dirty="0"/>
          </a:p>
        </p:txBody>
      </p:sp>
      <p:sp>
        <p:nvSpPr>
          <p:cNvPr id="23" name="Shape 18"/>
          <p:cNvSpPr/>
          <p:nvPr/>
        </p:nvSpPr>
        <p:spPr>
          <a:xfrm>
            <a:off x="762000" y="2647950"/>
            <a:ext cx="10287000" cy="2438400"/>
          </a:xfrm>
          <a:prstGeom prst="roundRect">
            <a:avLst>
              <a:gd name="adj" fmla="val 4500"/>
            </a:avLst>
          </a:prstGeom>
          <a:solidFill>
            <a:srgbClr val="FFFFFF"/>
          </a:solidFill>
          <a:ln w="12700">
            <a:solidFill>
              <a:srgbClr val="FFFFFF"/>
            </a:solidFill>
            <a:prstDash val="solid"/>
          </a:ln>
        </p:spPr>
      </p:sp>
      <p:sp>
        <p:nvSpPr>
          <p:cNvPr id="24" name="Text 19"/>
          <p:cNvSpPr txBox="1"/>
          <p:nvPr/>
        </p:nvSpPr>
        <p:spPr>
          <a:xfrm>
            <a:off x="952500" y="2800350"/>
            <a:ext cx="99060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Lapsed customers by PIC</a:t>
            </a:r>
            <a:endParaRPr lang="en-US" sz="1300" dirty="0"/>
          </a:p>
        </p:txBody>
      </p:sp>
      <p:sp>
        <p:nvSpPr>
          <p:cNvPr id="25" name="Text 20"/>
          <p:cNvSpPr txBox="1"/>
          <p:nvPr/>
        </p:nvSpPr>
        <p:spPr>
          <a:xfrm>
            <a:off x="952500" y="3028950"/>
            <a:ext cx="99060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Top 5 of 11 PICs by lapsed GMV; PIC = the one on most of the customer's orders; CRM columns cover 1 Jul – 30 Sep 2026</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14400" y="3314700"/>
          <a:ext cx="9982200" cy="914400"/>
        </p:xfrm>
        <a:graphic>
          <a:graphicData uri="http://schemas.openxmlformats.org/drawingml/2006/table">
            <a:tbl>
              <a:tblPr/>
              <a:tblGrid>
                <a:gridCol w="2594127"/>
                <a:gridCol w="1079157"/>
                <a:gridCol w="518825"/>
                <a:gridCol w="830121"/>
                <a:gridCol w="1141416"/>
                <a:gridCol w="1162169"/>
                <a:gridCol w="1162169"/>
                <a:gridCol w="664096"/>
                <a:gridCol w="830121"/>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PIC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GMV Jul → Sep</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Lapsed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Lapsed GMV</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Repeat buyers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Last order Jul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Last order Aug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CRM eng.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Contacted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Muhammad Abdul Wahab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−Rp933M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Rp1.84B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 (Rp1.43B)</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of 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Rudi Nirwana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−Rp7.7M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Rp654M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 (Rp477M)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134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17 of 26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Joko Prestiwo</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+Rp168M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Rp262M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 (Rp192M)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195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 of 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Simon Sutrado Simanjuntak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+Rp299M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Rp200M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 (Rp99M)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 of 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Deby Zea Efendi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+Rp187M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Rp72M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 (Rp5.1M)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244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of 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
        <p:nvSpPr>
          <p:cNvPr id="27" name="Shape 21"/>
          <p:cNvSpPr/>
          <p:nvPr/>
        </p:nvSpPr>
        <p:spPr>
          <a:xfrm>
            <a:off x="762000" y="5219700"/>
            <a:ext cx="10287000" cy="895350"/>
          </a:xfrm>
          <a:prstGeom prst="roundRect">
            <a:avLst>
              <a:gd name="adj" fmla="val 12255"/>
            </a:avLst>
          </a:prstGeom>
          <a:solidFill>
            <a:srgbClr val="FBEFC4"/>
          </a:solidFill>
          <a:ln w="12700">
            <a:solidFill>
              <a:srgbClr val="FBEFC4"/>
            </a:solidFill>
            <a:prstDash val="solid"/>
          </a:ln>
        </p:spPr>
      </p:sp>
      <p:sp>
        <p:nvSpPr>
          <p:cNvPr id="28" name="Text 22"/>
          <p:cNvSpPr txBox="1"/>
          <p:nvPr/>
        </p:nvSpPr>
        <p:spPr>
          <a:xfrm>
            <a:off x="933450" y="5305425"/>
            <a:ext cx="9944100" cy="72390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Start with the 19 repeat buyers (2+ orders, Rp2.22B): they already trust us. Customers reorder every 14 days (median), so 30+ days of silence is a real gap.</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By PIC: Muhammad Abdul Wahab 9 (Rp1.84B), Rudi Nirwana 26 (Rp654M), Joko Prestiwo 9 (Rp262M).</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Customers who bought in both Jul and Sep: 14 spent more, 4 spent less, so the problem is customers leaving, not customers shrinking.</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9</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JUL–SEP · WHAT SOLD</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KCL / MOP leads with 46% of GMV</a:t>
            </a:r>
            <a:endParaRPr lang="en-US" sz="2300" dirty="0"/>
          </a:p>
        </p:txBody>
      </p:sp>
      <p:sp>
        <p:nvSpPr>
          <p:cNvPr id="11" name="Shape 6"/>
          <p:cNvSpPr/>
          <p:nvPr/>
        </p:nvSpPr>
        <p:spPr>
          <a:xfrm>
            <a:off x="762000" y="1714500"/>
            <a:ext cx="3600138" cy="4400550"/>
          </a:xfrm>
          <a:prstGeom prst="roundRect">
            <a:avLst>
              <a:gd name="adj" fmla="val 3048"/>
            </a:avLst>
          </a:prstGeom>
          <a:solidFill>
            <a:srgbClr val="FFFFFF"/>
          </a:solidFill>
          <a:ln w="12700">
            <a:solidFill>
              <a:srgbClr val="FFFFFF"/>
            </a:solidFill>
            <a:prstDash val="solid"/>
          </a:ln>
        </p:spPr>
      </p:sp>
      <p:sp>
        <p:nvSpPr>
          <p:cNvPr id="12" name="Text 7"/>
          <p:cNvSpPr txBox="1"/>
          <p:nvPr/>
        </p:nvSpPr>
        <p:spPr>
          <a:xfrm>
            <a:off x="952500" y="1866900"/>
            <a:ext cx="3219138"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product type</a:t>
            </a:r>
            <a:endParaRPr lang="en-US" sz="1300" dirty="0"/>
          </a:p>
        </p:txBody>
      </p:sp>
      <p:sp>
        <p:nvSpPr>
          <p:cNvPr id="13" name="Text 8"/>
          <p:cNvSpPr txBox="1"/>
          <p:nvPr/>
        </p:nvSpPr>
        <p:spPr>
          <a:xfrm>
            <a:off x="952500" y="2095500"/>
            <a:ext cx="3219138"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Grouped from item names; units in grey</a:t>
            </a:r>
            <a:endParaRPr lang="en-US" sz="950" dirty="0"/>
          </a:p>
        </p:txBody>
      </p:sp>
      <p:sp>
        <p:nvSpPr>
          <p:cNvPr id="14" name="Text 9"/>
          <p:cNvSpPr txBox="1"/>
          <p:nvPr/>
        </p:nvSpPr>
        <p:spPr>
          <a:xfrm>
            <a:off x="971550" y="2381250"/>
            <a:ext cx="1810962"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KCL / MOP</a:t>
            </a:r>
            <a:endParaRPr lang="en-US" sz="940" dirty="0"/>
          </a:p>
        </p:txBody>
      </p:sp>
      <p:sp>
        <p:nvSpPr>
          <p:cNvPr id="15" name="Text 10"/>
          <p:cNvSpPr txBox="1"/>
          <p:nvPr/>
        </p:nvSpPr>
        <p:spPr>
          <a:xfrm>
            <a:off x="3647763" y="2381250"/>
            <a:ext cx="5048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Rp2.88B</a:t>
            </a:r>
            <a:endParaRPr lang="en-US" sz="940" dirty="0"/>
          </a:p>
        </p:txBody>
      </p:sp>
      <p:sp>
        <p:nvSpPr>
          <p:cNvPr id="16" name="Text 11"/>
          <p:cNvSpPr txBox="1"/>
          <p:nvPr/>
        </p:nvSpPr>
        <p:spPr>
          <a:xfrm>
            <a:off x="2839662" y="2381250"/>
            <a:ext cx="731901"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6,683 units</a:t>
            </a:r>
            <a:endParaRPr lang="en-US" sz="860" dirty="0"/>
          </a:p>
        </p:txBody>
      </p:sp>
      <p:sp>
        <p:nvSpPr>
          <p:cNvPr id="17" name="Shape 12"/>
          <p:cNvSpPr/>
          <p:nvPr/>
        </p:nvSpPr>
        <p:spPr>
          <a:xfrm>
            <a:off x="971550" y="2667000"/>
            <a:ext cx="3181038" cy="114300"/>
          </a:xfrm>
          <a:prstGeom prst="roundRect">
            <a:avLst>
              <a:gd name="adj" fmla="val 25000"/>
            </a:avLst>
          </a:prstGeom>
          <a:solidFill>
            <a:srgbClr val="E9EDE5"/>
          </a:solidFill>
          <a:ln w="12700">
            <a:solidFill>
              <a:srgbClr val="E9EDE5"/>
            </a:solidFill>
            <a:prstDash val="solid"/>
          </a:ln>
        </p:spPr>
      </p:sp>
      <p:sp>
        <p:nvSpPr>
          <p:cNvPr id="18" name="Shape 13"/>
          <p:cNvSpPr/>
          <p:nvPr/>
        </p:nvSpPr>
        <p:spPr>
          <a:xfrm>
            <a:off x="971550" y="2667000"/>
            <a:ext cx="3181038" cy="114300"/>
          </a:xfrm>
          <a:prstGeom prst="roundRect">
            <a:avLst>
              <a:gd name="adj" fmla="val 25000"/>
            </a:avLst>
          </a:prstGeom>
          <a:solidFill>
            <a:srgbClr val="3E7B27"/>
          </a:solidFill>
          <a:ln w="12700">
            <a:solidFill>
              <a:srgbClr val="3E7B27"/>
            </a:solidFill>
            <a:prstDash val="solid"/>
          </a:ln>
        </p:spPr>
      </p:sp>
      <p:sp>
        <p:nvSpPr>
          <p:cNvPr id="19" name="Text 14"/>
          <p:cNvSpPr txBox="1"/>
          <p:nvPr/>
        </p:nvSpPr>
        <p:spPr>
          <a:xfrm>
            <a:off x="971550" y="2819400"/>
            <a:ext cx="1810962"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NPK</a:t>
            </a:r>
            <a:endParaRPr lang="en-US" sz="940" dirty="0"/>
          </a:p>
        </p:txBody>
      </p:sp>
      <p:sp>
        <p:nvSpPr>
          <p:cNvPr id="20" name="Text 15"/>
          <p:cNvSpPr txBox="1"/>
          <p:nvPr/>
        </p:nvSpPr>
        <p:spPr>
          <a:xfrm>
            <a:off x="3647763" y="2819400"/>
            <a:ext cx="5048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Rp1.57B</a:t>
            </a:r>
            <a:endParaRPr lang="en-US" sz="940" dirty="0"/>
          </a:p>
        </p:txBody>
      </p:sp>
      <p:sp>
        <p:nvSpPr>
          <p:cNvPr id="21" name="Text 16"/>
          <p:cNvSpPr txBox="1"/>
          <p:nvPr/>
        </p:nvSpPr>
        <p:spPr>
          <a:xfrm>
            <a:off x="2839662" y="2819400"/>
            <a:ext cx="731901"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2,828 units</a:t>
            </a:r>
            <a:endParaRPr lang="en-US" sz="860" dirty="0"/>
          </a:p>
        </p:txBody>
      </p:sp>
      <p:sp>
        <p:nvSpPr>
          <p:cNvPr id="22" name="Shape 17"/>
          <p:cNvSpPr/>
          <p:nvPr/>
        </p:nvSpPr>
        <p:spPr>
          <a:xfrm>
            <a:off x="971550" y="3105150"/>
            <a:ext cx="3181038" cy="114300"/>
          </a:xfrm>
          <a:prstGeom prst="roundRect">
            <a:avLst>
              <a:gd name="adj" fmla="val 25000"/>
            </a:avLst>
          </a:prstGeom>
          <a:solidFill>
            <a:srgbClr val="E9EDE5"/>
          </a:solidFill>
          <a:ln w="12700">
            <a:solidFill>
              <a:srgbClr val="E9EDE5"/>
            </a:solidFill>
            <a:prstDash val="solid"/>
          </a:ln>
        </p:spPr>
      </p:sp>
      <p:sp>
        <p:nvSpPr>
          <p:cNvPr id="23" name="Shape 18"/>
          <p:cNvSpPr/>
          <p:nvPr/>
        </p:nvSpPr>
        <p:spPr>
          <a:xfrm>
            <a:off x="971550" y="3105150"/>
            <a:ext cx="1729180" cy="114300"/>
          </a:xfrm>
          <a:prstGeom prst="roundRect">
            <a:avLst>
              <a:gd name="adj" fmla="val 25000"/>
            </a:avLst>
          </a:prstGeom>
          <a:solidFill>
            <a:srgbClr val="3E7B27"/>
          </a:solidFill>
          <a:ln w="12700">
            <a:solidFill>
              <a:srgbClr val="3E7B27"/>
            </a:solidFill>
            <a:prstDash val="solid"/>
          </a:ln>
        </p:spPr>
      </p:sp>
      <p:sp>
        <p:nvSpPr>
          <p:cNvPr id="24" name="Text 19"/>
          <p:cNvSpPr txBox="1"/>
          <p:nvPr/>
        </p:nvSpPr>
        <p:spPr>
          <a:xfrm>
            <a:off x="971550" y="3257550"/>
            <a:ext cx="1877637"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Rock phosphate (RP)</a:t>
            </a:r>
            <a:endParaRPr lang="en-US" sz="940" dirty="0"/>
          </a:p>
        </p:txBody>
      </p:sp>
      <p:sp>
        <p:nvSpPr>
          <p:cNvPr id="25" name="Text 20"/>
          <p:cNvSpPr txBox="1"/>
          <p:nvPr/>
        </p:nvSpPr>
        <p:spPr>
          <a:xfrm>
            <a:off x="3714438" y="325755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Rp903M</a:t>
            </a:r>
            <a:endParaRPr lang="en-US" sz="940" dirty="0"/>
          </a:p>
        </p:txBody>
      </p:sp>
      <p:sp>
        <p:nvSpPr>
          <p:cNvPr id="26" name="Text 21"/>
          <p:cNvSpPr txBox="1"/>
          <p:nvPr/>
        </p:nvSpPr>
        <p:spPr>
          <a:xfrm>
            <a:off x="2906337" y="3257550"/>
            <a:ext cx="731901"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6,950 units</a:t>
            </a:r>
            <a:endParaRPr lang="en-US" sz="860" dirty="0"/>
          </a:p>
        </p:txBody>
      </p:sp>
      <p:sp>
        <p:nvSpPr>
          <p:cNvPr id="27" name="Shape 22"/>
          <p:cNvSpPr/>
          <p:nvPr/>
        </p:nvSpPr>
        <p:spPr>
          <a:xfrm>
            <a:off x="971550" y="3543300"/>
            <a:ext cx="3181038" cy="114300"/>
          </a:xfrm>
          <a:prstGeom prst="roundRect">
            <a:avLst>
              <a:gd name="adj" fmla="val 25000"/>
            </a:avLst>
          </a:prstGeom>
          <a:solidFill>
            <a:srgbClr val="E9EDE5"/>
          </a:solidFill>
          <a:ln w="12700">
            <a:solidFill>
              <a:srgbClr val="E9EDE5"/>
            </a:solidFill>
            <a:prstDash val="solid"/>
          </a:ln>
        </p:spPr>
      </p:sp>
      <p:sp>
        <p:nvSpPr>
          <p:cNvPr id="28" name="Shape 23"/>
          <p:cNvSpPr/>
          <p:nvPr/>
        </p:nvSpPr>
        <p:spPr>
          <a:xfrm>
            <a:off x="971550" y="3543300"/>
            <a:ext cx="996475" cy="114300"/>
          </a:xfrm>
          <a:prstGeom prst="roundRect">
            <a:avLst>
              <a:gd name="adj" fmla="val 25000"/>
            </a:avLst>
          </a:prstGeom>
          <a:solidFill>
            <a:srgbClr val="3E7B27"/>
          </a:solidFill>
          <a:ln w="12700">
            <a:solidFill>
              <a:srgbClr val="3E7B27"/>
            </a:solidFill>
            <a:prstDash val="solid"/>
          </a:ln>
        </p:spPr>
      </p:sp>
      <p:sp>
        <p:nvSpPr>
          <p:cNvPr id="29" name="Text 24"/>
          <p:cNvSpPr txBox="1"/>
          <p:nvPr/>
        </p:nvSpPr>
        <p:spPr>
          <a:xfrm>
            <a:off x="971550" y="3695700"/>
            <a:ext cx="2000319"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Urea</a:t>
            </a:r>
            <a:endParaRPr lang="en-US" sz="940" dirty="0"/>
          </a:p>
        </p:txBody>
      </p:sp>
      <p:sp>
        <p:nvSpPr>
          <p:cNvPr id="30" name="Text 25"/>
          <p:cNvSpPr txBox="1"/>
          <p:nvPr/>
        </p:nvSpPr>
        <p:spPr>
          <a:xfrm>
            <a:off x="3714438" y="369570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Rp398M</a:t>
            </a:r>
            <a:endParaRPr lang="en-US" sz="940" dirty="0"/>
          </a:p>
        </p:txBody>
      </p:sp>
      <p:sp>
        <p:nvSpPr>
          <p:cNvPr id="31" name="Text 26"/>
          <p:cNvSpPr txBox="1"/>
          <p:nvPr/>
        </p:nvSpPr>
        <p:spPr>
          <a:xfrm>
            <a:off x="3029019" y="3695700"/>
            <a:ext cx="609219"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796 units</a:t>
            </a:r>
            <a:endParaRPr lang="en-US" sz="860" dirty="0"/>
          </a:p>
        </p:txBody>
      </p:sp>
      <p:sp>
        <p:nvSpPr>
          <p:cNvPr id="32" name="Shape 27"/>
          <p:cNvSpPr/>
          <p:nvPr/>
        </p:nvSpPr>
        <p:spPr>
          <a:xfrm>
            <a:off x="971550" y="3981450"/>
            <a:ext cx="3181038" cy="114300"/>
          </a:xfrm>
          <a:prstGeom prst="roundRect">
            <a:avLst>
              <a:gd name="adj" fmla="val 25000"/>
            </a:avLst>
          </a:prstGeom>
          <a:solidFill>
            <a:srgbClr val="E9EDE5"/>
          </a:solidFill>
          <a:ln w="12700">
            <a:solidFill>
              <a:srgbClr val="E9EDE5"/>
            </a:solidFill>
            <a:prstDash val="solid"/>
          </a:ln>
        </p:spPr>
      </p:sp>
      <p:sp>
        <p:nvSpPr>
          <p:cNvPr id="33" name="Shape 28"/>
          <p:cNvSpPr/>
          <p:nvPr/>
        </p:nvSpPr>
        <p:spPr>
          <a:xfrm>
            <a:off x="971550" y="3981450"/>
            <a:ext cx="438810" cy="114300"/>
          </a:xfrm>
          <a:prstGeom prst="roundRect">
            <a:avLst>
              <a:gd name="adj" fmla="val 25000"/>
            </a:avLst>
          </a:prstGeom>
          <a:solidFill>
            <a:srgbClr val="3E7B27"/>
          </a:solidFill>
          <a:ln w="12700">
            <a:solidFill>
              <a:srgbClr val="3E7B27"/>
            </a:solidFill>
            <a:prstDash val="solid"/>
          </a:ln>
        </p:spPr>
      </p:sp>
      <p:sp>
        <p:nvSpPr>
          <p:cNvPr id="34" name="Text 29"/>
          <p:cNvSpPr txBox="1"/>
          <p:nvPr/>
        </p:nvSpPr>
        <p:spPr>
          <a:xfrm>
            <a:off x="971550" y="4133850"/>
            <a:ext cx="2000319"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ZA</a:t>
            </a:r>
            <a:endParaRPr lang="en-US" sz="940" dirty="0"/>
          </a:p>
        </p:txBody>
      </p:sp>
      <p:sp>
        <p:nvSpPr>
          <p:cNvPr id="35" name="Text 30"/>
          <p:cNvSpPr txBox="1"/>
          <p:nvPr/>
        </p:nvSpPr>
        <p:spPr>
          <a:xfrm>
            <a:off x="3714438" y="413385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Rp107M</a:t>
            </a:r>
            <a:endParaRPr lang="en-US" sz="940" dirty="0"/>
          </a:p>
        </p:txBody>
      </p:sp>
      <p:sp>
        <p:nvSpPr>
          <p:cNvPr id="36" name="Text 31"/>
          <p:cNvSpPr txBox="1"/>
          <p:nvPr/>
        </p:nvSpPr>
        <p:spPr>
          <a:xfrm>
            <a:off x="3029019" y="4133850"/>
            <a:ext cx="609219"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290 units</a:t>
            </a:r>
            <a:endParaRPr lang="en-US" sz="860" dirty="0"/>
          </a:p>
        </p:txBody>
      </p:sp>
      <p:sp>
        <p:nvSpPr>
          <p:cNvPr id="37" name="Shape 32"/>
          <p:cNvSpPr/>
          <p:nvPr/>
        </p:nvSpPr>
        <p:spPr>
          <a:xfrm>
            <a:off x="971550" y="4419600"/>
            <a:ext cx="3181038" cy="114300"/>
          </a:xfrm>
          <a:prstGeom prst="roundRect">
            <a:avLst>
              <a:gd name="adj" fmla="val 25000"/>
            </a:avLst>
          </a:prstGeom>
          <a:solidFill>
            <a:srgbClr val="E9EDE5"/>
          </a:solidFill>
          <a:ln w="12700">
            <a:solidFill>
              <a:srgbClr val="E9EDE5"/>
            </a:solidFill>
            <a:prstDash val="solid"/>
          </a:ln>
        </p:spPr>
      </p:sp>
      <p:sp>
        <p:nvSpPr>
          <p:cNvPr id="38" name="Shape 33"/>
          <p:cNvSpPr/>
          <p:nvPr/>
        </p:nvSpPr>
        <p:spPr>
          <a:xfrm>
            <a:off x="971550" y="4419600"/>
            <a:ext cx="118349" cy="114300"/>
          </a:xfrm>
          <a:prstGeom prst="roundRect">
            <a:avLst>
              <a:gd name="adj" fmla="val 25000"/>
            </a:avLst>
          </a:prstGeom>
          <a:solidFill>
            <a:srgbClr val="3E7B27"/>
          </a:solidFill>
          <a:ln w="12700">
            <a:solidFill>
              <a:srgbClr val="3E7B27"/>
            </a:solidFill>
            <a:prstDash val="solid"/>
          </a:ln>
        </p:spPr>
      </p:sp>
      <p:sp>
        <p:nvSpPr>
          <p:cNvPr id="39" name="Text 34"/>
          <p:cNvSpPr txBox="1"/>
          <p:nvPr/>
        </p:nvSpPr>
        <p:spPr>
          <a:xfrm>
            <a:off x="971550" y="4572000"/>
            <a:ext cx="1933644"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AC AKP</a:t>
            </a:r>
            <a:endParaRPr lang="en-US" sz="940" dirty="0"/>
          </a:p>
        </p:txBody>
      </p:sp>
      <p:sp>
        <p:nvSpPr>
          <p:cNvPr id="40" name="Text 35"/>
          <p:cNvSpPr txBox="1"/>
          <p:nvPr/>
        </p:nvSpPr>
        <p:spPr>
          <a:xfrm>
            <a:off x="3647763" y="4572000"/>
            <a:ext cx="5048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Rp97.6M</a:t>
            </a:r>
            <a:endParaRPr lang="en-US" sz="940" dirty="0"/>
          </a:p>
        </p:txBody>
      </p:sp>
      <p:sp>
        <p:nvSpPr>
          <p:cNvPr id="41" name="Text 36"/>
          <p:cNvSpPr txBox="1"/>
          <p:nvPr/>
        </p:nvSpPr>
        <p:spPr>
          <a:xfrm>
            <a:off x="2962344" y="4572000"/>
            <a:ext cx="609219"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396 units</a:t>
            </a:r>
            <a:endParaRPr lang="en-US" sz="860" dirty="0"/>
          </a:p>
        </p:txBody>
      </p:sp>
      <p:sp>
        <p:nvSpPr>
          <p:cNvPr id="42" name="Shape 37"/>
          <p:cNvSpPr/>
          <p:nvPr/>
        </p:nvSpPr>
        <p:spPr>
          <a:xfrm>
            <a:off x="971550" y="4857750"/>
            <a:ext cx="3181038" cy="114300"/>
          </a:xfrm>
          <a:prstGeom prst="roundRect">
            <a:avLst>
              <a:gd name="adj" fmla="val 25000"/>
            </a:avLst>
          </a:prstGeom>
          <a:solidFill>
            <a:srgbClr val="E9EDE5"/>
          </a:solidFill>
          <a:ln w="12700">
            <a:solidFill>
              <a:srgbClr val="E9EDE5"/>
            </a:solidFill>
            <a:prstDash val="solid"/>
          </a:ln>
        </p:spPr>
      </p:sp>
      <p:sp>
        <p:nvSpPr>
          <p:cNvPr id="43" name="Shape 38"/>
          <p:cNvSpPr/>
          <p:nvPr/>
        </p:nvSpPr>
        <p:spPr>
          <a:xfrm>
            <a:off x="971550" y="4857750"/>
            <a:ext cx="107710" cy="114300"/>
          </a:xfrm>
          <a:prstGeom prst="roundRect">
            <a:avLst>
              <a:gd name="adj" fmla="val 26530"/>
            </a:avLst>
          </a:prstGeom>
          <a:solidFill>
            <a:srgbClr val="3E7B27"/>
          </a:solidFill>
          <a:ln w="12700">
            <a:solidFill>
              <a:srgbClr val="3E7B27"/>
            </a:solidFill>
            <a:prstDash val="solid"/>
          </a:ln>
        </p:spPr>
      </p:sp>
      <p:sp>
        <p:nvSpPr>
          <p:cNvPr id="44" name="Text 39"/>
          <p:cNvSpPr txBox="1"/>
          <p:nvPr/>
        </p:nvSpPr>
        <p:spPr>
          <a:xfrm>
            <a:off x="971550" y="5010150"/>
            <a:ext cx="1933644"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Herbicide &amp; pesticide</a:t>
            </a:r>
            <a:endParaRPr lang="en-US" sz="940" dirty="0"/>
          </a:p>
        </p:txBody>
      </p:sp>
      <p:sp>
        <p:nvSpPr>
          <p:cNvPr id="45" name="Text 40"/>
          <p:cNvSpPr txBox="1"/>
          <p:nvPr/>
        </p:nvSpPr>
        <p:spPr>
          <a:xfrm>
            <a:off x="3647763" y="5010150"/>
            <a:ext cx="5048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Rp63.1M</a:t>
            </a:r>
            <a:endParaRPr lang="en-US" sz="940" dirty="0"/>
          </a:p>
        </p:txBody>
      </p:sp>
      <p:sp>
        <p:nvSpPr>
          <p:cNvPr id="46" name="Text 41"/>
          <p:cNvSpPr txBox="1"/>
          <p:nvPr/>
        </p:nvSpPr>
        <p:spPr>
          <a:xfrm>
            <a:off x="2962344" y="5010150"/>
            <a:ext cx="609219"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567 units</a:t>
            </a:r>
            <a:endParaRPr lang="en-US" sz="860" dirty="0"/>
          </a:p>
        </p:txBody>
      </p:sp>
      <p:sp>
        <p:nvSpPr>
          <p:cNvPr id="47" name="Shape 42"/>
          <p:cNvSpPr/>
          <p:nvPr/>
        </p:nvSpPr>
        <p:spPr>
          <a:xfrm>
            <a:off x="971550" y="5295900"/>
            <a:ext cx="3181038" cy="114300"/>
          </a:xfrm>
          <a:prstGeom prst="roundRect">
            <a:avLst>
              <a:gd name="adj" fmla="val 25000"/>
            </a:avLst>
          </a:prstGeom>
          <a:solidFill>
            <a:srgbClr val="E9EDE5"/>
          </a:solidFill>
          <a:ln w="12700">
            <a:solidFill>
              <a:srgbClr val="E9EDE5"/>
            </a:solidFill>
            <a:prstDash val="solid"/>
          </a:ln>
        </p:spPr>
      </p:sp>
      <p:sp>
        <p:nvSpPr>
          <p:cNvPr id="48" name="Shape 43"/>
          <p:cNvSpPr/>
          <p:nvPr/>
        </p:nvSpPr>
        <p:spPr>
          <a:xfrm>
            <a:off x="971550" y="5295900"/>
            <a:ext cx="69597" cy="114300"/>
          </a:xfrm>
          <a:prstGeom prst="roundRect">
            <a:avLst>
              <a:gd name="adj" fmla="val 41058"/>
            </a:avLst>
          </a:prstGeom>
          <a:solidFill>
            <a:srgbClr val="3E7B27"/>
          </a:solidFill>
          <a:ln w="12700">
            <a:solidFill>
              <a:srgbClr val="3E7B27"/>
            </a:solidFill>
            <a:prstDash val="solid"/>
          </a:ln>
        </p:spPr>
      </p:sp>
      <p:sp>
        <p:nvSpPr>
          <p:cNvPr id="49" name="Shape 44"/>
          <p:cNvSpPr/>
          <p:nvPr/>
        </p:nvSpPr>
        <p:spPr>
          <a:xfrm>
            <a:off x="4514538" y="1714500"/>
            <a:ext cx="3600138" cy="4400550"/>
          </a:xfrm>
          <a:prstGeom prst="roundRect">
            <a:avLst>
              <a:gd name="adj" fmla="val 3048"/>
            </a:avLst>
          </a:prstGeom>
          <a:solidFill>
            <a:srgbClr val="FFFFFF"/>
          </a:solidFill>
          <a:ln w="12700">
            <a:solidFill>
              <a:srgbClr val="FFFFFF"/>
            </a:solidFill>
            <a:prstDash val="solid"/>
          </a:ln>
        </p:spPr>
      </p:sp>
      <p:sp>
        <p:nvSpPr>
          <p:cNvPr id="50" name="Text 45"/>
          <p:cNvSpPr txBox="1"/>
          <p:nvPr/>
        </p:nvSpPr>
        <p:spPr>
          <a:xfrm>
            <a:off x="4705038" y="1866900"/>
            <a:ext cx="3219138"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product category</a:t>
            </a:r>
            <a:endParaRPr lang="en-US" sz="1300" dirty="0"/>
          </a:p>
        </p:txBody>
      </p:sp>
      <p:sp>
        <p:nvSpPr>
          <p:cNvPr id="51" name="Text 46"/>
          <p:cNvSpPr txBox="1"/>
          <p:nvPr/>
        </p:nvSpPr>
        <p:spPr>
          <a:xfrm>
            <a:off x="4705038" y="2095500"/>
            <a:ext cx="3219138"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“product_cat”; orders under each column</a:t>
            </a:r>
            <a:endParaRPr lang="en-US" sz="950" dirty="0"/>
          </a:p>
        </p:txBody>
      </p:sp>
      <p:sp>
        <p:nvSpPr>
          <p:cNvPr id="52" name="Shape 47"/>
          <p:cNvSpPr/>
          <p:nvPr/>
        </p:nvSpPr>
        <p:spPr>
          <a:xfrm>
            <a:off x="4824821" y="2571750"/>
            <a:ext cx="328707" cy="2476500"/>
          </a:xfrm>
          <a:prstGeom prst="roundRect">
            <a:avLst>
              <a:gd name="adj" fmla="val 11591"/>
            </a:avLst>
          </a:prstGeom>
          <a:solidFill>
            <a:srgbClr val="2B7BB0"/>
          </a:solidFill>
          <a:ln w="12700">
            <a:solidFill>
              <a:srgbClr val="2B7BB0"/>
            </a:solidFill>
            <a:prstDash val="solid"/>
          </a:ln>
        </p:spPr>
      </p:sp>
      <p:sp>
        <p:nvSpPr>
          <p:cNvPr id="53" name="Text 48"/>
          <p:cNvSpPr txBox="1"/>
          <p:nvPr/>
        </p:nvSpPr>
        <p:spPr>
          <a:xfrm>
            <a:off x="4596221" y="2400300"/>
            <a:ext cx="785907"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Rp2.05B</a:t>
            </a:r>
            <a:endParaRPr lang="en-US" sz="860" dirty="0"/>
          </a:p>
        </p:txBody>
      </p:sp>
      <p:sp>
        <p:nvSpPr>
          <p:cNvPr id="54" name="Text 49"/>
          <p:cNvSpPr txBox="1"/>
          <p:nvPr/>
        </p:nvSpPr>
        <p:spPr>
          <a:xfrm>
            <a:off x="4733613" y="5095875"/>
            <a:ext cx="511123" cy="3905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Pupuk</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Grosir</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18…</a:t>
            </a:r>
            <a:endParaRPr lang="en-US" sz="830" dirty="0"/>
          </a:p>
        </p:txBody>
      </p:sp>
      <p:sp>
        <p:nvSpPr>
          <p:cNvPr id="55" name="Shape 50"/>
          <p:cNvSpPr/>
          <p:nvPr/>
        </p:nvSpPr>
        <p:spPr>
          <a:xfrm>
            <a:off x="5354994" y="3051016"/>
            <a:ext cx="328707" cy="1997234"/>
          </a:xfrm>
          <a:prstGeom prst="roundRect">
            <a:avLst>
              <a:gd name="adj" fmla="val 11591"/>
            </a:avLst>
          </a:prstGeom>
          <a:solidFill>
            <a:srgbClr val="2B7BB0"/>
          </a:solidFill>
          <a:ln w="12700">
            <a:solidFill>
              <a:srgbClr val="2B7BB0"/>
            </a:solidFill>
            <a:prstDash val="solid"/>
          </a:ln>
        </p:spPr>
      </p:sp>
      <p:sp>
        <p:nvSpPr>
          <p:cNvPr id="56" name="Text 51"/>
          <p:cNvSpPr txBox="1"/>
          <p:nvPr/>
        </p:nvSpPr>
        <p:spPr>
          <a:xfrm>
            <a:off x="5126394" y="2879566"/>
            <a:ext cx="785907"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Rp1.65B</a:t>
            </a:r>
            <a:endParaRPr lang="en-US" sz="860" dirty="0"/>
          </a:p>
        </p:txBody>
      </p:sp>
      <p:sp>
        <p:nvSpPr>
          <p:cNvPr id="57" name="Text 52"/>
          <p:cNvSpPr txBox="1"/>
          <p:nvPr/>
        </p:nvSpPr>
        <p:spPr>
          <a:xfrm>
            <a:off x="5263786" y="5095875"/>
            <a:ext cx="511123" cy="3905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Khusus</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Petani</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59…</a:t>
            </a:r>
            <a:endParaRPr lang="en-US" sz="830" dirty="0"/>
          </a:p>
        </p:txBody>
      </p:sp>
      <p:sp>
        <p:nvSpPr>
          <p:cNvPr id="58" name="Shape 53"/>
          <p:cNvSpPr/>
          <p:nvPr/>
        </p:nvSpPr>
        <p:spPr>
          <a:xfrm>
            <a:off x="5885166" y="3133217"/>
            <a:ext cx="328707" cy="1915033"/>
          </a:xfrm>
          <a:prstGeom prst="roundRect">
            <a:avLst>
              <a:gd name="adj" fmla="val 11591"/>
            </a:avLst>
          </a:prstGeom>
          <a:solidFill>
            <a:srgbClr val="2B7BB0"/>
          </a:solidFill>
          <a:ln w="12700">
            <a:solidFill>
              <a:srgbClr val="2B7BB0"/>
            </a:solidFill>
            <a:prstDash val="solid"/>
          </a:ln>
        </p:spPr>
      </p:sp>
      <p:sp>
        <p:nvSpPr>
          <p:cNvPr id="59" name="Text 54"/>
          <p:cNvSpPr txBox="1"/>
          <p:nvPr/>
        </p:nvSpPr>
        <p:spPr>
          <a:xfrm>
            <a:off x="5656566" y="2961767"/>
            <a:ext cx="785907"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Rp1.58B</a:t>
            </a:r>
            <a:endParaRPr lang="en-US" sz="860" dirty="0"/>
          </a:p>
        </p:txBody>
      </p:sp>
      <p:sp>
        <p:nvSpPr>
          <p:cNvPr id="60" name="Text 55"/>
          <p:cNvSpPr txBox="1"/>
          <p:nvPr/>
        </p:nvSpPr>
        <p:spPr>
          <a:xfrm>
            <a:off x="5793959" y="5095875"/>
            <a:ext cx="511123" cy="3905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Toling</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125</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orders</a:t>
            </a:r>
            <a:endParaRPr lang="en-US" sz="830" dirty="0"/>
          </a:p>
        </p:txBody>
      </p:sp>
      <p:sp>
        <p:nvSpPr>
          <p:cNvPr id="61" name="Shape 56"/>
          <p:cNvSpPr/>
          <p:nvPr/>
        </p:nvSpPr>
        <p:spPr>
          <a:xfrm>
            <a:off x="6415339" y="3999352"/>
            <a:ext cx="328707" cy="1048898"/>
          </a:xfrm>
          <a:prstGeom prst="roundRect">
            <a:avLst>
              <a:gd name="adj" fmla="val 11591"/>
            </a:avLst>
          </a:prstGeom>
          <a:solidFill>
            <a:srgbClr val="2B7BB0"/>
          </a:solidFill>
          <a:ln w="12700">
            <a:solidFill>
              <a:srgbClr val="2B7BB0"/>
            </a:solidFill>
            <a:prstDash val="solid"/>
          </a:ln>
        </p:spPr>
      </p:sp>
      <p:sp>
        <p:nvSpPr>
          <p:cNvPr id="62" name="Text 57"/>
          <p:cNvSpPr txBox="1"/>
          <p:nvPr/>
        </p:nvSpPr>
        <p:spPr>
          <a:xfrm>
            <a:off x="6186739" y="3827902"/>
            <a:ext cx="785907"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Rp868M</a:t>
            </a:r>
            <a:endParaRPr lang="en-US" sz="860" dirty="0"/>
          </a:p>
        </p:txBody>
      </p:sp>
      <p:sp>
        <p:nvSpPr>
          <p:cNvPr id="63" name="Text 58"/>
          <p:cNvSpPr txBox="1"/>
          <p:nvPr/>
        </p:nvSpPr>
        <p:spPr>
          <a:xfrm>
            <a:off x="6324132" y="5095875"/>
            <a:ext cx="511123" cy="3905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Pupuk</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23</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orders</a:t>
            </a:r>
            <a:endParaRPr lang="en-US" sz="830" dirty="0"/>
          </a:p>
        </p:txBody>
      </p:sp>
      <p:sp>
        <p:nvSpPr>
          <p:cNvPr id="64" name="Shape 59"/>
          <p:cNvSpPr/>
          <p:nvPr/>
        </p:nvSpPr>
        <p:spPr>
          <a:xfrm>
            <a:off x="6945512" y="4947814"/>
            <a:ext cx="328707" cy="100436"/>
          </a:xfrm>
          <a:prstGeom prst="roundRect">
            <a:avLst>
              <a:gd name="adj" fmla="val 37935"/>
            </a:avLst>
          </a:prstGeom>
          <a:solidFill>
            <a:srgbClr val="2B7BB0"/>
          </a:solidFill>
          <a:ln w="12700">
            <a:solidFill>
              <a:srgbClr val="2B7BB0"/>
            </a:solidFill>
            <a:prstDash val="solid"/>
          </a:ln>
        </p:spPr>
      </p:sp>
      <p:sp>
        <p:nvSpPr>
          <p:cNvPr id="65" name="Text 60"/>
          <p:cNvSpPr txBox="1"/>
          <p:nvPr/>
        </p:nvSpPr>
        <p:spPr>
          <a:xfrm>
            <a:off x="6716912" y="4776364"/>
            <a:ext cx="785907"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Rp83.1M</a:t>
            </a:r>
            <a:endParaRPr lang="en-US" sz="860" dirty="0"/>
          </a:p>
        </p:txBody>
      </p:sp>
      <p:sp>
        <p:nvSpPr>
          <p:cNvPr id="66" name="Text 61"/>
          <p:cNvSpPr txBox="1"/>
          <p:nvPr/>
        </p:nvSpPr>
        <p:spPr>
          <a:xfrm>
            <a:off x="6854305" y="5095875"/>
            <a:ext cx="511123" cy="3905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Racun</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9 orders</a:t>
            </a:r>
            <a:endParaRPr lang="en-US" sz="830" dirty="0"/>
          </a:p>
        </p:txBody>
      </p:sp>
      <p:sp>
        <p:nvSpPr>
          <p:cNvPr id="67" name="Shape 62"/>
          <p:cNvSpPr/>
          <p:nvPr/>
        </p:nvSpPr>
        <p:spPr>
          <a:xfrm>
            <a:off x="7475685" y="4999488"/>
            <a:ext cx="328707" cy="48762"/>
          </a:xfrm>
          <a:prstGeom prst="roundRect">
            <a:avLst>
              <a:gd name="adj" fmla="val 49999"/>
            </a:avLst>
          </a:prstGeom>
          <a:solidFill>
            <a:srgbClr val="2B7BB0"/>
          </a:solidFill>
          <a:ln w="12700">
            <a:solidFill>
              <a:srgbClr val="2B7BB0"/>
            </a:solidFill>
            <a:prstDash val="solid"/>
          </a:ln>
        </p:spPr>
      </p:sp>
      <p:sp>
        <p:nvSpPr>
          <p:cNvPr id="68" name="Text 63"/>
          <p:cNvSpPr txBox="1"/>
          <p:nvPr/>
        </p:nvSpPr>
        <p:spPr>
          <a:xfrm>
            <a:off x="7247085" y="4828038"/>
            <a:ext cx="785907"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Rp40.3M</a:t>
            </a:r>
            <a:endParaRPr lang="en-US" sz="860" dirty="0"/>
          </a:p>
        </p:txBody>
      </p:sp>
      <p:sp>
        <p:nvSpPr>
          <p:cNvPr id="69" name="Text 64"/>
          <p:cNvSpPr txBox="1"/>
          <p:nvPr/>
        </p:nvSpPr>
        <p:spPr>
          <a:xfrm>
            <a:off x="7384477" y="5095875"/>
            <a:ext cx="511123" cy="3905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Benih</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6 orders</a:t>
            </a:r>
            <a:endParaRPr lang="en-US" sz="830" dirty="0"/>
          </a:p>
        </p:txBody>
      </p:sp>
      <p:sp>
        <p:nvSpPr>
          <p:cNvPr id="70" name="Shape 65"/>
          <p:cNvSpPr/>
          <p:nvPr/>
        </p:nvSpPr>
        <p:spPr>
          <a:xfrm>
            <a:off x="4724088" y="5048250"/>
            <a:ext cx="3181038" cy="0"/>
          </a:xfrm>
          <a:prstGeom prst="line">
            <a:avLst/>
          </a:prstGeom>
          <a:noFill/>
          <a:ln w="9525">
            <a:solidFill>
              <a:srgbClr val="B9C2B0"/>
            </a:solidFill>
            <a:prstDash val="solid"/>
          </a:ln>
        </p:spPr>
      </p:sp>
      <p:sp>
        <p:nvSpPr>
          <p:cNvPr id="71" name="Text 66"/>
          <p:cNvSpPr txBox="1"/>
          <p:nvPr/>
        </p:nvSpPr>
        <p:spPr>
          <a:xfrm>
            <a:off x="4705038" y="5562600"/>
            <a:ext cx="3219138" cy="495300"/>
          </a:xfrm>
          <a:prstGeom prst="rect">
            <a:avLst/>
          </a:prstGeom>
          <a:noFill/>
          <a:ln/>
        </p:spPr>
        <p:txBody>
          <a:bodyPr wrap="square" lIns="0" tIns="0" rIns="0" bIns="0" rtlCol="0" anchor="b">
            <a:normAutofit/>
          </a:bodyPr>
          <a:lstStyle/>
          <a:p>
            <a:pPr indent="0" marL="0">
              <a:buNone/>
            </a:pPr>
            <a:r>
              <a:rPr lang="en-US" sz="1000" dirty="0">
                <a:solidFill>
                  <a:srgbClr val="535353"/>
                </a:solidFill>
                <a:latin typeface="Plus Jakarta Sans" pitchFamily="34" charset="0"/>
                <a:ea typeface="Plus Jakarta Sans" pitchFamily="34" charset="-122"/>
                <a:cs typeface="Plus Jakarta Sans" pitchFamily="34" charset="-120"/>
              </a:rPr>
              <a:t>By product category, Pupuk Grosir brings the most GMV (32%) and Toling the most orders (125).</a:t>
            </a:r>
            <a:endParaRPr lang="en-US" sz="1000" dirty="0"/>
          </a:p>
        </p:txBody>
      </p:sp>
      <p:sp>
        <p:nvSpPr>
          <p:cNvPr id="72" name="Shape 67"/>
          <p:cNvSpPr/>
          <p:nvPr/>
        </p:nvSpPr>
        <p:spPr>
          <a:xfrm>
            <a:off x="8267075" y="1714500"/>
            <a:ext cx="2781925" cy="1377950"/>
          </a:xfrm>
          <a:prstGeom prst="roundRect">
            <a:avLst>
              <a:gd name="adj" fmla="val 7963"/>
            </a:avLst>
          </a:prstGeom>
          <a:solidFill>
            <a:srgbClr val="4A653B"/>
          </a:solidFill>
          <a:ln w="12700">
            <a:solidFill>
              <a:srgbClr val="4A653B"/>
            </a:solidFill>
            <a:prstDash val="solid"/>
          </a:ln>
        </p:spPr>
      </p:sp>
      <p:sp>
        <p:nvSpPr>
          <p:cNvPr id="73" name="Text 68"/>
          <p:cNvSpPr txBox="1"/>
          <p:nvPr/>
        </p:nvSpPr>
        <p:spPr>
          <a:xfrm>
            <a:off x="8419475" y="1828800"/>
            <a:ext cx="2477125"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46</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a:t>
            </a:r>
            <a:endParaRPr lang="en-US" sz="2800" dirty="0"/>
          </a:p>
        </p:txBody>
      </p:sp>
      <p:sp>
        <p:nvSpPr>
          <p:cNvPr id="74" name="Text 69"/>
          <p:cNvSpPr txBox="1"/>
          <p:nvPr/>
        </p:nvSpPr>
        <p:spPr>
          <a:xfrm>
            <a:off x="8419475" y="2247900"/>
            <a:ext cx="2477125" cy="78740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of GMV is KCL / MOP</a:t>
            </a:r>
            <a:endParaRPr lang="en-US" sz="950" dirty="0"/>
          </a:p>
        </p:txBody>
      </p:sp>
      <p:sp>
        <p:nvSpPr>
          <p:cNvPr id="75" name="Shape 70"/>
          <p:cNvSpPr/>
          <p:nvPr/>
        </p:nvSpPr>
        <p:spPr>
          <a:xfrm>
            <a:off x="8267075" y="3225800"/>
            <a:ext cx="2781925" cy="1377950"/>
          </a:xfrm>
          <a:prstGeom prst="roundRect">
            <a:avLst>
              <a:gd name="adj" fmla="val 7963"/>
            </a:avLst>
          </a:prstGeom>
          <a:solidFill>
            <a:srgbClr val="FFFFFF"/>
          </a:solidFill>
          <a:ln w="12700">
            <a:solidFill>
              <a:srgbClr val="FFFFFF"/>
            </a:solidFill>
            <a:prstDash val="solid"/>
          </a:ln>
        </p:spPr>
      </p:sp>
      <p:sp>
        <p:nvSpPr>
          <p:cNvPr id="76" name="Text 71"/>
          <p:cNvSpPr txBox="1"/>
          <p:nvPr/>
        </p:nvSpPr>
        <p:spPr>
          <a:xfrm>
            <a:off x="8419475" y="3340100"/>
            <a:ext cx="2477125"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1.6</a:t>
            </a:r>
            <a:pPr indent="0" marL="0">
              <a:buNone/>
            </a:pPr>
            <a:endParaRPr lang="en-US" sz="2800" dirty="0"/>
          </a:p>
        </p:txBody>
      </p:sp>
      <p:sp>
        <p:nvSpPr>
          <p:cNvPr id="77" name="Text 72"/>
          <p:cNvSpPr txBox="1"/>
          <p:nvPr/>
        </p:nvSpPr>
        <p:spPr>
          <a:xfrm>
            <a:off x="8419475" y="3759200"/>
            <a:ext cx="2477125" cy="787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products per order; 76 of 237 orders mix product types, most often KCL / MOP + Rock phosphate (RP)</a:t>
            </a:r>
            <a:endParaRPr lang="en-US" sz="950" dirty="0"/>
          </a:p>
        </p:txBody>
      </p:sp>
      <p:sp>
        <p:nvSpPr>
          <p:cNvPr id="78" name="Shape 73"/>
          <p:cNvSpPr/>
          <p:nvPr/>
        </p:nvSpPr>
        <p:spPr>
          <a:xfrm>
            <a:off x="8267075" y="4737100"/>
            <a:ext cx="2781925" cy="1377950"/>
          </a:xfrm>
          <a:prstGeom prst="roundRect">
            <a:avLst>
              <a:gd name="adj" fmla="val 7963"/>
            </a:avLst>
          </a:prstGeom>
          <a:solidFill>
            <a:srgbClr val="FFFFFF"/>
          </a:solidFill>
          <a:ln w="12700">
            <a:solidFill>
              <a:srgbClr val="FFFFFF"/>
            </a:solidFill>
            <a:prstDash val="solid"/>
          </a:ln>
        </p:spPr>
      </p:sp>
      <p:sp>
        <p:nvSpPr>
          <p:cNvPr id="79" name="Text 74"/>
          <p:cNvSpPr txBox="1"/>
          <p:nvPr/>
        </p:nvSpPr>
        <p:spPr>
          <a:xfrm>
            <a:off x="8419475" y="4851400"/>
            <a:ext cx="2477125"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+43</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a:t>
            </a:r>
            <a:endParaRPr lang="en-US" sz="2800" dirty="0"/>
          </a:p>
        </p:txBody>
      </p:sp>
      <p:sp>
        <p:nvSpPr>
          <p:cNvPr id="80" name="Text 75"/>
          <p:cNvSpPr txBox="1"/>
          <p:nvPr/>
        </p:nvSpPr>
        <p:spPr>
          <a:xfrm>
            <a:off x="8419475" y="5270500"/>
            <a:ext cx="2477125" cy="787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price gap on Urea Nitrea 46% N 50kg across 23 order lines (Rp454,080–Rp649,250 per unit)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10</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JUL–SEP · WHO BOUGHT AND HOW</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Riau is 81% of GMV; Kampar has the most customers (45)</a:t>
            </a:r>
            <a:endParaRPr lang="en-US" sz="2300" dirty="0"/>
          </a:p>
        </p:txBody>
      </p:sp>
      <p:sp>
        <p:nvSpPr>
          <p:cNvPr id="11" name="Shape 6"/>
          <p:cNvSpPr/>
          <p:nvPr/>
        </p:nvSpPr>
        <p:spPr>
          <a:xfrm>
            <a:off x="762000" y="1714500"/>
            <a:ext cx="3383797" cy="4400550"/>
          </a:xfrm>
          <a:prstGeom prst="roundRect">
            <a:avLst>
              <a:gd name="adj" fmla="val 3243"/>
            </a:avLst>
          </a:prstGeom>
          <a:solidFill>
            <a:srgbClr val="FFFFFF"/>
          </a:solidFill>
          <a:ln w="12700">
            <a:solidFill>
              <a:srgbClr val="FFFFFF"/>
            </a:solidFill>
            <a:prstDash val="solid"/>
          </a:ln>
        </p:spPr>
      </p:sp>
      <p:sp>
        <p:nvSpPr>
          <p:cNvPr id="12" name="Text 7"/>
          <p:cNvSpPr txBox="1"/>
          <p:nvPr/>
        </p:nvSpPr>
        <p:spPr>
          <a:xfrm>
            <a:off x="952500" y="1866900"/>
            <a:ext cx="3002797"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customer region</a:t>
            </a:r>
            <a:endParaRPr lang="en-US" sz="1300" dirty="0"/>
          </a:p>
        </p:txBody>
      </p:sp>
      <p:sp>
        <p:nvSpPr>
          <p:cNvPr id="13" name="Text 8"/>
          <p:cNvSpPr txBox="1"/>
          <p:nvPr/>
        </p:nvSpPr>
        <p:spPr>
          <a:xfrm>
            <a:off x="952500" y="2095500"/>
            <a:ext cx="3002797"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Riau 81% · Sumatera Utara 16% · Jambi 3% · Sumatera Selatan 0% · Kalimantan Barat 0%; customers in grey</a:t>
            </a:r>
            <a:endParaRPr lang="en-US" sz="950" dirty="0"/>
          </a:p>
        </p:txBody>
      </p:sp>
      <p:sp>
        <p:nvSpPr>
          <p:cNvPr id="14" name="Text 9"/>
          <p:cNvSpPr txBox="1"/>
          <p:nvPr/>
        </p:nvSpPr>
        <p:spPr>
          <a:xfrm>
            <a:off x="971550" y="2381250"/>
            <a:ext cx="1778644"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Kampar</a:t>
            </a:r>
            <a:endParaRPr lang="en-US" sz="940" dirty="0"/>
          </a:p>
        </p:txBody>
      </p:sp>
      <p:sp>
        <p:nvSpPr>
          <p:cNvPr id="15" name="Text 10"/>
          <p:cNvSpPr txBox="1"/>
          <p:nvPr/>
        </p:nvSpPr>
        <p:spPr>
          <a:xfrm>
            <a:off x="3431422" y="2381250"/>
            <a:ext cx="5048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Rp1.59B</a:t>
            </a:r>
            <a:endParaRPr lang="en-US" sz="940" dirty="0"/>
          </a:p>
        </p:txBody>
      </p:sp>
      <p:sp>
        <p:nvSpPr>
          <p:cNvPr id="16" name="Text 11"/>
          <p:cNvSpPr txBox="1"/>
          <p:nvPr/>
        </p:nvSpPr>
        <p:spPr>
          <a:xfrm>
            <a:off x="2807344" y="2381250"/>
            <a:ext cx="547878"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45 cust.</a:t>
            </a:r>
            <a:endParaRPr lang="en-US" sz="860" dirty="0"/>
          </a:p>
        </p:txBody>
      </p:sp>
      <p:sp>
        <p:nvSpPr>
          <p:cNvPr id="17" name="Shape 12"/>
          <p:cNvSpPr/>
          <p:nvPr/>
        </p:nvSpPr>
        <p:spPr>
          <a:xfrm>
            <a:off x="971550" y="2667000"/>
            <a:ext cx="2964697" cy="114300"/>
          </a:xfrm>
          <a:prstGeom prst="roundRect">
            <a:avLst>
              <a:gd name="adj" fmla="val 25000"/>
            </a:avLst>
          </a:prstGeom>
          <a:solidFill>
            <a:srgbClr val="E9EDE5"/>
          </a:solidFill>
          <a:ln w="12700">
            <a:solidFill>
              <a:srgbClr val="E9EDE5"/>
            </a:solidFill>
            <a:prstDash val="solid"/>
          </a:ln>
        </p:spPr>
      </p:sp>
      <p:sp>
        <p:nvSpPr>
          <p:cNvPr id="18" name="Shape 13"/>
          <p:cNvSpPr/>
          <p:nvPr/>
        </p:nvSpPr>
        <p:spPr>
          <a:xfrm>
            <a:off x="971550" y="2667000"/>
            <a:ext cx="2964697" cy="114300"/>
          </a:xfrm>
          <a:prstGeom prst="roundRect">
            <a:avLst>
              <a:gd name="adj" fmla="val 25000"/>
            </a:avLst>
          </a:prstGeom>
          <a:solidFill>
            <a:srgbClr val="3E7B27"/>
          </a:solidFill>
          <a:ln w="12700">
            <a:solidFill>
              <a:srgbClr val="3E7B27"/>
            </a:solidFill>
            <a:prstDash val="solid"/>
          </a:ln>
        </p:spPr>
      </p:sp>
      <p:sp>
        <p:nvSpPr>
          <p:cNvPr id="19" name="Text 14"/>
          <p:cNvSpPr txBox="1"/>
          <p:nvPr/>
        </p:nvSpPr>
        <p:spPr>
          <a:xfrm>
            <a:off x="971550" y="2819400"/>
            <a:ext cx="1839985"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Siak</a:t>
            </a:r>
            <a:endParaRPr lang="en-US" sz="940" dirty="0"/>
          </a:p>
        </p:txBody>
      </p:sp>
      <p:sp>
        <p:nvSpPr>
          <p:cNvPr id="20" name="Text 15"/>
          <p:cNvSpPr txBox="1"/>
          <p:nvPr/>
        </p:nvSpPr>
        <p:spPr>
          <a:xfrm>
            <a:off x="3431422" y="2819400"/>
            <a:ext cx="5048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Rp1.13B</a:t>
            </a:r>
            <a:endParaRPr lang="en-US" sz="940" dirty="0"/>
          </a:p>
        </p:txBody>
      </p:sp>
      <p:sp>
        <p:nvSpPr>
          <p:cNvPr id="21" name="Text 16"/>
          <p:cNvSpPr txBox="1"/>
          <p:nvPr/>
        </p:nvSpPr>
        <p:spPr>
          <a:xfrm>
            <a:off x="2868685" y="2819400"/>
            <a:ext cx="486537"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6 cust.</a:t>
            </a:r>
            <a:endParaRPr lang="en-US" sz="860" dirty="0"/>
          </a:p>
        </p:txBody>
      </p:sp>
      <p:sp>
        <p:nvSpPr>
          <p:cNvPr id="22" name="Shape 17"/>
          <p:cNvSpPr/>
          <p:nvPr/>
        </p:nvSpPr>
        <p:spPr>
          <a:xfrm>
            <a:off x="971550" y="3105150"/>
            <a:ext cx="2964697" cy="114300"/>
          </a:xfrm>
          <a:prstGeom prst="roundRect">
            <a:avLst>
              <a:gd name="adj" fmla="val 25000"/>
            </a:avLst>
          </a:prstGeom>
          <a:solidFill>
            <a:srgbClr val="E9EDE5"/>
          </a:solidFill>
          <a:ln w="12700">
            <a:solidFill>
              <a:srgbClr val="E9EDE5"/>
            </a:solidFill>
            <a:prstDash val="solid"/>
          </a:ln>
        </p:spPr>
      </p:sp>
      <p:sp>
        <p:nvSpPr>
          <p:cNvPr id="23" name="Shape 18"/>
          <p:cNvSpPr/>
          <p:nvPr/>
        </p:nvSpPr>
        <p:spPr>
          <a:xfrm>
            <a:off x="971550" y="3105150"/>
            <a:ext cx="2093739" cy="114300"/>
          </a:xfrm>
          <a:prstGeom prst="roundRect">
            <a:avLst>
              <a:gd name="adj" fmla="val 25000"/>
            </a:avLst>
          </a:prstGeom>
          <a:solidFill>
            <a:srgbClr val="3E7B27"/>
          </a:solidFill>
          <a:ln w="12700">
            <a:solidFill>
              <a:srgbClr val="3E7B27"/>
            </a:solidFill>
            <a:prstDash val="solid"/>
          </a:ln>
        </p:spPr>
      </p:sp>
      <p:sp>
        <p:nvSpPr>
          <p:cNvPr id="24" name="Text 19"/>
          <p:cNvSpPr txBox="1"/>
          <p:nvPr/>
        </p:nvSpPr>
        <p:spPr>
          <a:xfrm>
            <a:off x="971550" y="3257550"/>
            <a:ext cx="1845319"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Rokan Hulu</a:t>
            </a:r>
            <a:endParaRPr lang="en-US" sz="940" dirty="0"/>
          </a:p>
        </p:txBody>
      </p:sp>
      <p:sp>
        <p:nvSpPr>
          <p:cNvPr id="25" name="Text 20"/>
          <p:cNvSpPr txBox="1"/>
          <p:nvPr/>
        </p:nvSpPr>
        <p:spPr>
          <a:xfrm>
            <a:off x="3498097" y="325755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Rp720M</a:t>
            </a:r>
            <a:endParaRPr lang="en-US" sz="940" dirty="0"/>
          </a:p>
        </p:txBody>
      </p:sp>
      <p:sp>
        <p:nvSpPr>
          <p:cNvPr id="26" name="Text 21"/>
          <p:cNvSpPr txBox="1"/>
          <p:nvPr/>
        </p:nvSpPr>
        <p:spPr>
          <a:xfrm>
            <a:off x="2874019" y="3257550"/>
            <a:ext cx="547878"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12 cust.</a:t>
            </a:r>
            <a:endParaRPr lang="en-US" sz="860" dirty="0"/>
          </a:p>
        </p:txBody>
      </p:sp>
      <p:sp>
        <p:nvSpPr>
          <p:cNvPr id="27" name="Shape 22"/>
          <p:cNvSpPr/>
          <p:nvPr/>
        </p:nvSpPr>
        <p:spPr>
          <a:xfrm>
            <a:off x="971550" y="3543300"/>
            <a:ext cx="2964697" cy="114300"/>
          </a:xfrm>
          <a:prstGeom prst="roundRect">
            <a:avLst>
              <a:gd name="adj" fmla="val 25000"/>
            </a:avLst>
          </a:prstGeom>
          <a:solidFill>
            <a:srgbClr val="E9EDE5"/>
          </a:solidFill>
          <a:ln w="12700">
            <a:solidFill>
              <a:srgbClr val="E9EDE5"/>
            </a:solidFill>
            <a:prstDash val="solid"/>
          </a:ln>
        </p:spPr>
      </p:sp>
      <p:sp>
        <p:nvSpPr>
          <p:cNvPr id="28" name="Shape 23"/>
          <p:cNvSpPr/>
          <p:nvPr/>
        </p:nvSpPr>
        <p:spPr>
          <a:xfrm>
            <a:off x="971550" y="3543300"/>
            <a:ext cx="1338967" cy="114300"/>
          </a:xfrm>
          <a:prstGeom prst="roundRect">
            <a:avLst>
              <a:gd name="adj" fmla="val 25000"/>
            </a:avLst>
          </a:prstGeom>
          <a:solidFill>
            <a:srgbClr val="3E7B27"/>
          </a:solidFill>
          <a:ln w="12700">
            <a:solidFill>
              <a:srgbClr val="3E7B27"/>
            </a:solidFill>
            <a:prstDash val="solid"/>
          </a:ln>
        </p:spPr>
      </p:sp>
      <p:sp>
        <p:nvSpPr>
          <p:cNvPr id="29" name="Text 24"/>
          <p:cNvSpPr txBox="1"/>
          <p:nvPr/>
        </p:nvSpPr>
        <p:spPr>
          <a:xfrm>
            <a:off x="971550" y="3695700"/>
            <a:ext cx="1906660"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Kambar</a:t>
            </a:r>
            <a:endParaRPr lang="en-US" sz="940" dirty="0"/>
          </a:p>
        </p:txBody>
      </p:sp>
      <p:sp>
        <p:nvSpPr>
          <p:cNvPr id="30" name="Text 25"/>
          <p:cNvSpPr txBox="1"/>
          <p:nvPr/>
        </p:nvSpPr>
        <p:spPr>
          <a:xfrm>
            <a:off x="3498097" y="369570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Rp374M</a:t>
            </a:r>
            <a:endParaRPr lang="en-US" sz="940" dirty="0"/>
          </a:p>
        </p:txBody>
      </p:sp>
      <p:sp>
        <p:nvSpPr>
          <p:cNvPr id="31" name="Text 26"/>
          <p:cNvSpPr txBox="1"/>
          <p:nvPr/>
        </p:nvSpPr>
        <p:spPr>
          <a:xfrm>
            <a:off x="2935360" y="3695700"/>
            <a:ext cx="486537"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 cust.</a:t>
            </a:r>
            <a:endParaRPr lang="en-US" sz="860" dirty="0"/>
          </a:p>
        </p:txBody>
      </p:sp>
      <p:sp>
        <p:nvSpPr>
          <p:cNvPr id="32" name="Shape 27"/>
          <p:cNvSpPr/>
          <p:nvPr/>
        </p:nvSpPr>
        <p:spPr>
          <a:xfrm>
            <a:off x="971550" y="3981450"/>
            <a:ext cx="2964697" cy="114300"/>
          </a:xfrm>
          <a:prstGeom prst="roundRect">
            <a:avLst>
              <a:gd name="adj" fmla="val 25000"/>
            </a:avLst>
          </a:prstGeom>
          <a:solidFill>
            <a:srgbClr val="E9EDE5"/>
          </a:solidFill>
          <a:ln w="12700">
            <a:solidFill>
              <a:srgbClr val="E9EDE5"/>
            </a:solidFill>
            <a:prstDash val="solid"/>
          </a:ln>
        </p:spPr>
      </p:sp>
      <p:sp>
        <p:nvSpPr>
          <p:cNvPr id="33" name="Shape 28"/>
          <p:cNvSpPr/>
          <p:nvPr/>
        </p:nvSpPr>
        <p:spPr>
          <a:xfrm>
            <a:off x="971550" y="3981450"/>
            <a:ext cx="695191" cy="114300"/>
          </a:xfrm>
          <a:prstGeom prst="roundRect">
            <a:avLst>
              <a:gd name="adj" fmla="val 25000"/>
            </a:avLst>
          </a:prstGeom>
          <a:solidFill>
            <a:srgbClr val="3E7B27"/>
          </a:solidFill>
          <a:ln w="12700">
            <a:solidFill>
              <a:srgbClr val="3E7B27"/>
            </a:solidFill>
            <a:prstDash val="solid"/>
          </a:ln>
        </p:spPr>
      </p:sp>
      <p:sp>
        <p:nvSpPr>
          <p:cNvPr id="34" name="Text 29"/>
          <p:cNvSpPr txBox="1"/>
          <p:nvPr/>
        </p:nvSpPr>
        <p:spPr>
          <a:xfrm>
            <a:off x="971550" y="4133850"/>
            <a:ext cx="1906660"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Pelalawan</a:t>
            </a:r>
            <a:endParaRPr lang="en-US" sz="940" dirty="0"/>
          </a:p>
        </p:txBody>
      </p:sp>
      <p:sp>
        <p:nvSpPr>
          <p:cNvPr id="35" name="Text 30"/>
          <p:cNvSpPr txBox="1"/>
          <p:nvPr/>
        </p:nvSpPr>
        <p:spPr>
          <a:xfrm>
            <a:off x="3498097" y="413385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Rp319M</a:t>
            </a:r>
            <a:endParaRPr lang="en-US" sz="940" dirty="0"/>
          </a:p>
        </p:txBody>
      </p:sp>
      <p:sp>
        <p:nvSpPr>
          <p:cNvPr id="36" name="Text 31"/>
          <p:cNvSpPr txBox="1"/>
          <p:nvPr/>
        </p:nvSpPr>
        <p:spPr>
          <a:xfrm>
            <a:off x="2935360" y="4133850"/>
            <a:ext cx="486537"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3 cust.</a:t>
            </a:r>
            <a:endParaRPr lang="en-US" sz="860" dirty="0"/>
          </a:p>
        </p:txBody>
      </p:sp>
      <p:sp>
        <p:nvSpPr>
          <p:cNvPr id="37" name="Shape 32"/>
          <p:cNvSpPr/>
          <p:nvPr/>
        </p:nvSpPr>
        <p:spPr>
          <a:xfrm>
            <a:off x="971550" y="4419600"/>
            <a:ext cx="2964697" cy="114300"/>
          </a:xfrm>
          <a:prstGeom prst="roundRect">
            <a:avLst>
              <a:gd name="adj" fmla="val 25000"/>
            </a:avLst>
          </a:prstGeom>
          <a:solidFill>
            <a:srgbClr val="E9EDE5"/>
          </a:solidFill>
          <a:ln w="12700">
            <a:solidFill>
              <a:srgbClr val="E9EDE5"/>
            </a:solidFill>
            <a:prstDash val="solid"/>
          </a:ln>
        </p:spPr>
      </p:sp>
      <p:sp>
        <p:nvSpPr>
          <p:cNvPr id="38" name="Shape 33"/>
          <p:cNvSpPr/>
          <p:nvPr/>
        </p:nvSpPr>
        <p:spPr>
          <a:xfrm>
            <a:off x="971550" y="4419600"/>
            <a:ext cx="592673" cy="114300"/>
          </a:xfrm>
          <a:prstGeom prst="roundRect">
            <a:avLst>
              <a:gd name="adj" fmla="val 25000"/>
            </a:avLst>
          </a:prstGeom>
          <a:solidFill>
            <a:srgbClr val="3E7B27"/>
          </a:solidFill>
          <a:ln w="12700">
            <a:solidFill>
              <a:srgbClr val="3E7B27"/>
            </a:solidFill>
            <a:prstDash val="solid"/>
          </a:ln>
        </p:spPr>
      </p:sp>
      <p:sp>
        <p:nvSpPr>
          <p:cNvPr id="39" name="Text 34"/>
          <p:cNvSpPr txBox="1"/>
          <p:nvPr/>
        </p:nvSpPr>
        <p:spPr>
          <a:xfrm>
            <a:off x="971550" y="4572000"/>
            <a:ext cx="1845319"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Rokan Hilir</a:t>
            </a:r>
            <a:endParaRPr lang="en-US" sz="940" dirty="0"/>
          </a:p>
        </p:txBody>
      </p:sp>
      <p:sp>
        <p:nvSpPr>
          <p:cNvPr id="40" name="Text 35"/>
          <p:cNvSpPr txBox="1"/>
          <p:nvPr/>
        </p:nvSpPr>
        <p:spPr>
          <a:xfrm>
            <a:off x="3498097" y="457200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Rp285M</a:t>
            </a:r>
            <a:endParaRPr lang="en-US" sz="940" dirty="0"/>
          </a:p>
        </p:txBody>
      </p:sp>
      <p:sp>
        <p:nvSpPr>
          <p:cNvPr id="41" name="Text 36"/>
          <p:cNvSpPr txBox="1"/>
          <p:nvPr/>
        </p:nvSpPr>
        <p:spPr>
          <a:xfrm>
            <a:off x="2874019" y="4572000"/>
            <a:ext cx="547878"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11 cust.</a:t>
            </a:r>
            <a:endParaRPr lang="en-US" sz="860" dirty="0"/>
          </a:p>
        </p:txBody>
      </p:sp>
      <p:sp>
        <p:nvSpPr>
          <p:cNvPr id="42" name="Shape 37"/>
          <p:cNvSpPr/>
          <p:nvPr/>
        </p:nvSpPr>
        <p:spPr>
          <a:xfrm>
            <a:off x="971550" y="4857750"/>
            <a:ext cx="2964697" cy="114300"/>
          </a:xfrm>
          <a:prstGeom prst="roundRect">
            <a:avLst>
              <a:gd name="adj" fmla="val 25000"/>
            </a:avLst>
          </a:prstGeom>
          <a:solidFill>
            <a:srgbClr val="E9EDE5"/>
          </a:solidFill>
          <a:ln w="12700">
            <a:solidFill>
              <a:srgbClr val="E9EDE5"/>
            </a:solidFill>
            <a:prstDash val="solid"/>
          </a:ln>
        </p:spPr>
      </p:sp>
      <p:sp>
        <p:nvSpPr>
          <p:cNvPr id="43" name="Shape 38"/>
          <p:cNvSpPr/>
          <p:nvPr/>
        </p:nvSpPr>
        <p:spPr>
          <a:xfrm>
            <a:off x="971550" y="4857750"/>
            <a:ext cx="529145" cy="114300"/>
          </a:xfrm>
          <a:prstGeom prst="roundRect">
            <a:avLst>
              <a:gd name="adj" fmla="val 25000"/>
            </a:avLst>
          </a:prstGeom>
          <a:solidFill>
            <a:srgbClr val="3E7B27"/>
          </a:solidFill>
          <a:ln w="12700">
            <a:solidFill>
              <a:srgbClr val="3E7B27"/>
            </a:solidFill>
            <a:prstDash val="solid"/>
          </a:ln>
        </p:spPr>
      </p:sp>
      <p:sp>
        <p:nvSpPr>
          <p:cNvPr id="44" name="Text 39"/>
          <p:cNvSpPr txBox="1"/>
          <p:nvPr/>
        </p:nvSpPr>
        <p:spPr>
          <a:xfrm>
            <a:off x="971550" y="5010150"/>
            <a:ext cx="1906660"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Medan</a:t>
            </a:r>
            <a:endParaRPr lang="en-US" sz="940" dirty="0"/>
          </a:p>
        </p:txBody>
      </p:sp>
      <p:sp>
        <p:nvSpPr>
          <p:cNvPr id="45" name="Text 40"/>
          <p:cNvSpPr txBox="1"/>
          <p:nvPr/>
        </p:nvSpPr>
        <p:spPr>
          <a:xfrm>
            <a:off x="3498097" y="5010150"/>
            <a:ext cx="438150"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Rp258M</a:t>
            </a:r>
            <a:endParaRPr lang="en-US" sz="940" dirty="0"/>
          </a:p>
        </p:txBody>
      </p:sp>
      <p:sp>
        <p:nvSpPr>
          <p:cNvPr id="46" name="Text 41"/>
          <p:cNvSpPr txBox="1"/>
          <p:nvPr/>
        </p:nvSpPr>
        <p:spPr>
          <a:xfrm>
            <a:off x="2935360" y="5010150"/>
            <a:ext cx="486537"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 cust.</a:t>
            </a:r>
            <a:endParaRPr lang="en-US" sz="860" dirty="0"/>
          </a:p>
        </p:txBody>
      </p:sp>
      <p:sp>
        <p:nvSpPr>
          <p:cNvPr id="47" name="Shape 42"/>
          <p:cNvSpPr/>
          <p:nvPr/>
        </p:nvSpPr>
        <p:spPr>
          <a:xfrm>
            <a:off x="971550" y="5295900"/>
            <a:ext cx="2964697" cy="114300"/>
          </a:xfrm>
          <a:prstGeom prst="roundRect">
            <a:avLst>
              <a:gd name="adj" fmla="val 25000"/>
            </a:avLst>
          </a:prstGeom>
          <a:solidFill>
            <a:srgbClr val="E9EDE5"/>
          </a:solidFill>
          <a:ln w="12700">
            <a:solidFill>
              <a:srgbClr val="E9EDE5"/>
            </a:solidFill>
            <a:prstDash val="solid"/>
          </a:ln>
        </p:spPr>
      </p:sp>
      <p:sp>
        <p:nvSpPr>
          <p:cNvPr id="48" name="Shape 43"/>
          <p:cNvSpPr/>
          <p:nvPr/>
        </p:nvSpPr>
        <p:spPr>
          <a:xfrm>
            <a:off x="971550" y="5295900"/>
            <a:ext cx="479572" cy="114300"/>
          </a:xfrm>
          <a:prstGeom prst="roundRect">
            <a:avLst>
              <a:gd name="adj" fmla="val 25000"/>
            </a:avLst>
          </a:prstGeom>
          <a:solidFill>
            <a:srgbClr val="3E7B27"/>
          </a:solidFill>
          <a:ln w="12700">
            <a:solidFill>
              <a:srgbClr val="3E7B27"/>
            </a:solidFill>
            <a:prstDash val="solid"/>
          </a:ln>
        </p:spPr>
      </p:sp>
      <p:sp>
        <p:nvSpPr>
          <p:cNvPr id="49" name="Shape 44"/>
          <p:cNvSpPr/>
          <p:nvPr/>
        </p:nvSpPr>
        <p:spPr>
          <a:xfrm>
            <a:off x="4298197" y="1714500"/>
            <a:ext cx="3891366" cy="2133600"/>
          </a:xfrm>
          <a:prstGeom prst="roundRect">
            <a:avLst>
              <a:gd name="adj" fmla="val 5143"/>
            </a:avLst>
          </a:prstGeom>
          <a:solidFill>
            <a:srgbClr val="FFFFFF"/>
          </a:solidFill>
          <a:ln w="12700">
            <a:solidFill>
              <a:srgbClr val="FFFFFF"/>
            </a:solidFill>
            <a:prstDash val="solid"/>
          </a:ln>
        </p:spPr>
      </p:sp>
      <p:sp>
        <p:nvSpPr>
          <p:cNvPr id="50" name="Text 45"/>
          <p:cNvSpPr txBox="1"/>
          <p:nvPr/>
        </p:nvSpPr>
        <p:spPr>
          <a:xfrm>
            <a:off x="4488697" y="1866900"/>
            <a:ext cx="3510366"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Average order value</a:t>
            </a:r>
            <a:endParaRPr lang="en-US" sz="1300" dirty="0"/>
          </a:p>
        </p:txBody>
      </p:sp>
      <p:sp>
        <p:nvSpPr>
          <p:cNvPr id="51" name="Text 46"/>
          <p:cNvSpPr txBox="1"/>
          <p:nvPr/>
        </p:nvSpPr>
        <p:spPr>
          <a:xfrm>
            <a:off x="4488697" y="2095500"/>
            <a:ext cx="3510366"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By ordering channel and customer type</a:t>
            </a:r>
            <a:endParaRPr lang="en-US" sz="950" dirty="0"/>
          </a:p>
        </p:txBody>
      </p:sp>
      <p:sp>
        <p:nvSpPr>
          <p:cNvPr id="52" name="Shape 47"/>
          <p:cNvSpPr/>
          <p:nvPr/>
        </p:nvSpPr>
        <p:spPr>
          <a:xfrm>
            <a:off x="4507747" y="2409825"/>
            <a:ext cx="104775" cy="104775"/>
          </a:xfrm>
          <a:prstGeom prst="roundRect">
            <a:avLst>
              <a:gd name="adj" fmla="val 18182"/>
            </a:avLst>
          </a:prstGeom>
          <a:solidFill>
            <a:srgbClr val="3E7B27"/>
          </a:solidFill>
          <a:ln w="12700">
            <a:solidFill>
              <a:srgbClr val="3E7B27"/>
            </a:solidFill>
            <a:prstDash val="solid"/>
          </a:ln>
        </p:spPr>
      </p:sp>
      <p:sp>
        <p:nvSpPr>
          <p:cNvPr id="53" name="Text 48"/>
          <p:cNvSpPr txBox="1"/>
          <p:nvPr/>
        </p:nvSpPr>
        <p:spPr>
          <a:xfrm>
            <a:off x="4660147" y="2381250"/>
            <a:ext cx="1114806"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Ordering channel</a:t>
            </a:r>
            <a:endParaRPr lang="en-US" sz="860" dirty="0"/>
          </a:p>
        </p:txBody>
      </p:sp>
      <p:sp>
        <p:nvSpPr>
          <p:cNvPr id="54" name="Shape 49"/>
          <p:cNvSpPr/>
          <p:nvPr/>
        </p:nvSpPr>
        <p:spPr>
          <a:xfrm>
            <a:off x="5774953" y="2409825"/>
            <a:ext cx="104775" cy="104775"/>
          </a:xfrm>
          <a:prstGeom prst="roundRect">
            <a:avLst>
              <a:gd name="adj" fmla="val 18182"/>
            </a:avLst>
          </a:prstGeom>
          <a:solidFill>
            <a:srgbClr val="2B7BB0"/>
          </a:solidFill>
          <a:ln w="12700">
            <a:solidFill>
              <a:srgbClr val="2B7BB0"/>
            </a:solidFill>
            <a:prstDash val="solid"/>
          </a:ln>
        </p:spPr>
      </p:sp>
      <p:sp>
        <p:nvSpPr>
          <p:cNvPr id="55" name="Text 50"/>
          <p:cNvSpPr txBox="1"/>
          <p:nvPr/>
        </p:nvSpPr>
        <p:spPr>
          <a:xfrm>
            <a:off x="5927353" y="2381250"/>
            <a:ext cx="930783"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Customer type</a:t>
            </a:r>
            <a:endParaRPr lang="en-US" sz="860" dirty="0"/>
          </a:p>
        </p:txBody>
      </p:sp>
      <p:sp>
        <p:nvSpPr>
          <p:cNvPr id="56" name="Shape 51"/>
          <p:cNvSpPr/>
          <p:nvPr/>
        </p:nvSpPr>
        <p:spPr>
          <a:xfrm>
            <a:off x="4639693" y="2819400"/>
            <a:ext cx="430561" cy="571500"/>
          </a:xfrm>
          <a:prstGeom prst="roundRect">
            <a:avLst>
              <a:gd name="adj" fmla="val 8849"/>
            </a:avLst>
          </a:prstGeom>
          <a:solidFill>
            <a:srgbClr val="3E7B27"/>
          </a:solidFill>
          <a:ln w="12700">
            <a:solidFill>
              <a:srgbClr val="3E7B27"/>
            </a:solidFill>
            <a:prstDash val="solid"/>
          </a:ln>
        </p:spPr>
      </p:sp>
      <p:sp>
        <p:nvSpPr>
          <p:cNvPr id="57" name="Text 52"/>
          <p:cNvSpPr txBox="1"/>
          <p:nvPr/>
        </p:nvSpPr>
        <p:spPr>
          <a:xfrm>
            <a:off x="4411093" y="2647950"/>
            <a:ext cx="887761"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Rp35.1M</a:t>
            </a:r>
            <a:endParaRPr lang="en-US" sz="860" dirty="0"/>
          </a:p>
        </p:txBody>
      </p:sp>
      <p:sp>
        <p:nvSpPr>
          <p:cNvPr id="58" name="Text 53"/>
          <p:cNvSpPr txBox="1"/>
          <p:nvPr/>
        </p:nvSpPr>
        <p:spPr>
          <a:xfrm>
            <a:off x="4517272" y="3438525"/>
            <a:ext cx="675403" cy="2762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Web</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133 orders</a:t>
            </a:r>
            <a:endParaRPr lang="en-US" sz="830" dirty="0"/>
          </a:p>
        </p:txBody>
      </p:sp>
      <p:sp>
        <p:nvSpPr>
          <p:cNvPr id="59" name="Shape 54"/>
          <p:cNvSpPr/>
          <p:nvPr/>
        </p:nvSpPr>
        <p:spPr>
          <a:xfrm>
            <a:off x="5334146" y="3147528"/>
            <a:ext cx="430561" cy="243372"/>
          </a:xfrm>
          <a:prstGeom prst="roundRect">
            <a:avLst>
              <a:gd name="adj" fmla="val 15655"/>
            </a:avLst>
          </a:prstGeom>
          <a:solidFill>
            <a:srgbClr val="3E7B27"/>
          </a:solidFill>
          <a:ln w="12700">
            <a:solidFill>
              <a:srgbClr val="3E7B27"/>
            </a:solidFill>
            <a:prstDash val="solid"/>
          </a:ln>
        </p:spPr>
      </p:sp>
      <p:sp>
        <p:nvSpPr>
          <p:cNvPr id="60" name="Text 55"/>
          <p:cNvSpPr txBox="1"/>
          <p:nvPr/>
        </p:nvSpPr>
        <p:spPr>
          <a:xfrm>
            <a:off x="5105546" y="2976078"/>
            <a:ext cx="887761"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Rp15M</a:t>
            </a:r>
            <a:endParaRPr lang="en-US" sz="860" dirty="0"/>
          </a:p>
        </p:txBody>
      </p:sp>
      <p:sp>
        <p:nvSpPr>
          <p:cNvPr id="61" name="Text 56"/>
          <p:cNvSpPr txBox="1"/>
          <p:nvPr/>
        </p:nvSpPr>
        <p:spPr>
          <a:xfrm>
            <a:off x="5211725" y="3438525"/>
            <a:ext cx="675403" cy="2762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Petani app</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100 orders</a:t>
            </a:r>
            <a:endParaRPr lang="en-US" sz="830" dirty="0"/>
          </a:p>
        </p:txBody>
      </p:sp>
      <p:sp>
        <p:nvSpPr>
          <p:cNvPr id="62" name="Shape 57"/>
          <p:cNvSpPr/>
          <p:nvPr/>
        </p:nvSpPr>
        <p:spPr>
          <a:xfrm>
            <a:off x="6028599" y="2833480"/>
            <a:ext cx="430561" cy="557420"/>
          </a:xfrm>
          <a:prstGeom prst="roundRect">
            <a:avLst>
              <a:gd name="adj" fmla="val 8849"/>
            </a:avLst>
          </a:prstGeom>
          <a:solidFill>
            <a:srgbClr val="3E7B27"/>
          </a:solidFill>
          <a:ln w="12700">
            <a:solidFill>
              <a:srgbClr val="3E7B27"/>
            </a:solidFill>
            <a:prstDash val="solid"/>
          </a:ln>
        </p:spPr>
      </p:sp>
      <p:sp>
        <p:nvSpPr>
          <p:cNvPr id="63" name="Text 58"/>
          <p:cNvSpPr txBox="1"/>
          <p:nvPr/>
        </p:nvSpPr>
        <p:spPr>
          <a:xfrm>
            <a:off x="5799999" y="2662030"/>
            <a:ext cx="887761"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Rp34.3M</a:t>
            </a:r>
            <a:endParaRPr lang="en-US" sz="860" dirty="0"/>
          </a:p>
        </p:txBody>
      </p:sp>
      <p:sp>
        <p:nvSpPr>
          <p:cNvPr id="64" name="Text 59"/>
          <p:cNvSpPr txBox="1"/>
          <p:nvPr/>
        </p:nvSpPr>
        <p:spPr>
          <a:xfrm>
            <a:off x="5906178" y="3438525"/>
            <a:ext cx="675403" cy="2762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DUTA</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4 orders</a:t>
            </a:r>
            <a:endParaRPr lang="en-US" sz="830" dirty="0"/>
          </a:p>
        </p:txBody>
      </p:sp>
      <p:sp>
        <p:nvSpPr>
          <p:cNvPr id="65" name="Shape 60"/>
          <p:cNvSpPr/>
          <p:nvPr/>
        </p:nvSpPr>
        <p:spPr>
          <a:xfrm>
            <a:off x="6723052" y="2887552"/>
            <a:ext cx="430561" cy="503348"/>
          </a:xfrm>
          <a:prstGeom prst="roundRect">
            <a:avLst>
              <a:gd name="adj" fmla="val 8849"/>
            </a:avLst>
          </a:prstGeom>
          <a:solidFill>
            <a:srgbClr val="2B7BB0"/>
          </a:solidFill>
          <a:ln w="12700">
            <a:solidFill>
              <a:srgbClr val="2B7BB0"/>
            </a:solidFill>
            <a:prstDash val="solid"/>
          </a:ln>
        </p:spPr>
      </p:sp>
      <p:sp>
        <p:nvSpPr>
          <p:cNvPr id="66" name="Text 61"/>
          <p:cNvSpPr txBox="1"/>
          <p:nvPr/>
        </p:nvSpPr>
        <p:spPr>
          <a:xfrm>
            <a:off x="6494452" y="2716102"/>
            <a:ext cx="887761"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Rp30.9M</a:t>
            </a:r>
            <a:endParaRPr lang="en-US" sz="860" dirty="0"/>
          </a:p>
        </p:txBody>
      </p:sp>
      <p:sp>
        <p:nvSpPr>
          <p:cNvPr id="67" name="Text 62"/>
          <p:cNvSpPr txBox="1"/>
          <p:nvPr/>
        </p:nvSpPr>
        <p:spPr>
          <a:xfrm>
            <a:off x="6600631" y="3438525"/>
            <a:ext cx="675403" cy="2762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Repeat</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164 orders</a:t>
            </a:r>
            <a:endParaRPr lang="en-US" sz="830" dirty="0"/>
          </a:p>
        </p:txBody>
      </p:sp>
      <p:sp>
        <p:nvSpPr>
          <p:cNvPr id="68" name="Shape 63"/>
          <p:cNvSpPr/>
          <p:nvPr/>
        </p:nvSpPr>
        <p:spPr>
          <a:xfrm>
            <a:off x="7417506" y="3116553"/>
            <a:ext cx="430561" cy="274347"/>
          </a:xfrm>
          <a:prstGeom prst="roundRect">
            <a:avLst>
              <a:gd name="adj" fmla="val 13888"/>
            </a:avLst>
          </a:prstGeom>
          <a:solidFill>
            <a:srgbClr val="2B7BB0"/>
          </a:solidFill>
          <a:ln w="12700">
            <a:solidFill>
              <a:srgbClr val="2B7BB0"/>
            </a:solidFill>
            <a:prstDash val="solid"/>
          </a:ln>
        </p:spPr>
      </p:sp>
      <p:sp>
        <p:nvSpPr>
          <p:cNvPr id="69" name="Text 64"/>
          <p:cNvSpPr txBox="1"/>
          <p:nvPr/>
        </p:nvSpPr>
        <p:spPr>
          <a:xfrm>
            <a:off x="7188906" y="2945103"/>
            <a:ext cx="887761"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Rp16.9M</a:t>
            </a:r>
            <a:endParaRPr lang="en-US" sz="860" dirty="0"/>
          </a:p>
        </p:txBody>
      </p:sp>
      <p:sp>
        <p:nvSpPr>
          <p:cNvPr id="70" name="Text 65"/>
          <p:cNvSpPr txBox="1"/>
          <p:nvPr/>
        </p:nvSpPr>
        <p:spPr>
          <a:xfrm>
            <a:off x="7295084" y="3438525"/>
            <a:ext cx="675403" cy="2762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New</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73 orders</a:t>
            </a:r>
            <a:endParaRPr lang="en-US" sz="830" dirty="0"/>
          </a:p>
        </p:txBody>
      </p:sp>
      <p:sp>
        <p:nvSpPr>
          <p:cNvPr id="71" name="Shape 66"/>
          <p:cNvSpPr/>
          <p:nvPr/>
        </p:nvSpPr>
        <p:spPr>
          <a:xfrm>
            <a:off x="4507747" y="3390900"/>
            <a:ext cx="3472266" cy="0"/>
          </a:xfrm>
          <a:prstGeom prst="line">
            <a:avLst/>
          </a:prstGeom>
          <a:noFill/>
          <a:ln w="9525">
            <a:solidFill>
              <a:srgbClr val="B9C2B0"/>
            </a:solidFill>
            <a:prstDash val="solid"/>
          </a:ln>
        </p:spPr>
      </p:sp>
      <p:sp>
        <p:nvSpPr>
          <p:cNvPr id="72" name="Shape 67"/>
          <p:cNvSpPr/>
          <p:nvPr/>
        </p:nvSpPr>
        <p:spPr>
          <a:xfrm>
            <a:off x="4298197" y="3981450"/>
            <a:ext cx="3891366" cy="2133600"/>
          </a:xfrm>
          <a:prstGeom prst="roundRect">
            <a:avLst>
              <a:gd name="adj" fmla="val 5143"/>
            </a:avLst>
          </a:prstGeom>
          <a:solidFill>
            <a:srgbClr val="FFFFFF"/>
          </a:solidFill>
          <a:ln w="12700">
            <a:solidFill>
              <a:srgbClr val="FFFFFF"/>
            </a:solidFill>
            <a:prstDash val="solid"/>
          </a:ln>
        </p:spPr>
      </p:sp>
      <p:sp>
        <p:nvSpPr>
          <p:cNvPr id="73" name="Text 68"/>
          <p:cNvSpPr txBox="1"/>
          <p:nvPr/>
        </p:nvSpPr>
        <p:spPr>
          <a:xfrm>
            <a:off x="4488697" y="4133850"/>
            <a:ext cx="3510366"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Sales PIC</a:t>
            </a:r>
            <a:endParaRPr lang="en-US" sz="1300" dirty="0"/>
          </a:p>
        </p:txBody>
      </p:sp>
      <p:sp>
        <p:nvSpPr>
          <p:cNvPr id="74" name="Text 69"/>
          <p:cNvSpPr txBox="1"/>
          <p:nvPr/>
        </p:nvSpPr>
        <p:spPr>
          <a:xfrm>
            <a:off x="4488697" y="4362450"/>
            <a:ext cx="3510366"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GMV; orders in grey</a:t>
            </a:r>
            <a:endParaRPr lang="en-US" sz="950" dirty="0"/>
          </a:p>
        </p:txBody>
      </p:sp>
      <p:sp>
        <p:nvSpPr>
          <p:cNvPr id="75" name="Text 70"/>
          <p:cNvSpPr txBox="1"/>
          <p:nvPr/>
        </p:nvSpPr>
        <p:spPr>
          <a:xfrm>
            <a:off x="4507747" y="4648200"/>
            <a:ext cx="2291547" cy="186214"/>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Muhammad Abdul Wahab</a:t>
            </a:r>
            <a:endParaRPr lang="en-US" sz="940" dirty="0"/>
          </a:p>
        </p:txBody>
      </p:sp>
      <p:sp>
        <p:nvSpPr>
          <p:cNvPr id="76" name="Text 71"/>
          <p:cNvSpPr txBox="1"/>
          <p:nvPr/>
        </p:nvSpPr>
        <p:spPr>
          <a:xfrm>
            <a:off x="7541863" y="4648200"/>
            <a:ext cx="438150" cy="186214"/>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Rp2.2B</a:t>
            </a:r>
            <a:endParaRPr lang="en-US" sz="940" dirty="0"/>
          </a:p>
        </p:txBody>
      </p:sp>
      <p:sp>
        <p:nvSpPr>
          <p:cNvPr id="77" name="Text 72"/>
          <p:cNvSpPr txBox="1"/>
          <p:nvPr/>
        </p:nvSpPr>
        <p:spPr>
          <a:xfrm>
            <a:off x="6856444" y="4648200"/>
            <a:ext cx="609219" cy="186214"/>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23 orders</a:t>
            </a:r>
            <a:endParaRPr lang="en-US" sz="860" dirty="0"/>
          </a:p>
        </p:txBody>
      </p:sp>
      <p:sp>
        <p:nvSpPr>
          <p:cNvPr id="78" name="Shape 73"/>
          <p:cNvSpPr/>
          <p:nvPr/>
        </p:nvSpPr>
        <p:spPr>
          <a:xfrm>
            <a:off x="4507747" y="4853464"/>
            <a:ext cx="3472266" cy="90011"/>
          </a:xfrm>
          <a:prstGeom prst="roundRect">
            <a:avLst>
              <a:gd name="adj" fmla="val 31746"/>
            </a:avLst>
          </a:prstGeom>
          <a:solidFill>
            <a:srgbClr val="E9EDE5"/>
          </a:solidFill>
          <a:ln w="12700">
            <a:solidFill>
              <a:srgbClr val="E9EDE5"/>
            </a:solidFill>
            <a:prstDash val="solid"/>
          </a:ln>
        </p:spPr>
      </p:sp>
      <p:sp>
        <p:nvSpPr>
          <p:cNvPr id="79" name="Shape 74"/>
          <p:cNvSpPr/>
          <p:nvPr/>
        </p:nvSpPr>
        <p:spPr>
          <a:xfrm>
            <a:off x="4507747" y="4853464"/>
            <a:ext cx="3472266" cy="90011"/>
          </a:xfrm>
          <a:prstGeom prst="roundRect">
            <a:avLst>
              <a:gd name="adj" fmla="val 31746"/>
            </a:avLst>
          </a:prstGeom>
          <a:solidFill>
            <a:srgbClr val="5E8C47"/>
          </a:solidFill>
          <a:ln w="12700">
            <a:solidFill>
              <a:srgbClr val="5E8C47"/>
            </a:solidFill>
            <a:prstDash val="solid"/>
          </a:ln>
        </p:spPr>
      </p:sp>
      <p:sp>
        <p:nvSpPr>
          <p:cNvPr id="80" name="Text 75"/>
          <p:cNvSpPr txBox="1"/>
          <p:nvPr/>
        </p:nvSpPr>
        <p:spPr>
          <a:xfrm>
            <a:off x="4507747" y="4981575"/>
            <a:ext cx="2163531" cy="186214"/>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Rudi Nirwana</a:t>
            </a:r>
            <a:endParaRPr lang="en-US" sz="940" dirty="0"/>
          </a:p>
        </p:txBody>
      </p:sp>
      <p:sp>
        <p:nvSpPr>
          <p:cNvPr id="81" name="Text 76"/>
          <p:cNvSpPr txBox="1"/>
          <p:nvPr/>
        </p:nvSpPr>
        <p:spPr>
          <a:xfrm>
            <a:off x="7475188" y="4981575"/>
            <a:ext cx="504825" cy="186214"/>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Rp1.85B</a:t>
            </a:r>
            <a:endParaRPr lang="en-US" sz="940" dirty="0"/>
          </a:p>
        </p:txBody>
      </p:sp>
      <p:sp>
        <p:nvSpPr>
          <p:cNvPr id="82" name="Text 77"/>
          <p:cNvSpPr txBox="1"/>
          <p:nvPr/>
        </p:nvSpPr>
        <p:spPr>
          <a:xfrm>
            <a:off x="6728428" y="4981575"/>
            <a:ext cx="670560" cy="186214"/>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115 orders</a:t>
            </a:r>
            <a:endParaRPr lang="en-US" sz="860" dirty="0"/>
          </a:p>
        </p:txBody>
      </p:sp>
      <p:sp>
        <p:nvSpPr>
          <p:cNvPr id="83" name="Shape 78"/>
          <p:cNvSpPr/>
          <p:nvPr/>
        </p:nvSpPr>
        <p:spPr>
          <a:xfrm>
            <a:off x="4507747" y="5186839"/>
            <a:ext cx="3472266" cy="90011"/>
          </a:xfrm>
          <a:prstGeom prst="roundRect">
            <a:avLst>
              <a:gd name="adj" fmla="val 31746"/>
            </a:avLst>
          </a:prstGeom>
          <a:solidFill>
            <a:srgbClr val="E9EDE5"/>
          </a:solidFill>
          <a:ln w="12700">
            <a:solidFill>
              <a:srgbClr val="E9EDE5"/>
            </a:solidFill>
            <a:prstDash val="solid"/>
          </a:ln>
        </p:spPr>
      </p:sp>
      <p:sp>
        <p:nvSpPr>
          <p:cNvPr id="84" name="Shape 79"/>
          <p:cNvSpPr/>
          <p:nvPr/>
        </p:nvSpPr>
        <p:spPr>
          <a:xfrm>
            <a:off x="4507747" y="5186839"/>
            <a:ext cx="2928561" cy="90011"/>
          </a:xfrm>
          <a:prstGeom prst="roundRect">
            <a:avLst>
              <a:gd name="adj" fmla="val 31746"/>
            </a:avLst>
          </a:prstGeom>
          <a:solidFill>
            <a:srgbClr val="5E8C47"/>
          </a:solidFill>
          <a:ln w="12700">
            <a:solidFill>
              <a:srgbClr val="5E8C47"/>
            </a:solidFill>
            <a:prstDash val="solid"/>
          </a:ln>
        </p:spPr>
      </p:sp>
      <p:sp>
        <p:nvSpPr>
          <p:cNvPr id="85" name="Text 80"/>
          <p:cNvSpPr txBox="1"/>
          <p:nvPr/>
        </p:nvSpPr>
        <p:spPr>
          <a:xfrm>
            <a:off x="4507747" y="5314950"/>
            <a:ext cx="2291547" cy="186214"/>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Simon Sutrado Simanjuntak</a:t>
            </a:r>
            <a:endParaRPr lang="en-US" sz="940" dirty="0"/>
          </a:p>
        </p:txBody>
      </p:sp>
      <p:sp>
        <p:nvSpPr>
          <p:cNvPr id="86" name="Text 81"/>
          <p:cNvSpPr txBox="1"/>
          <p:nvPr/>
        </p:nvSpPr>
        <p:spPr>
          <a:xfrm>
            <a:off x="7541863" y="5314950"/>
            <a:ext cx="438150" cy="186214"/>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Rp777M</a:t>
            </a:r>
            <a:endParaRPr lang="en-US" sz="940" dirty="0"/>
          </a:p>
        </p:txBody>
      </p:sp>
      <p:sp>
        <p:nvSpPr>
          <p:cNvPr id="87" name="Text 82"/>
          <p:cNvSpPr txBox="1"/>
          <p:nvPr/>
        </p:nvSpPr>
        <p:spPr>
          <a:xfrm>
            <a:off x="6856444" y="5314950"/>
            <a:ext cx="609219" cy="186214"/>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18 orders</a:t>
            </a:r>
            <a:endParaRPr lang="en-US" sz="860" dirty="0"/>
          </a:p>
        </p:txBody>
      </p:sp>
      <p:sp>
        <p:nvSpPr>
          <p:cNvPr id="88" name="Shape 83"/>
          <p:cNvSpPr/>
          <p:nvPr/>
        </p:nvSpPr>
        <p:spPr>
          <a:xfrm>
            <a:off x="4507747" y="5520214"/>
            <a:ext cx="3472266" cy="90011"/>
          </a:xfrm>
          <a:prstGeom prst="roundRect">
            <a:avLst>
              <a:gd name="adj" fmla="val 31746"/>
            </a:avLst>
          </a:prstGeom>
          <a:solidFill>
            <a:srgbClr val="E9EDE5"/>
          </a:solidFill>
          <a:ln w="12700">
            <a:solidFill>
              <a:srgbClr val="E9EDE5"/>
            </a:solidFill>
            <a:prstDash val="solid"/>
          </a:ln>
        </p:spPr>
      </p:sp>
      <p:sp>
        <p:nvSpPr>
          <p:cNvPr id="89" name="Shape 84"/>
          <p:cNvSpPr/>
          <p:nvPr/>
        </p:nvSpPr>
        <p:spPr>
          <a:xfrm>
            <a:off x="4507747" y="5520214"/>
            <a:ext cx="1228066" cy="90011"/>
          </a:xfrm>
          <a:prstGeom prst="roundRect">
            <a:avLst>
              <a:gd name="adj" fmla="val 31746"/>
            </a:avLst>
          </a:prstGeom>
          <a:solidFill>
            <a:srgbClr val="5E8C47"/>
          </a:solidFill>
          <a:ln w="12700">
            <a:solidFill>
              <a:srgbClr val="5E8C47"/>
            </a:solidFill>
            <a:prstDash val="solid"/>
          </a:ln>
        </p:spPr>
      </p:sp>
      <p:sp>
        <p:nvSpPr>
          <p:cNvPr id="90" name="Text 85"/>
          <p:cNvSpPr txBox="1"/>
          <p:nvPr/>
        </p:nvSpPr>
        <p:spPr>
          <a:xfrm>
            <a:off x="4507747" y="5648325"/>
            <a:ext cx="2291547" cy="186214"/>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Joko Prestiwo</a:t>
            </a:r>
            <a:endParaRPr lang="en-US" sz="940" dirty="0"/>
          </a:p>
        </p:txBody>
      </p:sp>
      <p:sp>
        <p:nvSpPr>
          <p:cNvPr id="91" name="Text 86"/>
          <p:cNvSpPr txBox="1"/>
          <p:nvPr/>
        </p:nvSpPr>
        <p:spPr>
          <a:xfrm>
            <a:off x="7541863" y="5648325"/>
            <a:ext cx="438150" cy="186214"/>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Rp595M</a:t>
            </a:r>
            <a:endParaRPr lang="en-US" sz="940" dirty="0"/>
          </a:p>
        </p:txBody>
      </p:sp>
      <p:sp>
        <p:nvSpPr>
          <p:cNvPr id="92" name="Text 87"/>
          <p:cNvSpPr txBox="1"/>
          <p:nvPr/>
        </p:nvSpPr>
        <p:spPr>
          <a:xfrm>
            <a:off x="6856444" y="5648325"/>
            <a:ext cx="609219" cy="186214"/>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32 orders</a:t>
            </a:r>
            <a:endParaRPr lang="en-US" sz="860" dirty="0"/>
          </a:p>
        </p:txBody>
      </p:sp>
      <p:sp>
        <p:nvSpPr>
          <p:cNvPr id="93" name="Shape 88"/>
          <p:cNvSpPr/>
          <p:nvPr/>
        </p:nvSpPr>
        <p:spPr>
          <a:xfrm>
            <a:off x="4507747" y="5853589"/>
            <a:ext cx="3472266" cy="90011"/>
          </a:xfrm>
          <a:prstGeom prst="roundRect">
            <a:avLst>
              <a:gd name="adj" fmla="val 31746"/>
            </a:avLst>
          </a:prstGeom>
          <a:solidFill>
            <a:srgbClr val="E9EDE5"/>
          </a:solidFill>
          <a:ln w="12700">
            <a:solidFill>
              <a:srgbClr val="E9EDE5"/>
            </a:solidFill>
            <a:prstDash val="solid"/>
          </a:ln>
        </p:spPr>
      </p:sp>
      <p:sp>
        <p:nvSpPr>
          <p:cNvPr id="94" name="Shape 89"/>
          <p:cNvSpPr/>
          <p:nvPr/>
        </p:nvSpPr>
        <p:spPr>
          <a:xfrm>
            <a:off x="4507747" y="5853589"/>
            <a:ext cx="941139" cy="90011"/>
          </a:xfrm>
          <a:prstGeom prst="roundRect">
            <a:avLst>
              <a:gd name="adj" fmla="val 31746"/>
            </a:avLst>
          </a:prstGeom>
          <a:solidFill>
            <a:srgbClr val="5E8C47"/>
          </a:solidFill>
          <a:ln w="12700">
            <a:solidFill>
              <a:srgbClr val="5E8C47"/>
            </a:solidFill>
            <a:prstDash val="solid"/>
          </a:ln>
        </p:spPr>
      </p:sp>
      <p:sp>
        <p:nvSpPr>
          <p:cNvPr id="95" name="Shape 90"/>
          <p:cNvSpPr/>
          <p:nvPr/>
        </p:nvSpPr>
        <p:spPr>
          <a:xfrm>
            <a:off x="8341963" y="1714500"/>
            <a:ext cx="2707037" cy="1377950"/>
          </a:xfrm>
          <a:prstGeom prst="roundRect">
            <a:avLst>
              <a:gd name="adj" fmla="val 7963"/>
            </a:avLst>
          </a:prstGeom>
          <a:solidFill>
            <a:srgbClr val="4A653B"/>
          </a:solidFill>
          <a:ln w="12700">
            <a:solidFill>
              <a:srgbClr val="4A653B"/>
            </a:solidFill>
            <a:prstDash val="solid"/>
          </a:ln>
        </p:spPr>
      </p:sp>
      <p:sp>
        <p:nvSpPr>
          <p:cNvPr id="96" name="Text 91"/>
          <p:cNvSpPr txBox="1"/>
          <p:nvPr/>
        </p:nvSpPr>
        <p:spPr>
          <a:xfrm>
            <a:off x="8494363" y="1828800"/>
            <a:ext cx="2402237"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172</a:t>
            </a:r>
            <a:pPr indent="0" marL="0">
              <a:buNone/>
            </a:pPr>
            <a:r>
              <a:rPr lang="en-US" sz="1400" b="1" dirty="0">
                <a:solidFill>
                  <a:srgbClr val="FFFFFF"/>
                </a:solidFill>
                <a:latin typeface="Plus Jakarta Sans" pitchFamily="34" charset="0"/>
                <a:ea typeface="Plus Jakarta Sans" pitchFamily="34" charset="-122"/>
                <a:cs typeface="Plus Jakarta Sans" pitchFamily="34" charset="-120"/>
              </a:rPr>
              <a:t>M</a:t>
            </a:r>
            <a:endParaRPr lang="en-US" sz="2800" dirty="0"/>
          </a:p>
        </p:txBody>
      </p:sp>
      <p:sp>
        <p:nvSpPr>
          <p:cNvPr id="97" name="Text 92"/>
          <p:cNvSpPr txBox="1"/>
          <p:nvPr/>
        </p:nvSpPr>
        <p:spPr>
          <a:xfrm>
            <a:off x="8494363" y="2247900"/>
            <a:ext cx="2402237" cy="78740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still unpaid on 8 partially paid orders (Rp311M GMV)</a:t>
            </a:r>
            <a:endParaRPr lang="en-US" sz="950" dirty="0"/>
          </a:p>
        </p:txBody>
      </p:sp>
      <p:sp>
        <p:nvSpPr>
          <p:cNvPr id="98" name="Shape 93"/>
          <p:cNvSpPr/>
          <p:nvPr/>
        </p:nvSpPr>
        <p:spPr>
          <a:xfrm>
            <a:off x="8341963" y="3225800"/>
            <a:ext cx="2707037" cy="1377950"/>
          </a:xfrm>
          <a:prstGeom prst="roundRect">
            <a:avLst>
              <a:gd name="adj" fmla="val 7963"/>
            </a:avLst>
          </a:prstGeom>
          <a:solidFill>
            <a:srgbClr val="FFFFFF"/>
          </a:solidFill>
          <a:ln w="12700">
            <a:solidFill>
              <a:srgbClr val="FFFFFF"/>
            </a:solidFill>
            <a:prstDash val="solid"/>
          </a:ln>
        </p:spPr>
      </p:sp>
      <p:sp>
        <p:nvSpPr>
          <p:cNvPr id="99" name="Text 94"/>
          <p:cNvSpPr txBox="1"/>
          <p:nvPr/>
        </p:nvSpPr>
        <p:spPr>
          <a:xfrm>
            <a:off x="8494363" y="3340100"/>
            <a:ext cx="2402237"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19</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/237</a:t>
            </a:r>
            <a:endParaRPr lang="en-US" sz="2800" dirty="0"/>
          </a:p>
        </p:txBody>
      </p:sp>
      <p:sp>
        <p:nvSpPr>
          <p:cNvPr id="100" name="Text 95"/>
          <p:cNvSpPr txBox="1"/>
          <p:nvPr/>
        </p:nvSpPr>
        <p:spPr>
          <a:xfrm>
            <a:off x="8494363" y="3759200"/>
            <a:ext cx="2402237" cy="787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orders still open, not completed (Rp353M)</a:t>
            </a:r>
            <a:endParaRPr lang="en-US" sz="950" dirty="0"/>
          </a:p>
        </p:txBody>
      </p:sp>
      <p:sp>
        <p:nvSpPr>
          <p:cNvPr id="101" name="Shape 96"/>
          <p:cNvSpPr/>
          <p:nvPr/>
        </p:nvSpPr>
        <p:spPr>
          <a:xfrm>
            <a:off x="8341963" y="4737100"/>
            <a:ext cx="2707037" cy="1377950"/>
          </a:xfrm>
          <a:prstGeom prst="roundRect">
            <a:avLst>
              <a:gd name="adj" fmla="val 7963"/>
            </a:avLst>
          </a:prstGeom>
          <a:solidFill>
            <a:srgbClr val="FFFFFF"/>
          </a:solidFill>
          <a:ln w="12700">
            <a:solidFill>
              <a:srgbClr val="FFFFFF"/>
            </a:solidFill>
            <a:prstDash val="solid"/>
          </a:ln>
        </p:spPr>
      </p:sp>
      <p:sp>
        <p:nvSpPr>
          <p:cNvPr id="102" name="Text 97"/>
          <p:cNvSpPr txBox="1"/>
          <p:nvPr/>
        </p:nvSpPr>
        <p:spPr>
          <a:xfrm>
            <a:off x="8494363" y="4851400"/>
            <a:ext cx="2402237"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12</a:t>
            </a:r>
            <a:pPr indent="0" marL="0">
              <a:buNone/>
            </a:pPr>
            <a:r>
              <a:rPr lang="en-US" sz="1400" b="1" dirty="0">
                <a:solidFill>
                  <a:srgbClr val="4A653B"/>
                </a:solidFill>
                <a:latin typeface="Plus Jakarta Sans" pitchFamily="34" charset="0"/>
                <a:ea typeface="Plus Jakarta Sans" pitchFamily="34" charset="-122"/>
                <a:cs typeface="Plus Jakarta Sans" pitchFamily="34" charset="-120"/>
              </a:rPr>
              <a:t>%</a:t>
            </a:r>
            <a:endParaRPr lang="en-US" sz="2800" dirty="0"/>
          </a:p>
        </p:txBody>
      </p:sp>
      <p:sp>
        <p:nvSpPr>
          <p:cNvPr id="103" name="Text 98"/>
          <p:cNvSpPr txBox="1"/>
          <p:nvPr/>
        </p:nvSpPr>
        <p:spPr>
          <a:xfrm>
            <a:off x="8494363" y="5270500"/>
            <a:ext cx="2402237" cy="7874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of GMV from the top 2 orders</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11</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SALES JUL–SEP · WHERE TO GROW</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44 of 73 KCL / MOP buyers skipped Rock phosphate (RP); 16 open orders (Rp278M) are 4+ days old</a:t>
            </a:r>
            <a:endParaRPr lang="en-US" sz="2300" dirty="0"/>
          </a:p>
        </p:txBody>
      </p:sp>
      <p:sp>
        <p:nvSpPr>
          <p:cNvPr id="11" name="Shape 6"/>
          <p:cNvSpPr/>
          <p:nvPr/>
        </p:nvSpPr>
        <p:spPr>
          <a:xfrm>
            <a:off x="762000" y="1714500"/>
            <a:ext cx="4119638" cy="3371850"/>
          </a:xfrm>
          <a:prstGeom prst="roundRect">
            <a:avLst>
              <a:gd name="adj" fmla="val 3254"/>
            </a:avLst>
          </a:prstGeom>
          <a:solidFill>
            <a:srgbClr val="FFFFFF"/>
          </a:solidFill>
          <a:ln w="12700">
            <a:solidFill>
              <a:srgbClr val="FFFFFF"/>
            </a:solidFill>
            <a:prstDash val="solid"/>
          </a:ln>
        </p:spPr>
      </p:sp>
      <p:sp>
        <p:nvSpPr>
          <p:cNvPr id="12" name="Text 7"/>
          <p:cNvSpPr txBox="1"/>
          <p:nvPr/>
        </p:nvSpPr>
        <p:spPr>
          <a:xfrm>
            <a:off x="952500" y="1866900"/>
            <a:ext cx="3738638"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GMV by product type and region</a:t>
            </a:r>
            <a:endParaRPr lang="en-US" sz="1300" dirty="0"/>
          </a:p>
        </p:txBody>
      </p:sp>
      <p:sp>
        <p:nvSpPr>
          <p:cNvPr id="13" name="Text 8"/>
          <p:cNvSpPr txBox="1"/>
          <p:nvPr/>
        </p:nvSpPr>
        <p:spPr>
          <a:xfrm>
            <a:off x="952500" y="2095500"/>
            <a:ext cx="3738638"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Rp million; darker = more</a:t>
            </a:r>
            <a:endParaRPr lang="en-US" sz="950" dirty="0"/>
          </a:p>
        </p:txBody>
      </p:sp>
      <p:sp>
        <p:nvSpPr>
          <p:cNvPr id="14" name="Text 9"/>
          <p:cNvSpPr txBox="1"/>
          <p:nvPr/>
        </p:nvSpPr>
        <p:spPr>
          <a:xfrm>
            <a:off x="2419350" y="2381250"/>
            <a:ext cx="529847"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Kampar</a:t>
            </a:r>
            <a:endParaRPr lang="en-US" sz="800" dirty="0"/>
          </a:p>
        </p:txBody>
      </p:sp>
      <p:sp>
        <p:nvSpPr>
          <p:cNvPr id="15" name="Text 10"/>
          <p:cNvSpPr txBox="1"/>
          <p:nvPr/>
        </p:nvSpPr>
        <p:spPr>
          <a:xfrm>
            <a:off x="2987297" y="2381250"/>
            <a:ext cx="529847"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Siak</a:t>
            </a:r>
            <a:endParaRPr lang="en-US" sz="800" dirty="0"/>
          </a:p>
        </p:txBody>
      </p:sp>
      <p:sp>
        <p:nvSpPr>
          <p:cNvPr id="16" name="Text 11"/>
          <p:cNvSpPr txBox="1"/>
          <p:nvPr/>
        </p:nvSpPr>
        <p:spPr>
          <a:xfrm>
            <a:off x="3555244" y="2381250"/>
            <a:ext cx="529847"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Rokan</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Hulu</a:t>
            </a:r>
            <a:endParaRPr lang="en-US" sz="800" dirty="0"/>
          </a:p>
        </p:txBody>
      </p:sp>
      <p:sp>
        <p:nvSpPr>
          <p:cNvPr id="17" name="Text 12"/>
          <p:cNvSpPr txBox="1"/>
          <p:nvPr/>
        </p:nvSpPr>
        <p:spPr>
          <a:xfrm>
            <a:off x="4123191" y="2381250"/>
            <a:ext cx="529847" cy="3048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Kambar</a:t>
            </a:r>
            <a:endParaRPr lang="en-US" sz="800" dirty="0"/>
          </a:p>
        </p:txBody>
      </p:sp>
      <p:sp>
        <p:nvSpPr>
          <p:cNvPr id="18" name="Text 13"/>
          <p:cNvSpPr txBox="1"/>
          <p:nvPr/>
        </p:nvSpPr>
        <p:spPr>
          <a:xfrm>
            <a:off x="971550" y="2724150"/>
            <a:ext cx="1352550" cy="3429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KCL / MOP</a:t>
            </a:r>
            <a:endParaRPr lang="en-US" sz="900" dirty="0"/>
          </a:p>
        </p:txBody>
      </p:sp>
      <p:sp>
        <p:nvSpPr>
          <p:cNvPr id="19" name="Shape 14"/>
          <p:cNvSpPr/>
          <p:nvPr/>
        </p:nvSpPr>
        <p:spPr>
          <a:xfrm>
            <a:off x="2414588" y="2738438"/>
            <a:ext cx="539372" cy="314325"/>
          </a:xfrm>
          <a:prstGeom prst="roundRect">
            <a:avLst>
              <a:gd name="adj" fmla="val 9091"/>
            </a:avLst>
          </a:prstGeom>
          <a:solidFill>
            <a:srgbClr val="345921"/>
          </a:solidFill>
          <a:ln w="12700">
            <a:solidFill>
              <a:srgbClr val="345921"/>
            </a:solidFill>
            <a:prstDash val="solid"/>
          </a:ln>
        </p:spPr>
      </p:sp>
      <p:sp>
        <p:nvSpPr>
          <p:cNvPr id="20" name="Text 15"/>
          <p:cNvSpPr txBox="1"/>
          <p:nvPr/>
        </p:nvSpPr>
        <p:spPr>
          <a:xfrm>
            <a:off x="2400300" y="2724150"/>
            <a:ext cx="567947" cy="342900"/>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1080</a:t>
            </a:r>
            <a:endParaRPr lang="en-US" sz="860" dirty="0"/>
          </a:p>
        </p:txBody>
      </p:sp>
      <p:sp>
        <p:nvSpPr>
          <p:cNvPr id="21" name="Shape 16"/>
          <p:cNvSpPr/>
          <p:nvPr/>
        </p:nvSpPr>
        <p:spPr>
          <a:xfrm>
            <a:off x="2982535" y="2738438"/>
            <a:ext cx="539372" cy="314325"/>
          </a:xfrm>
          <a:prstGeom prst="roundRect">
            <a:avLst>
              <a:gd name="adj" fmla="val 9091"/>
            </a:avLst>
          </a:prstGeom>
          <a:solidFill>
            <a:srgbClr val="DFE5DC"/>
          </a:solidFill>
          <a:ln w="12700">
            <a:solidFill>
              <a:srgbClr val="DFE5DC"/>
            </a:solidFill>
            <a:prstDash val="solid"/>
          </a:ln>
        </p:spPr>
      </p:sp>
      <p:sp>
        <p:nvSpPr>
          <p:cNvPr id="22" name="Text 17"/>
          <p:cNvSpPr txBox="1"/>
          <p:nvPr/>
        </p:nvSpPr>
        <p:spPr>
          <a:xfrm>
            <a:off x="2968247" y="27241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12</a:t>
            </a:r>
            <a:endParaRPr lang="en-US" sz="860" dirty="0"/>
          </a:p>
        </p:txBody>
      </p:sp>
      <p:sp>
        <p:nvSpPr>
          <p:cNvPr id="23" name="Shape 18"/>
          <p:cNvSpPr/>
          <p:nvPr/>
        </p:nvSpPr>
        <p:spPr>
          <a:xfrm>
            <a:off x="3550482" y="2738438"/>
            <a:ext cx="539372" cy="314325"/>
          </a:xfrm>
          <a:prstGeom prst="roundRect">
            <a:avLst>
              <a:gd name="adj" fmla="val 9091"/>
            </a:avLst>
          </a:prstGeom>
          <a:solidFill>
            <a:srgbClr val="C9D3C4"/>
          </a:solidFill>
          <a:ln w="12700">
            <a:solidFill>
              <a:srgbClr val="C9D3C4"/>
            </a:solidFill>
            <a:prstDash val="solid"/>
          </a:ln>
        </p:spPr>
      </p:sp>
      <p:sp>
        <p:nvSpPr>
          <p:cNvPr id="24" name="Text 19"/>
          <p:cNvSpPr txBox="1"/>
          <p:nvPr/>
        </p:nvSpPr>
        <p:spPr>
          <a:xfrm>
            <a:off x="3536194" y="27241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148</a:t>
            </a:r>
            <a:endParaRPr lang="en-US" sz="860" dirty="0"/>
          </a:p>
        </p:txBody>
      </p:sp>
      <p:sp>
        <p:nvSpPr>
          <p:cNvPr id="25" name="Shape 20"/>
          <p:cNvSpPr/>
          <p:nvPr/>
        </p:nvSpPr>
        <p:spPr>
          <a:xfrm>
            <a:off x="4118429" y="2738438"/>
            <a:ext cx="539372" cy="314325"/>
          </a:xfrm>
          <a:prstGeom prst="roundRect">
            <a:avLst>
              <a:gd name="adj" fmla="val 9091"/>
            </a:avLst>
          </a:prstGeom>
          <a:solidFill>
            <a:srgbClr val="A5B59D"/>
          </a:solidFill>
          <a:ln w="12700">
            <a:solidFill>
              <a:srgbClr val="A5B59D"/>
            </a:solidFill>
            <a:prstDash val="solid"/>
          </a:ln>
        </p:spPr>
      </p:sp>
      <p:sp>
        <p:nvSpPr>
          <p:cNvPr id="26" name="Text 21"/>
          <p:cNvSpPr txBox="1"/>
          <p:nvPr/>
        </p:nvSpPr>
        <p:spPr>
          <a:xfrm>
            <a:off x="4104141" y="27241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374</a:t>
            </a:r>
            <a:endParaRPr lang="en-US" sz="860" dirty="0"/>
          </a:p>
        </p:txBody>
      </p:sp>
      <p:sp>
        <p:nvSpPr>
          <p:cNvPr id="27" name="Text 22"/>
          <p:cNvSpPr txBox="1"/>
          <p:nvPr/>
        </p:nvSpPr>
        <p:spPr>
          <a:xfrm>
            <a:off x="971550" y="3067050"/>
            <a:ext cx="1352550" cy="3429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NPK</a:t>
            </a:r>
            <a:endParaRPr lang="en-US" sz="900" dirty="0"/>
          </a:p>
        </p:txBody>
      </p:sp>
      <p:sp>
        <p:nvSpPr>
          <p:cNvPr id="28" name="Shape 23"/>
          <p:cNvSpPr/>
          <p:nvPr/>
        </p:nvSpPr>
        <p:spPr>
          <a:xfrm>
            <a:off x="2414588" y="3081338"/>
            <a:ext cx="539372" cy="314325"/>
          </a:xfrm>
          <a:prstGeom prst="roundRect">
            <a:avLst>
              <a:gd name="adj" fmla="val 9091"/>
            </a:avLst>
          </a:prstGeom>
          <a:solidFill>
            <a:srgbClr val="CFD7CA"/>
          </a:solidFill>
          <a:ln w="12700">
            <a:solidFill>
              <a:srgbClr val="CFD7CA"/>
            </a:solidFill>
            <a:prstDash val="solid"/>
          </a:ln>
        </p:spPr>
      </p:sp>
      <p:sp>
        <p:nvSpPr>
          <p:cNvPr id="29" name="Text 24"/>
          <p:cNvSpPr txBox="1"/>
          <p:nvPr/>
        </p:nvSpPr>
        <p:spPr>
          <a:xfrm>
            <a:off x="2400300" y="30670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112</a:t>
            </a:r>
            <a:endParaRPr lang="en-US" sz="860" dirty="0"/>
          </a:p>
        </p:txBody>
      </p:sp>
      <p:sp>
        <p:nvSpPr>
          <p:cNvPr id="30" name="Shape 25"/>
          <p:cNvSpPr/>
          <p:nvPr/>
        </p:nvSpPr>
        <p:spPr>
          <a:xfrm>
            <a:off x="2982535" y="3081338"/>
            <a:ext cx="539372" cy="314325"/>
          </a:xfrm>
          <a:prstGeom prst="roundRect">
            <a:avLst>
              <a:gd name="adj" fmla="val 9091"/>
            </a:avLst>
          </a:prstGeom>
          <a:solidFill>
            <a:srgbClr val="4C6C3B"/>
          </a:solidFill>
          <a:ln w="12700">
            <a:solidFill>
              <a:srgbClr val="4C6C3B"/>
            </a:solidFill>
            <a:prstDash val="solid"/>
          </a:ln>
        </p:spPr>
      </p:sp>
      <p:sp>
        <p:nvSpPr>
          <p:cNvPr id="31" name="Text 26"/>
          <p:cNvSpPr txBox="1"/>
          <p:nvPr/>
        </p:nvSpPr>
        <p:spPr>
          <a:xfrm>
            <a:off x="2968247" y="3067050"/>
            <a:ext cx="567947" cy="342900"/>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931</a:t>
            </a:r>
            <a:endParaRPr lang="en-US" sz="860" dirty="0"/>
          </a:p>
        </p:txBody>
      </p:sp>
      <p:sp>
        <p:nvSpPr>
          <p:cNvPr id="32" name="Shape 27"/>
          <p:cNvSpPr/>
          <p:nvPr/>
        </p:nvSpPr>
        <p:spPr>
          <a:xfrm>
            <a:off x="3550482" y="3081338"/>
            <a:ext cx="539372" cy="314325"/>
          </a:xfrm>
          <a:prstGeom prst="roundRect">
            <a:avLst>
              <a:gd name="adj" fmla="val 9091"/>
            </a:avLst>
          </a:prstGeom>
          <a:solidFill>
            <a:srgbClr val="B0BEA8"/>
          </a:solidFill>
          <a:ln w="12700">
            <a:solidFill>
              <a:srgbClr val="B0BEA8"/>
            </a:solidFill>
            <a:prstDash val="solid"/>
          </a:ln>
        </p:spPr>
      </p:sp>
      <p:sp>
        <p:nvSpPr>
          <p:cNvPr id="33" name="Text 28"/>
          <p:cNvSpPr txBox="1"/>
          <p:nvPr/>
        </p:nvSpPr>
        <p:spPr>
          <a:xfrm>
            <a:off x="3536194" y="30670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306</a:t>
            </a:r>
            <a:endParaRPr lang="en-US" sz="860" dirty="0"/>
          </a:p>
        </p:txBody>
      </p:sp>
      <p:sp>
        <p:nvSpPr>
          <p:cNvPr id="34" name="Shape 29"/>
          <p:cNvSpPr/>
          <p:nvPr/>
        </p:nvSpPr>
        <p:spPr>
          <a:xfrm>
            <a:off x="4118429" y="3081338"/>
            <a:ext cx="539372" cy="314325"/>
          </a:xfrm>
          <a:prstGeom prst="roundRect">
            <a:avLst>
              <a:gd name="adj" fmla="val 9091"/>
            </a:avLst>
          </a:prstGeom>
          <a:solidFill>
            <a:srgbClr val="F4F6F1"/>
          </a:solidFill>
          <a:ln w="12700">
            <a:solidFill>
              <a:srgbClr val="F4F6F1"/>
            </a:solidFill>
            <a:prstDash val="solid"/>
          </a:ln>
        </p:spPr>
      </p:sp>
      <p:sp>
        <p:nvSpPr>
          <p:cNvPr id="35" name="Text 30"/>
          <p:cNvSpPr txBox="1"/>
          <p:nvPr/>
        </p:nvSpPr>
        <p:spPr>
          <a:xfrm>
            <a:off x="971550" y="3409950"/>
            <a:ext cx="1352550" cy="3429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Rock phosphate (RP)</a:t>
            </a:r>
            <a:endParaRPr lang="en-US" sz="900" dirty="0"/>
          </a:p>
        </p:txBody>
      </p:sp>
      <p:sp>
        <p:nvSpPr>
          <p:cNvPr id="36" name="Shape 31"/>
          <p:cNvSpPr/>
          <p:nvPr/>
        </p:nvSpPr>
        <p:spPr>
          <a:xfrm>
            <a:off x="2414588" y="3424238"/>
            <a:ext cx="539372" cy="314325"/>
          </a:xfrm>
          <a:prstGeom prst="roundRect">
            <a:avLst>
              <a:gd name="adj" fmla="val 9091"/>
            </a:avLst>
          </a:prstGeom>
          <a:solidFill>
            <a:srgbClr val="CCD5C7"/>
          </a:solidFill>
          <a:ln w="12700">
            <a:solidFill>
              <a:srgbClr val="CCD5C7"/>
            </a:solidFill>
            <a:prstDash val="solid"/>
          </a:ln>
        </p:spPr>
      </p:sp>
      <p:sp>
        <p:nvSpPr>
          <p:cNvPr id="37" name="Text 32"/>
          <p:cNvSpPr txBox="1"/>
          <p:nvPr/>
        </p:nvSpPr>
        <p:spPr>
          <a:xfrm>
            <a:off x="2400300" y="34099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132</a:t>
            </a:r>
            <a:endParaRPr lang="en-US" sz="860" dirty="0"/>
          </a:p>
        </p:txBody>
      </p:sp>
      <p:sp>
        <p:nvSpPr>
          <p:cNvPr id="38" name="Shape 33"/>
          <p:cNvSpPr/>
          <p:nvPr/>
        </p:nvSpPr>
        <p:spPr>
          <a:xfrm>
            <a:off x="2982535" y="3424238"/>
            <a:ext cx="539372" cy="314325"/>
          </a:xfrm>
          <a:prstGeom prst="roundRect">
            <a:avLst>
              <a:gd name="adj" fmla="val 9091"/>
            </a:avLst>
          </a:prstGeom>
          <a:solidFill>
            <a:srgbClr val="C8D2C3"/>
          </a:solidFill>
          <a:ln w="12700">
            <a:solidFill>
              <a:srgbClr val="C8D2C3"/>
            </a:solidFill>
            <a:prstDash val="solid"/>
          </a:ln>
        </p:spPr>
      </p:sp>
      <p:sp>
        <p:nvSpPr>
          <p:cNvPr id="39" name="Text 34"/>
          <p:cNvSpPr txBox="1"/>
          <p:nvPr/>
        </p:nvSpPr>
        <p:spPr>
          <a:xfrm>
            <a:off x="2968247" y="34099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157</a:t>
            </a:r>
            <a:endParaRPr lang="en-US" sz="860" dirty="0"/>
          </a:p>
        </p:txBody>
      </p:sp>
      <p:sp>
        <p:nvSpPr>
          <p:cNvPr id="40" name="Shape 35"/>
          <p:cNvSpPr/>
          <p:nvPr/>
        </p:nvSpPr>
        <p:spPr>
          <a:xfrm>
            <a:off x="3550482" y="3424238"/>
            <a:ext cx="539372" cy="314325"/>
          </a:xfrm>
          <a:prstGeom prst="roundRect">
            <a:avLst>
              <a:gd name="adj" fmla="val 9091"/>
            </a:avLst>
          </a:prstGeom>
          <a:solidFill>
            <a:srgbClr val="C9D3C4"/>
          </a:solidFill>
          <a:ln w="12700">
            <a:solidFill>
              <a:srgbClr val="C9D3C4"/>
            </a:solidFill>
            <a:prstDash val="solid"/>
          </a:ln>
        </p:spPr>
      </p:sp>
      <p:sp>
        <p:nvSpPr>
          <p:cNvPr id="41" name="Text 36"/>
          <p:cNvSpPr txBox="1"/>
          <p:nvPr/>
        </p:nvSpPr>
        <p:spPr>
          <a:xfrm>
            <a:off x="3536194" y="34099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147</a:t>
            </a:r>
            <a:endParaRPr lang="en-US" sz="860" dirty="0"/>
          </a:p>
        </p:txBody>
      </p:sp>
      <p:sp>
        <p:nvSpPr>
          <p:cNvPr id="42" name="Shape 37"/>
          <p:cNvSpPr/>
          <p:nvPr/>
        </p:nvSpPr>
        <p:spPr>
          <a:xfrm>
            <a:off x="4118429" y="3424238"/>
            <a:ext cx="539372" cy="314325"/>
          </a:xfrm>
          <a:prstGeom prst="roundRect">
            <a:avLst>
              <a:gd name="adj" fmla="val 9091"/>
            </a:avLst>
          </a:prstGeom>
          <a:solidFill>
            <a:srgbClr val="F4F6F1"/>
          </a:solidFill>
          <a:ln w="12700">
            <a:solidFill>
              <a:srgbClr val="F4F6F1"/>
            </a:solidFill>
            <a:prstDash val="solid"/>
          </a:ln>
        </p:spPr>
      </p:sp>
      <p:sp>
        <p:nvSpPr>
          <p:cNvPr id="43" name="Text 38"/>
          <p:cNvSpPr txBox="1"/>
          <p:nvPr/>
        </p:nvSpPr>
        <p:spPr>
          <a:xfrm>
            <a:off x="971550" y="3752850"/>
            <a:ext cx="1352550" cy="3429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Urea</a:t>
            </a:r>
            <a:endParaRPr lang="en-US" sz="900" dirty="0"/>
          </a:p>
        </p:txBody>
      </p:sp>
      <p:sp>
        <p:nvSpPr>
          <p:cNvPr id="44" name="Shape 39"/>
          <p:cNvSpPr/>
          <p:nvPr/>
        </p:nvSpPr>
        <p:spPr>
          <a:xfrm>
            <a:off x="2414588" y="3767138"/>
            <a:ext cx="539372" cy="314325"/>
          </a:xfrm>
          <a:prstGeom prst="roundRect">
            <a:avLst>
              <a:gd name="adj" fmla="val 9091"/>
            </a:avLst>
          </a:prstGeom>
          <a:solidFill>
            <a:srgbClr val="CED7C9"/>
          </a:solidFill>
          <a:ln w="12700">
            <a:solidFill>
              <a:srgbClr val="CED7C9"/>
            </a:solidFill>
            <a:prstDash val="solid"/>
          </a:ln>
        </p:spPr>
      </p:sp>
      <p:sp>
        <p:nvSpPr>
          <p:cNvPr id="45" name="Text 40"/>
          <p:cNvSpPr txBox="1"/>
          <p:nvPr/>
        </p:nvSpPr>
        <p:spPr>
          <a:xfrm>
            <a:off x="2400300" y="37528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118</a:t>
            </a:r>
            <a:endParaRPr lang="en-US" sz="860" dirty="0"/>
          </a:p>
        </p:txBody>
      </p:sp>
      <p:sp>
        <p:nvSpPr>
          <p:cNvPr id="46" name="Shape 41"/>
          <p:cNvSpPr/>
          <p:nvPr/>
        </p:nvSpPr>
        <p:spPr>
          <a:xfrm>
            <a:off x="2982535" y="3767138"/>
            <a:ext cx="539372" cy="314325"/>
          </a:xfrm>
          <a:prstGeom prst="roundRect">
            <a:avLst>
              <a:gd name="adj" fmla="val 9091"/>
            </a:avLst>
          </a:prstGeom>
          <a:solidFill>
            <a:srgbClr val="F4F6F1"/>
          </a:solidFill>
          <a:ln w="12700">
            <a:solidFill>
              <a:srgbClr val="F4F6F1"/>
            </a:solidFill>
            <a:prstDash val="solid"/>
          </a:ln>
        </p:spPr>
      </p:sp>
      <p:sp>
        <p:nvSpPr>
          <p:cNvPr id="47" name="Shape 42"/>
          <p:cNvSpPr/>
          <p:nvPr/>
        </p:nvSpPr>
        <p:spPr>
          <a:xfrm>
            <a:off x="3550482" y="3767138"/>
            <a:ext cx="539372" cy="314325"/>
          </a:xfrm>
          <a:prstGeom prst="roundRect">
            <a:avLst>
              <a:gd name="adj" fmla="val 9091"/>
            </a:avLst>
          </a:prstGeom>
          <a:solidFill>
            <a:srgbClr val="D8DFD4"/>
          </a:solidFill>
          <a:ln w="12700">
            <a:solidFill>
              <a:srgbClr val="D8DFD4"/>
            </a:solidFill>
            <a:prstDash val="solid"/>
          </a:ln>
        </p:spPr>
      </p:sp>
      <p:sp>
        <p:nvSpPr>
          <p:cNvPr id="48" name="Text 43"/>
          <p:cNvSpPr txBox="1"/>
          <p:nvPr/>
        </p:nvSpPr>
        <p:spPr>
          <a:xfrm>
            <a:off x="3536194" y="37528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57</a:t>
            </a:r>
            <a:endParaRPr lang="en-US" sz="860" dirty="0"/>
          </a:p>
        </p:txBody>
      </p:sp>
      <p:sp>
        <p:nvSpPr>
          <p:cNvPr id="49" name="Shape 44"/>
          <p:cNvSpPr/>
          <p:nvPr/>
        </p:nvSpPr>
        <p:spPr>
          <a:xfrm>
            <a:off x="4118429" y="3767138"/>
            <a:ext cx="539372" cy="314325"/>
          </a:xfrm>
          <a:prstGeom prst="roundRect">
            <a:avLst>
              <a:gd name="adj" fmla="val 9091"/>
            </a:avLst>
          </a:prstGeom>
          <a:solidFill>
            <a:srgbClr val="F4F6F1"/>
          </a:solidFill>
          <a:ln w="12700">
            <a:solidFill>
              <a:srgbClr val="F4F6F1"/>
            </a:solidFill>
            <a:prstDash val="solid"/>
          </a:ln>
        </p:spPr>
      </p:sp>
      <p:sp>
        <p:nvSpPr>
          <p:cNvPr id="50" name="Text 45"/>
          <p:cNvSpPr txBox="1"/>
          <p:nvPr/>
        </p:nvSpPr>
        <p:spPr>
          <a:xfrm>
            <a:off x="971550" y="4095750"/>
            <a:ext cx="1352550" cy="3429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ZA</a:t>
            </a:r>
            <a:endParaRPr lang="en-US" sz="900" dirty="0"/>
          </a:p>
        </p:txBody>
      </p:sp>
      <p:sp>
        <p:nvSpPr>
          <p:cNvPr id="51" name="Shape 46"/>
          <p:cNvSpPr/>
          <p:nvPr/>
        </p:nvSpPr>
        <p:spPr>
          <a:xfrm>
            <a:off x="2414588" y="4110038"/>
            <a:ext cx="539372" cy="314325"/>
          </a:xfrm>
          <a:prstGeom prst="roundRect">
            <a:avLst>
              <a:gd name="adj" fmla="val 9091"/>
            </a:avLst>
          </a:prstGeom>
          <a:solidFill>
            <a:srgbClr val="D8DFD4"/>
          </a:solidFill>
          <a:ln w="12700">
            <a:solidFill>
              <a:srgbClr val="D8DFD4"/>
            </a:solidFill>
            <a:prstDash val="solid"/>
          </a:ln>
        </p:spPr>
      </p:sp>
      <p:sp>
        <p:nvSpPr>
          <p:cNvPr id="52" name="Text 47"/>
          <p:cNvSpPr txBox="1"/>
          <p:nvPr/>
        </p:nvSpPr>
        <p:spPr>
          <a:xfrm>
            <a:off x="2400300" y="40957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54</a:t>
            </a:r>
            <a:endParaRPr lang="en-US" sz="860" dirty="0"/>
          </a:p>
        </p:txBody>
      </p:sp>
      <p:sp>
        <p:nvSpPr>
          <p:cNvPr id="53" name="Shape 48"/>
          <p:cNvSpPr/>
          <p:nvPr/>
        </p:nvSpPr>
        <p:spPr>
          <a:xfrm>
            <a:off x="2982535" y="4110038"/>
            <a:ext cx="539372" cy="314325"/>
          </a:xfrm>
          <a:prstGeom prst="roundRect">
            <a:avLst>
              <a:gd name="adj" fmla="val 9091"/>
            </a:avLst>
          </a:prstGeom>
          <a:solidFill>
            <a:srgbClr val="F4F6F1"/>
          </a:solidFill>
          <a:ln w="12700">
            <a:solidFill>
              <a:srgbClr val="F4F6F1"/>
            </a:solidFill>
            <a:prstDash val="solid"/>
          </a:ln>
        </p:spPr>
      </p:sp>
      <p:sp>
        <p:nvSpPr>
          <p:cNvPr id="54" name="Shape 49"/>
          <p:cNvSpPr/>
          <p:nvPr/>
        </p:nvSpPr>
        <p:spPr>
          <a:xfrm>
            <a:off x="3550482" y="4110038"/>
            <a:ext cx="539372" cy="314325"/>
          </a:xfrm>
          <a:prstGeom prst="roundRect">
            <a:avLst>
              <a:gd name="adj" fmla="val 9091"/>
            </a:avLst>
          </a:prstGeom>
          <a:solidFill>
            <a:srgbClr val="DFE5DC"/>
          </a:solidFill>
          <a:ln w="12700">
            <a:solidFill>
              <a:srgbClr val="DFE5DC"/>
            </a:solidFill>
            <a:prstDash val="solid"/>
          </a:ln>
        </p:spPr>
      </p:sp>
      <p:sp>
        <p:nvSpPr>
          <p:cNvPr id="55" name="Text 50"/>
          <p:cNvSpPr txBox="1"/>
          <p:nvPr/>
        </p:nvSpPr>
        <p:spPr>
          <a:xfrm>
            <a:off x="3536194" y="4095750"/>
            <a:ext cx="567947" cy="342900"/>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9.8</a:t>
            </a:r>
            <a:endParaRPr lang="en-US" sz="860" dirty="0"/>
          </a:p>
        </p:txBody>
      </p:sp>
      <p:sp>
        <p:nvSpPr>
          <p:cNvPr id="56" name="Shape 51"/>
          <p:cNvSpPr/>
          <p:nvPr/>
        </p:nvSpPr>
        <p:spPr>
          <a:xfrm>
            <a:off x="4118429" y="4110038"/>
            <a:ext cx="539372" cy="314325"/>
          </a:xfrm>
          <a:prstGeom prst="roundRect">
            <a:avLst>
              <a:gd name="adj" fmla="val 9091"/>
            </a:avLst>
          </a:prstGeom>
          <a:solidFill>
            <a:srgbClr val="F4F6F1"/>
          </a:solidFill>
          <a:ln w="12700">
            <a:solidFill>
              <a:srgbClr val="F4F6F1"/>
            </a:solidFill>
            <a:prstDash val="solid"/>
          </a:ln>
        </p:spPr>
      </p:sp>
      <p:sp>
        <p:nvSpPr>
          <p:cNvPr id="57" name="Shape 52"/>
          <p:cNvSpPr/>
          <p:nvPr/>
        </p:nvSpPr>
        <p:spPr>
          <a:xfrm>
            <a:off x="5034038" y="1714500"/>
            <a:ext cx="3168952" cy="3371850"/>
          </a:xfrm>
          <a:prstGeom prst="roundRect">
            <a:avLst>
              <a:gd name="adj" fmla="val 3463"/>
            </a:avLst>
          </a:prstGeom>
          <a:solidFill>
            <a:srgbClr val="FFFFFF"/>
          </a:solidFill>
          <a:ln w="12700">
            <a:solidFill>
              <a:srgbClr val="FFFFFF"/>
            </a:solidFill>
            <a:prstDash val="solid"/>
          </a:ln>
        </p:spPr>
      </p:sp>
      <p:sp>
        <p:nvSpPr>
          <p:cNvPr id="58" name="Text 53"/>
          <p:cNvSpPr txBox="1"/>
          <p:nvPr/>
        </p:nvSpPr>
        <p:spPr>
          <a:xfrm>
            <a:off x="5224538" y="1866900"/>
            <a:ext cx="2787952"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What else they bought</a:t>
            </a:r>
            <a:endParaRPr lang="en-US" sz="1300" dirty="0"/>
          </a:p>
        </p:txBody>
      </p:sp>
      <p:sp>
        <p:nvSpPr>
          <p:cNvPr id="59" name="Text 54"/>
          <p:cNvSpPr txBox="1"/>
          <p:nvPr/>
        </p:nvSpPr>
        <p:spPr>
          <a:xfrm>
            <a:off x="5224538" y="2095500"/>
            <a:ext cx="2787952"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Share of the 73 KCL / MOP buyers</a:t>
            </a:r>
            <a:endParaRPr lang="en-US" sz="950" dirty="0"/>
          </a:p>
        </p:txBody>
      </p:sp>
      <p:sp>
        <p:nvSpPr>
          <p:cNvPr id="60" name="Text 55"/>
          <p:cNvSpPr txBox="1"/>
          <p:nvPr/>
        </p:nvSpPr>
        <p:spPr>
          <a:xfrm>
            <a:off x="5243588" y="2381250"/>
            <a:ext cx="1830499"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Rock phosphate (RP)</a:t>
            </a:r>
            <a:endParaRPr lang="en-US" sz="940" dirty="0"/>
          </a:p>
        </p:txBody>
      </p:sp>
      <p:sp>
        <p:nvSpPr>
          <p:cNvPr id="61" name="Text 56"/>
          <p:cNvSpPr txBox="1"/>
          <p:nvPr/>
        </p:nvSpPr>
        <p:spPr>
          <a:xfrm>
            <a:off x="7755315" y="2381250"/>
            <a:ext cx="2381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40%</a:t>
            </a:r>
            <a:endParaRPr lang="en-US" sz="940" dirty="0"/>
          </a:p>
        </p:txBody>
      </p:sp>
      <p:sp>
        <p:nvSpPr>
          <p:cNvPr id="62" name="Text 57"/>
          <p:cNvSpPr txBox="1"/>
          <p:nvPr/>
        </p:nvSpPr>
        <p:spPr>
          <a:xfrm>
            <a:off x="7131237" y="2381250"/>
            <a:ext cx="547878"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29 of 73</a:t>
            </a:r>
            <a:endParaRPr lang="en-US" sz="860" dirty="0"/>
          </a:p>
        </p:txBody>
      </p:sp>
      <p:sp>
        <p:nvSpPr>
          <p:cNvPr id="63" name="Shape 58"/>
          <p:cNvSpPr/>
          <p:nvPr/>
        </p:nvSpPr>
        <p:spPr>
          <a:xfrm>
            <a:off x="5243588" y="2667000"/>
            <a:ext cx="2749852" cy="114300"/>
          </a:xfrm>
          <a:prstGeom prst="roundRect">
            <a:avLst>
              <a:gd name="adj" fmla="val 25000"/>
            </a:avLst>
          </a:prstGeom>
          <a:solidFill>
            <a:srgbClr val="E9EDE5"/>
          </a:solidFill>
          <a:ln w="12700">
            <a:solidFill>
              <a:srgbClr val="E9EDE5"/>
            </a:solidFill>
            <a:prstDash val="solid"/>
          </a:ln>
        </p:spPr>
      </p:sp>
      <p:sp>
        <p:nvSpPr>
          <p:cNvPr id="64" name="Shape 59"/>
          <p:cNvSpPr/>
          <p:nvPr/>
        </p:nvSpPr>
        <p:spPr>
          <a:xfrm>
            <a:off x="5243588" y="2667000"/>
            <a:ext cx="1099941" cy="114300"/>
          </a:xfrm>
          <a:prstGeom prst="roundRect">
            <a:avLst>
              <a:gd name="adj" fmla="val 25000"/>
            </a:avLst>
          </a:prstGeom>
          <a:solidFill>
            <a:srgbClr val="2B7BB0"/>
          </a:solidFill>
          <a:ln w="12700">
            <a:solidFill>
              <a:srgbClr val="2B7BB0"/>
            </a:solidFill>
            <a:prstDash val="solid"/>
          </a:ln>
        </p:spPr>
      </p:sp>
      <p:sp>
        <p:nvSpPr>
          <p:cNvPr id="65" name="Text 60"/>
          <p:cNvSpPr txBox="1"/>
          <p:nvPr/>
        </p:nvSpPr>
        <p:spPr>
          <a:xfrm>
            <a:off x="5243588" y="2819400"/>
            <a:ext cx="1830499"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NPK</a:t>
            </a:r>
            <a:endParaRPr lang="en-US" sz="940" dirty="0"/>
          </a:p>
        </p:txBody>
      </p:sp>
      <p:sp>
        <p:nvSpPr>
          <p:cNvPr id="66" name="Text 61"/>
          <p:cNvSpPr txBox="1"/>
          <p:nvPr/>
        </p:nvSpPr>
        <p:spPr>
          <a:xfrm>
            <a:off x="7755315" y="2819400"/>
            <a:ext cx="2381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22%</a:t>
            </a:r>
            <a:endParaRPr lang="en-US" sz="940" dirty="0"/>
          </a:p>
        </p:txBody>
      </p:sp>
      <p:sp>
        <p:nvSpPr>
          <p:cNvPr id="67" name="Text 62"/>
          <p:cNvSpPr txBox="1"/>
          <p:nvPr/>
        </p:nvSpPr>
        <p:spPr>
          <a:xfrm>
            <a:off x="7131237" y="2819400"/>
            <a:ext cx="547878"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16 of 73</a:t>
            </a:r>
            <a:endParaRPr lang="en-US" sz="860" dirty="0"/>
          </a:p>
        </p:txBody>
      </p:sp>
      <p:sp>
        <p:nvSpPr>
          <p:cNvPr id="68" name="Shape 63"/>
          <p:cNvSpPr/>
          <p:nvPr/>
        </p:nvSpPr>
        <p:spPr>
          <a:xfrm>
            <a:off x="5243588" y="3105150"/>
            <a:ext cx="2749852" cy="114300"/>
          </a:xfrm>
          <a:prstGeom prst="roundRect">
            <a:avLst>
              <a:gd name="adj" fmla="val 25000"/>
            </a:avLst>
          </a:prstGeom>
          <a:solidFill>
            <a:srgbClr val="E9EDE5"/>
          </a:solidFill>
          <a:ln w="12700">
            <a:solidFill>
              <a:srgbClr val="E9EDE5"/>
            </a:solidFill>
            <a:prstDash val="solid"/>
          </a:ln>
        </p:spPr>
      </p:sp>
      <p:sp>
        <p:nvSpPr>
          <p:cNvPr id="69" name="Shape 64"/>
          <p:cNvSpPr/>
          <p:nvPr/>
        </p:nvSpPr>
        <p:spPr>
          <a:xfrm>
            <a:off x="5243588" y="3105150"/>
            <a:ext cx="604968" cy="114300"/>
          </a:xfrm>
          <a:prstGeom prst="roundRect">
            <a:avLst>
              <a:gd name="adj" fmla="val 25000"/>
            </a:avLst>
          </a:prstGeom>
          <a:solidFill>
            <a:srgbClr val="2B7BB0"/>
          </a:solidFill>
          <a:ln w="12700">
            <a:solidFill>
              <a:srgbClr val="2B7BB0"/>
            </a:solidFill>
            <a:prstDash val="solid"/>
          </a:ln>
        </p:spPr>
      </p:sp>
      <p:sp>
        <p:nvSpPr>
          <p:cNvPr id="70" name="Text 65"/>
          <p:cNvSpPr txBox="1"/>
          <p:nvPr/>
        </p:nvSpPr>
        <p:spPr>
          <a:xfrm>
            <a:off x="5243588" y="3257550"/>
            <a:ext cx="1830499"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Urea</a:t>
            </a:r>
            <a:endParaRPr lang="en-US" sz="940" dirty="0"/>
          </a:p>
        </p:txBody>
      </p:sp>
      <p:sp>
        <p:nvSpPr>
          <p:cNvPr id="71" name="Text 66"/>
          <p:cNvSpPr txBox="1"/>
          <p:nvPr/>
        </p:nvSpPr>
        <p:spPr>
          <a:xfrm>
            <a:off x="7755315" y="3257550"/>
            <a:ext cx="2381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21%</a:t>
            </a:r>
            <a:endParaRPr lang="en-US" sz="940" dirty="0"/>
          </a:p>
        </p:txBody>
      </p:sp>
      <p:sp>
        <p:nvSpPr>
          <p:cNvPr id="72" name="Text 67"/>
          <p:cNvSpPr txBox="1"/>
          <p:nvPr/>
        </p:nvSpPr>
        <p:spPr>
          <a:xfrm>
            <a:off x="7131237" y="3257550"/>
            <a:ext cx="547878"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15 of 73</a:t>
            </a:r>
            <a:endParaRPr lang="en-US" sz="860" dirty="0"/>
          </a:p>
        </p:txBody>
      </p:sp>
      <p:sp>
        <p:nvSpPr>
          <p:cNvPr id="73" name="Shape 68"/>
          <p:cNvSpPr/>
          <p:nvPr/>
        </p:nvSpPr>
        <p:spPr>
          <a:xfrm>
            <a:off x="5243588" y="3543300"/>
            <a:ext cx="2749852" cy="114300"/>
          </a:xfrm>
          <a:prstGeom prst="roundRect">
            <a:avLst>
              <a:gd name="adj" fmla="val 25000"/>
            </a:avLst>
          </a:prstGeom>
          <a:solidFill>
            <a:srgbClr val="E9EDE5"/>
          </a:solidFill>
          <a:ln w="12700">
            <a:solidFill>
              <a:srgbClr val="E9EDE5"/>
            </a:solidFill>
            <a:prstDash val="solid"/>
          </a:ln>
        </p:spPr>
      </p:sp>
      <p:sp>
        <p:nvSpPr>
          <p:cNvPr id="74" name="Shape 69"/>
          <p:cNvSpPr/>
          <p:nvPr/>
        </p:nvSpPr>
        <p:spPr>
          <a:xfrm>
            <a:off x="5243588" y="3543300"/>
            <a:ext cx="577469" cy="114300"/>
          </a:xfrm>
          <a:prstGeom prst="roundRect">
            <a:avLst>
              <a:gd name="adj" fmla="val 25000"/>
            </a:avLst>
          </a:prstGeom>
          <a:solidFill>
            <a:srgbClr val="2B7BB0"/>
          </a:solidFill>
          <a:ln w="12700">
            <a:solidFill>
              <a:srgbClr val="2B7BB0"/>
            </a:solidFill>
            <a:prstDash val="solid"/>
          </a:ln>
        </p:spPr>
      </p:sp>
      <p:sp>
        <p:nvSpPr>
          <p:cNvPr id="75" name="Text 70"/>
          <p:cNvSpPr txBox="1"/>
          <p:nvPr/>
        </p:nvSpPr>
        <p:spPr>
          <a:xfrm>
            <a:off x="5243588" y="3695700"/>
            <a:ext cx="1891840"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ZA</a:t>
            </a:r>
            <a:endParaRPr lang="en-US" sz="940" dirty="0"/>
          </a:p>
        </p:txBody>
      </p:sp>
      <p:sp>
        <p:nvSpPr>
          <p:cNvPr id="76" name="Text 71"/>
          <p:cNvSpPr txBox="1"/>
          <p:nvPr/>
        </p:nvSpPr>
        <p:spPr>
          <a:xfrm>
            <a:off x="7755315" y="3695700"/>
            <a:ext cx="2381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11%</a:t>
            </a:r>
            <a:endParaRPr lang="en-US" sz="940" dirty="0"/>
          </a:p>
        </p:txBody>
      </p:sp>
      <p:sp>
        <p:nvSpPr>
          <p:cNvPr id="77" name="Text 72"/>
          <p:cNvSpPr txBox="1"/>
          <p:nvPr/>
        </p:nvSpPr>
        <p:spPr>
          <a:xfrm>
            <a:off x="7192578" y="3695700"/>
            <a:ext cx="486537"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8 of 73</a:t>
            </a:r>
            <a:endParaRPr lang="en-US" sz="860" dirty="0"/>
          </a:p>
        </p:txBody>
      </p:sp>
      <p:sp>
        <p:nvSpPr>
          <p:cNvPr id="78" name="Shape 73"/>
          <p:cNvSpPr/>
          <p:nvPr/>
        </p:nvSpPr>
        <p:spPr>
          <a:xfrm>
            <a:off x="5243588" y="3981450"/>
            <a:ext cx="2749852" cy="114300"/>
          </a:xfrm>
          <a:prstGeom prst="roundRect">
            <a:avLst>
              <a:gd name="adj" fmla="val 25000"/>
            </a:avLst>
          </a:prstGeom>
          <a:solidFill>
            <a:srgbClr val="E9EDE5"/>
          </a:solidFill>
          <a:ln w="12700">
            <a:solidFill>
              <a:srgbClr val="E9EDE5"/>
            </a:solidFill>
            <a:prstDash val="solid"/>
          </a:ln>
        </p:spPr>
      </p:sp>
      <p:sp>
        <p:nvSpPr>
          <p:cNvPr id="79" name="Shape 74"/>
          <p:cNvSpPr/>
          <p:nvPr/>
        </p:nvSpPr>
        <p:spPr>
          <a:xfrm>
            <a:off x="5243588" y="3981450"/>
            <a:ext cx="302484" cy="114300"/>
          </a:xfrm>
          <a:prstGeom prst="roundRect">
            <a:avLst>
              <a:gd name="adj" fmla="val 25000"/>
            </a:avLst>
          </a:prstGeom>
          <a:solidFill>
            <a:srgbClr val="2B7BB0"/>
          </a:solidFill>
          <a:ln w="12700">
            <a:solidFill>
              <a:srgbClr val="2B7BB0"/>
            </a:solidFill>
            <a:prstDash val="solid"/>
          </a:ln>
        </p:spPr>
      </p:sp>
      <p:sp>
        <p:nvSpPr>
          <p:cNvPr id="80" name="Text 75"/>
          <p:cNvSpPr txBox="1"/>
          <p:nvPr/>
        </p:nvSpPr>
        <p:spPr>
          <a:xfrm>
            <a:off x="5243588" y="4133850"/>
            <a:ext cx="1891840" cy="26670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AC AKP</a:t>
            </a:r>
            <a:endParaRPr lang="en-US" sz="940" dirty="0"/>
          </a:p>
        </p:txBody>
      </p:sp>
      <p:sp>
        <p:nvSpPr>
          <p:cNvPr id="81" name="Text 76"/>
          <p:cNvSpPr txBox="1"/>
          <p:nvPr/>
        </p:nvSpPr>
        <p:spPr>
          <a:xfrm>
            <a:off x="7755315" y="4133850"/>
            <a:ext cx="238125" cy="26670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10%</a:t>
            </a:r>
            <a:endParaRPr lang="en-US" sz="940" dirty="0"/>
          </a:p>
        </p:txBody>
      </p:sp>
      <p:sp>
        <p:nvSpPr>
          <p:cNvPr id="82" name="Text 77"/>
          <p:cNvSpPr txBox="1"/>
          <p:nvPr/>
        </p:nvSpPr>
        <p:spPr>
          <a:xfrm>
            <a:off x="7192578" y="4133850"/>
            <a:ext cx="486537" cy="266700"/>
          </a:xfrm>
          <a:prstGeom prst="rect">
            <a:avLst/>
          </a:prstGeom>
          <a:noFill/>
          <a:ln/>
        </p:spPr>
        <p:txBody>
          <a:bodyPr wrap="square" lIns="0" tIns="0" rIns="0" bIns="0" rtlCol="0" anchor="b"/>
          <a:lstStyle/>
          <a:p>
            <a:pPr algn="r" indent="0" marL="0">
              <a:lnSpc>
                <a:spcPct val="95000"/>
              </a:lnSpc>
              <a:buNone/>
            </a:pPr>
            <a:r>
              <a:rPr lang="en-US" sz="860" dirty="0">
                <a:solidFill>
                  <a:srgbClr val="7A8373"/>
                </a:solidFill>
                <a:latin typeface="Plus Jakarta Sans" pitchFamily="34" charset="0"/>
                <a:ea typeface="Plus Jakarta Sans" pitchFamily="34" charset="-122"/>
                <a:cs typeface="Plus Jakarta Sans" pitchFamily="34" charset="-120"/>
              </a:rPr>
              <a:t>7 of 73</a:t>
            </a:r>
            <a:endParaRPr lang="en-US" sz="860" dirty="0"/>
          </a:p>
        </p:txBody>
      </p:sp>
      <p:sp>
        <p:nvSpPr>
          <p:cNvPr id="83" name="Shape 78"/>
          <p:cNvSpPr/>
          <p:nvPr/>
        </p:nvSpPr>
        <p:spPr>
          <a:xfrm>
            <a:off x="5243588" y="4419600"/>
            <a:ext cx="2749852" cy="114300"/>
          </a:xfrm>
          <a:prstGeom prst="roundRect">
            <a:avLst>
              <a:gd name="adj" fmla="val 25000"/>
            </a:avLst>
          </a:prstGeom>
          <a:solidFill>
            <a:srgbClr val="E9EDE5"/>
          </a:solidFill>
          <a:ln w="12700">
            <a:solidFill>
              <a:srgbClr val="E9EDE5"/>
            </a:solidFill>
            <a:prstDash val="solid"/>
          </a:ln>
        </p:spPr>
      </p:sp>
      <p:sp>
        <p:nvSpPr>
          <p:cNvPr id="84" name="Shape 79"/>
          <p:cNvSpPr/>
          <p:nvPr/>
        </p:nvSpPr>
        <p:spPr>
          <a:xfrm>
            <a:off x="5243588" y="4419600"/>
            <a:ext cx="274985" cy="114300"/>
          </a:xfrm>
          <a:prstGeom prst="roundRect">
            <a:avLst>
              <a:gd name="adj" fmla="val 25000"/>
            </a:avLst>
          </a:prstGeom>
          <a:solidFill>
            <a:srgbClr val="2B7BB0"/>
          </a:solidFill>
          <a:ln w="12700">
            <a:solidFill>
              <a:srgbClr val="2B7BB0"/>
            </a:solidFill>
            <a:prstDash val="solid"/>
          </a:ln>
        </p:spPr>
      </p:sp>
      <p:sp>
        <p:nvSpPr>
          <p:cNvPr id="85" name="Shape 80"/>
          <p:cNvSpPr/>
          <p:nvPr/>
        </p:nvSpPr>
        <p:spPr>
          <a:xfrm>
            <a:off x="8355390" y="1714500"/>
            <a:ext cx="2693610" cy="3371850"/>
          </a:xfrm>
          <a:prstGeom prst="roundRect">
            <a:avLst>
              <a:gd name="adj" fmla="val 4074"/>
            </a:avLst>
          </a:prstGeom>
          <a:solidFill>
            <a:srgbClr val="FFFFFF"/>
          </a:solidFill>
          <a:ln w="12700">
            <a:solidFill>
              <a:srgbClr val="FFFFFF"/>
            </a:solidFill>
            <a:prstDash val="solid"/>
          </a:ln>
        </p:spPr>
      </p:sp>
      <p:sp>
        <p:nvSpPr>
          <p:cNvPr id="86" name="Text 81"/>
          <p:cNvSpPr txBox="1"/>
          <p:nvPr/>
        </p:nvSpPr>
        <p:spPr>
          <a:xfrm>
            <a:off x="8545890" y="1866900"/>
            <a:ext cx="231261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Open orders by age</a:t>
            </a:r>
            <a:endParaRPr lang="en-US" sz="1300" dirty="0"/>
          </a:p>
        </p:txBody>
      </p:sp>
      <p:sp>
        <p:nvSpPr>
          <p:cNvPr id="87" name="Text 82"/>
          <p:cNvSpPr txBox="1"/>
          <p:nvPr/>
        </p:nvSpPr>
        <p:spPr>
          <a:xfrm>
            <a:off x="8545890" y="2095500"/>
            <a:ext cx="231261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Still “NEW”, as of 30 Sep</a:t>
            </a:r>
            <a:endParaRPr lang="en-US" sz="950" dirty="0"/>
          </a:p>
        </p:txBody>
      </p:sp>
      <p:sp>
        <p:nvSpPr>
          <p:cNvPr id="88" name="Shape 83"/>
          <p:cNvSpPr/>
          <p:nvPr/>
        </p:nvSpPr>
        <p:spPr>
          <a:xfrm>
            <a:off x="8672980" y="4186238"/>
            <a:ext cx="352549" cy="538163"/>
          </a:xfrm>
          <a:prstGeom prst="roundRect">
            <a:avLst>
              <a:gd name="adj" fmla="val 10807"/>
            </a:avLst>
          </a:prstGeom>
          <a:solidFill>
            <a:srgbClr val="86AD6C"/>
          </a:solidFill>
          <a:ln w="12700">
            <a:solidFill>
              <a:srgbClr val="86AD6C"/>
            </a:solidFill>
            <a:prstDash val="solid"/>
          </a:ln>
        </p:spPr>
      </p:sp>
      <p:sp>
        <p:nvSpPr>
          <p:cNvPr id="89" name="Text 84"/>
          <p:cNvSpPr txBox="1"/>
          <p:nvPr/>
        </p:nvSpPr>
        <p:spPr>
          <a:xfrm>
            <a:off x="8444380" y="4014788"/>
            <a:ext cx="80974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3 · Rp74.9M</a:t>
            </a:r>
            <a:endParaRPr lang="en-US" sz="860" dirty="0"/>
          </a:p>
        </p:txBody>
      </p:sp>
      <p:sp>
        <p:nvSpPr>
          <p:cNvPr id="90" name="Text 85"/>
          <p:cNvSpPr txBox="1"/>
          <p:nvPr/>
        </p:nvSpPr>
        <p:spPr>
          <a:xfrm>
            <a:off x="8574465" y="4772025"/>
            <a:ext cx="549577"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0–1 days</a:t>
            </a:r>
            <a:endParaRPr lang="en-US" sz="830" dirty="0"/>
          </a:p>
        </p:txBody>
      </p:sp>
      <p:sp>
        <p:nvSpPr>
          <p:cNvPr id="91" name="Text 86"/>
          <p:cNvSpPr txBox="1"/>
          <p:nvPr/>
        </p:nvSpPr>
        <p:spPr>
          <a:xfrm>
            <a:off x="9132132" y="4552950"/>
            <a:ext cx="5715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0</a:t>
            </a:r>
            <a:endParaRPr lang="en-US" sz="860" dirty="0"/>
          </a:p>
        </p:txBody>
      </p:sp>
      <p:sp>
        <p:nvSpPr>
          <p:cNvPr id="92" name="Text 87"/>
          <p:cNvSpPr txBox="1"/>
          <p:nvPr/>
        </p:nvSpPr>
        <p:spPr>
          <a:xfrm>
            <a:off x="9143093" y="4772025"/>
            <a:ext cx="549577"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2–3 days</a:t>
            </a:r>
            <a:endParaRPr lang="en-US" sz="830" dirty="0"/>
          </a:p>
        </p:txBody>
      </p:sp>
      <p:sp>
        <p:nvSpPr>
          <p:cNvPr id="93" name="Shape 88"/>
          <p:cNvSpPr/>
          <p:nvPr/>
        </p:nvSpPr>
        <p:spPr>
          <a:xfrm>
            <a:off x="9810234" y="4006850"/>
            <a:ext cx="352549" cy="717550"/>
          </a:xfrm>
          <a:prstGeom prst="roundRect">
            <a:avLst>
              <a:gd name="adj" fmla="val 10807"/>
            </a:avLst>
          </a:prstGeom>
          <a:solidFill>
            <a:srgbClr val="D9A21B"/>
          </a:solidFill>
          <a:ln w="12700">
            <a:solidFill>
              <a:srgbClr val="D9A21B"/>
            </a:solidFill>
            <a:prstDash val="solid"/>
          </a:ln>
        </p:spPr>
      </p:sp>
      <p:sp>
        <p:nvSpPr>
          <p:cNvPr id="94" name="Text 89"/>
          <p:cNvSpPr txBox="1"/>
          <p:nvPr/>
        </p:nvSpPr>
        <p:spPr>
          <a:xfrm>
            <a:off x="9581634" y="3835400"/>
            <a:ext cx="80974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4 · Rp79.5M</a:t>
            </a:r>
            <a:endParaRPr lang="en-US" sz="860" dirty="0"/>
          </a:p>
        </p:txBody>
      </p:sp>
      <p:sp>
        <p:nvSpPr>
          <p:cNvPr id="95" name="Text 90"/>
          <p:cNvSpPr txBox="1"/>
          <p:nvPr/>
        </p:nvSpPr>
        <p:spPr>
          <a:xfrm>
            <a:off x="9711720" y="4772025"/>
            <a:ext cx="549577"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4–6 days</a:t>
            </a:r>
            <a:endParaRPr lang="en-US" sz="830" dirty="0"/>
          </a:p>
        </p:txBody>
      </p:sp>
      <p:sp>
        <p:nvSpPr>
          <p:cNvPr id="96" name="Shape 91"/>
          <p:cNvSpPr/>
          <p:nvPr/>
        </p:nvSpPr>
        <p:spPr>
          <a:xfrm>
            <a:off x="10378862" y="2571750"/>
            <a:ext cx="352549" cy="2152650"/>
          </a:xfrm>
          <a:prstGeom prst="roundRect">
            <a:avLst>
              <a:gd name="adj" fmla="val 10807"/>
            </a:avLst>
          </a:prstGeom>
          <a:solidFill>
            <a:srgbClr val="B85A28"/>
          </a:solidFill>
          <a:ln w="12700">
            <a:solidFill>
              <a:srgbClr val="B85A28"/>
            </a:solidFill>
            <a:prstDash val="solid"/>
          </a:ln>
        </p:spPr>
      </p:sp>
      <p:sp>
        <p:nvSpPr>
          <p:cNvPr id="97" name="Text 92"/>
          <p:cNvSpPr txBox="1"/>
          <p:nvPr/>
        </p:nvSpPr>
        <p:spPr>
          <a:xfrm>
            <a:off x="10150262" y="2400300"/>
            <a:ext cx="809749"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12 · Rp199M</a:t>
            </a:r>
            <a:endParaRPr lang="en-US" sz="860" dirty="0"/>
          </a:p>
        </p:txBody>
      </p:sp>
      <p:sp>
        <p:nvSpPr>
          <p:cNvPr id="98" name="Text 93"/>
          <p:cNvSpPr txBox="1"/>
          <p:nvPr/>
        </p:nvSpPr>
        <p:spPr>
          <a:xfrm>
            <a:off x="10280348" y="4772025"/>
            <a:ext cx="549577" cy="18097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7+ days</a:t>
            </a:r>
            <a:endParaRPr lang="en-US" sz="830" dirty="0"/>
          </a:p>
        </p:txBody>
      </p:sp>
      <p:sp>
        <p:nvSpPr>
          <p:cNvPr id="99" name="Shape 94"/>
          <p:cNvSpPr/>
          <p:nvPr/>
        </p:nvSpPr>
        <p:spPr>
          <a:xfrm>
            <a:off x="8564940" y="4724400"/>
            <a:ext cx="2274510" cy="0"/>
          </a:xfrm>
          <a:prstGeom prst="line">
            <a:avLst/>
          </a:prstGeom>
          <a:noFill/>
          <a:ln w="9525">
            <a:solidFill>
              <a:srgbClr val="B9C2B0"/>
            </a:solidFill>
            <a:prstDash val="solid"/>
          </a:ln>
        </p:spPr>
      </p:sp>
      <p:sp>
        <p:nvSpPr>
          <p:cNvPr id="100" name="Shape 95"/>
          <p:cNvSpPr/>
          <p:nvPr/>
        </p:nvSpPr>
        <p:spPr>
          <a:xfrm>
            <a:off x="762000" y="5219700"/>
            <a:ext cx="10287000" cy="895350"/>
          </a:xfrm>
          <a:prstGeom prst="roundRect">
            <a:avLst>
              <a:gd name="adj" fmla="val 12255"/>
            </a:avLst>
          </a:prstGeom>
          <a:solidFill>
            <a:srgbClr val="FBEFC4"/>
          </a:solidFill>
          <a:ln w="12700">
            <a:solidFill>
              <a:srgbClr val="FBEFC4"/>
            </a:solidFill>
            <a:prstDash val="solid"/>
          </a:ln>
        </p:spPr>
      </p:sp>
      <p:sp>
        <p:nvSpPr>
          <p:cNvPr id="101" name="Text 96"/>
          <p:cNvSpPr txBox="1"/>
          <p:nvPr/>
        </p:nvSpPr>
        <p:spPr>
          <a:xfrm>
            <a:off x="933450" y="5305425"/>
            <a:ext cx="9944100" cy="72390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22 of 73 KCL / MOP buyers bought nothing else. Offer Rock phosphate (RP) (bought by 29 of them) as the add-on on the next call.</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New customers start with KCL / MOP (34 of 73 new-customer orders). Lead with it when opening new accounts.</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Siak buys mostly NPK (85% of its GMV), unlike the other regions. Stock and pitch by area.</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19 of 237 orders are still open as of 30 Sep; 16 (Rp278M) for 4+ days. Confirm delivery dates before customers chase them.</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12</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CRM 1 JUL – 30 SEP · SUCCESS STORY</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Simon Sutrado Simanjuntak's phone calls produced 2 of 2 CRM wins</a:t>
            </a:r>
            <a:endParaRPr lang="en-US" sz="2300" dirty="0"/>
          </a:p>
        </p:txBody>
      </p:sp>
      <p:sp>
        <p:nvSpPr>
          <p:cNvPr id="11" name="Shape 6"/>
          <p:cNvSpPr/>
          <p:nvPr/>
        </p:nvSpPr>
        <p:spPr>
          <a:xfrm>
            <a:off x="762000" y="1714500"/>
            <a:ext cx="3745396" cy="4400550"/>
          </a:xfrm>
          <a:prstGeom prst="roundRect">
            <a:avLst>
              <a:gd name="adj" fmla="val 2930"/>
            </a:avLst>
          </a:prstGeom>
          <a:solidFill>
            <a:srgbClr val="FFFFFF"/>
          </a:solidFill>
          <a:ln w="12700">
            <a:solidFill>
              <a:srgbClr val="FFFFFF"/>
            </a:solidFill>
            <a:prstDash val="solid"/>
          </a:ln>
        </p:spPr>
      </p:sp>
      <p:sp>
        <p:nvSpPr>
          <p:cNvPr id="12" name="Text 7"/>
          <p:cNvSpPr txBox="1"/>
          <p:nvPr/>
        </p:nvSpPr>
        <p:spPr>
          <a:xfrm>
            <a:off x="952500" y="1866900"/>
            <a:ext cx="3364396"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How the 2 wins happened</a:t>
            </a:r>
            <a:endParaRPr lang="en-US" sz="1300" dirty="0"/>
          </a:p>
        </p:txBody>
      </p:sp>
      <p:sp>
        <p:nvSpPr>
          <p:cNvPr id="13" name="Text 8"/>
          <p:cNvSpPr txBox="1"/>
          <p:nvPr/>
        </p:nvSpPr>
        <p:spPr>
          <a:xfrm>
            <a:off x="952500" y="2095500"/>
            <a:ext cx="3364396"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Each bar splits the CRM wins; count inside</a:t>
            </a:r>
            <a:endParaRPr lang="en-US" sz="950" dirty="0"/>
          </a:p>
        </p:txBody>
      </p:sp>
      <p:sp>
        <p:nvSpPr>
          <p:cNvPr id="14" name="Text 9"/>
          <p:cNvSpPr txBox="1"/>
          <p:nvPr/>
        </p:nvSpPr>
        <p:spPr>
          <a:xfrm>
            <a:off x="971550" y="2381250"/>
            <a:ext cx="3326296" cy="142875"/>
          </a:xfrm>
          <a:prstGeom prst="rect">
            <a:avLst/>
          </a:prstGeom>
          <a:noFill/>
          <a:ln/>
        </p:spPr>
        <p:txBody>
          <a:bodyPr wrap="square" lIns="0" tIns="0" rIns="0" bIns="0" rtlCol="0" anchor="t"/>
          <a:lstStyle/>
          <a:p>
            <a:pPr algn="l"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ENGAGEMENT CHANNEL</a:t>
            </a:r>
            <a:endParaRPr lang="en-US" sz="800" dirty="0"/>
          </a:p>
        </p:txBody>
      </p:sp>
      <p:sp>
        <p:nvSpPr>
          <p:cNvPr id="15" name="Shape 10"/>
          <p:cNvSpPr/>
          <p:nvPr/>
        </p:nvSpPr>
        <p:spPr>
          <a:xfrm>
            <a:off x="971550" y="2552700"/>
            <a:ext cx="3307246" cy="247650"/>
          </a:xfrm>
          <a:prstGeom prst="roundRect">
            <a:avLst>
              <a:gd name="adj" fmla="val 11538"/>
            </a:avLst>
          </a:prstGeom>
          <a:solidFill>
            <a:srgbClr val="3E7B27"/>
          </a:solidFill>
          <a:ln w="12700">
            <a:solidFill>
              <a:srgbClr val="3E7B27"/>
            </a:solidFill>
            <a:prstDash val="solid"/>
          </a:ln>
        </p:spPr>
      </p:sp>
      <p:sp>
        <p:nvSpPr>
          <p:cNvPr id="16" name="Text 11"/>
          <p:cNvSpPr txBox="1"/>
          <p:nvPr/>
        </p:nvSpPr>
        <p:spPr>
          <a:xfrm>
            <a:off x="971550" y="2552700"/>
            <a:ext cx="3307246" cy="247650"/>
          </a:xfrm>
          <a:prstGeom prst="rect">
            <a:avLst/>
          </a:prstGeom>
          <a:noFill/>
          <a:ln/>
        </p:spPr>
        <p:txBody>
          <a:bodyPr wrap="square" lIns="0" tIns="0" rIns="0" bIns="0" rtlCol="0" anchor="ctr"/>
          <a:lstStyle/>
          <a:p>
            <a:pPr algn="ctr" indent="0" marL="0">
              <a:lnSpc>
                <a:spcPct val="95000"/>
              </a:lnSpc>
              <a:buNone/>
            </a:pPr>
            <a:r>
              <a:rPr lang="en-US" sz="900" b="1" dirty="0">
                <a:solidFill>
                  <a:srgbClr val="FFFFFF"/>
                </a:solidFill>
                <a:latin typeface="Plus Jakarta Sans" pitchFamily="34" charset="0"/>
                <a:ea typeface="Plus Jakarta Sans" pitchFamily="34" charset="-122"/>
                <a:cs typeface="Plus Jakarta Sans" pitchFamily="34" charset="-120"/>
              </a:rPr>
              <a:t>2</a:t>
            </a:r>
            <a:endParaRPr lang="en-US" sz="900" dirty="0"/>
          </a:p>
        </p:txBody>
      </p:sp>
      <p:sp>
        <p:nvSpPr>
          <p:cNvPr id="17" name="Shape 12"/>
          <p:cNvSpPr/>
          <p:nvPr/>
        </p:nvSpPr>
        <p:spPr>
          <a:xfrm>
            <a:off x="971550" y="2876550"/>
            <a:ext cx="85725" cy="85725"/>
          </a:xfrm>
          <a:prstGeom prst="roundRect">
            <a:avLst>
              <a:gd name="adj" fmla="val 22222"/>
            </a:avLst>
          </a:prstGeom>
          <a:solidFill>
            <a:srgbClr val="3E7B27"/>
          </a:solidFill>
          <a:ln w="12700">
            <a:solidFill>
              <a:srgbClr val="3E7B27"/>
            </a:solidFill>
            <a:prstDash val="solid"/>
          </a:ln>
        </p:spPr>
      </p:sp>
      <p:sp>
        <p:nvSpPr>
          <p:cNvPr id="18" name="Text 13"/>
          <p:cNvSpPr txBox="1"/>
          <p:nvPr/>
        </p:nvSpPr>
        <p:spPr>
          <a:xfrm>
            <a:off x="1095375" y="2847975"/>
            <a:ext cx="984885" cy="142875"/>
          </a:xfrm>
          <a:prstGeom prst="rect">
            <a:avLst/>
          </a:prstGeom>
          <a:noFill/>
          <a:ln/>
        </p:spPr>
        <p:txBody>
          <a:bodyPr wrap="square" lIns="0" tIns="0" rIns="0" bIns="0" rtlCol="0" anchor="ctr"/>
          <a:lstStyle/>
          <a:p>
            <a:pPr algn="l" indent="0" marL="0">
              <a:lnSpc>
                <a:spcPct val="95000"/>
              </a:lnSpc>
              <a:buNone/>
            </a:pPr>
            <a:r>
              <a:rPr lang="en-US" sz="830" dirty="0">
                <a:solidFill>
                  <a:srgbClr val="535353"/>
                </a:solidFill>
                <a:latin typeface="Plus Jakarta Sans" pitchFamily="34" charset="0"/>
                <a:ea typeface="Plus Jakarta Sans" pitchFamily="34" charset="-122"/>
                <a:cs typeface="Plus Jakarta Sans" pitchFamily="34" charset="-120"/>
              </a:rPr>
              <a:t>Phone call 100%</a:t>
            </a:r>
            <a:endParaRPr lang="en-US" sz="830" dirty="0"/>
          </a:p>
        </p:txBody>
      </p:sp>
      <p:sp>
        <p:nvSpPr>
          <p:cNvPr id="19" name="Text 14"/>
          <p:cNvSpPr txBox="1"/>
          <p:nvPr/>
        </p:nvSpPr>
        <p:spPr>
          <a:xfrm>
            <a:off x="971550" y="3048000"/>
            <a:ext cx="3326296" cy="142875"/>
          </a:xfrm>
          <a:prstGeom prst="rect">
            <a:avLst/>
          </a:prstGeom>
          <a:noFill/>
          <a:ln/>
        </p:spPr>
        <p:txBody>
          <a:bodyPr wrap="square" lIns="0" tIns="0" rIns="0" bIns="0" rtlCol="0" anchor="t"/>
          <a:lstStyle/>
          <a:p>
            <a:pPr algn="l"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LEAD TYPE</a:t>
            </a:r>
            <a:endParaRPr lang="en-US" sz="800" dirty="0"/>
          </a:p>
        </p:txBody>
      </p:sp>
      <p:sp>
        <p:nvSpPr>
          <p:cNvPr id="20" name="Shape 15"/>
          <p:cNvSpPr/>
          <p:nvPr/>
        </p:nvSpPr>
        <p:spPr>
          <a:xfrm>
            <a:off x="971550" y="3219450"/>
            <a:ext cx="1644098" cy="247650"/>
          </a:xfrm>
          <a:prstGeom prst="roundRect">
            <a:avLst>
              <a:gd name="adj" fmla="val 11538"/>
            </a:avLst>
          </a:prstGeom>
          <a:solidFill>
            <a:srgbClr val="3E7B27"/>
          </a:solidFill>
          <a:ln w="12700">
            <a:solidFill>
              <a:srgbClr val="3E7B27"/>
            </a:solidFill>
            <a:prstDash val="solid"/>
          </a:ln>
        </p:spPr>
      </p:sp>
      <p:sp>
        <p:nvSpPr>
          <p:cNvPr id="21" name="Text 16"/>
          <p:cNvSpPr txBox="1"/>
          <p:nvPr/>
        </p:nvSpPr>
        <p:spPr>
          <a:xfrm>
            <a:off x="971550" y="3219450"/>
            <a:ext cx="1644098" cy="247650"/>
          </a:xfrm>
          <a:prstGeom prst="rect">
            <a:avLst/>
          </a:prstGeom>
          <a:noFill/>
          <a:ln/>
        </p:spPr>
        <p:txBody>
          <a:bodyPr wrap="square" lIns="0" tIns="0" rIns="0" bIns="0" rtlCol="0" anchor="ctr"/>
          <a:lstStyle/>
          <a:p>
            <a:pPr algn="ctr" indent="0" marL="0">
              <a:lnSpc>
                <a:spcPct val="95000"/>
              </a:lnSpc>
              <a:buNone/>
            </a:pPr>
            <a:r>
              <a:rPr lang="en-US" sz="900" b="1" dirty="0">
                <a:solidFill>
                  <a:srgbClr val="FFFFFF"/>
                </a:solidFill>
                <a:latin typeface="Plus Jakarta Sans" pitchFamily="34" charset="0"/>
                <a:ea typeface="Plus Jakarta Sans" pitchFamily="34" charset="-122"/>
                <a:cs typeface="Plus Jakarta Sans" pitchFamily="34" charset="-120"/>
              </a:rPr>
              <a:t>1</a:t>
            </a:r>
            <a:endParaRPr lang="en-US" sz="900" dirty="0"/>
          </a:p>
        </p:txBody>
      </p:sp>
      <p:sp>
        <p:nvSpPr>
          <p:cNvPr id="22" name="Shape 17"/>
          <p:cNvSpPr/>
          <p:nvPr/>
        </p:nvSpPr>
        <p:spPr>
          <a:xfrm>
            <a:off x="2634698" y="3219450"/>
            <a:ext cx="1644098" cy="247650"/>
          </a:xfrm>
          <a:prstGeom prst="roundRect">
            <a:avLst>
              <a:gd name="adj" fmla="val 11538"/>
            </a:avLst>
          </a:prstGeom>
          <a:solidFill>
            <a:srgbClr val="D9A21B"/>
          </a:solidFill>
          <a:ln w="12700">
            <a:solidFill>
              <a:srgbClr val="D9A21B"/>
            </a:solidFill>
            <a:prstDash val="solid"/>
          </a:ln>
        </p:spPr>
      </p:sp>
      <p:sp>
        <p:nvSpPr>
          <p:cNvPr id="23" name="Text 18"/>
          <p:cNvSpPr txBox="1"/>
          <p:nvPr/>
        </p:nvSpPr>
        <p:spPr>
          <a:xfrm>
            <a:off x="2634698" y="3219450"/>
            <a:ext cx="1644098" cy="247650"/>
          </a:xfrm>
          <a:prstGeom prst="rect">
            <a:avLst/>
          </a:prstGeom>
          <a:noFill/>
          <a:ln/>
        </p:spPr>
        <p:txBody>
          <a:bodyPr wrap="square" lIns="0" tIns="0" rIns="0" bIns="0" rtlCol="0" anchor="ctr"/>
          <a:lstStyle/>
          <a:p>
            <a:pPr algn="ct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1</a:t>
            </a:r>
            <a:endParaRPr lang="en-US" sz="900" dirty="0"/>
          </a:p>
        </p:txBody>
      </p:sp>
      <p:sp>
        <p:nvSpPr>
          <p:cNvPr id="24" name="Shape 19"/>
          <p:cNvSpPr/>
          <p:nvPr/>
        </p:nvSpPr>
        <p:spPr>
          <a:xfrm>
            <a:off x="971550" y="3543300"/>
            <a:ext cx="85725" cy="85725"/>
          </a:xfrm>
          <a:prstGeom prst="roundRect">
            <a:avLst>
              <a:gd name="adj" fmla="val 22222"/>
            </a:avLst>
          </a:prstGeom>
          <a:solidFill>
            <a:srgbClr val="3E7B27"/>
          </a:solidFill>
          <a:ln w="12700">
            <a:solidFill>
              <a:srgbClr val="3E7B27"/>
            </a:solidFill>
            <a:prstDash val="solid"/>
          </a:ln>
        </p:spPr>
      </p:sp>
      <p:sp>
        <p:nvSpPr>
          <p:cNvPr id="25" name="Text 20"/>
          <p:cNvSpPr txBox="1"/>
          <p:nvPr/>
        </p:nvSpPr>
        <p:spPr>
          <a:xfrm>
            <a:off x="1095375" y="3514725"/>
            <a:ext cx="867537" cy="142875"/>
          </a:xfrm>
          <a:prstGeom prst="rect">
            <a:avLst/>
          </a:prstGeom>
          <a:noFill/>
          <a:ln/>
        </p:spPr>
        <p:txBody>
          <a:bodyPr wrap="square" lIns="0" tIns="0" rIns="0" bIns="0" rtlCol="0" anchor="ctr"/>
          <a:lstStyle/>
          <a:p>
            <a:pPr algn="l" indent="0" marL="0">
              <a:lnSpc>
                <a:spcPct val="95000"/>
              </a:lnSpc>
              <a:buNone/>
            </a:pPr>
            <a:r>
              <a:rPr lang="en-US" sz="830" dirty="0">
                <a:solidFill>
                  <a:srgbClr val="535353"/>
                </a:solidFill>
                <a:latin typeface="Plus Jakarta Sans" pitchFamily="34" charset="0"/>
                <a:ea typeface="Plus Jakarta Sans" pitchFamily="34" charset="-122"/>
                <a:cs typeface="Plus Jakarta Sans" pitchFamily="34" charset="-120"/>
              </a:rPr>
              <a:t>New Leads 50%</a:t>
            </a:r>
            <a:endParaRPr lang="en-US" sz="830" dirty="0"/>
          </a:p>
        </p:txBody>
      </p:sp>
      <p:sp>
        <p:nvSpPr>
          <p:cNvPr id="26" name="Shape 21"/>
          <p:cNvSpPr/>
          <p:nvPr/>
        </p:nvSpPr>
        <p:spPr>
          <a:xfrm>
            <a:off x="1962912" y="3543300"/>
            <a:ext cx="85725" cy="85725"/>
          </a:xfrm>
          <a:prstGeom prst="roundRect">
            <a:avLst>
              <a:gd name="adj" fmla="val 22222"/>
            </a:avLst>
          </a:prstGeom>
          <a:solidFill>
            <a:srgbClr val="D9A21B"/>
          </a:solidFill>
          <a:ln w="12700">
            <a:solidFill>
              <a:srgbClr val="D9A21B"/>
            </a:solidFill>
            <a:prstDash val="solid"/>
          </a:ln>
        </p:spPr>
      </p:sp>
      <p:sp>
        <p:nvSpPr>
          <p:cNvPr id="27" name="Text 22"/>
          <p:cNvSpPr txBox="1"/>
          <p:nvPr/>
        </p:nvSpPr>
        <p:spPr>
          <a:xfrm>
            <a:off x="2086737" y="3514725"/>
            <a:ext cx="1160907" cy="142875"/>
          </a:xfrm>
          <a:prstGeom prst="rect">
            <a:avLst/>
          </a:prstGeom>
          <a:noFill/>
          <a:ln/>
        </p:spPr>
        <p:txBody>
          <a:bodyPr wrap="square" lIns="0" tIns="0" rIns="0" bIns="0" rtlCol="0" anchor="ctr"/>
          <a:lstStyle/>
          <a:p>
            <a:pPr algn="l" indent="0" marL="0">
              <a:lnSpc>
                <a:spcPct val="95000"/>
              </a:lnSpc>
              <a:buNone/>
            </a:pPr>
            <a:r>
              <a:rPr lang="en-US" sz="830" dirty="0">
                <a:solidFill>
                  <a:srgbClr val="535353"/>
                </a:solidFill>
                <a:latin typeface="Plus Jakarta Sans" pitchFamily="34" charset="0"/>
                <a:ea typeface="Plus Jakarta Sans" pitchFamily="34" charset="-122"/>
                <a:cs typeface="Plus Jakarta Sans" pitchFamily="34" charset="-120"/>
              </a:rPr>
              <a:t>Existing Leads 50%</a:t>
            </a:r>
            <a:endParaRPr lang="en-US" sz="830" dirty="0"/>
          </a:p>
        </p:txBody>
      </p:sp>
      <p:sp>
        <p:nvSpPr>
          <p:cNvPr id="28" name="Text 23"/>
          <p:cNvSpPr txBox="1"/>
          <p:nvPr/>
        </p:nvSpPr>
        <p:spPr>
          <a:xfrm>
            <a:off x="971550" y="3714750"/>
            <a:ext cx="3326296" cy="142875"/>
          </a:xfrm>
          <a:prstGeom prst="rect">
            <a:avLst/>
          </a:prstGeom>
          <a:noFill/>
          <a:ln/>
        </p:spPr>
        <p:txBody>
          <a:bodyPr wrap="square" lIns="0" tIns="0" rIns="0" bIns="0" rtlCol="0" anchor="t"/>
          <a:lstStyle/>
          <a:p>
            <a:pPr algn="l"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OBJECTIVE</a:t>
            </a:r>
            <a:endParaRPr lang="en-US" sz="800" dirty="0"/>
          </a:p>
        </p:txBody>
      </p:sp>
      <p:sp>
        <p:nvSpPr>
          <p:cNvPr id="29" name="Shape 24"/>
          <p:cNvSpPr/>
          <p:nvPr/>
        </p:nvSpPr>
        <p:spPr>
          <a:xfrm>
            <a:off x="971550" y="3886200"/>
            <a:ext cx="3307246" cy="247650"/>
          </a:xfrm>
          <a:prstGeom prst="roundRect">
            <a:avLst>
              <a:gd name="adj" fmla="val 11538"/>
            </a:avLst>
          </a:prstGeom>
          <a:solidFill>
            <a:srgbClr val="3E7B27"/>
          </a:solidFill>
          <a:ln w="12700">
            <a:solidFill>
              <a:srgbClr val="3E7B27"/>
            </a:solidFill>
            <a:prstDash val="solid"/>
          </a:ln>
        </p:spPr>
      </p:sp>
      <p:sp>
        <p:nvSpPr>
          <p:cNvPr id="30" name="Text 25"/>
          <p:cNvSpPr txBox="1"/>
          <p:nvPr/>
        </p:nvSpPr>
        <p:spPr>
          <a:xfrm>
            <a:off x="971550" y="3886200"/>
            <a:ext cx="3307246" cy="247650"/>
          </a:xfrm>
          <a:prstGeom prst="rect">
            <a:avLst/>
          </a:prstGeom>
          <a:noFill/>
          <a:ln/>
        </p:spPr>
        <p:txBody>
          <a:bodyPr wrap="square" lIns="0" tIns="0" rIns="0" bIns="0" rtlCol="0" anchor="ctr"/>
          <a:lstStyle/>
          <a:p>
            <a:pPr algn="ctr" indent="0" marL="0">
              <a:lnSpc>
                <a:spcPct val="95000"/>
              </a:lnSpc>
              <a:buNone/>
            </a:pPr>
            <a:r>
              <a:rPr lang="en-US" sz="900" b="1" dirty="0">
                <a:solidFill>
                  <a:srgbClr val="FFFFFF"/>
                </a:solidFill>
                <a:latin typeface="Plus Jakarta Sans" pitchFamily="34" charset="0"/>
                <a:ea typeface="Plus Jakarta Sans" pitchFamily="34" charset="-122"/>
                <a:cs typeface="Plus Jakarta Sans" pitchFamily="34" charset="-120"/>
              </a:rPr>
              <a:t>2</a:t>
            </a:r>
            <a:endParaRPr lang="en-US" sz="900" dirty="0"/>
          </a:p>
        </p:txBody>
      </p:sp>
      <p:sp>
        <p:nvSpPr>
          <p:cNvPr id="31" name="Shape 26"/>
          <p:cNvSpPr/>
          <p:nvPr/>
        </p:nvSpPr>
        <p:spPr>
          <a:xfrm>
            <a:off x="971550" y="4210050"/>
            <a:ext cx="85725" cy="85725"/>
          </a:xfrm>
          <a:prstGeom prst="roundRect">
            <a:avLst>
              <a:gd name="adj" fmla="val 22222"/>
            </a:avLst>
          </a:prstGeom>
          <a:solidFill>
            <a:srgbClr val="3E7B27"/>
          </a:solidFill>
          <a:ln w="12700">
            <a:solidFill>
              <a:srgbClr val="3E7B27"/>
            </a:solidFill>
            <a:prstDash val="solid"/>
          </a:ln>
        </p:spPr>
      </p:sp>
      <p:sp>
        <p:nvSpPr>
          <p:cNvPr id="32" name="Text 27"/>
          <p:cNvSpPr txBox="1"/>
          <p:nvPr/>
        </p:nvSpPr>
        <p:spPr>
          <a:xfrm>
            <a:off x="1095375" y="4181475"/>
            <a:ext cx="984885" cy="142875"/>
          </a:xfrm>
          <a:prstGeom prst="rect">
            <a:avLst/>
          </a:prstGeom>
          <a:noFill/>
          <a:ln/>
        </p:spPr>
        <p:txBody>
          <a:bodyPr wrap="square" lIns="0" tIns="0" rIns="0" bIns="0" rtlCol="0" anchor="ctr"/>
          <a:lstStyle/>
          <a:p>
            <a:pPr algn="l" indent="0" marL="0">
              <a:lnSpc>
                <a:spcPct val="95000"/>
              </a:lnSpc>
              <a:buNone/>
            </a:pPr>
            <a:r>
              <a:rPr lang="en-US" sz="830" dirty="0">
                <a:solidFill>
                  <a:srgbClr val="535353"/>
                </a:solidFill>
                <a:latin typeface="Plus Jakarta Sans" pitchFamily="34" charset="0"/>
                <a:ea typeface="Plus Jakarta Sans" pitchFamily="34" charset="-122"/>
                <a:cs typeface="Plus Jakarta Sans" pitchFamily="34" charset="-120"/>
              </a:rPr>
              <a:t>Fertilizer 100%</a:t>
            </a:r>
            <a:endParaRPr lang="en-US" sz="830" dirty="0"/>
          </a:p>
        </p:txBody>
      </p:sp>
      <p:sp>
        <p:nvSpPr>
          <p:cNvPr id="33" name="Shape 28"/>
          <p:cNvSpPr/>
          <p:nvPr/>
        </p:nvSpPr>
        <p:spPr>
          <a:xfrm>
            <a:off x="4659796" y="1714500"/>
            <a:ext cx="6389204" cy="4400550"/>
          </a:xfrm>
          <a:prstGeom prst="roundRect">
            <a:avLst>
              <a:gd name="adj" fmla="val 2494"/>
            </a:avLst>
          </a:prstGeom>
          <a:solidFill>
            <a:srgbClr val="FFFFFF"/>
          </a:solidFill>
          <a:ln w="12700">
            <a:solidFill>
              <a:srgbClr val="FFFFFF"/>
            </a:solidFill>
            <a:prstDash val="solid"/>
          </a:ln>
        </p:spPr>
      </p:sp>
      <p:sp>
        <p:nvSpPr>
          <p:cNvPr id="34" name="Text 29"/>
          <p:cNvSpPr txBox="1"/>
          <p:nvPr/>
        </p:nvSpPr>
        <p:spPr>
          <a:xfrm>
            <a:off x="4850296" y="1866900"/>
            <a:ext cx="6008204"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The wins</a:t>
            </a:r>
            <a:endParaRPr lang="en-US" sz="1300" dirty="0"/>
          </a:p>
        </p:txBody>
      </p:sp>
      <p:sp>
        <p:nvSpPr>
          <p:cNvPr id="35" name="Text 30"/>
          <p:cNvSpPr txBox="1"/>
          <p:nvPr/>
        </p:nvSpPr>
        <p:spPr>
          <a:xfrm>
            <a:off x="4850296" y="2095500"/>
            <a:ext cx="6008204"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1 of 2 wins are buyers in the sales export (matched by phone)</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812196" y="2381250"/>
          <a:ext cx="6084404" cy="914400"/>
        </p:xfrm>
        <a:graphic>
          <a:graphicData uri="http://schemas.openxmlformats.org/drawingml/2006/table">
            <a:tbl>
              <a:tblPr/>
              <a:tblGrid>
                <a:gridCol w="633792"/>
                <a:gridCol w="1584480"/>
                <a:gridCol w="633792"/>
                <a:gridCol w="316896"/>
                <a:gridCol w="2915444"/>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ID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PIC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Channel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Source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Notes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SMEN-39917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Simon Sutrado Simanjuntak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Phone call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 Uji Coba Pesan RP MAhkota - Kesan pengiriman lama &gt; 14 Har</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SMEN-39929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Simon Sutrado Simanjuntak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Phone call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 FU pelunasan dan memastikan barang sampai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13</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CRM 1 JUL – 30 SEP · REJECTION REASONS</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Deby Zea Efendi: 140 of 244 locked into a shop, KUD or agent. Rudi Nirwana: 80 of 134 just asking.</a:t>
            </a:r>
            <a:endParaRPr lang="en-US" sz="2300" dirty="0"/>
          </a:p>
        </p:txBody>
      </p:sp>
      <p:sp>
        <p:nvSpPr>
          <p:cNvPr id="11" name="Shape 6"/>
          <p:cNvSpPr/>
          <p:nvPr/>
        </p:nvSpPr>
        <p:spPr>
          <a:xfrm>
            <a:off x="762000" y="1714500"/>
            <a:ext cx="4943707" cy="3028950"/>
          </a:xfrm>
          <a:prstGeom prst="roundRect">
            <a:avLst>
              <a:gd name="adj" fmla="val 3623"/>
            </a:avLst>
          </a:prstGeom>
          <a:solidFill>
            <a:srgbClr val="FFFFFF"/>
          </a:solidFill>
          <a:ln w="12700">
            <a:solidFill>
              <a:srgbClr val="FFFFFF"/>
            </a:solidFill>
            <a:prstDash val="solid"/>
          </a:ln>
        </p:spPr>
      </p:sp>
      <p:sp>
        <p:nvSpPr>
          <p:cNvPr id="12" name="Text 7"/>
          <p:cNvSpPr txBox="1"/>
          <p:nvPr/>
        </p:nvSpPr>
        <p:spPr>
          <a:xfrm>
            <a:off x="952500" y="1866900"/>
            <a:ext cx="4562707"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Every reason given</a:t>
            </a:r>
            <a:endParaRPr lang="en-US" sz="1300" dirty="0"/>
          </a:p>
        </p:txBody>
      </p:sp>
      <p:sp>
        <p:nvSpPr>
          <p:cNvPr id="13" name="Text 8"/>
          <p:cNvSpPr txBox="1"/>
          <p:nvPr/>
        </p:nvSpPr>
        <p:spPr>
          <a:xfrm>
            <a:off x="952500" y="2095500"/>
            <a:ext cx="4562707"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847 engagements that did not order; 4 rarer reasons not shown; hover for the CRM wording</a:t>
            </a:r>
            <a:endParaRPr lang="en-US" sz="950" dirty="0"/>
          </a:p>
        </p:txBody>
      </p:sp>
      <p:sp>
        <p:nvSpPr>
          <p:cNvPr id="14" name="Shape 9"/>
          <p:cNvSpPr/>
          <p:nvPr/>
        </p:nvSpPr>
        <p:spPr>
          <a:xfrm>
            <a:off x="971550" y="2409825"/>
            <a:ext cx="104775" cy="104775"/>
          </a:xfrm>
          <a:prstGeom prst="roundRect">
            <a:avLst>
              <a:gd name="adj" fmla="val 18182"/>
            </a:avLst>
          </a:prstGeom>
          <a:solidFill>
            <a:srgbClr val="8E9C84"/>
          </a:solidFill>
          <a:ln w="12700">
            <a:solidFill>
              <a:srgbClr val="8E9C84"/>
            </a:solidFill>
            <a:prstDash val="solid"/>
          </a:ln>
        </p:spPr>
      </p:sp>
      <p:sp>
        <p:nvSpPr>
          <p:cNvPr id="15" name="Text 10"/>
          <p:cNvSpPr txBox="1"/>
          <p:nvPr/>
        </p:nvSpPr>
        <p:spPr>
          <a:xfrm>
            <a:off x="1123950" y="2381250"/>
            <a:ext cx="992124"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Not interested</a:t>
            </a:r>
            <a:endParaRPr lang="en-US" sz="860" dirty="0"/>
          </a:p>
        </p:txBody>
      </p:sp>
      <p:sp>
        <p:nvSpPr>
          <p:cNvPr id="16" name="Shape 11"/>
          <p:cNvSpPr/>
          <p:nvPr/>
        </p:nvSpPr>
        <p:spPr>
          <a:xfrm>
            <a:off x="2116074" y="2409825"/>
            <a:ext cx="104775" cy="104775"/>
          </a:xfrm>
          <a:prstGeom prst="roundRect">
            <a:avLst>
              <a:gd name="adj" fmla="val 18182"/>
            </a:avLst>
          </a:prstGeom>
          <a:solidFill>
            <a:srgbClr val="D9A21B"/>
          </a:solidFill>
          <a:ln w="12700">
            <a:solidFill>
              <a:srgbClr val="D9A21B"/>
            </a:solidFill>
            <a:prstDash val="solid"/>
          </a:ln>
        </p:spPr>
      </p:sp>
      <p:sp>
        <p:nvSpPr>
          <p:cNvPr id="17" name="Text 12"/>
          <p:cNvSpPr txBox="1"/>
          <p:nvPr/>
        </p:nvSpPr>
        <p:spPr>
          <a:xfrm>
            <a:off x="2268474" y="2381250"/>
            <a:ext cx="1482852"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Considering / prospect</a:t>
            </a:r>
            <a:endParaRPr lang="en-US" sz="860" dirty="0"/>
          </a:p>
        </p:txBody>
      </p:sp>
      <p:sp>
        <p:nvSpPr>
          <p:cNvPr id="18" name="Shape 13"/>
          <p:cNvSpPr/>
          <p:nvPr/>
        </p:nvSpPr>
        <p:spPr>
          <a:xfrm>
            <a:off x="3751326" y="2409825"/>
            <a:ext cx="104775" cy="104775"/>
          </a:xfrm>
          <a:prstGeom prst="roundRect">
            <a:avLst>
              <a:gd name="adj" fmla="val 18182"/>
            </a:avLst>
          </a:prstGeom>
          <a:solidFill>
            <a:srgbClr val="C9CFC3"/>
          </a:solidFill>
          <a:ln w="12700">
            <a:solidFill>
              <a:srgbClr val="C9CFC3"/>
            </a:solidFill>
            <a:prstDash val="solid"/>
          </a:ln>
        </p:spPr>
      </p:sp>
      <p:sp>
        <p:nvSpPr>
          <p:cNvPr id="19" name="Text 14"/>
          <p:cNvSpPr txBox="1"/>
          <p:nvPr/>
        </p:nvSpPr>
        <p:spPr>
          <a:xfrm>
            <a:off x="3903726" y="2381250"/>
            <a:ext cx="685419"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No status</a:t>
            </a:r>
            <a:endParaRPr lang="en-US" sz="860" dirty="0"/>
          </a:p>
        </p:txBody>
      </p:sp>
      <p:sp>
        <p:nvSpPr>
          <p:cNvPr id="20" name="Text 15"/>
          <p:cNvSpPr txBox="1"/>
          <p:nvPr/>
        </p:nvSpPr>
        <p:spPr>
          <a:xfrm>
            <a:off x="971550" y="2628900"/>
            <a:ext cx="4229332" cy="149461"/>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Belum ada kebutuhan dalam waktu segera</a:t>
            </a:r>
            <a:endParaRPr lang="en-US" sz="940" dirty="0"/>
          </a:p>
        </p:txBody>
      </p:sp>
      <p:sp>
        <p:nvSpPr>
          <p:cNvPr id="21" name="Text 16"/>
          <p:cNvSpPr txBox="1"/>
          <p:nvPr/>
        </p:nvSpPr>
        <p:spPr>
          <a:xfrm>
            <a:off x="5258032" y="2628900"/>
            <a:ext cx="238125" cy="149461"/>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356</a:t>
            </a:r>
            <a:endParaRPr lang="en-US" sz="940" dirty="0"/>
          </a:p>
        </p:txBody>
      </p:sp>
      <p:sp>
        <p:nvSpPr>
          <p:cNvPr id="22" name="Shape 17"/>
          <p:cNvSpPr/>
          <p:nvPr/>
        </p:nvSpPr>
        <p:spPr>
          <a:xfrm>
            <a:off x="971550" y="2797411"/>
            <a:ext cx="4524607" cy="76418"/>
          </a:xfrm>
          <a:prstGeom prst="roundRect">
            <a:avLst>
              <a:gd name="adj" fmla="val 37393"/>
            </a:avLst>
          </a:prstGeom>
          <a:solidFill>
            <a:srgbClr val="E9EDE5"/>
          </a:solidFill>
          <a:ln w="12700">
            <a:solidFill>
              <a:srgbClr val="E9EDE5"/>
            </a:solidFill>
            <a:prstDash val="solid"/>
          </a:ln>
        </p:spPr>
      </p:sp>
      <p:sp>
        <p:nvSpPr>
          <p:cNvPr id="23" name="Shape 18"/>
          <p:cNvSpPr/>
          <p:nvPr/>
        </p:nvSpPr>
        <p:spPr>
          <a:xfrm>
            <a:off x="971550" y="2797411"/>
            <a:ext cx="120755" cy="76418"/>
          </a:xfrm>
          <a:prstGeom prst="roundRect">
            <a:avLst>
              <a:gd name="adj" fmla="val 37393"/>
            </a:avLst>
          </a:prstGeom>
          <a:solidFill>
            <a:srgbClr val="8E9C84"/>
          </a:solidFill>
          <a:ln w="12700">
            <a:solidFill>
              <a:srgbClr val="8E9C84"/>
            </a:solidFill>
            <a:prstDash val="solid"/>
          </a:ln>
        </p:spPr>
      </p:sp>
      <p:sp>
        <p:nvSpPr>
          <p:cNvPr id="24" name="Shape 19"/>
          <p:cNvSpPr/>
          <p:nvPr/>
        </p:nvSpPr>
        <p:spPr>
          <a:xfrm>
            <a:off x="1111355" y="2797411"/>
            <a:ext cx="4353042" cy="76418"/>
          </a:xfrm>
          <a:prstGeom prst="roundRect">
            <a:avLst>
              <a:gd name="adj" fmla="val 37393"/>
            </a:avLst>
          </a:prstGeom>
          <a:solidFill>
            <a:srgbClr val="D9A21B"/>
          </a:solidFill>
          <a:ln w="12700">
            <a:solidFill>
              <a:srgbClr val="D9A21B"/>
            </a:solidFill>
            <a:prstDash val="solid"/>
          </a:ln>
        </p:spPr>
      </p:sp>
      <p:sp>
        <p:nvSpPr>
          <p:cNvPr id="25" name="Text 20"/>
          <p:cNvSpPr txBox="1"/>
          <p:nvPr/>
        </p:nvSpPr>
        <p:spPr>
          <a:xfrm>
            <a:off x="1111355" y="2797411"/>
            <a:ext cx="4353042" cy="76418"/>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344</a:t>
            </a:r>
            <a:endParaRPr lang="en-US" sz="800" dirty="0"/>
          </a:p>
        </p:txBody>
      </p:sp>
      <p:sp>
        <p:nvSpPr>
          <p:cNvPr id="26" name="Shape 21"/>
          <p:cNvSpPr/>
          <p:nvPr/>
        </p:nvSpPr>
        <p:spPr>
          <a:xfrm>
            <a:off x="5483448" y="2797411"/>
            <a:ext cx="19050" cy="76418"/>
          </a:xfrm>
          <a:prstGeom prst="rect">
            <a:avLst/>
          </a:prstGeom>
          <a:solidFill>
            <a:srgbClr val="C9CFC3"/>
          </a:solidFill>
          <a:ln w="12700">
            <a:solidFill>
              <a:srgbClr val="C9CFC3"/>
            </a:solidFill>
            <a:prstDash val="solid"/>
          </a:ln>
        </p:spPr>
      </p:sp>
      <p:sp>
        <p:nvSpPr>
          <p:cNvPr id="27" name="Text 22"/>
          <p:cNvSpPr txBox="1"/>
          <p:nvPr/>
        </p:nvSpPr>
        <p:spPr>
          <a:xfrm>
            <a:off x="971550" y="2911929"/>
            <a:ext cx="4229332" cy="149461"/>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Just asking (no clear interest)</a:t>
            </a:r>
            <a:endParaRPr lang="en-US" sz="940" dirty="0"/>
          </a:p>
        </p:txBody>
      </p:sp>
      <p:sp>
        <p:nvSpPr>
          <p:cNvPr id="28" name="Text 23"/>
          <p:cNvSpPr txBox="1"/>
          <p:nvPr/>
        </p:nvSpPr>
        <p:spPr>
          <a:xfrm>
            <a:off x="5258032" y="2911929"/>
            <a:ext cx="238125" cy="149461"/>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191</a:t>
            </a:r>
            <a:endParaRPr lang="en-US" sz="940" dirty="0"/>
          </a:p>
        </p:txBody>
      </p:sp>
      <p:sp>
        <p:nvSpPr>
          <p:cNvPr id="29" name="Shape 24"/>
          <p:cNvSpPr/>
          <p:nvPr/>
        </p:nvSpPr>
        <p:spPr>
          <a:xfrm>
            <a:off x="971550" y="3080439"/>
            <a:ext cx="4524607" cy="76418"/>
          </a:xfrm>
          <a:prstGeom prst="roundRect">
            <a:avLst>
              <a:gd name="adj" fmla="val 37393"/>
            </a:avLst>
          </a:prstGeom>
          <a:solidFill>
            <a:srgbClr val="E9EDE5"/>
          </a:solidFill>
          <a:ln w="12700">
            <a:solidFill>
              <a:srgbClr val="E9EDE5"/>
            </a:solidFill>
            <a:prstDash val="solid"/>
          </a:ln>
        </p:spPr>
      </p:sp>
      <p:sp>
        <p:nvSpPr>
          <p:cNvPr id="30" name="Shape 25"/>
          <p:cNvSpPr/>
          <p:nvPr/>
        </p:nvSpPr>
        <p:spPr>
          <a:xfrm>
            <a:off x="971550" y="3080439"/>
            <a:ext cx="514752" cy="76418"/>
          </a:xfrm>
          <a:prstGeom prst="roundRect">
            <a:avLst>
              <a:gd name="adj" fmla="val 37393"/>
            </a:avLst>
          </a:prstGeom>
          <a:solidFill>
            <a:srgbClr val="8E9C84"/>
          </a:solidFill>
          <a:ln w="12700">
            <a:solidFill>
              <a:srgbClr val="8E9C84"/>
            </a:solidFill>
            <a:prstDash val="solid"/>
          </a:ln>
        </p:spPr>
      </p:sp>
      <p:sp>
        <p:nvSpPr>
          <p:cNvPr id="31" name="Text 26"/>
          <p:cNvSpPr txBox="1"/>
          <p:nvPr/>
        </p:nvSpPr>
        <p:spPr>
          <a:xfrm>
            <a:off x="971550" y="3080439"/>
            <a:ext cx="514752" cy="76418"/>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42</a:t>
            </a:r>
            <a:endParaRPr lang="en-US" sz="800" dirty="0"/>
          </a:p>
        </p:txBody>
      </p:sp>
      <p:sp>
        <p:nvSpPr>
          <p:cNvPr id="32" name="Shape 27"/>
          <p:cNvSpPr/>
          <p:nvPr/>
        </p:nvSpPr>
        <p:spPr>
          <a:xfrm>
            <a:off x="1505352" y="3080439"/>
            <a:ext cx="1874676" cy="76418"/>
          </a:xfrm>
          <a:prstGeom prst="roundRect">
            <a:avLst>
              <a:gd name="adj" fmla="val 37393"/>
            </a:avLst>
          </a:prstGeom>
          <a:solidFill>
            <a:srgbClr val="D9A21B"/>
          </a:solidFill>
          <a:ln w="12700">
            <a:solidFill>
              <a:srgbClr val="D9A21B"/>
            </a:solidFill>
            <a:prstDash val="solid"/>
          </a:ln>
        </p:spPr>
      </p:sp>
      <p:sp>
        <p:nvSpPr>
          <p:cNvPr id="33" name="Text 28"/>
          <p:cNvSpPr txBox="1"/>
          <p:nvPr/>
        </p:nvSpPr>
        <p:spPr>
          <a:xfrm>
            <a:off x="1505352" y="3080439"/>
            <a:ext cx="1874676" cy="76418"/>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149</a:t>
            </a:r>
            <a:endParaRPr lang="en-US" sz="800" dirty="0"/>
          </a:p>
        </p:txBody>
      </p:sp>
      <p:sp>
        <p:nvSpPr>
          <p:cNvPr id="34" name="Text 29"/>
          <p:cNvSpPr txBox="1"/>
          <p:nvPr/>
        </p:nvSpPr>
        <p:spPr>
          <a:xfrm>
            <a:off x="971550" y="3194957"/>
            <a:ext cx="4296007" cy="149461"/>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Already has a supplier / shop</a:t>
            </a:r>
            <a:endParaRPr lang="en-US" sz="940" dirty="0"/>
          </a:p>
        </p:txBody>
      </p:sp>
      <p:sp>
        <p:nvSpPr>
          <p:cNvPr id="35" name="Text 30"/>
          <p:cNvSpPr txBox="1"/>
          <p:nvPr/>
        </p:nvSpPr>
        <p:spPr>
          <a:xfrm>
            <a:off x="5324707" y="3194957"/>
            <a:ext cx="171450" cy="149461"/>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79</a:t>
            </a:r>
            <a:endParaRPr lang="en-US" sz="940" dirty="0"/>
          </a:p>
        </p:txBody>
      </p:sp>
      <p:sp>
        <p:nvSpPr>
          <p:cNvPr id="36" name="Shape 31"/>
          <p:cNvSpPr/>
          <p:nvPr/>
        </p:nvSpPr>
        <p:spPr>
          <a:xfrm>
            <a:off x="971550" y="3363468"/>
            <a:ext cx="4524607" cy="76418"/>
          </a:xfrm>
          <a:prstGeom prst="roundRect">
            <a:avLst>
              <a:gd name="adj" fmla="val 37393"/>
            </a:avLst>
          </a:prstGeom>
          <a:solidFill>
            <a:srgbClr val="E9EDE5"/>
          </a:solidFill>
          <a:ln w="12700">
            <a:solidFill>
              <a:srgbClr val="E9EDE5"/>
            </a:solidFill>
            <a:prstDash val="solid"/>
          </a:ln>
        </p:spPr>
      </p:sp>
      <p:sp>
        <p:nvSpPr>
          <p:cNvPr id="37" name="Shape 32"/>
          <p:cNvSpPr/>
          <p:nvPr/>
        </p:nvSpPr>
        <p:spPr>
          <a:xfrm>
            <a:off x="971550" y="3363468"/>
            <a:ext cx="959587" cy="76418"/>
          </a:xfrm>
          <a:prstGeom prst="roundRect">
            <a:avLst>
              <a:gd name="adj" fmla="val 37393"/>
            </a:avLst>
          </a:prstGeom>
          <a:solidFill>
            <a:srgbClr val="8E9C84"/>
          </a:solidFill>
          <a:ln w="12700">
            <a:solidFill>
              <a:srgbClr val="8E9C84"/>
            </a:solidFill>
            <a:prstDash val="solid"/>
          </a:ln>
        </p:spPr>
      </p:sp>
      <p:sp>
        <p:nvSpPr>
          <p:cNvPr id="38" name="Text 33"/>
          <p:cNvSpPr txBox="1"/>
          <p:nvPr/>
        </p:nvSpPr>
        <p:spPr>
          <a:xfrm>
            <a:off x="971550" y="3363468"/>
            <a:ext cx="959587" cy="76418"/>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77</a:t>
            </a:r>
            <a:endParaRPr lang="en-US" sz="800" dirty="0"/>
          </a:p>
        </p:txBody>
      </p:sp>
      <p:sp>
        <p:nvSpPr>
          <p:cNvPr id="39" name="Shape 34"/>
          <p:cNvSpPr/>
          <p:nvPr/>
        </p:nvSpPr>
        <p:spPr>
          <a:xfrm>
            <a:off x="1950187" y="3363468"/>
            <a:ext cx="19050" cy="76418"/>
          </a:xfrm>
          <a:prstGeom prst="rect">
            <a:avLst/>
          </a:prstGeom>
          <a:solidFill>
            <a:srgbClr val="D9A21B"/>
          </a:solidFill>
          <a:ln w="12700">
            <a:solidFill>
              <a:srgbClr val="D9A21B"/>
            </a:solidFill>
            <a:prstDash val="solid"/>
          </a:ln>
        </p:spPr>
      </p:sp>
      <p:sp>
        <p:nvSpPr>
          <p:cNvPr id="40" name="Text 35"/>
          <p:cNvSpPr txBox="1"/>
          <p:nvPr/>
        </p:nvSpPr>
        <p:spPr>
          <a:xfrm>
            <a:off x="971550" y="3477986"/>
            <a:ext cx="4296007" cy="149461"/>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Tied to a KUD / agent</a:t>
            </a:r>
            <a:endParaRPr lang="en-US" sz="940" dirty="0"/>
          </a:p>
        </p:txBody>
      </p:sp>
      <p:sp>
        <p:nvSpPr>
          <p:cNvPr id="41" name="Text 36"/>
          <p:cNvSpPr txBox="1"/>
          <p:nvPr/>
        </p:nvSpPr>
        <p:spPr>
          <a:xfrm>
            <a:off x="5324707" y="3477986"/>
            <a:ext cx="171450" cy="149461"/>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63</a:t>
            </a:r>
            <a:endParaRPr lang="en-US" sz="940" dirty="0"/>
          </a:p>
        </p:txBody>
      </p:sp>
      <p:sp>
        <p:nvSpPr>
          <p:cNvPr id="42" name="Shape 37"/>
          <p:cNvSpPr/>
          <p:nvPr/>
        </p:nvSpPr>
        <p:spPr>
          <a:xfrm>
            <a:off x="971550" y="3646497"/>
            <a:ext cx="4524607" cy="76418"/>
          </a:xfrm>
          <a:prstGeom prst="roundRect">
            <a:avLst>
              <a:gd name="adj" fmla="val 37393"/>
            </a:avLst>
          </a:prstGeom>
          <a:solidFill>
            <a:srgbClr val="E9EDE5"/>
          </a:solidFill>
          <a:ln w="12700">
            <a:solidFill>
              <a:srgbClr val="E9EDE5"/>
            </a:solidFill>
            <a:prstDash val="solid"/>
          </a:ln>
        </p:spPr>
      </p:sp>
      <p:sp>
        <p:nvSpPr>
          <p:cNvPr id="43" name="Shape 38"/>
          <p:cNvSpPr/>
          <p:nvPr/>
        </p:nvSpPr>
        <p:spPr>
          <a:xfrm>
            <a:off x="971550" y="3646497"/>
            <a:ext cx="756234" cy="76418"/>
          </a:xfrm>
          <a:prstGeom prst="roundRect">
            <a:avLst>
              <a:gd name="adj" fmla="val 37393"/>
            </a:avLst>
          </a:prstGeom>
          <a:solidFill>
            <a:srgbClr val="8E9C84"/>
          </a:solidFill>
          <a:ln w="12700">
            <a:solidFill>
              <a:srgbClr val="8E9C84"/>
            </a:solidFill>
            <a:prstDash val="solid"/>
          </a:ln>
        </p:spPr>
      </p:sp>
      <p:sp>
        <p:nvSpPr>
          <p:cNvPr id="44" name="Text 39"/>
          <p:cNvSpPr txBox="1"/>
          <p:nvPr/>
        </p:nvSpPr>
        <p:spPr>
          <a:xfrm>
            <a:off x="971550" y="3646497"/>
            <a:ext cx="756234" cy="76418"/>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61</a:t>
            </a:r>
            <a:endParaRPr lang="en-US" sz="800" dirty="0"/>
          </a:p>
        </p:txBody>
      </p:sp>
      <p:sp>
        <p:nvSpPr>
          <p:cNvPr id="45" name="Shape 40"/>
          <p:cNvSpPr/>
          <p:nvPr/>
        </p:nvSpPr>
        <p:spPr>
          <a:xfrm>
            <a:off x="1746834" y="3646497"/>
            <a:ext cx="19050" cy="76418"/>
          </a:xfrm>
          <a:prstGeom prst="rect">
            <a:avLst/>
          </a:prstGeom>
          <a:solidFill>
            <a:srgbClr val="D9A21B"/>
          </a:solidFill>
          <a:ln w="12700">
            <a:solidFill>
              <a:srgbClr val="D9A21B"/>
            </a:solidFill>
            <a:prstDash val="solid"/>
          </a:ln>
        </p:spPr>
      </p:sp>
      <p:sp>
        <p:nvSpPr>
          <p:cNvPr id="46" name="Text 41"/>
          <p:cNvSpPr txBox="1"/>
          <p:nvPr/>
        </p:nvSpPr>
        <p:spPr>
          <a:xfrm>
            <a:off x="971550" y="3761014"/>
            <a:ext cx="4296007" cy="149461"/>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Product out of stock</a:t>
            </a:r>
            <a:endParaRPr lang="en-US" sz="940" dirty="0"/>
          </a:p>
        </p:txBody>
      </p:sp>
      <p:sp>
        <p:nvSpPr>
          <p:cNvPr id="47" name="Text 42"/>
          <p:cNvSpPr txBox="1"/>
          <p:nvPr/>
        </p:nvSpPr>
        <p:spPr>
          <a:xfrm>
            <a:off x="5324707" y="3761014"/>
            <a:ext cx="171450" cy="149461"/>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41</a:t>
            </a:r>
            <a:endParaRPr lang="en-US" sz="940" dirty="0"/>
          </a:p>
        </p:txBody>
      </p:sp>
      <p:sp>
        <p:nvSpPr>
          <p:cNvPr id="48" name="Shape 43"/>
          <p:cNvSpPr/>
          <p:nvPr/>
        </p:nvSpPr>
        <p:spPr>
          <a:xfrm>
            <a:off x="971550" y="3929525"/>
            <a:ext cx="4524607" cy="76418"/>
          </a:xfrm>
          <a:prstGeom prst="roundRect">
            <a:avLst>
              <a:gd name="adj" fmla="val 37393"/>
            </a:avLst>
          </a:prstGeom>
          <a:solidFill>
            <a:srgbClr val="E9EDE5"/>
          </a:solidFill>
          <a:ln w="12700">
            <a:solidFill>
              <a:srgbClr val="E9EDE5"/>
            </a:solidFill>
            <a:prstDash val="solid"/>
          </a:ln>
        </p:spPr>
      </p:sp>
      <p:sp>
        <p:nvSpPr>
          <p:cNvPr id="49" name="Shape 44"/>
          <p:cNvSpPr/>
          <p:nvPr/>
        </p:nvSpPr>
        <p:spPr>
          <a:xfrm>
            <a:off x="971550" y="3929525"/>
            <a:ext cx="19079" cy="76418"/>
          </a:xfrm>
          <a:prstGeom prst="rect">
            <a:avLst/>
          </a:prstGeom>
          <a:solidFill>
            <a:srgbClr val="8E9C84"/>
          </a:solidFill>
          <a:ln w="12700">
            <a:solidFill>
              <a:srgbClr val="8E9C84"/>
            </a:solidFill>
            <a:prstDash val="solid"/>
          </a:ln>
        </p:spPr>
      </p:sp>
      <p:sp>
        <p:nvSpPr>
          <p:cNvPr id="50" name="Shape 45"/>
          <p:cNvSpPr/>
          <p:nvPr/>
        </p:nvSpPr>
        <p:spPr>
          <a:xfrm>
            <a:off x="1009679" y="3929525"/>
            <a:ext cx="463914" cy="76418"/>
          </a:xfrm>
          <a:prstGeom prst="roundRect">
            <a:avLst>
              <a:gd name="adj" fmla="val 37393"/>
            </a:avLst>
          </a:prstGeom>
          <a:solidFill>
            <a:srgbClr val="D9A21B"/>
          </a:solidFill>
          <a:ln w="12700">
            <a:solidFill>
              <a:srgbClr val="D9A21B"/>
            </a:solidFill>
            <a:prstDash val="solid"/>
          </a:ln>
        </p:spPr>
      </p:sp>
      <p:sp>
        <p:nvSpPr>
          <p:cNvPr id="51" name="Text 46"/>
          <p:cNvSpPr txBox="1"/>
          <p:nvPr/>
        </p:nvSpPr>
        <p:spPr>
          <a:xfrm>
            <a:off x="1009679" y="3929525"/>
            <a:ext cx="463914" cy="76418"/>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38</a:t>
            </a:r>
            <a:endParaRPr lang="en-US" sz="800" dirty="0"/>
          </a:p>
        </p:txBody>
      </p:sp>
      <p:sp>
        <p:nvSpPr>
          <p:cNvPr id="52" name="Text 47"/>
          <p:cNvSpPr txBox="1"/>
          <p:nvPr/>
        </p:nvSpPr>
        <p:spPr>
          <a:xfrm>
            <a:off x="971550" y="4044043"/>
            <a:ext cx="4296007" cy="149461"/>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No longer has land</a:t>
            </a:r>
            <a:endParaRPr lang="en-US" sz="940" dirty="0"/>
          </a:p>
        </p:txBody>
      </p:sp>
      <p:sp>
        <p:nvSpPr>
          <p:cNvPr id="53" name="Text 48"/>
          <p:cNvSpPr txBox="1"/>
          <p:nvPr/>
        </p:nvSpPr>
        <p:spPr>
          <a:xfrm>
            <a:off x="5324707" y="4044043"/>
            <a:ext cx="171450" cy="149461"/>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37</a:t>
            </a:r>
            <a:endParaRPr lang="en-US" sz="940" dirty="0"/>
          </a:p>
        </p:txBody>
      </p:sp>
      <p:sp>
        <p:nvSpPr>
          <p:cNvPr id="54" name="Shape 49"/>
          <p:cNvSpPr/>
          <p:nvPr/>
        </p:nvSpPr>
        <p:spPr>
          <a:xfrm>
            <a:off x="971550" y="4212554"/>
            <a:ext cx="4524607" cy="76418"/>
          </a:xfrm>
          <a:prstGeom prst="roundRect">
            <a:avLst>
              <a:gd name="adj" fmla="val 37393"/>
            </a:avLst>
          </a:prstGeom>
          <a:solidFill>
            <a:srgbClr val="E9EDE5"/>
          </a:solidFill>
          <a:ln w="12700">
            <a:solidFill>
              <a:srgbClr val="E9EDE5"/>
            </a:solidFill>
            <a:prstDash val="solid"/>
          </a:ln>
        </p:spPr>
      </p:sp>
      <p:sp>
        <p:nvSpPr>
          <p:cNvPr id="55" name="Shape 50"/>
          <p:cNvSpPr/>
          <p:nvPr/>
        </p:nvSpPr>
        <p:spPr>
          <a:xfrm>
            <a:off x="971550" y="4212554"/>
            <a:ext cx="451204" cy="76418"/>
          </a:xfrm>
          <a:prstGeom prst="roundRect">
            <a:avLst>
              <a:gd name="adj" fmla="val 37393"/>
            </a:avLst>
          </a:prstGeom>
          <a:solidFill>
            <a:srgbClr val="8E9C84"/>
          </a:solidFill>
          <a:ln w="12700">
            <a:solidFill>
              <a:srgbClr val="8E9C84"/>
            </a:solidFill>
            <a:prstDash val="solid"/>
          </a:ln>
        </p:spPr>
      </p:sp>
      <p:sp>
        <p:nvSpPr>
          <p:cNvPr id="56" name="Text 51"/>
          <p:cNvSpPr txBox="1"/>
          <p:nvPr/>
        </p:nvSpPr>
        <p:spPr>
          <a:xfrm>
            <a:off x="971550" y="4212554"/>
            <a:ext cx="451204" cy="76418"/>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37</a:t>
            </a:r>
            <a:endParaRPr lang="en-US" sz="800" dirty="0"/>
          </a:p>
        </p:txBody>
      </p:sp>
      <p:sp>
        <p:nvSpPr>
          <p:cNvPr id="57" name="Text 52"/>
          <p:cNvSpPr txBox="1"/>
          <p:nvPr/>
        </p:nvSpPr>
        <p:spPr>
          <a:xfrm>
            <a:off x="971550" y="4327071"/>
            <a:ext cx="4296007" cy="149461"/>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Price too high</a:t>
            </a:r>
            <a:endParaRPr lang="en-US" sz="940" dirty="0"/>
          </a:p>
        </p:txBody>
      </p:sp>
      <p:sp>
        <p:nvSpPr>
          <p:cNvPr id="58" name="Text 53"/>
          <p:cNvSpPr txBox="1"/>
          <p:nvPr/>
        </p:nvSpPr>
        <p:spPr>
          <a:xfrm>
            <a:off x="5324707" y="4327071"/>
            <a:ext cx="171450" cy="149461"/>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33</a:t>
            </a:r>
            <a:endParaRPr lang="en-US" sz="940" dirty="0"/>
          </a:p>
        </p:txBody>
      </p:sp>
      <p:sp>
        <p:nvSpPr>
          <p:cNvPr id="59" name="Shape 54"/>
          <p:cNvSpPr/>
          <p:nvPr/>
        </p:nvSpPr>
        <p:spPr>
          <a:xfrm>
            <a:off x="971550" y="4495582"/>
            <a:ext cx="4524607" cy="76418"/>
          </a:xfrm>
          <a:prstGeom prst="roundRect">
            <a:avLst>
              <a:gd name="adj" fmla="val 37393"/>
            </a:avLst>
          </a:prstGeom>
          <a:solidFill>
            <a:srgbClr val="E9EDE5"/>
          </a:solidFill>
          <a:ln w="12700">
            <a:solidFill>
              <a:srgbClr val="E9EDE5"/>
            </a:solidFill>
            <a:prstDash val="solid"/>
          </a:ln>
        </p:spPr>
      </p:sp>
      <p:sp>
        <p:nvSpPr>
          <p:cNvPr id="60" name="Shape 55"/>
          <p:cNvSpPr/>
          <p:nvPr/>
        </p:nvSpPr>
        <p:spPr>
          <a:xfrm>
            <a:off x="971550" y="4495582"/>
            <a:ext cx="260561" cy="76418"/>
          </a:xfrm>
          <a:prstGeom prst="roundRect">
            <a:avLst>
              <a:gd name="adj" fmla="val 37393"/>
            </a:avLst>
          </a:prstGeom>
          <a:solidFill>
            <a:srgbClr val="8E9C84"/>
          </a:solidFill>
          <a:ln w="12700">
            <a:solidFill>
              <a:srgbClr val="8E9C84"/>
            </a:solidFill>
            <a:prstDash val="solid"/>
          </a:ln>
        </p:spPr>
      </p:sp>
      <p:sp>
        <p:nvSpPr>
          <p:cNvPr id="61" name="Text 56"/>
          <p:cNvSpPr txBox="1"/>
          <p:nvPr/>
        </p:nvSpPr>
        <p:spPr>
          <a:xfrm>
            <a:off x="971550" y="4495582"/>
            <a:ext cx="260561" cy="76418"/>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22</a:t>
            </a:r>
            <a:endParaRPr lang="en-US" sz="800" dirty="0"/>
          </a:p>
        </p:txBody>
      </p:sp>
      <p:sp>
        <p:nvSpPr>
          <p:cNvPr id="62" name="Shape 57"/>
          <p:cNvSpPr/>
          <p:nvPr/>
        </p:nvSpPr>
        <p:spPr>
          <a:xfrm>
            <a:off x="1251161" y="4495582"/>
            <a:ext cx="120755" cy="76418"/>
          </a:xfrm>
          <a:prstGeom prst="roundRect">
            <a:avLst>
              <a:gd name="adj" fmla="val 37393"/>
            </a:avLst>
          </a:prstGeom>
          <a:solidFill>
            <a:srgbClr val="D9A21B"/>
          </a:solidFill>
          <a:ln w="12700">
            <a:solidFill>
              <a:srgbClr val="D9A21B"/>
            </a:solidFill>
            <a:prstDash val="solid"/>
          </a:ln>
        </p:spPr>
      </p:sp>
      <p:sp>
        <p:nvSpPr>
          <p:cNvPr id="63" name="Shape 58"/>
          <p:cNvSpPr/>
          <p:nvPr/>
        </p:nvSpPr>
        <p:spPr>
          <a:xfrm>
            <a:off x="5858107" y="1714500"/>
            <a:ext cx="5190893" cy="3028950"/>
          </a:xfrm>
          <a:prstGeom prst="roundRect">
            <a:avLst>
              <a:gd name="adj" fmla="val 3623"/>
            </a:avLst>
          </a:prstGeom>
          <a:solidFill>
            <a:srgbClr val="FFFFFF"/>
          </a:solidFill>
          <a:ln w="12700">
            <a:solidFill>
              <a:srgbClr val="FFFFFF"/>
            </a:solidFill>
            <a:prstDash val="solid"/>
          </a:ln>
        </p:spPr>
      </p:sp>
      <p:sp>
        <p:nvSpPr>
          <p:cNvPr id="64" name="Text 59"/>
          <p:cNvSpPr txBox="1"/>
          <p:nvPr/>
        </p:nvSpPr>
        <p:spPr>
          <a:xfrm>
            <a:off x="6048607" y="1866900"/>
            <a:ext cx="4809893"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Reason by PIC and engagement channel</a:t>
            </a:r>
            <a:endParaRPr lang="en-US" sz="1300" dirty="0"/>
          </a:p>
        </p:txBody>
      </p:sp>
      <p:sp>
        <p:nvSpPr>
          <p:cNvPr id="65" name="Text 60"/>
          <p:cNvSpPr txBox="1"/>
          <p:nvPr/>
        </p:nvSpPr>
        <p:spPr>
          <a:xfrm>
            <a:off x="6048607" y="2095500"/>
            <a:ext cx="4809893"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Engagements per reason; darker = more</a:t>
            </a:r>
            <a:endParaRPr lang="en-US" sz="950" dirty="0"/>
          </a:p>
        </p:txBody>
      </p:sp>
      <p:sp>
        <p:nvSpPr>
          <p:cNvPr id="66" name="Text 61"/>
          <p:cNvSpPr txBox="1"/>
          <p:nvPr/>
        </p:nvSpPr>
        <p:spPr>
          <a:xfrm>
            <a:off x="7705957" y="2381250"/>
            <a:ext cx="487324" cy="3810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PIC</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Deby Zea</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Efendi</a:t>
            </a:r>
            <a:endParaRPr lang="en-US" sz="800" dirty="0"/>
          </a:p>
        </p:txBody>
      </p:sp>
      <p:sp>
        <p:nvSpPr>
          <p:cNvPr id="67" name="Text 62"/>
          <p:cNvSpPr txBox="1"/>
          <p:nvPr/>
        </p:nvSpPr>
        <p:spPr>
          <a:xfrm>
            <a:off x="8231381" y="2381250"/>
            <a:ext cx="487324" cy="3810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PIC</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Joko</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Prestiwo</a:t>
            </a:r>
            <a:endParaRPr lang="en-US" sz="800" dirty="0"/>
          </a:p>
        </p:txBody>
      </p:sp>
      <p:sp>
        <p:nvSpPr>
          <p:cNvPr id="68" name="Text 63"/>
          <p:cNvSpPr txBox="1"/>
          <p:nvPr/>
        </p:nvSpPr>
        <p:spPr>
          <a:xfrm>
            <a:off x="8756805" y="2381250"/>
            <a:ext cx="487324" cy="3810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PIC</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Rudi</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Nirwana</a:t>
            </a:r>
            <a:endParaRPr lang="en-US" sz="800" dirty="0"/>
          </a:p>
        </p:txBody>
      </p:sp>
      <p:sp>
        <p:nvSpPr>
          <p:cNvPr id="69" name="Text 64"/>
          <p:cNvSpPr txBox="1"/>
          <p:nvPr/>
        </p:nvSpPr>
        <p:spPr>
          <a:xfrm>
            <a:off x="9282229" y="2381250"/>
            <a:ext cx="487324" cy="3810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Engagem…</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channel</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Phone…</a:t>
            </a:r>
            <a:endParaRPr lang="en-US" sz="800" dirty="0"/>
          </a:p>
        </p:txBody>
      </p:sp>
      <p:sp>
        <p:nvSpPr>
          <p:cNvPr id="70" name="Text 65"/>
          <p:cNvSpPr txBox="1"/>
          <p:nvPr/>
        </p:nvSpPr>
        <p:spPr>
          <a:xfrm>
            <a:off x="9807652" y="2381250"/>
            <a:ext cx="487324" cy="3810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Engagem…</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channel</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On-site…</a:t>
            </a:r>
            <a:endParaRPr lang="en-US" sz="800" dirty="0"/>
          </a:p>
        </p:txBody>
      </p:sp>
      <p:sp>
        <p:nvSpPr>
          <p:cNvPr id="71" name="Text 66"/>
          <p:cNvSpPr txBox="1"/>
          <p:nvPr/>
        </p:nvSpPr>
        <p:spPr>
          <a:xfrm>
            <a:off x="10333076" y="2381250"/>
            <a:ext cx="487324" cy="381000"/>
          </a:xfrm>
          <a:prstGeom prst="rect">
            <a:avLst/>
          </a:prstGeom>
          <a:noFill/>
          <a:ln/>
        </p:spPr>
        <p:txBody>
          <a:bodyPr wrap="square" lIns="0" tIns="0" rIns="0" bIns="0" rtlCol="0" anchor="b"/>
          <a:lstStyle/>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Engagem…</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channel</a:t>
            </a:r>
            <a:endParaRPr lang="en-US" sz="800" dirty="0"/>
          </a:p>
          <a:p>
            <a:pPr algn="ctr"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WhatsAp…</a:t>
            </a:r>
            <a:endParaRPr lang="en-US" sz="800" dirty="0"/>
          </a:p>
        </p:txBody>
      </p:sp>
      <p:sp>
        <p:nvSpPr>
          <p:cNvPr id="72" name="Text 67"/>
          <p:cNvSpPr txBox="1"/>
          <p:nvPr/>
        </p:nvSpPr>
        <p:spPr>
          <a:xfrm>
            <a:off x="6067657" y="2800350"/>
            <a:ext cx="1543050" cy="258536"/>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Belum ada kebutuhan</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dalam waktu segera</a:t>
            </a:r>
            <a:endParaRPr lang="en-US" sz="900" dirty="0"/>
          </a:p>
        </p:txBody>
      </p:sp>
      <p:sp>
        <p:nvSpPr>
          <p:cNvPr id="73" name="Shape 68"/>
          <p:cNvSpPr/>
          <p:nvPr/>
        </p:nvSpPr>
        <p:spPr>
          <a:xfrm>
            <a:off x="7701195" y="2814638"/>
            <a:ext cx="496849" cy="229961"/>
          </a:xfrm>
          <a:prstGeom prst="roundRect">
            <a:avLst>
              <a:gd name="adj" fmla="val 12426"/>
            </a:avLst>
          </a:prstGeom>
          <a:solidFill>
            <a:srgbClr val="DAE0D6"/>
          </a:solidFill>
          <a:ln w="12700">
            <a:solidFill>
              <a:srgbClr val="DAE0D6"/>
            </a:solidFill>
            <a:prstDash val="solid"/>
          </a:ln>
        </p:spPr>
      </p:sp>
      <p:sp>
        <p:nvSpPr>
          <p:cNvPr id="74" name="Text 69"/>
          <p:cNvSpPr txBox="1"/>
          <p:nvPr/>
        </p:nvSpPr>
        <p:spPr>
          <a:xfrm>
            <a:off x="7686907" y="2800350"/>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8</a:t>
            </a:r>
            <a:endParaRPr lang="en-US" sz="860" dirty="0"/>
          </a:p>
        </p:txBody>
      </p:sp>
      <p:sp>
        <p:nvSpPr>
          <p:cNvPr id="75" name="Shape 70"/>
          <p:cNvSpPr/>
          <p:nvPr/>
        </p:nvSpPr>
        <p:spPr>
          <a:xfrm>
            <a:off x="8226619" y="2814638"/>
            <a:ext cx="496849" cy="229961"/>
          </a:xfrm>
          <a:prstGeom prst="roundRect">
            <a:avLst>
              <a:gd name="adj" fmla="val 12426"/>
            </a:avLst>
          </a:prstGeom>
          <a:solidFill>
            <a:srgbClr val="345921"/>
          </a:solidFill>
          <a:ln w="12700">
            <a:solidFill>
              <a:srgbClr val="345921"/>
            </a:solidFill>
            <a:prstDash val="solid"/>
          </a:ln>
        </p:spPr>
      </p:sp>
      <p:sp>
        <p:nvSpPr>
          <p:cNvPr id="76" name="Text 71"/>
          <p:cNvSpPr txBox="1"/>
          <p:nvPr/>
        </p:nvSpPr>
        <p:spPr>
          <a:xfrm>
            <a:off x="8212331" y="2800350"/>
            <a:ext cx="525424" cy="258536"/>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195</a:t>
            </a:r>
            <a:endParaRPr lang="en-US" sz="860" dirty="0"/>
          </a:p>
        </p:txBody>
      </p:sp>
      <p:sp>
        <p:nvSpPr>
          <p:cNvPr id="77" name="Shape 72"/>
          <p:cNvSpPr/>
          <p:nvPr/>
        </p:nvSpPr>
        <p:spPr>
          <a:xfrm>
            <a:off x="8752042" y="2814638"/>
            <a:ext cx="496849" cy="229961"/>
          </a:xfrm>
          <a:prstGeom prst="roundRect">
            <a:avLst>
              <a:gd name="adj" fmla="val 12426"/>
            </a:avLst>
          </a:prstGeom>
          <a:solidFill>
            <a:srgbClr val="B9C6B2"/>
          </a:solidFill>
          <a:ln w="12700">
            <a:solidFill>
              <a:srgbClr val="B9C6B2"/>
            </a:solidFill>
            <a:prstDash val="solid"/>
          </a:ln>
        </p:spPr>
      </p:sp>
      <p:sp>
        <p:nvSpPr>
          <p:cNvPr id="78" name="Text 73"/>
          <p:cNvSpPr txBox="1"/>
          <p:nvPr/>
        </p:nvSpPr>
        <p:spPr>
          <a:xfrm>
            <a:off x="8737755" y="2800350"/>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45</a:t>
            </a:r>
            <a:endParaRPr lang="en-US" sz="860" dirty="0"/>
          </a:p>
        </p:txBody>
      </p:sp>
      <p:sp>
        <p:nvSpPr>
          <p:cNvPr id="79" name="Shape 74"/>
          <p:cNvSpPr/>
          <p:nvPr/>
        </p:nvSpPr>
        <p:spPr>
          <a:xfrm>
            <a:off x="9277466" y="2814638"/>
            <a:ext cx="496849" cy="229961"/>
          </a:xfrm>
          <a:prstGeom prst="roundRect">
            <a:avLst>
              <a:gd name="adj" fmla="val 12426"/>
            </a:avLst>
          </a:prstGeom>
          <a:solidFill>
            <a:srgbClr val="5E7B50"/>
          </a:solidFill>
          <a:ln w="12700">
            <a:solidFill>
              <a:srgbClr val="5E7B50"/>
            </a:solidFill>
            <a:prstDash val="solid"/>
          </a:ln>
        </p:spPr>
      </p:sp>
      <p:sp>
        <p:nvSpPr>
          <p:cNvPr id="80" name="Text 75"/>
          <p:cNvSpPr txBox="1"/>
          <p:nvPr/>
        </p:nvSpPr>
        <p:spPr>
          <a:xfrm>
            <a:off x="9263179" y="2800350"/>
            <a:ext cx="525424" cy="258536"/>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147</a:t>
            </a:r>
            <a:endParaRPr lang="en-US" sz="860" dirty="0"/>
          </a:p>
        </p:txBody>
      </p:sp>
      <p:sp>
        <p:nvSpPr>
          <p:cNvPr id="81" name="Shape 76"/>
          <p:cNvSpPr/>
          <p:nvPr/>
        </p:nvSpPr>
        <p:spPr>
          <a:xfrm>
            <a:off x="9802890" y="2814638"/>
            <a:ext cx="496849" cy="229961"/>
          </a:xfrm>
          <a:prstGeom prst="roundRect">
            <a:avLst>
              <a:gd name="adj" fmla="val 12426"/>
            </a:avLst>
          </a:prstGeom>
          <a:solidFill>
            <a:srgbClr val="476936"/>
          </a:solidFill>
          <a:ln w="12700">
            <a:solidFill>
              <a:srgbClr val="476936"/>
            </a:solidFill>
            <a:prstDash val="solid"/>
          </a:ln>
        </p:spPr>
      </p:sp>
      <p:sp>
        <p:nvSpPr>
          <p:cNvPr id="82" name="Text 77"/>
          <p:cNvSpPr txBox="1"/>
          <p:nvPr/>
        </p:nvSpPr>
        <p:spPr>
          <a:xfrm>
            <a:off x="9788602" y="2800350"/>
            <a:ext cx="525424" cy="258536"/>
          </a:xfrm>
          <a:prstGeom prst="rect">
            <a:avLst/>
          </a:prstGeom>
          <a:noFill/>
          <a:ln/>
        </p:spPr>
        <p:txBody>
          <a:bodyPr wrap="square" lIns="0" tIns="0" rIns="0" bIns="0" rtlCol="0" anchor="ctr"/>
          <a:lstStyle/>
          <a:p>
            <a:pPr algn="ctr" indent="0" marL="0">
              <a:lnSpc>
                <a:spcPct val="95000"/>
              </a:lnSpc>
              <a:buNone/>
            </a:pPr>
            <a:r>
              <a:rPr lang="en-US" sz="860" b="1" dirty="0">
                <a:solidFill>
                  <a:srgbClr val="FFFFFF"/>
                </a:solidFill>
                <a:latin typeface="Plus Jakarta Sans" pitchFamily="34" charset="0"/>
                <a:ea typeface="Plus Jakarta Sans" pitchFamily="34" charset="-122"/>
                <a:cs typeface="Plus Jakarta Sans" pitchFamily="34" charset="-120"/>
              </a:rPr>
              <a:t>173</a:t>
            </a:r>
            <a:endParaRPr lang="en-US" sz="860" dirty="0"/>
          </a:p>
        </p:txBody>
      </p:sp>
      <p:sp>
        <p:nvSpPr>
          <p:cNvPr id="83" name="Shape 78"/>
          <p:cNvSpPr/>
          <p:nvPr/>
        </p:nvSpPr>
        <p:spPr>
          <a:xfrm>
            <a:off x="10328314" y="2814638"/>
            <a:ext cx="496849" cy="229961"/>
          </a:xfrm>
          <a:prstGeom prst="roundRect">
            <a:avLst>
              <a:gd name="adj" fmla="val 12426"/>
            </a:avLst>
          </a:prstGeom>
          <a:solidFill>
            <a:srgbClr val="D0D8CC"/>
          </a:solidFill>
          <a:ln w="12700">
            <a:solidFill>
              <a:srgbClr val="D0D8CC"/>
            </a:solidFill>
            <a:prstDash val="solid"/>
          </a:ln>
        </p:spPr>
      </p:sp>
      <p:sp>
        <p:nvSpPr>
          <p:cNvPr id="84" name="Text 79"/>
          <p:cNvSpPr txBox="1"/>
          <p:nvPr/>
        </p:nvSpPr>
        <p:spPr>
          <a:xfrm>
            <a:off x="10314026" y="2800350"/>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19</a:t>
            </a:r>
            <a:endParaRPr lang="en-US" sz="860" dirty="0"/>
          </a:p>
        </p:txBody>
      </p:sp>
      <p:sp>
        <p:nvSpPr>
          <p:cNvPr id="85" name="Text 80"/>
          <p:cNvSpPr txBox="1"/>
          <p:nvPr/>
        </p:nvSpPr>
        <p:spPr>
          <a:xfrm>
            <a:off x="6067657" y="3058886"/>
            <a:ext cx="1543050" cy="258536"/>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Just asking (no clear</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interest)</a:t>
            </a:r>
            <a:endParaRPr lang="en-US" sz="900" dirty="0"/>
          </a:p>
        </p:txBody>
      </p:sp>
      <p:sp>
        <p:nvSpPr>
          <p:cNvPr id="86" name="Shape 81"/>
          <p:cNvSpPr/>
          <p:nvPr/>
        </p:nvSpPr>
        <p:spPr>
          <a:xfrm>
            <a:off x="7701195" y="3073173"/>
            <a:ext cx="496849" cy="229961"/>
          </a:xfrm>
          <a:prstGeom prst="roundRect">
            <a:avLst>
              <a:gd name="adj" fmla="val 12426"/>
            </a:avLst>
          </a:prstGeom>
          <a:solidFill>
            <a:srgbClr val="D0D8CC"/>
          </a:solidFill>
          <a:ln w="12700">
            <a:solidFill>
              <a:srgbClr val="D0D8CC"/>
            </a:solidFill>
            <a:prstDash val="solid"/>
          </a:ln>
        </p:spPr>
      </p:sp>
      <p:sp>
        <p:nvSpPr>
          <p:cNvPr id="87" name="Text 82"/>
          <p:cNvSpPr txBox="1"/>
          <p:nvPr/>
        </p:nvSpPr>
        <p:spPr>
          <a:xfrm>
            <a:off x="7686907" y="3058886"/>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19</a:t>
            </a:r>
            <a:endParaRPr lang="en-US" sz="860" dirty="0"/>
          </a:p>
        </p:txBody>
      </p:sp>
      <p:sp>
        <p:nvSpPr>
          <p:cNvPr id="88" name="Shape 83"/>
          <p:cNvSpPr/>
          <p:nvPr/>
        </p:nvSpPr>
        <p:spPr>
          <a:xfrm>
            <a:off x="8226619" y="3073173"/>
            <a:ext cx="496849" cy="229961"/>
          </a:xfrm>
          <a:prstGeom prst="roundRect">
            <a:avLst>
              <a:gd name="adj" fmla="val 12426"/>
            </a:avLst>
          </a:prstGeom>
          <a:solidFill>
            <a:srgbClr val="F4F6F1"/>
          </a:solidFill>
          <a:ln w="12700">
            <a:solidFill>
              <a:srgbClr val="F4F6F1"/>
            </a:solidFill>
            <a:prstDash val="solid"/>
          </a:ln>
        </p:spPr>
      </p:sp>
      <p:sp>
        <p:nvSpPr>
          <p:cNvPr id="89" name="Shape 84"/>
          <p:cNvSpPr/>
          <p:nvPr/>
        </p:nvSpPr>
        <p:spPr>
          <a:xfrm>
            <a:off x="8752042" y="3073173"/>
            <a:ext cx="496849" cy="229961"/>
          </a:xfrm>
          <a:prstGeom prst="roundRect">
            <a:avLst>
              <a:gd name="adj" fmla="val 12426"/>
            </a:avLst>
          </a:prstGeom>
          <a:solidFill>
            <a:srgbClr val="9AAC91"/>
          </a:solidFill>
          <a:ln w="12700">
            <a:solidFill>
              <a:srgbClr val="9AAC91"/>
            </a:solidFill>
            <a:prstDash val="solid"/>
          </a:ln>
        </p:spPr>
      </p:sp>
      <p:sp>
        <p:nvSpPr>
          <p:cNvPr id="90" name="Text 85"/>
          <p:cNvSpPr txBox="1"/>
          <p:nvPr/>
        </p:nvSpPr>
        <p:spPr>
          <a:xfrm>
            <a:off x="8737755" y="3058886"/>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80</a:t>
            </a:r>
            <a:endParaRPr lang="en-US" sz="860" dirty="0"/>
          </a:p>
        </p:txBody>
      </p:sp>
      <p:sp>
        <p:nvSpPr>
          <p:cNvPr id="91" name="Shape 86"/>
          <p:cNvSpPr/>
          <p:nvPr/>
        </p:nvSpPr>
        <p:spPr>
          <a:xfrm>
            <a:off x="9277466" y="3073173"/>
            <a:ext cx="496849" cy="229961"/>
          </a:xfrm>
          <a:prstGeom prst="roundRect">
            <a:avLst>
              <a:gd name="adj" fmla="val 12426"/>
            </a:avLst>
          </a:prstGeom>
          <a:solidFill>
            <a:srgbClr val="A5B59C"/>
          </a:solidFill>
          <a:ln w="12700">
            <a:solidFill>
              <a:srgbClr val="A5B59C"/>
            </a:solidFill>
            <a:prstDash val="solid"/>
          </a:ln>
        </p:spPr>
      </p:sp>
      <p:sp>
        <p:nvSpPr>
          <p:cNvPr id="92" name="Text 87"/>
          <p:cNvSpPr txBox="1"/>
          <p:nvPr/>
        </p:nvSpPr>
        <p:spPr>
          <a:xfrm>
            <a:off x="9263179" y="3058886"/>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68</a:t>
            </a:r>
            <a:endParaRPr lang="en-US" sz="860" dirty="0"/>
          </a:p>
        </p:txBody>
      </p:sp>
      <p:sp>
        <p:nvSpPr>
          <p:cNvPr id="93" name="Shape 88"/>
          <p:cNvSpPr/>
          <p:nvPr/>
        </p:nvSpPr>
        <p:spPr>
          <a:xfrm>
            <a:off x="9802890" y="3073173"/>
            <a:ext cx="496849" cy="229961"/>
          </a:xfrm>
          <a:prstGeom prst="roundRect">
            <a:avLst>
              <a:gd name="adj" fmla="val 12426"/>
            </a:avLst>
          </a:prstGeom>
          <a:solidFill>
            <a:srgbClr val="B1BFAA"/>
          </a:solidFill>
          <a:ln w="12700">
            <a:solidFill>
              <a:srgbClr val="B1BFAA"/>
            </a:solidFill>
            <a:prstDash val="solid"/>
          </a:ln>
        </p:spPr>
      </p:sp>
      <p:sp>
        <p:nvSpPr>
          <p:cNvPr id="94" name="Text 89"/>
          <p:cNvSpPr txBox="1"/>
          <p:nvPr/>
        </p:nvSpPr>
        <p:spPr>
          <a:xfrm>
            <a:off x="9788602" y="3058886"/>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54</a:t>
            </a:r>
            <a:endParaRPr lang="en-US" sz="860" dirty="0"/>
          </a:p>
        </p:txBody>
      </p:sp>
      <p:sp>
        <p:nvSpPr>
          <p:cNvPr id="95" name="Shape 90"/>
          <p:cNvSpPr/>
          <p:nvPr/>
        </p:nvSpPr>
        <p:spPr>
          <a:xfrm>
            <a:off x="10328314" y="3073173"/>
            <a:ext cx="496849" cy="229961"/>
          </a:xfrm>
          <a:prstGeom prst="roundRect">
            <a:avLst>
              <a:gd name="adj" fmla="val 12426"/>
            </a:avLst>
          </a:prstGeom>
          <a:solidFill>
            <a:srgbClr val="A8B8A0"/>
          </a:solidFill>
          <a:ln w="12700">
            <a:solidFill>
              <a:srgbClr val="A8B8A0"/>
            </a:solidFill>
            <a:prstDash val="solid"/>
          </a:ln>
        </p:spPr>
      </p:sp>
      <p:sp>
        <p:nvSpPr>
          <p:cNvPr id="96" name="Text 91"/>
          <p:cNvSpPr txBox="1"/>
          <p:nvPr/>
        </p:nvSpPr>
        <p:spPr>
          <a:xfrm>
            <a:off x="10314026" y="3058886"/>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64</a:t>
            </a:r>
            <a:endParaRPr lang="en-US" sz="860" dirty="0"/>
          </a:p>
        </p:txBody>
      </p:sp>
      <p:sp>
        <p:nvSpPr>
          <p:cNvPr id="97" name="Text 92"/>
          <p:cNvSpPr txBox="1"/>
          <p:nvPr/>
        </p:nvSpPr>
        <p:spPr>
          <a:xfrm>
            <a:off x="6067657" y="3317421"/>
            <a:ext cx="1543050" cy="258536"/>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Already has a supplier /</a:t>
            </a:r>
            <a:endParaRPr lang="en-US" sz="900" dirty="0"/>
          </a:p>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shop</a:t>
            </a:r>
            <a:endParaRPr lang="en-US" sz="900" dirty="0"/>
          </a:p>
        </p:txBody>
      </p:sp>
      <p:sp>
        <p:nvSpPr>
          <p:cNvPr id="98" name="Shape 93"/>
          <p:cNvSpPr/>
          <p:nvPr/>
        </p:nvSpPr>
        <p:spPr>
          <a:xfrm>
            <a:off x="7701195" y="3331709"/>
            <a:ext cx="496849" cy="229961"/>
          </a:xfrm>
          <a:prstGeom prst="roundRect">
            <a:avLst>
              <a:gd name="adj" fmla="val 12426"/>
            </a:avLst>
          </a:prstGeom>
          <a:solidFill>
            <a:srgbClr val="9CAE92"/>
          </a:solidFill>
          <a:ln w="12700">
            <a:solidFill>
              <a:srgbClr val="9CAE92"/>
            </a:solidFill>
            <a:prstDash val="solid"/>
          </a:ln>
        </p:spPr>
      </p:sp>
      <p:sp>
        <p:nvSpPr>
          <p:cNvPr id="99" name="Text 94"/>
          <p:cNvSpPr txBox="1"/>
          <p:nvPr/>
        </p:nvSpPr>
        <p:spPr>
          <a:xfrm>
            <a:off x="7686907" y="3317421"/>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78</a:t>
            </a:r>
            <a:endParaRPr lang="en-US" sz="860" dirty="0"/>
          </a:p>
        </p:txBody>
      </p:sp>
      <p:sp>
        <p:nvSpPr>
          <p:cNvPr id="100" name="Shape 95"/>
          <p:cNvSpPr/>
          <p:nvPr/>
        </p:nvSpPr>
        <p:spPr>
          <a:xfrm>
            <a:off x="8226619" y="3331709"/>
            <a:ext cx="496849" cy="229961"/>
          </a:xfrm>
          <a:prstGeom prst="roundRect">
            <a:avLst>
              <a:gd name="adj" fmla="val 12426"/>
            </a:avLst>
          </a:prstGeom>
          <a:solidFill>
            <a:srgbClr val="F4F6F1"/>
          </a:solidFill>
          <a:ln w="12700">
            <a:solidFill>
              <a:srgbClr val="F4F6F1"/>
            </a:solidFill>
            <a:prstDash val="solid"/>
          </a:ln>
        </p:spPr>
      </p:sp>
      <p:sp>
        <p:nvSpPr>
          <p:cNvPr id="101" name="Shape 96"/>
          <p:cNvSpPr/>
          <p:nvPr/>
        </p:nvSpPr>
        <p:spPr>
          <a:xfrm>
            <a:off x="8752042" y="3331709"/>
            <a:ext cx="496849" cy="229961"/>
          </a:xfrm>
          <a:prstGeom prst="roundRect">
            <a:avLst>
              <a:gd name="adj" fmla="val 12426"/>
            </a:avLst>
          </a:prstGeom>
          <a:solidFill>
            <a:srgbClr val="F4F6F1"/>
          </a:solidFill>
          <a:ln w="12700">
            <a:solidFill>
              <a:srgbClr val="F4F6F1"/>
            </a:solidFill>
            <a:prstDash val="solid"/>
          </a:ln>
        </p:spPr>
      </p:sp>
      <p:sp>
        <p:nvSpPr>
          <p:cNvPr id="102" name="Shape 97"/>
          <p:cNvSpPr/>
          <p:nvPr/>
        </p:nvSpPr>
        <p:spPr>
          <a:xfrm>
            <a:off x="9277466" y="3331709"/>
            <a:ext cx="496849" cy="229961"/>
          </a:xfrm>
          <a:prstGeom prst="roundRect">
            <a:avLst>
              <a:gd name="adj" fmla="val 12426"/>
            </a:avLst>
          </a:prstGeom>
          <a:solidFill>
            <a:srgbClr val="9CAE92"/>
          </a:solidFill>
          <a:ln w="12700">
            <a:solidFill>
              <a:srgbClr val="9CAE92"/>
            </a:solidFill>
            <a:prstDash val="solid"/>
          </a:ln>
        </p:spPr>
      </p:sp>
      <p:sp>
        <p:nvSpPr>
          <p:cNvPr id="103" name="Text 98"/>
          <p:cNvSpPr txBox="1"/>
          <p:nvPr/>
        </p:nvSpPr>
        <p:spPr>
          <a:xfrm>
            <a:off x="9263179" y="3317421"/>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78</a:t>
            </a:r>
            <a:endParaRPr lang="en-US" sz="860" dirty="0"/>
          </a:p>
        </p:txBody>
      </p:sp>
      <p:sp>
        <p:nvSpPr>
          <p:cNvPr id="104" name="Shape 99"/>
          <p:cNvSpPr/>
          <p:nvPr/>
        </p:nvSpPr>
        <p:spPr>
          <a:xfrm>
            <a:off x="9802890" y="3331709"/>
            <a:ext cx="496849" cy="229961"/>
          </a:xfrm>
          <a:prstGeom prst="roundRect">
            <a:avLst>
              <a:gd name="adj" fmla="val 12426"/>
            </a:avLst>
          </a:prstGeom>
          <a:solidFill>
            <a:srgbClr val="F4F6F1"/>
          </a:solidFill>
          <a:ln w="12700">
            <a:solidFill>
              <a:srgbClr val="F4F6F1"/>
            </a:solidFill>
            <a:prstDash val="solid"/>
          </a:ln>
        </p:spPr>
      </p:sp>
      <p:sp>
        <p:nvSpPr>
          <p:cNvPr id="105" name="Shape 100"/>
          <p:cNvSpPr/>
          <p:nvPr/>
        </p:nvSpPr>
        <p:spPr>
          <a:xfrm>
            <a:off x="10328314" y="3331709"/>
            <a:ext cx="496849" cy="229961"/>
          </a:xfrm>
          <a:prstGeom prst="roundRect">
            <a:avLst>
              <a:gd name="adj" fmla="val 12426"/>
            </a:avLst>
          </a:prstGeom>
          <a:solidFill>
            <a:srgbClr val="E0E5DD"/>
          </a:solidFill>
          <a:ln w="12700">
            <a:solidFill>
              <a:srgbClr val="E0E5DD"/>
            </a:solidFill>
            <a:prstDash val="solid"/>
          </a:ln>
        </p:spPr>
      </p:sp>
      <p:sp>
        <p:nvSpPr>
          <p:cNvPr id="106" name="Text 101"/>
          <p:cNvSpPr txBox="1"/>
          <p:nvPr/>
        </p:nvSpPr>
        <p:spPr>
          <a:xfrm>
            <a:off x="10314026" y="3317421"/>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a:t>
            </a:r>
            <a:endParaRPr lang="en-US" sz="860" dirty="0"/>
          </a:p>
        </p:txBody>
      </p:sp>
      <p:sp>
        <p:nvSpPr>
          <p:cNvPr id="107" name="Text 102"/>
          <p:cNvSpPr txBox="1"/>
          <p:nvPr/>
        </p:nvSpPr>
        <p:spPr>
          <a:xfrm>
            <a:off x="6067657" y="3575957"/>
            <a:ext cx="1543050" cy="258536"/>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Tied to a KUD / agent</a:t>
            </a:r>
            <a:endParaRPr lang="en-US" sz="900" dirty="0"/>
          </a:p>
        </p:txBody>
      </p:sp>
      <p:sp>
        <p:nvSpPr>
          <p:cNvPr id="108" name="Shape 103"/>
          <p:cNvSpPr/>
          <p:nvPr/>
        </p:nvSpPr>
        <p:spPr>
          <a:xfrm>
            <a:off x="7701195" y="3590245"/>
            <a:ext cx="496849" cy="229961"/>
          </a:xfrm>
          <a:prstGeom prst="roundRect">
            <a:avLst>
              <a:gd name="adj" fmla="val 12426"/>
            </a:avLst>
          </a:prstGeom>
          <a:solidFill>
            <a:srgbClr val="AAB9A2"/>
          </a:solidFill>
          <a:ln w="12700">
            <a:solidFill>
              <a:srgbClr val="AAB9A2"/>
            </a:solidFill>
            <a:prstDash val="solid"/>
          </a:ln>
        </p:spPr>
      </p:sp>
      <p:sp>
        <p:nvSpPr>
          <p:cNvPr id="109" name="Text 104"/>
          <p:cNvSpPr txBox="1"/>
          <p:nvPr/>
        </p:nvSpPr>
        <p:spPr>
          <a:xfrm>
            <a:off x="7686907" y="3575957"/>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62</a:t>
            </a:r>
            <a:endParaRPr lang="en-US" sz="860" dirty="0"/>
          </a:p>
        </p:txBody>
      </p:sp>
      <p:sp>
        <p:nvSpPr>
          <p:cNvPr id="110" name="Shape 105"/>
          <p:cNvSpPr/>
          <p:nvPr/>
        </p:nvSpPr>
        <p:spPr>
          <a:xfrm>
            <a:off x="8226619" y="3590245"/>
            <a:ext cx="496849" cy="229961"/>
          </a:xfrm>
          <a:prstGeom prst="roundRect">
            <a:avLst>
              <a:gd name="adj" fmla="val 12426"/>
            </a:avLst>
          </a:prstGeom>
          <a:solidFill>
            <a:srgbClr val="F4F6F1"/>
          </a:solidFill>
          <a:ln w="12700">
            <a:solidFill>
              <a:srgbClr val="F4F6F1"/>
            </a:solidFill>
            <a:prstDash val="solid"/>
          </a:ln>
        </p:spPr>
      </p:sp>
      <p:sp>
        <p:nvSpPr>
          <p:cNvPr id="111" name="Shape 106"/>
          <p:cNvSpPr/>
          <p:nvPr/>
        </p:nvSpPr>
        <p:spPr>
          <a:xfrm>
            <a:off x="8752042" y="3590245"/>
            <a:ext cx="496849" cy="229961"/>
          </a:xfrm>
          <a:prstGeom prst="roundRect">
            <a:avLst>
              <a:gd name="adj" fmla="val 12426"/>
            </a:avLst>
          </a:prstGeom>
          <a:solidFill>
            <a:srgbClr val="F4F6F1"/>
          </a:solidFill>
          <a:ln w="12700">
            <a:solidFill>
              <a:srgbClr val="F4F6F1"/>
            </a:solidFill>
            <a:prstDash val="solid"/>
          </a:ln>
        </p:spPr>
      </p:sp>
      <p:sp>
        <p:nvSpPr>
          <p:cNvPr id="112" name="Shape 107"/>
          <p:cNvSpPr/>
          <p:nvPr/>
        </p:nvSpPr>
        <p:spPr>
          <a:xfrm>
            <a:off x="9277466" y="3590245"/>
            <a:ext cx="496849" cy="229961"/>
          </a:xfrm>
          <a:prstGeom prst="roundRect">
            <a:avLst>
              <a:gd name="adj" fmla="val 12426"/>
            </a:avLst>
          </a:prstGeom>
          <a:solidFill>
            <a:srgbClr val="AAB9A2"/>
          </a:solidFill>
          <a:ln w="12700">
            <a:solidFill>
              <a:srgbClr val="AAB9A2"/>
            </a:solidFill>
            <a:prstDash val="solid"/>
          </a:ln>
        </p:spPr>
      </p:sp>
      <p:sp>
        <p:nvSpPr>
          <p:cNvPr id="113" name="Text 108"/>
          <p:cNvSpPr txBox="1"/>
          <p:nvPr/>
        </p:nvSpPr>
        <p:spPr>
          <a:xfrm>
            <a:off x="9263179" y="3575957"/>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62</a:t>
            </a:r>
            <a:endParaRPr lang="en-US" sz="860" dirty="0"/>
          </a:p>
        </p:txBody>
      </p:sp>
      <p:sp>
        <p:nvSpPr>
          <p:cNvPr id="114" name="Shape 109"/>
          <p:cNvSpPr/>
          <p:nvPr/>
        </p:nvSpPr>
        <p:spPr>
          <a:xfrm>
            <a:off x="9802890" y="3590245"/>
            <a:ext cx="496849" cy="229961"/>
          </a:xfrm>
          <a:prstGeom prst="roundRect">
            <a:avLst>
              <a:gd name="adj" fmla="val 12426"/>
            </a:avLst>
          </a:prstGeom>
          <a:solidFill>
            <a:srgbClr val="E0E5DD"/>
          </a:solidFill>
          <a:ln w="12700">
            <a:solidFill>
              <a:srgbClr val="E0E5DD"/>
            </a:solidFill>
            <a:prstDash val="solid"/>
          </a:ln>
        </p:spPr>
      </p:sp>
      <p:sp>
        <p:nvSpPr>
          <p:cNvPr id="115" name="Text 110"/>
          <p:cNvSpPr txBox="1"/>
          <p:nvPr/>
        </p:nvSpPr>
        <p:spPr>
          <a:xfrm>
            <a:off x="9788602" y="3575957"/>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a:t>
            </a:r>
            <a:endParaRPr lang="en-US" sz="860" dirty="0"/>
          </a:p>
        </p:txBody>
      </p:sp>
      <p:sp>
        <p:nvSpPr>
          <p:cNvPr id="116" name="Shape 111"/>
          <p:cNvSpPr/>
          <p:nvPr/>
        </p:nvSpPr>
        <p:spPr>
          <a:xfrm>
            <a:off x="10328314" y="3590245"/>
            <a:ext cx="496849" cy="229961"/>
          </a:xfrm>
          <a:prstGeom prst="roundRect">
            <a:avLst>
              <a:gd name="adj" fmla="val 12426"/>
            </a:avLst>
          </a:prstGeom>
          <a:solidFill>
            <a:srgbClr val="F4F6F1"/>
          </a:solidFill>
          <a:ln w="12700">
            <a:solidFill>
              <a:srgbClr val="F4F6F1"/>
            </a:solidFill>
            <a:prstDash val="solid"/>
          </a:ln>
        </p:spPr>
      </p:sp>
      <p:sp>
        <p:nvSpPr>
          <p:cNvPr id="117" name="Text 112"/>
          <p:cNvSpPr txBox="1"/>
          <p:nvPr/>
        </p:nvSpPr>
        <p:spPr>
          <a:xfrm>
            <a:off x="6067657" y="3834493"/>
            <a:ext cx="1543050" cy="258536"/>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Product out of stock</a:t>
            </a:r>
            <a:endParaRPr lang="en-US" sz="900" dirty="0"/>
          </a:p>
        </p:txBody>
      </p:sp>
      <p:sp>
        <p:nvSpPr>
          <p:cNvPr id="118" name="Shape 113"/>
          <p:cNvSpPr/>
          <p:nvPr/>
        </p:nvSpPr>
        <p:spPr>
          <a:xfrm>
            <a:off x="7701195" y="3848780"/>
            <a:ext cx="496849" cy="229961"/>
          </a:xfrm>
          <a:prstGeom prst="roundRect">
            <a:avLst>
              <a:gd name="adj" fmla="val 12426"/>
            </a:avLst>
          </a:prstGeom>
          <a:solidFill>
            <a:srgbClr val="C9D3C4"/>
          </a:solidFill>
          <a:ln w="12700">
            <a:solidFill>
              <a:srgbClr val="C9D3C4"/>
            </a:solidFill>
            <a:prstDash val="solid"/>
          </a:ln>
        </p:spPr>
      </p:sp>
      <p:sp>
        <p:nvSpPr>
          <p:cNvPr id="119" name="Text 114"/>
          <p:cNvSpPr txBox="1"/>
          <p:nvPr/>
        </p:nvSpPr>
        <p:spPr>
          <a:xfrm>
            <a:off x="7686907" y="3834493"/>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27</a:t>
            </a:r>
            <a:endParaRPr lang="en-US" sz="860" dirty="0"/>
          </a:p>
        </p:txBody>
      </p:sp>
      <p:sp>
        <p:nvSpPr>
          <p:cNvPr id="120" name="Shape 115"/>
          <p:cNvSpPr/>
          <p:nvPr/>
        </p:nvSpPr>
        <p:spPr>
          <a:xfrm>
            <a:off x="8226619" y="3848780"/>
            <a:ext cx="496849" cy="229961"/>
          </a:xfrm>
          <a:prstGeom prst="roundRect">
            <a:avLst>
              <a:gd name="adj" fmla="val 12426"/>
            </a:avLst>
          </a:prstGeom>
          <a:solidFill>
            <a:srgbClr val="F4F6F1"/>
          </a:solidFill>
          <a:ln w="12700">
            <a:solidFill>
              <a:srgbClr val="F4F6F1"/>
            </a:solidFill>
            <a:prstDash val="solid"/>
          </a:ln>
        </p:spPr>
      </p:sp>
      <p:sp>
        <p:nvSpPr>
          <p:cNvPr id="121" name="Shape 116"/>
          <p:cNvSpPr/>
          <p:nvPr/>
        </p:nvSpPr>
        <p:spPr>
          <a:xfrm>
            <a:off x="8752042" y="3848780"/>
            <a:ext cx="496849" cy="229961"/>
          </a:xfrm>
          <a:prstGeom prst="roundRect">
            <a:avLst>
              <a:gd name="adj" fmla="val 12426"/>
            </a:avLst>
          </a:prstGeom>
          <a:solidFill>
            <a:srgbClr val="DEE4DB"/>
          </a:solidFill>
          <a:ln w="12700">
            <a:solidFill>
              <a:srgbClr val="DEE4DB"/>
            </a:solidFill>
            <a:prstDash val="solid"/>
          </a:ln>
        </p:spPr>
      </p:sp>
      <p:sp>
        <p:nvSpPr>
          <p:cNvPr id="122" name="Text 117"/>
          <p:cNvSpPr txBox="1"/>
          <p:nvPr/>
        </p:nvSpPr>
        <p:spPr>
          <a:xfrm>
            <a:off x="8737755" y="3834493"/>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a:t>
            </a:r>
            <a:endParaRPr lang="en-US" sz="860" dirty="0"/>
          </a:p>
        </p:txBody>
      </p:sp>
      <p:sp>
        <p:nvSpPr>
          <p:cNvPr id="123" name="Shape 118"/>
          <p:cNvSpPr/>
          <p:nvPr/>
        </p:nvSpPr>
        <p:spPr>
          <a:xfrm>
            <a:off x="9277466" y="3848780"/>
            <a:ext cx="496849" cy="229961"/>
          </a:xfrm>
          <a:prstGeom prst="roundRect">
            <a:avLst>
              <a:gd name="adj" fmla="val 12426"/>
            </a:avLst>
          </a:prstGeom>
          <a:solidFill>
            <a:srgbClr val="D3DBCF"/>
          </a:solidFill>
          <a:ln w="12700">
            <a:solidFill>
              <a:srgbClr val="D3DBCF"/>
            </a:solidFill>
            <a:prstDash val="solid"/>
          </a:ln>
        </p:spPr>
      </p:sp>
      <p:sp>
        <p:nvSpPr>
          <p:cNvPr id="124" name="Text 119"/>
          <p:cNvSpPr txBox="1"/>
          <p:nvPr/>
        </p:nvSpPr>
        <p:spPr>
          <a:xfrm>
            <a:off x="9263179" y="3834493"/>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15</a:t>
            </a:r>
            <a:endParaRPr lang="en-US" sz="860" dirty="0"/>
          </a:p>
        </p:txBody>
      </p:sp>
      <p:sp>
        <p:nvSpPr>
          <p:cNvPr id="125" name="Shape 120"/>
          <p:cNvSpPr/>
          <p:nvPr/>
        </p:nvSpPr>
        <p:spPr>
          <a:xfrm>
            <a:off x="9802890" y="3848780"/>
            <a:ext cx="496849" cy="229961"/>
          </a:xfrm>
          <a:prstGeom prst="roundRect">
            <a:avLst>
              <a:gd name="adj" fmla="val 12426"/>
            </a:avLst>
          </a:prstGeom>
          <a:solidFill>
            <a:srgbClr val="DFE5DC"/>
          </a:solidFill>
          <a:ln w="12700">
            <a:solidFill>
              <a:srgbClr val="DFE5DC"/>
            </a:solidFill>
            <a:prstDash val="solid"/>
          </a:ln>
        </p:spPr>
      </p:sp>
      <p:sp>
        <p:nvSpPr>
          <p:cNvPr id="126" name="Text 121"/>
          <p:cNvSpPr txBox="1"/>
          <p:nvPr/>
        </p:nvSpPr>
        <p:spPr>
          <a:xfrm>
            <a:off x="9788602" y="3834493"/>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2</a:t>
            </a:r>
            <a:endParaRPr lang="en-US" sz="860" dirty="0"/>
          </a:p>
        </p:txBody>
      </p:sp>
      <p:sp>
        <p:nvSpPr>
          <p:cNvPr id="127" name="Shape 122"/>
          <p:cNvSpPr/>
          <p:nvPr/>
        </p:nvSpPr>
        <p:spPr>
          <a:xfrm>
            <a:off x="10328314" y="3848780"/>
            <a:ext cx="496849" cy="229961"/>
          </a:xfrm>
          <a:prstGeom prst="roundRect">
            <a:avLst>
              <a:gd name="adj" fmla="val 12426"/>
            </a:avLst>
          </a:prstGeom>
          <a:solidFill>
            <a:srgbClr val="D0D8CC"/>
          </a:solidFill>
          <a:ln w="12700">
            <a:solidFill>
              <a:srgbClr val="D0D8CC"/>
            </a:solidFill>
            <a:prstDash val="solid"/>
          </a:ln>
        </p:spPr>
      </p:sp>
      <p:sp>
        <p:nvSpPr>
          <p:cNvPr id="128" name="Text 123"/>
          <p:cNvSpPr txBox="1"/>
          <p:nvPr/>
        </p:nvSpPr>
        <p:spPr>
          <a:xfrm>
            <a:off x="10314026" y="3834493"/>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19</a:t>
            </a:r>
            <a:endParaRPr lang="en-US" sz="860" dirty="0"/>
          </a:p>
        </p:txBody>
      </p:sp>
      <p:sp>
        <p:nvSpPr>
          <p:cNvPr id="129" name="Text 124"/>
          <p:cNvSpPr txBox="1"/>
          <p:nvPr/>
        </p:nvSpPr>
        <p:spPr>
          <a:xfrm>
            <a:off x="6067657" y="4093029"/>
            <a:ext cx="1543050" cy="258536"/>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No longer has land</a:t>
            </a:r>
            <a:endParaRPr lang="en-US" sz="900" dirty="0"/>
          </a:p>
        </p:txBody>
      </p:sp>
      <p:sp>
        <p:nvSpPr>
          <p:cNvPr id="130" name="Shape 125"/>
          <p:cNvSpPr/>
          <p:nvPr/>
        </p:nvSpPr>
        <p:spPr>
          <a:xfrm>
            <a:off x="7701195" y="4107316"/>
            <a:ext cx="496849" cy="229961"/>
          </a:xfrm>
          <a:prstGeom prst="roundRect">
            <a:avLst>
              <a:gd name="adj" fmla="val 12426"/>
            </a:avLst>
          </a:prstGeom>
          <a:solidFill>
            <a:srgbClr val="C4CEBE"/>
          </a:solidFill>
          <a:ln w="12700">
            <a:solidFill>
              <a:srgbClr val="C4CEBE"/>
            </a:solidFill>
            <a:prstDash val="solid"/>
          </a:ln>
        </p:spPr>
      </p:sp>
      <p:sp>
        <p:nvSpPr>
          <p:cNvPr id="131" name="Text 126"/>
          <p:cNvSpPr txBox="1"/>
          <p:nvPr/>
        </p:nvSpPr>
        <p:spPr>
          <a:xfrm>
            <a:off x="7686907" y="4093029"/>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33</a:t>
            </a:r>
            <a:endParaRPr lang="en-US" sz="860" dirty="0"/>
          </a:p>
        </p:txBody>
      </p:sp>
      <p:sp>
        <p:nvSpPr>
          <p:cNvPr id="132" name="Shape 127"/>
          <p:cNvSpPr/>
          <p:nvPr/>
        </p:nvSpPr>
        <p:spPr>
          <a:xfrm>
            <a:off x="8226619" y="4107316"/>
            <a:ext cx="496849" cy="229961"/>
          </a:xfrm>
          <a:prstGeom prst="roundRect">
            <a:avLst>
              <a:gd name="adj" fmla="val 12426"/>
            </a:avLst>
          </a:prstGeom>
          <a:solidFill>
            <a:srgbClr val="F4F6F1"/>
          </a:solidFill>
          <a:ln w="12700">
            <a:solidFill>
              <a:srgbClr val="F4F6F1"/>
            </a:solidFill>
            <a:prstDash val="solid"/>
          </a:ln>
        </p:spPr>
      </p:sp>
      <p:sp>
        <p:nvSpPr>
          <p:cNvPr id="133" name="Shape 128"/>
          <p:cNvSpPr/>
          <p:nvPr/>
        </p:nvSpPr>
        <p:spPr>
          <a:xfrm>
            <a:off x="8752042" y="4107316"/>
            <a:ext cx="496849" cy="229961"/>
          </a:xfrm>
          <a:prstGeom prst="roundRect">
            <a:avLst>
              <a:gd name="adj" fmla="val 12426"/>
            </a:avLst>
          </a:prstGeom>
          <a:solidFill>
            <a:srgbClr val="F4F6F1"/>
          </a:solidFill>
          <a:ln w="12700">
            <a:solidFill>
              <a:srgbClr val="F4F6F1"/>
            </a:solidFill>
            <a:prstDash val="solid"/>
          </a:ln>
        </p:spPr>
      </p:sp>
      <p:sp>
        <p:nvSpPr>
          <p:cNvPr id="134" name="Shape 129"/>
          <p:cNvSpPr/>
          <p:nvPr/>
        </p:nvSpPr>
        <p:spPr>
          <a:xfrm>
            <a:off x="9277466" y="4107316"/>
            <a:ext cx="496849" cy="229961"/>
          </a:xfrm>
          <a:prstGeom prst="roundRect">
            <a:avLst>
              <a:gd name="adj" fmla="val 12426"/>
            </a:avLst>
          </a:prstGeom>
          <a:solidFill>
            <a:srgbClr val="C0CBBA"/>
          </a:solidFill>
          <a:ln w="12700">
            <a:solidFill>
              <a:srgbClr val="C0CBBA"/>
            </a:solidFill>
            <a:prstDash val="solid"/>
          </a:ln>
        </p:spPr>
      </p:sp>
      <p:sp>
        <p:nvSpPr>
          <p:cNvPr id="135" name="Text 130"/>
          <p:cNvSpPr txBox="1"/>
          <p:nvPr/>
        </p:nvSpPr>
        <p:spPr>
          <a:xfrm>
            <a:off x="9263179" y="4093029"/>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37</a:t>
            </a:r>
            <a:endParaRPr lang="en-US" sz="860" dirty="0"/>
          </a:p>
        </p:txBody>
      </p:sp>
      <p:sp>
        <p:nvSpPr>
          <p:cNvPr id="136" name="Shape 131"/>
          <p:cNvSpPr/>
          <p:nvPr/>
        </p:nvSpPr>
        <p:spPr>
          <a:xfrm>
            <a:off x="9802890" y="4107316"/>
            <a:ext cx="496849" cy="229961"/>
          </a:xfrm>
          <a:prstGeom prst="roundRect">
            <a:avLst>
              <a:gd name="adj" fmla="val 12426"/>
            </a:avLst>
          </a:prstGeom>
          <a:solidFill>
            <a:srgbClr val="F4F6F1"/>
          </a:solidFill>
          <a:ln w="12700">
            <a:solidFill>
              <a:srgbClr val="F4F6F1"/>
            </a:solidFill>
            <a:prstDash val="solid"/>
          </a:ln>
        </p:spPr>
      </p:sp>
      <p:sp>
        <p:nvSpPr>
          <p:cNvPr id="137" name="Shape 132"/>
          <p:cNvSpPr/>
          <p:nvPr/>
        </p:nvSpPr>
        <p:spPr>
          <a:xfrm>
            <a:off x="10328314" y="4107316"/>
            <a:ext cx="496849" cy="229961"/>
          </a:xfrm>
          <a:prstGeom prst="roundRect">
            <a:avLst>
              <a:gd name="adj" fmla="val 12426"/>
            </a:avLst>
          </a:prstGeom>
          <a:solidFill>
            <a:srgbClr val="F4F6F1"/>
          </a:solidFill>
          <a:ln w="12700">
            <a:solidFill>
              <a:srgbClr val="F4F6F1"/>
            </a:solidFill>
            <a:prstDash val="solid"/>
          </a:ln>
        </p:spPr>
      </p:sp>
      <p:sp>
        <p:nvSpPr>
          <p:cNvPr id="138" name="Text 133"/>
          <p:cNvSpPr txBox="1"/>
          <p:nvPr/>
        </p:nvSpPr>
        <p:spPr>
          <a:xfrm>
            <a:off x="6067657" y="4351564"/>
            <a:ext cx="1543050" cy="258536"/>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Price too high</a:t>
            </a:r>
            <a:endParaRPr lang="en-US" sz="900" dirty="0"/>
          </a:p>
        </p:txBody>
      </p:sp>
      <p:sp>
        <p:nvSpPr>
          <p:cNvPr id="139" name="Shape 134"/>
          <p:cNvSpPr/>
          <p:nvPr/>
        </p:nvSpPr>
        <p:spPr>
          <a:xfrm>
            <a:off x="7701195" y="4365852"/>
            <a:ext cx="496849" cy="229961"/>
          </a:xfrm>
          <a:prstGeom prst="roundRect">
            <a:avLst>
              <a:gd name="adj" fmla="val 12426"/>
            </a:avLst>
          </a:prstGeom>
          <a:solidFill>
            <a:srgbClr val="D3DBCF"/>
          </a:solidFill>
          <a:ln w="12700">
            <a:solidFill>
              <a:srgbClr val="D3DBCF"/>
            </a:solidFill>
            <a:prstDash val="solid"/>
          </a:ln>
        </p:spPr>
      </p:sp>
      <p:sp>
        <p:nvSpPr>
          <p:cNvPr id="140" name="Text 135"/>
          <p:cNvSpPr txBox="1"/>
          <p:nvPr/>
        </p:nvSpPr>
        <p:spPr>
          <a:xfrm>
            <a:off x="7686907" y="4351564"/>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15</a:t>
            </a:r>
            <a:endParaRPr lang="en-US" sz="860" dirty="0"/>
          </a:p>
        </p:txBody>
      </p:sp>
      <p:sp>
        <p:nvSpPr>
          <p:cNvPr id="141" name="Shape 136"/>
          <p:cNvSpPr/>
          <p:nvPr/>
        </p:nvSpPr>
        <p:spPr>
          <a:xfrm>
            <a:off x="8226619" y="4365852"/>
            <a:ext cx="496849" cy="229961"/>
          </a:xfrm>
          <a:prstGeom prst="roundRect">
            <a:avLst>
              <a:gd name="adj" fmla="val 12426"/>
            </a:avLst>
          </a:prstGeom>
          <a:solidFill>
            <a:srgbClr val="F4F6F1"/>
          </a:solidFill>
          <a:ln w="12700">
            <a:solidFill>
              <a:srgbClr val="F4F6F1"/>
            </a:solidFill>
            <a:prstDash val="solid"/>
          </a:ln>
        </p:spPr>
      </p:sp>
      <p:sp>
        <p:nvSpPr>
          <p:cNvPr id="142" name="Shape 137"/>
          <p:cNvSpPr/>
          <p:nvPr/>
        </p:nvSpPr>
        <p:spPr>
          <a:xfrm>
            <a:off x="8752042" y="4365852"/>
            <a:ext cx="496849" cy="229961"/>
          </a:xfrm>
          <a:prstGeom prst="roundRect">
            <a:avLst>
              <a:gd name="adj" fmla="val 12426"/>
            </a:avLst>
          </a:prstGeom>
          <a:solidFill>
            <a:srgbClr val="E0E5DD"/>
          </a:solidFill>
          <a:ln w="12700">
            <a:solidFill>
              <a:srgbClr val="E0E5DD"/>
            </a:solidFill>
            <a:prstDash val="solid"/>
          </a:ln>
        </p:spPr>
      </p:sp>
      <p:sp>
        <p:nvSpPr>
          <p:cNvPr id="143" name="Text 138"/>
          <p:cNvSpPr txBox="1"/>
          <p:nvPr/>
        </p:nvSpPr>
        <p:spPr>
          <a:xfrm>
            <a:off x="8737755" y="4351564"/>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a:t>
            </a:r>
            <a:endParaRPr lang="en-US" sz="860" dirty="0"/>
          </a:p>
        </p:txBody>
      </p:sp>
      <p:sp>
        <p:nvSpPr>
          <p:cNvPr id="144" name="Shape 139"/>
          <p:cNvSpPr/>
          <p:nvPr/>
        </p:nvSpPr>
        <p:spPr>
          <a:xfrm>
            <a:off x="9277466" y="4365852"/>
            <a:ext cx="496849" cy="229961"/>
          </a:xfrm>
          <a:prstGeom prst="roundRect">
            <a:avLst>
              <a:gd name="adj" fmla="val 12426"/>
            </a:avLst>
          </a:prstGeom>
          <a:solidFill>
            <a:srgbClr val="D8DFD4"/>
          </a:solidFill>
          <a:ln w="12700">
            <a:solidFill>
              <a:srgbClr val="D8DFD4"/>
            </a:solidFill>
            <a:prstDash val="solid"/>
          </a:ln>
        </p:spPr>
      </p:sp>
      <p:sp>
        <p:nvSpPr>
          <p:cNvPr id="145" name="Text 140"/>
          <p:cNvSpPr txBox="1"/>
          <p:nvPr/>
        </p:nvSpPr>
        <p:spPr>
          <a:xfrm>
            <a:off x="9263179" y="4351564"/>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10</a:t>
            </a:r>
            <a:endParaRPr lang="en-US" sz="860" dirty="0"/>
          </a:p>
        </p:txBody>
      </p:sp>
      <p:sp>
        <p:nvSpPr>
          <p:cNvPr id="146" name="Shape 141"/>
          <p:cNvSpPr/>
          <p:nvPr/>
        </p:nvSpPr>
        <p:spPr>
          <a:xfrm>
            <a:off x="9802890" y="4365852"/>
            <a:ext cx="496849" cy="229961"/>
          </a:xfrm>
          <a:prstGeom prst="roundRect">
            <a:avLst>
              <a:gd name="adj" fmla="val 12426"/>
            </a:avLst>
          </a:prstGeom>
          <a:solidFill>
            <a:srgbClr val="DCE3D9"/>
          </a:solidFill>
          <a:ln w="12700">
            <a:solidFill>
              <a:srgbClr val="DCE3D9"/>
            </a:solidFill>
            <a:prstDash val="solid"/>
          </a:ln>
        </p:spPr>
      </p:sp>
      <p:sp>
        <p:nvSpPr>
          <p:cNvPr id="147" name="Text 142"/>
          <p:cNvSpPr txBox="1"/>
          <p:nvPr/>
        </p:nvSpPr>
        <p:spPr>
          <a:xfrm>
            <a:off x="9788602" y="4351564"/>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5</a:t>
            </a:r>
            <a:endParaRPr lang="en-US" sz="860" dirty="0"/>
          </a:p>
        </p:txBody>
      </p:sp>
      <p:sp>
        <p:nvSpPr>
          <p:cNvPr id="148" name="Shape 143"/>
          <p:cNvSpPr/>
          <p:nvPr/>
        </p:nvSpPr>
        <p:spPr>
          <a:xfrm>
            <a:off x="10328314" y="4365852"/>
            <a:ext cx="496849" cy="229961"/>
          </a:xfrm>
          <a:prstGeom prst="roundRect">
            <a:avLst>
              <a:gd name="adj" fmla="val 12426"/>
            </a:avLst>
          </a:prstGeom>
          <a:solidFill>
            <a:srgbClr val="D2DACE"/>
          </a:solidFill>
          <a:ln w="12700">
            <a:solidFill>
              <a:srgbClr val="D2DACE"/>
            </a:solidFill>
            <a:prstDash val="solid"/>
          </a:ln>
        </p:spPr>
      </p:sp>
      <p:sp>
        <p:nvSpPr>
          <p:cNvPr id="149" name="Text 144"/>
          <p:cNvSpPr txBox="1"/>
          <p:nvPr/>
        </p:nvSpPr>
        <p:spPr>
          <a:xfrm>
            <a:off x="10314026" y="4351564"/>
            <a:ext cx="525424" cy="258536"/>
          </a:xfrm>
          <a:prstGeom prst="rect">
            <a:avLst/>
          </a:prstGeom>
          <a:noFill/>
          <a:ln/>
        </p:spPr>
        <p:txBody>
          <a:bodyPr wrap="square" lIns="0" tIns="0" rIns="0" bIns="0" rtlCol="0" anchor="ctr"/>
          <a:lstStyle/>
          <a:p>
            <a:pPr algn="ctr" indent="0" marL="0">
              <a:lnSpc>
                <a:spcPct val="95000"/>
              </a:lnSpc>
              <a:buNone/>
            </a:pPr>
            <a:r>
              <a:rPr lang="en-US" sz="860" dirty="0">
                <a:solidFill>
                  <a:srgbClr val="2B2F28"/>
                </a:solidFill>
                <a:latin typeface="Plus Jakarta Sans" pitchFamily="34" charset="0"/>
                <a:ea typeface="Plus Jakarta Sans" pitchFamily="34" charset="-122"/>
                <a:cs typeface="Plus Jakarta Sans" pitchFamily="34" charset="-120"/>
              </a:rPr>
              <a:t>17</a:t>
            </a:r>
            <a:endParaRPr lang="en-US" sz="860" dirty="0"/>
          </a:p>
        </p:txBody>
      </p:sp>
      <p:sp>
        <p:nvSpPr>
          <p:cNvPr id="150" name="Shape 145"/>
          <p:cNvSpPr/>
          <p:nvPr/>
        </p:nvSpPr>
        <p:spPr>
          <a:xfrm>
            <a:off x="762000" y="4876800"/>
            <a:ext cx="10287000" cy="1238250"/>
          </a:xfrm>
          <a:prstGeom prst="roundRect">
            <a:avLst>
              <a:gd name="adj" fmla="val 8862"/>
            </a:avLst>
          </a:prstGeom>
          <a:solidFill>
            <a:srgbClr val="FBEFC4"/>
          </a:solidFill>
          <a:ln w="12700">
            <a:solidFill>
              <a:srgbClr val="FBEFC4"/>
            </a:solidFill>
            <a:prstDash val="solid"/>
          </a:ln>
        </p:spPr>
      </p:sp>
      <p:sp>
        <p:nvSpPr>
          <p:cNvPr id="151" name="Text 146"/>
          <p:cNvSpPr txBox="1"/>
          <p:nvPr/>
        </p:nvSpPr>
        <p:spPr>
          <a:xfrm>
            <a:off x="933450" y="4962525"/>
            <a:ext cx="9944100" cy="106680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PIC predicts the reason. Deby Zea Efendi (244): mostly locked into a shop, KUD or agent; Rudi Nirwana (134): mostly just asking; Simon Sutrado Simanjuntak (77): mostly just asking; Sazali Wandana (41): mostly other; Ghifari Kamil Ramadhan (30): mostly just asking. The answer depends on which list is being worked, so fix the list, not the pitch.</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Check the entries of Joko Prestiwo (195 of 195) and Edi Sutarsan (36 of 37): nearly all have the same status and reason, which looks like a form default rather than what each lead said.</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“Just asking” is partly a logging habit. 13 of 191 were recorded when the call didn't connect, so no reason was actually heard.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14</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CRM 1 JUL – 30 SEP · REJECTION REASONS · WHO TO CALL BACK</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655 of 847 leads who didn't order can still be won back; 138 are locked into a shop, KUD or agent</a:t>
            </a:r>
            <a:endParaRPr lang="en-US" sz="2300" dirty="0"/>
          </a:p>
        </p:txBody>
      </p:sp>
      <p:sp>
        <p:nvSpPr>
          <p:cNvPr id="11" name="Shape 6"/>
          <p:cNvSpPr/>
          <p:nvPr/>
        </p:nvSpPr>
        <p:spPr>
          <a:xfrm>
            <a:off x="762000" y="1714500"/>
            <a:ext cx="3763780" cy="2171700"/>
          </a:xfrm>
          <a:prstGeom prst="roundRect">
            <a:avLst>
              <a:gd name="adj" fmla="val 5053"/>
            </a:avLst>
          </a:prstGeom>
          <a:solidFill>
            <a:srgbClr val="FFFFFF"/>
          </a:solidFill>
          <a:ln w="12700">
            <a:solidFill>
              <a:srgbClr val="FFFFFF"/>
            </a:solidFill>
            <a:prstDash val="solid"/>
          </a:ln>
        </p:spPr>
      </p:sp>
      <p:sp>
        <p:nvSpPr>
          <p:cNvPr id="12" name="Text 7"/>
          <p:cNvSpPr txBox="1"/>
          <p:nvPr/>
        </p:nvSpPr>
        <p:spPr>
          <a:xfrm>
            <a:off x="952500" y="1866900"/>
            <a:ext cx="338278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Every lead that didn't order</a:t>
            </a:r>
            <a:endParaRPr lang="en-US" sz="1300" dirty="0"/>
          </a:p>
        </p:txBody>
      </p:sp>
      <p:sp>
        <p:nvSpPr>
          <p:cNvPr id="13" name="Text 8"/>
          <p:cNvSpPr txBox="1"/>
          <p:nvPr/>
        </p:nvSpPr>
        <p:spPr>
          <a:xfrm>
            <a:off x="952500" y="2095500"/>
            <a:ext cx="338278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One square per engagement, by reason</a:t>
            </a:r>
            <a:endParaRPr lang="en-US" sz="950" dirty="0"/>
          </a:p>
        </p:txBody>
      </p:sp>
      <p:sp>
        <p:nvSpPr>
          <p:cNvPr id="14" name="Shape 9"/>
          <p:cNvSpPr/>
          <p:nvPr/>
        </p:nvSpPr>
        <p:spPr>
          <a:xfrm>
            <a:off x="971550" y="2381250"/>
            <a:ext cx="13763" cy="13763"/>
          </a:xfrm>
          <a:prstGeom prst="rect">
            <a:avLst/>
          </a:prstGeom>
          <a:solidFill>
            <a:srgbClr val="C9CFC3"/>
          </a:solidFill>
          <a:ln w="12700">
            <a:solidFill>
              <a:srgbClr val="C9CFC3"/>
            </a:solidFill>
            <a:prstDash val="solid"/>
          </a:ln>
        </p:spPr>
      </p:sp>
      <p:sp>
        <p:nvSpPr>
          <p:cNvPr id="15" name="Shape 10"/>
          <p:cNvSpPr/>
          <p:nvPr/>
        </p:nvSpPr>
        <p:spPr>
          <a:xfrm>
            <a:off x="1013888" y="2381250"/>
            <a:ext cx="13763" cy="13763"/>
          </a:xfrm>
          <a:prstGeom prst="rect">
            <a:avLst/>
          </a:prstGeom>
          <a:solidFill>
            <a:srgbClr val="C9CFC3"/>
          </a:solidFill>
          <a:ln w="12700">
            <a:solidFill>
              <a:srgbClr val="C9CFC3"/>
            </a:solidFill>
            <a:prstDash val="solid"/>
          </a:ln>
        </p:spPr>
      </p:sp>
      <p:sp>
        <p:nvSpPr>
          <p:cNvPr id="16" name="Shape 11"/>
          <p:cNvSpPr/>
          <p:nvPr/>
        </p:nvSpPr>
        <p:spPr>
          <a:xfrm>
            <a:off x="1056227" y="2381250"/>
            <a:ext cx="13763" cy="13763"/>
          </a:xfrm>
          <a:prstGeom prst="rect">
            <a:avLst/>
          </a:prstGeom>
          <a:solidFill>
            <a:srgbClr val="C9CFC3"/>
          </a:solidFill>
          <a:ln w="12700">
            <a:solidFill>
              <a:srgbClr val="C9CFC3"/>
            </a:solidFill>
            <a:prstDash val="solid"/>
          </a:ln>
        </p:spPr>
      </p:sp>
      <p:sp>
        <p:nvSpPr>
          <p:cNvPr id="17" name="Shape 12"/>
          <p:cNvSpPr/>
          <p:nvPr/>
        </p:nvSpPr>
        <p:spPr>
          <a:xfrm>
            <a:off x="1098565" y="2381250"/>
            <a:ext cx="13763" cy="13763"/>
          </a:xfrm>
          <a:prstGeom prst="rect">
            <a:avLst/>
          </a:prstGeom>
          <a:solidFill>
            <a:srgbClr val="C9CFC3"/>
          </a:solidFill>
          <a:ln w="12700">
            <a:solidFill>
              <a:srgbClr val="C9CFC3"/>
            </a:solidFill>
            <a:prstDash val="solid"/>
          </a:ln>
        </p:spPr>
      </p:sp>
      <p:sp>
        <p:nvSpPr>
          <p:cNvPr id="18" name="Shape 13"/>
          <p:cNvSpPr/>
          <p:nvPr/>
        </p:nvSpPr>
        <p:spPr>
          <a:xfrm>
            <a:off x="1140903" y="2381250"/>
            <a:ext cx="13763" cy="13763"/>
          </a:xfrm>
          <a:prstGeom prst="rect">
            <a:avLst/>
          </a:prstGeom>
          <a:solidFill>
            <a:srgbClr val="C9CFC3"/>
          </a:solidFill>
          <a:ln w="12700">
            <a:solidFill>
              <a:srgbClr val="C9CFC3"/>
            </a:solidFill>
            <a:prstDash val="solid"/>
          </a:ln>
        </p:spPr>
      </p:sp>
      <p:sp>
        <p:nvSpPr>
          <p:cNvPr id="19" name="Shape 14"/>
          <p:cNvSpPr/>
          <p:nvPr/>
        </p:nvSpPr>
        <p:spPr>
          <a:xfrm>
            <a:off x="1183241" y="2381250"/>
            <a:ext cx="13763" cy="13763"/>
          </a:xfrm>
          <a:prstGeom prst="rect">
            <a:avLst/>
          </a:prstGeom>
          <a:solidFill>
            <a:srgbClr val="C9CFC3"/>
          </a:solidFill>
          <a:ln w="12700">
            <a:solidFill>
              <a:srgbClr val="C9CFC3"/>
            </a:solidFill>
            <a:prstDash val="solid"/>
          </a:ln>
        </p:spPr>
      </p:sp>
      <p:sp>
        <p:nvSpPr>
          <p:cNvPr id="20" name="Shape 15"/>
          <p:cNvSpPr/>
          <p:nvPr/>
        </p:nvSpPr>
        <p:spPr>
          <a:xfrm>
            <a:off x="1225580" y="2381250"/>
            <a:ext cx="13763" cy="13763"/>
          </a:xfrm>
          <a:prstGeom prst="rect">
            <a:avLst/>
          </a:prstGeom>
          <a:solidFill>
            <a:srgbClr val="C9CFC3"/>
          </a:solidFill>
          <a:ln w="12700">
            <a:solidFill>
              <a:srgbClr val="C9CFC3"/>
            </a:solidFill>
            <a:prstDash val="solid"/>
          </a:ln>
        </p:spPr>
      </p:sp>
      <p:sp>
        <p:nvSpPr>
          <p:cNvPr id="21" name="Shape 16"/>
          <p:cNvSpPr/>
          <p:nvPr/>
        </p:nvSpPr>
        <p:spPr>
          <a:xfrm>
            <a:off x="1267918" y="2381250"/>
            <a:ext cx="13763" cy="13763"/>
          </a:xfrm>
          <a:prstGeom prst="rect">
            <a:avLst/>
          </a:prstGeom>
          <a:solidFill>
            <a:srgbClr val="C9CFC3"/>
          </a:solidFill>
          <a:ln w="12700">
            <a:solidFill>
              <a:srgbClr val="C9CFC3"/>
            </a:solidFill>
            <a:prstDash val="solid"/>
          </a:ln>
        </p:spPr>
      </p:sp>
      <p:sp>
        <p:nvSpPr>
          <p:cNvPr id="22" name="Shape 17"/>
          <p:cNvSpPr/>
          <p:nvPr/>
        </p:nvSpPr>
        <p:spPr>
          <a:xfrm>
            <a:off x="1310256" y="2381250"/>
            <a:ext cx="13763" cy="13763"/>
          </a:xfrm>
          <a:prstGeom prst="rect">
            <a:avLst/>
          </a:prstGeom>
          <a:solidFill>
            <a:srgbClr val="C9CFC3"/>
          </a:solidFill>
          <a:ln w="12700">
            <a:solidFill>
              <a:srgbClr val="C9CFC3"/>
            </a:solidFill>
            <a:prstDash val="solid"/>
          </a:ln>
        </p:spPr>
      </p:sp>
      <p:sp>
        <p:nvSpPr>
          <p:cNvPr id="23" name="Shape 18"/>
          <p:cNvSpPr/>
          <p:nvPr/>
        </p:nvSpPr>
        <p:spPr>
          <a:xfrm>
            <a:off x="1352595" y="2381250"/>
            <a:ext cx="13763" cy="13763"/>
          </a:xfrm>
          <a:prstGeom prst="rect">
            <a:avLst/>
          </a:prstGeom>
          <a:solidFill>
            <a:srgbClr val="C9CFC3"/>
          </a:solidFill>
          <a:ln w="12700">
            <a:solidFill>
              <a:srgbClr val="C9CFC3"/>
            </a:solidFill>
            <a:prstDash val="solid"/>
          </a:ln>
        </p:spPr>
      </p:sp>
      <p:sp>
        <p:nvSpPr>
          <p:cNvPr id="24" name="Shape 19"/>
          <p:cNvSpPr/>
          <p:nvPr/>
        </p:nvSpPr>
        <p:spPr>
          <a:xfrm>
            <a:off x="1394933" y="2381250"/>
            <a:ext cx="13763" cy="13763"/>
          </a:xfrm>
          <a:prstGeom prst="rect">
            <a:avLst/>
          </a:prstGeom>
          <a:solidFill>
            <a:srgbClr val="C9CFC3"/>
          </a:solidFill>
          <a:ln w="12700">
            <a:solidFill>
              <a:srgbClr val="C9CFC3"/>
            </a:solidFill>
            <a:prstDash val="solid"/>
          </a:ln>
        </p:spPr>
      </p:sp>
      <p:sp>
        <p:nvSpPr>
          <p:cNvPr id="25" name="Shape 20"/>
          <p:cNvSpPr/>
          <p:nvPr/>
        </p:nvSpPr>
        <p:spPr>
          <a:xfrm>
            <a:off x="1437271" y="2381250"/>
            <a:ext cx="13763" cy="13763"/>
          </a:xfrm>
          <a:prstGeom prst="rect">
            <a:avLst/>
          </a:prstGeom>
          <a:solidFill>
            <a:srgbClr val="C9CFC3"/>
          </a:solidFill>
          <a:ln w="12700">
            <a:solidFill>
              <a:srgbClr val="C9CFC3"/>
            </a:solidFill>
            <a:prstDash val="solid"/>
          </a:ln>
        </p:spPr>
      </p:sp>
      <p:sp>
        <p:nvSpPr>
          <p:cNvPr id="26" name="Shape 21"/>
          <p:cNvSpPr/>
          <p:nvPr/>
        </p:nvSpPr>
        <p:spPr>
          <a:xfrm>
            <a:off x="1479609" y="2381250"/>
            <a:ext cx="13763" cy="13763"/>
          </a:xfrm>
          <a:prstGeom prst="rect">
            <a:avLst/>
          </a:prstGeom>
          <a:solidFill>
            <a:srgbClr val="C9CFC3"/>
          </a:solidFill>
          <a:ln w="12700">
            <a:solidFill>
              <a:srgbClr val="C9CFC3"/>
            </a:solidFill>
            <a:prstDash val="solid"/>
          </a:ln>
        </p:spPr>
      </p:sp>
      <p:sp>
        <p:nvSpPr>
          <p:cNvPr id="27" name="Shape 22"/>
          <p:cNvSpPr/>
          <p:nvPr/>
        </p:nvSpPr>
        <p:spPr>
          <a:xfrm>
            <a:off x="1521948" y="2381250"/>
            <a:ext cx="13763" cy="13763"/>
          </a:xfrm>
          <a:prstGeom prst="rect">
            <a:avLst/>
          </a:prstGeom>
          <a:solidFill>
            <a:srgbClr val="C9CFC3"/>
          </a:solidFill>
          <a:ln w="12700">
            <a:solidFill>
              <a:srgbClr val="C9CFC3"/>
            </a:solidFill>
            <a:prstDash val="solid"/>
          </a:ln>
        </p:spPr>
      </p:sp>
      <p:sp>
        <p:nvSpPr>
          <p:cNvPr id="28" name="Shape 23"/>
          <p:cNvSpPr/>
          <p:nvPr/>
        </p:nvSpPr>
        <p:spPr>
          <a:xfrm>
            <a:off x="1564286" y="2381250"/>
            <a:ext cx="13763" cy="13763"/>
          </a:xfrm>
          <a:prstGeom prst="rect">
            <a:avLst/>
          </a:prstGeom>
          <a:solidFill>
            <a:srgbClr val="C9CFC3"/>
          </a:solidFill>
          <a:ln w="12700">
            <a:solidFill>
              <a:srgbClr val="C9CFC3"/>
            </a:solidFill>
            <a:prstDash val="solid"/>
          </a:ln>
        </p:spPr>
      </p:sp>
      <p:sp>
        <p:nvSpPr>
          <p:cNvPr id="29" name="Shape 24"/>
          <p:cNvSpPr/>
          <p:nvPr/>
        </p:nvSpPr>
        <p:spPr>
          <a:xfrm>
            <a:off x="1606624" y="2381250"/>
            <a:ext cx="13763" cy="13763"/>
          </a:xfrm>
          <a:prstGeom prst="rect">
            <a:avLst/>
          </a:prstGeom>
          <a:solidFill>
            <a:srgbClr val="C9CFC3"/>
          </a:solidFill>
          <a:ln w="12700">
            <a:solidFill>
              <a:srgbClr val="C9CFC3"/>
            </a:solidFill>
            <a:prstDash val="solid"/>
          </a:ln>
        </p:spPr>
      </p:sp>
      <p:sp>
        <p:nvSpPr>
          <p:cNvPr id="30" name="Shape 25"/>
          <p:cNvSpPr/>
          <p:nvPr/>
        </p:nvSpPr>
        <p:spPr>
          <a:xfrm>
            <a:off x="1648963" y="2381250"/>
            <a:ext cx="13763" cy="13763"/>
          </a:xfrm>
          <a:prstGeom prst="rect">
            <a:avLst/>
          </a:prstGeom>
          <a:solidFill>
            <a:srgbClr val="C9CFC3"/>
          </a:solidFill>
          <a:ln w="12700">
            <a:solidFill>
              <a:srgbClr val="C9CFC3"/>
            </a:solidFill>
            <a:prstDash val="solid"/>
          </a:ln>
        </p:spPr>
      </p:sp>
      <p:sp>
        <p:nvSpPr>
          <p:cNvPr id="31" name="Shape 26"/>
          <p:cNvSpPr/>
          <p:nvPr/>
        </p:nvSpPr>
        <p:spPr>
          <a:xfrm>
            <a:off x="1691301" y="2381250"/>
            <a:ext cx="13763" cy="13763"/>
          </a:xfrm>
          <a:prstGeom prst="rect">
            <a:avLst/>
          </a:prstGeom>
          <a:solidFill>
            <a:srgbClr val="C9CFC3"/>
          </a:solidFill>
          <a:ln w="12700">
            <a:solidFill>
              <a:srgbClr val="C9CFC3"/>
            </a:solidFill>
            <a:prstDash val="solid"/>
          </a:ln>
        </p:spPr>
      </p:sp>
      <p:sp>
        <p:nvSpPr>
          <p:cNvPr id="32" name="Shape 27"/>
          <p:cNvSpPr/>
          <p:nvPr/>
        </p:nvSpPr>
        <p:spPr>
          <a:xfrm>
            <a:off x="1733639" y="2381250"/>
            <a:ext cx="13763" cy="13763"/>
          </a:xfrm>
          <a:prstGeom prst="rect">
            <a:avLst/>
          </a:prstGeom>
          <a:solidFill>
            <a:srgbClr val="C9CFC3"/>
          </a:solidFill>
          <a:ln w="12700">
            <a:solidFill>
              <a:srgbClr val="C9CFC3"/>
            </a:solidFill>
            <a:prstDash val="solid"/>
          </a:ln>
        </p:spPr>
      </p:sp>
      <p:sp>
        <p:nvSpPr>
          <p:cNvPr id="33" name="Shape 28"/>
          <p:cNvSpPr/>
          <p:nvPr/>
        </p:nvSpPr>
        <p:spPr>
          <a:xfrm>
            <a:off x="1775978" y="2381250"/>
            <a:ext cx="13763" cy="13763"/>
          </a:xfrm>
          <a:prstGeom prst="rect">
            <a:avLst/>
          </a:prstGeom>
          <a:solidFill>
            <a:srgbClr val="C9CFC3"/>
          </a:solidFill>
          <a:ln w="12700">
            <a:solidFill>
              <a:srgbClr val="C9CFC3"/>
            </a:solidFill>
            <a:prstDash val="solid"/>
          </a:ln>
        </p:spPr>
      </p:sp>
      <p:sp>
        <p:nvSpPr>
          <p:cNvPr id="34" name="Shape 29"/>
          <p:cNvSpPr/>
          <p:nvPr/>
        </p:nvSpPr>
        <p:spPr>
          <a:xfrm>
            <a:off x="1818316" y="2381250"/>
            <a:ext cx="13763" cy="13763"/>
          </a:xfrm>
          <a:prstGeom prst="rect">
            <a:avLst/>
          </a:prstGeom>
          <a:solidFill>
            <a:srgbClr val="C9CFC3"/>
          </a:solidFill>
          <a:ln w="12700">
            <a:solidFill>
              <a:srgbClr val="C9CFC3"/>
            </a:solidFill>
            <a:prstDash val="solid"/>
          </a:ln>
        </p:spPr>
      </p:sp>
      <p:sp>
        <p:nvSpPr>
          <p:cNvPr id="35" name="Shape 30"/>
          <p:cNvSpPr/>
          <p:nvPr/>
        </p:nvSpPr>
        <p:spPr>
          <a:xfrm>
            <a:off x="1860654" y="2381250"/>
            <a:ext cx="13763" cy="13763"/>
          </a:xfrm>
          <a:prstGeom prst="rect">
            <a:avLst/>
          </a:prstGeom>
          <a:solidFill>
            <a:srgbClr val="C9CFC3"/>
          </a:solidFill>
          <a:ln w="12700">
            <a:solidFill>
              <a:srgbClr val="C9CFC3"/>
            </a:solidFill>
            <a:prstDash val="solid"/>
          </a:ln>
        </p:spPr>
      </p:sp>
      <p:sp>
        <p:nvSpPr>
          <p:cNvPr id="36" name="Shape 31"/>
          <p:cNvSpPr/>
          <p:nvPr/>
        </p:nvSpPr>
        <p:spPr>
          <a:xfrm>
            <a:off x="1902992" y="2381250"/>
            <a:ext cx="13763" cy="13763"/>
          </a:xfrm>
          <a:prstGeom prst="rect">
            <a:avLst/>
          </a:prstGeom>
          <a:solidFill>
            <a:srgbClr val="C9CFC3"/>
          </a:solidFill>
          <a:ln w="12700">
            <a:solidFill>
              <a:srgbClr val="C9CFC3"/>
            </a:solidFill>
            <a:prstDash val="solid"/>
          </a:ln>
        </p:spPr>
      </p:sp>
      <p:sp>
        <p:nvSpPr>
          <p:cNvPr id="37" name="Shape 32"/>
          <p:cNvSpPr/>
          <p:nvPr/>
        </p:nvSpPr>
        <p:spPr>
          <a:xfrm>
            <a:off x="1945331" y="2381250"/>
            <a:ext cx="13763" cy="13763"/>
          </a:xfrm>
          <a:prstGeom prst="rect">
            <a:avLst/>
          </a:prstGeom>
          <a:solidFill>
            <a:srgbClr val="C9CFC3"/>
          </a:solidFill>
          <a:ln w="12700">
            <a:solidFill>
              <a:srgbClr val="C9CFC3"/>
            </a:solidFill>
            <a:prstDash val="solid"/>
          </a:ln>
        </p:spPr>
      </p:sp>
      <p:sp>
        <p:nvSpPr>
          <p:cNvPr id="38" name="Shape 33"/>
          <p:cNvSpPr/>
          <p:nvPr/>
        </p:nvSpPr>
        <p:spPr>
          <a:xfrm>
            <a:off x="1987669" y="2381250"/>
            <a:ext cx="13763" cy="13763"/>
          </a:xfrm>
          <a:prstGeom prst="rect">
            <a:avLst/>
          </a:prstGeom>
          <a:solidFill>
            <a:srgbClr val="C9CFC3"/>
          </a:solidFill>
          <a:ln w="12700">
            <a:solidFill>
              <a:srgbClr val="C9CFC3"/>
            </a:solidFill>
            <a:prstDash val="solid"/>
          </a:ln>
        </p:spPr>
      </p:sp>
      <p:sp>
        <p:nvSpPr>
          <p:cNvPr id="39" name="Shape 34"/>
          <p:cNvSpPr/>
          <p:nvPr/>
        </p:nvSpPr>
        <p:spPr>
          <a:xfrm>
            <a:off x="2030007" y="2381250"/>
            <a:ext cx="13763" cy="13763"/>
          </a:xfrm>
          <a:prstGeom prst="rect">
            <a:avLst/>
          </a:prstGeom>
          <a:solidFill>
            <a:srgbClr val="C9CFC3"/>
          </a:solidFill>
          <a:ln w="12700">
            <a:solidFill>
              <a:srgbClr val="C9CFC3"/>
            </a:solidFill>
            <a:prstDash val="solid"/>
          </a:ln>
        </p:spPr>
      </p:sp>
      <p:sp>
        <p:nvSpPr>
          <p:cNvPr id="40" name="Shape 35"/>
          <p:cNvSpPr/>
          <p:nvPr/>
        </p:nvSpPr>
        <p:spPr>
          <a:xfrm>
            <a:off x="2072346" y="2381250"/>
            <a:ext cx="13763" cy="13763"/>
          </a:xfrm>
          <a:prstGeom prst="rect">
            <a:avLst/>
          </a:prstGeom>
          <a:solidFill>
            <a:srgbClr val="C9CFC3"/>
          </a:solidFill>
          <a:ln w="12700">
            <a:solidFill>
              <a:srgbClr val="C9CFC3"/>
            </a:solidFill>
            <a:prstDash val="solid"/>
          </a:ln>
        </p:spPr>
      </p:sp>
      <p:sp>
        <p:nvSpPr>
          <p:cNvPr id="41" name="Shape 36"/>
          <p:cNvSpPr/>
          <p:nvPr/>
        </p:nvSpPr>
        <p:spPr>
          <a:xfrm>
            <a:off x="2114684" y="2381250"/>
            <a:ext cx="13763" cy="13763"/>
          </a:xfrm>
          <a:prstGeom prst="rect">
            <a:avLst/>
          </a:prstGeom>
          <a:solidFill>
            <a:srgbClr val="C9CFC3"/>
          </a:solidFill>
          <a:ln w="12700">
            <a:solidFill>
              <a:srgbClr val="C9CFC3"/>
            </a:solidFill>
            <a:prstDash val="solid"/>
          </a:ln>
        </p:spPr>
      </p:sp>
      <p:sp>
        <p:nvSpPr>
          <p:cNvPr id="42" name="Shape 37"/>
          <p:cNvSpPr/>
          <p:nvPr/>
        </p:nvSpPr>
        <p:spPr>
          <a:xfrm>
            <a:off x="971550" y="2423588"/>
            <a:ext cx="13763" cy="13763"/>
          </a:xfrm>
          <a:prstGeom prst="rect">
            <a:avLst/>
          </a:prstGeom>
          <a:solidFill>
            <a:srgbClr val="C9CFC3"/>
          </a:solidFill>
          <a:ln w="12700">
            <a:solidFill>
              <a:srgbClr val="C9CFC3"/>
            </a:solidFill>
            <a:prstDash val="solid"/>
          </a:ln>
        </p:spPr>
      </p:sp>
      <p:sp>
        <p:nvSpPr>
          <p:cNvPr id="43" name="Shape 38"/>
          <p:cNvSpPr/>
          <p:nvPr/>
        </p:nvSpPr>
        <p:spPr>
          <a:xfrm>
            <a:off x="1013888" y="2423588"/>
            <a:ext cx="13763" cy="13763"/>
          </a:xfrm>
          <a:prstGeom prst="rect">
            <a:avLst/>
          </a:prstGeom>
          <a:solidFill>
            <a:srgbClr val="C9CFC3"/>
          </a:solidFill>
          <a:ln w="12700">
            <a:solidFill>
              <a:srgbClr val="C9CFC3"/>
            </a:solidFill>
            <a:prstDash val="solid"/>
          </a:ln>
        </p:spPr>
      </p:sp>
      <p:sp>
        <p:nvSpPr>
          <p:cNvPr id="44" name="Shape 39"/>
          <p:cNvSpPr/>
          <p:nvPr/>
        </p:nvSpPr>
        <p:spPr>
          <a:xfrm>
            <a:off x="1056227" y="2423588"/>
            <a:ext cx="13763" cy="13763"/>
          </a:xfrm>
          <a:prstGeom prst="rect">
            <a:avLst/>
          </a:prstGeom>
          <a:solidFill>
            <a:srgbClr val="C9CFC3"/>
          </a:solidFill>
          <a:ln w="12700">
            <a:solidFill>
              <a:srgbClr val="C9CFC3"/>
            </a:solidFill>
            <a:prstDash val="solid"/>
          </a:ln>
        </p:spPr>
      </p:sp>
      <p:sp>
        <p:nvSpPr>
          <p:cNvPr id="45" name="Shape 40"/>
          <p:cNvSpPr/>
          <p:nvPr/>
        </p:nvSpPr>
        <p:spPr>
          <a:xfrm>
            <a:off x="1098565" y="2423588"/>
            <a:ext cx="13763" cy="13763"/>
          </a:xfrm>
          <a:prstGeom prst="rect">
            <a:avLst/>
          </a:prstGeom>
          <a:solidFill>
            <a:srgbClr val="C9CFC3"/>
          </a:solidFill>
          <a:ln w="12700">
            <a:solidFill>
              <a:srgbClr val="C9CFC3"/>
            </a:solidFill>
            <a:prstDash val="solid"/>
          </a:ln>
        </p:spPr>
      </p:sp>
      <p:sp>
        <p:nvSpPr>
          <p:cNvPr id="46" name="Shape 41"/>
          <p:cNvSpPr/>
          <p:nvPr/>
        </p:nvSpPr>
        <p:spPr>
          <a:xfrm>
            <a:off x="1140903" y="2423588"/>
            <a:ext cx="13763" cy="13763"/>
          </a:xfrm>
          <a:prstGeom prst="rect">
            <a:avLst/>
          </a:prstGeom>
          <a:solidFill>
            <a:srgbClr val="C9CFC3"/>
          </a:solidFill>
          <a:ln w="12700">
            <a:solidFill>
              <a:srgbClr val="C9CFC3"/>
            </a:solidFill>
            <a:prstDash val="solid"/>
          </a:ln>
        </p:spPr>
      </p:sp>
      <p:sp>
        <p:nvSpPr>
          <p:cNvPr id="47" name="Shape 42"/>
          <p:cNvSpPr/>
          <p:nvPr/>
        </p:nvSpPr>
        <p:spPr>
          <a:xfrm>
            <a:off x="1183241" y="2423588"/>
            <a:ext cx="13763" cy="13763"/>
          </a:xfrm>
          <a:prstGeom prst="rect">
            <a:avLst/>
          </a:prstGeom>
          <a:solidFill>
            <a:srgbClr val="C9CFC3"/>
          </a:solidFill>
          <a:ln w="12700">
            <a:solidFill>
              <a:srgbClr val="C9CFC3"/>
            </a:solidFill>
            <a:prstDash val="solid"/>
          </a:ln>
        </p:spPr>
      </p:sp>
      <p:sp>
        <p:nvSpPr>
          <p:cNvPr id="48" name="Shape 43"/>
          <p:cNvSpPr/>
          <p:nvPr/>
        </p:nvSpPr>
        <p:spPr>
          <a:xfrm>
            <a:off x="1225580" y="2423588"/>
            <a:ext cx="13763" cy="13763"/>
          </a:xfrm>
          <a:prstGeom prst="rect">
            <a:avLst/>
          </a:prstGeom>
          <a:solidFill>
            <a:srgbClr val="C9CFC3"/>
          </a:solidFill>
          <a:ln w="12700">
            <a:solidFill>
              <a:srgbClr val="C9CFC3"/>
            </a:solidFill>
            <a:prstDash val="solid"/>
          </a:ln>
        </p:spPr>
      </p:sp>
      <p:sp>
        <p:nvSpPr>
          <p:cNvPr id="49" name="Shape 44"/>
          <p:cNvSpPr/>
          <p:nvPr/>
        </p:nvSpPr>
        <p:spPr>
          <a:xfrm>
            <a:off x="1267918" y="2423588"/>
            <a:ext cx="13763" cy="13763"/>
          </a:xfrm>
          <a:prstGeom prst="rect">
            <a:avLst/>
          </a:prstGeom>
          <a:solidFill>
            <a:srgbClr val="C9CFC3"/>
          </a:solidFill>
          <a:ln w="12700">
            <a:solidFill>
              <a:srgbClr val="C9CFC3"/>
            </a:solidFill>
            <a:prstDash val="solid"/>
          </a:ln>
        </p:spPr>
      </p:sp>
      <p:sp>
        <p:nvSpPr>
          <p:cNvPr id="50" name="Shape 45"/>
          <p:cNvSpPr/>
          <p:nvPr/>
        </p:nvSpPr>
        <p:spPr>
          <a:xfrm>
            <a:off x="1310256" y="2423588"/>
            <a:ext cx="13763" cy="13763"/>
          </a:xfrm>
          <a:prstGeom prst="rect">
            <a:avLst/>
          </a:prstGeom>
          <a:solidFill>
            <a:srgbClr val="C9CFC3"/>
          </a:solidFill>
          <a:ln w="12700">
            <a:solidFill>
              <a:srgbClr val="C9CFC3"/>
            </a:solidFill>
            <a:prstDash val="solid"/>
          </a:ln>
        </p:spPr>
      </p:sp>
      <p:sp>
        <p:nvSpPr>
          <p:cNvPr id="51" name="Shape 46"/>
          <p:cNvSpPr/>
          <p:nvPr/>
        </p:nvSpPr>
        <p:spPr>
          <a:xfrm>
            <a:off x="1352595" y="2423588"/>
            <a:ext cx="13763" cy="13763"/>
          </a:xfrm>
          <a:prstGeom prst="rect">
            <a:avLst/>
          </a:prstGeom>
          <a:solidFill>
            <a:srgbClr val="C9CFC3"/>
          </a:solidFill>
          <a:ln w="12700">
            <a:solidFill>
              <a:srgbClr val="C9CFC3"/>
            </a:solidFill>
            <a:prstDash val="solid"/>
          </a:ln>
        </p:spPr>
      </p:sp>
      <p:sp>
        <p:nvSpPr>
          <p:cNvPr id="52" name="Shape 47"/>
          <p:cNvSpPr/>
          <p:nvPr/>
        </p:nvSpPr>
        <p:spPr>
          <a:xfrm>
            <a:off x="1394933" y="2423588"/>
            <a:ext cx="13763" cy="13763"/>
          </a:xfrm>
          <a:prstGeom prst="rect">
            <a:avLst/>
          </a:prstGeom>
          <a:solidFill>
            <a:srgbClr val="C9CFC3"/>
          </a:solidFill>
          <a:ln w="12700">
            <a:solidFill>
              <a:srgbClr val="C9CFC3"/>
            </a:solidFill>
            <a:prstDash val="solid"/>
          </a:ln>
        </p:spPr>
      </p:sp>
      <p:sp>
        <p:nvSpPr>
          <p:cNvPr id="53" name="Shape 48"/>
          <p:cNvSpPr/>
          <p:nvPr/>
        </p:nvSpPr>
        <p:spPr>
          <a:xfrm>
            <a:off x="1437271" y="2423588"/>
            <a:ext cx="13763" cy="13763"/>
          </a:xfrm>
          <a:prstGeom prst="rect">
            <a:avLst/>
          </a:prstGeom>
          <a:solidFill>
            <a:srgbClr val="C9CFC3"/>
          </a:solidFill>
          <a:ln w="12700">
            <a:solidFill>
              <a:srgbClr val="C9CFC3"/>
            </a:solidFill>
            <a:prstDash val="solid"/>
          </a:ln>
        </p:spPr>
      </p:sp>
      <p:sp>
        <p:nvSpPr>
          <p:cNvPr id="54" name="Shape 49"/>
          <p:cNvSpPr/>
          <p:nvPr/>
        </p:nvSpPr>
        <p:spPr>
          <a:xfrm>
            <a:off x="1479609" y="2423588"/>
            <a:ext cx="13763" cy="13763"/>
          </a:xfrm>
          <a:prstGeom prst="rect">
            <a:avLst/>
          </a:prstGeom>
          <a:solidFill>
            <a:srgbClr val="C9CFC3"/>
          </a:solidFill>
          <a:ln w="12700">
            <a:solidFill>
              <a:srgbClr val="C9CFC3"/>
            </a:solidFill>
            <a:prstDash val="solid"/>
          </a:ln>
        </p:spPr>
      </p:sp>
      <p:sp>
        <p:nvSpPr>
          <p:cNvPr id="55" name="Shape 50"/>
          <p:cNvSpPr/>
          <p:nvPr/>
        </p:nvSpPr>
        <p:spPr>
          <a:xfrm>
            <a:off x="1521948" y="2423588"/>
            <a:ext cx="13763" cy="13763"/>
          </a:xfrm>
          <a:prstGeom prst="rect">
            <a:avLst/>
          </a:prstGeom>
          <a:solidFill>
            <a:srgbClr val="C9CFC3"/>
          </a:solidFill>
          <a:ln w="12700">
            <a:solidFill>
              <a:srgbClr val="C9CFC3"/>
            </a:solidFill>
            <a:prstDash val="solid"/>
          </a:ln>
        </p:spPr>
      </p:sp>
      <p:sp>
        <p:nvSpPr>
          <p:cNvPr id="56" name="Shape 51"/>
          <p:cNvSpPr/>
          <p:nvPr/>
        </p:nvSpPr>
        <p:spPr>
          <a:xfrm>
            <a:off x="1564286" y="2423588"/>
            <a:ext cx="13763" cy="13763"/>
          </a:xfrm>
          <a:prstGeom prst="rect">
            <a:avLst/>
          </a:prstGeom>
          <a:solidFill>
            <a:srgbClr val="C9CFC3"/>
          </a:solidFill>
          <a:ln w="12700">
            <a:solidFill>
              <a:srgbClr val="C9CFC3"/>
            </a:solidFill>
            <a:prstDash val="solid"/>
          </a:ln>
        </p:spPr>
      </p:sp>
      <p:sp>
        <p:nvSpPr>
          <p:cNvPr id="57" name="Shape 52"/>
          <p:cNvSpPr/>
          <p:nvPr/>
        </p:nvSpPr>
        <p:spPr>
          <a:xfrm>
            <a:off x="1606624" y="2423588"/>
            <a:ext cx="13763" cy="13763"/>
          </a:xfrm>
          <a:prstGeom prst="rect">
            <a:avLst/>
          </a:prstGeom>
          <a:solidFill>
            <a:srgbClr val="C9CFC3"/>
          </a:solidFill>
          <a:ln w="12700">
            <a:solidFill>
              <a:srgbClr val="C9CFC3"/>
            </a:solidFill>
            <a:prstDash val="solid"/>
          </a:ln>
        </p:spPr>
      </p:sp>
      <p:sp>
        <p:nvSpPr>
          <p:cNvPr id="58" name="Shape 53"/>
          <p:cNvSpPr/>
          <p:nvPr/>
        </p:nvSpPr>
        <p:spPr>
          <a:xfrm>
            <a:off x="1648963" y="2423588"/>
            <a:ext cx="13763" cy="13763"/>
          </a:xfrm>
          <a:prstGeom prst="rect">
            <a:avLst/>
          </a:prstGeom>
          <a:solidFill>
            <a:srgbClr val="C9CFC3"/>
          </a:solidFill>
          <a:ln w="12700">
            <a:solidFill>
              <a:srgbClr val="C9CFC3"/>
            </a:solidFill>
            <a:prstDash val="solid"/>
          </a:ln>
        </p:spPr>
      </p:sp>
      <p:sp>
        <p:nvSpPr>
          <p:cNvPr id="59" name="Shape 54"/>
          <p:cNvSpPr/>
          <p:nvPr/>
        </p:nvSpPr>
        <p:spPr>
          <a:xfrm>
            <a:off x="1691301" y="2423588"/>
            <a:ext cx="13763" cy="13763"/>
          </a:xfrm>
          <a:prstGeom prst="rect">
            <a:avLst/>
          </a:prstGeom>
          <a:solidFill>
            <a:srgbClr val="C9CFC3"/>
          </a:solidFill>
          <a:ln w="12700">
            <a:solidFill>
              <a:srgbClr val="C9CFC3"/>
            </a:solidFill>
            <a:prstDash val="solid"/>
          </a:ln>
        </p:spPr>
      </p:sp>
      <p:sp>
        <p:nvSpPr>
          <p:cNvPr id="60" name="Shape 55"/>
          <p:cNvSpPr/>
          <p:nvPr/>
        </p:nvSpPr>
        <p:spPr>
          <a:xfrm>
            <a:off x="1733639" y="2423588"/>
            <a:ext cx="13763" cy="13763"/>
          </a:xfrm>
          <a:prstGeom prst="rect">
            <a:avLst/>
          </a:prstGeom>
          <a:solidFill>
            <a:srgbClr val="C9CFC3"/>
          </a:solidFill>
          <a:ln w="12700">
            <a:solidFill>
              <a:srgbClr val="C9CFC3"/>
            </a:solidFill>
            <a:prstDash val="solid"/>
          </a:ln>
        </p:spPr>
      </p:sp>
      <p:sp>
        <p:nvSpPr>
          <p:cNvPr id="61" name="Shape 56"/>
          <p:cNvSpPr/>
          <p:nvPr/>
        </p:nvSpPr>
        <p:spPr>
          <a:xfrm>
            <a:off x="1775978" y="2423588"/>
            <a:ext cx="13763" cy="13763"/>
          </a:xfrm>
          <a:prstGeom prst="rect">
            <a:avLst/>
          </a:prstGeom>
          <a:solidFill>
            <a:srgbClr val="C9CFC3"/>
          </a:solidFill>
          <a:ln w="12700">
            <a:solidFill>
              <a:srgbClr val="C9CFC3"/>
            </a:solidFill>
            <a:prstDash val="solid"/>
          </a:ln>
        </p:spPr>
      </p:sp>
      <p:sp>
        <p:nvSpPr>
          <p:cNvPr id="62" name="Shape 57"/>
          <p:cNvSpPr/>
          <p:nvPr/>
        </p:nvSpPr>
        <p:spPr>
          <a:xfrm>
            <a:off x="1818316" y="2423588"/>
            <a:ext cx="13763" cy="13763"/>
          </a:xfrm>
          <a:prstGeom prst="rect">
            <a:avLst/>
          </a:prstGeom>
          <a:solidFill>
            <a:srgbClr val="C9CFC3"/>
          </a:solidFill>
          <a:ln w="12700">
            <a:solidFill>
              <a:srgbClr val="C9CFC3"/>
            </a:solidFill>
            <a:prstDash val="solid"/>
          </a:ln>
        </p:spPr>
      </p:sp>
      <p:sp>
        <p:nvSpPr>
          <p:cNvPr id="63" name="Shape 58"/>
          <p:cNvSpPr/>
          <p:nvPr/>
        </p:nvSpPr>
        <p:spPr>
          <a:xfrm>
            <a:off x="1860654" y="2423588"/>
            <a:ext cx="13763" cy="13763"/>
          </a:xfrm>
          <a:prstGeom prst="rect">
            <a:avLst/>
          </a:prstGeom>
          <a:solidFill>
            <a:srgbClr val="C9CFC3"/>
          </a:solidFill>
          <a:ln w="12700">
            <a:solidFill>
              <a:srgbClr val="C9CFC3"/>
            </a:solidFill>
            <a:prstDash val="solid"/>
          </a:ln>
        </p:spPr>
      </p:sp>
      <p:sp>
        <p:nvSpPr>
          <p:cNvPr id="64" name="Shape 59"/>
          <p:cNvSpPr/>
          <p:nvPr/>
        </p:nvSpPr>
        <p:spPr>
          <a:xfrm>
            <a:off x="1902992" y="2423588"/>
            <a:ext cx="13763" cy="13763"/>
          </a:xfrm>
          <a:prstGeom prst="rect">
            <a:avLst/>
          </a:prstGeom>
          <a:solidFill>
            <a:srgbClr val="C9CFC3"/>
          </a:solidFill>
          <a:ln w="12700">
            <a:solidFill>
              <a:srgbClr val="C9CFC3"/>
            </a:solidFill>
            <a:prstDash val="solid"/>
          </a:ln>
        </p:spPr>
      </p:sp>
      <p:sp>
        <p:nvSpPr>
          <p:cNvPr id="65" name="Shape 60"/>
          <p:cNvSpPr/>
          <p:nvPr/>
        </p:nvSpPr>
        <p:spPr>
          <a:xfrm>
            <a:off x="1945331" y="2423588"/>
            <a:ext cx="13763" cy="13763"/>
          </a:xfrm>
          <a:prstGeom prst="rect">
            <a:avLst/>
          </a:prstGeom>
          <a:solidFill>
            <a:srgbClr val="C9CFC3"/>
          </a:solidFill>
          <a:ln w="12700">
            <a:solidFill>
              <a:srgbClr val="C9CFC3"/>
            </a:solidFill>
            <a:prstDash val="solid"/>
          </a:ln>
        </p:spPr>
      </p:sp>
      <p:sp>
        <p:nvSpPr>
          <p:cNvPr id="66" name="Shape 61"/>
          <p:cNvSpPr/>
          <p:nvPr/>
        </p:nvSpPr>
        <p:spPr>
          <a:xfrm>
            <a:off x="1987669" y="2423588"/>
            <a:ext cx="13763" cy="13763"/>
          </a:xfrm>
          <a:prstGeom prst="rect">
            <a:avLst/>
          </a:prstGeom>
          <a:solidFill>
            <a:srgbClr val="C9CFC3"/>
          </a:solidFill>
          <a:ln w="12700">
            <a:solidFill>
              <a:srgbClr val="C9CFC3"/>
            </a:solidFill>
            <a:prstDash val="solid"/>
          </a:ln>
        </p:spPr>
      </p:sp>
      <p:sp>
        <p:nvSpPr>
          <p:cNvPr id="67" name="Shape 62"/>
          <p:cNvSpPr/>
          <p:nvPr/>
        </p:nvSpPr>
        <p:spPr>
          <a:xfrm>
            <a:off x="2030007" y="2423588"/>
            <a:ext cx="13763" cy="13763"/>
          </a:xfrm>
          <a:prstGeom prst="rect">
            <a:avLst/>
          </a:prstGeom>
          <a:solidFill>
            <a:srgbClr val="C9CFC3"/>
          </a:solidFill>
          <a:ln w="12700">
            <a:solidFill>
              <a:srgbClr val="C9CFC3"/>
            </a:solidFill>
            <a:prstDash val="solid"/>
          </a:ln>
        </p:spPr>
      </p:sp>
      <p:sp>
        <p:nvSpPr>
          <p:cNvPr id="68" name="Shape 63"/>
          <p:cNvSpPr/>
          <p:nvPr/>
        </p:nvSpPr>
        <p:spPr>
          <a:xfrm>
            <a:off x="2072346" y="2423588"/>
            <a:ext cx="13763" cy="13763"/>
          </a:xfrm>
          <a:prstGeom prst="rect">
            <a:avLst/>
          </a:prstGeom>
          <a:solidFill>
            <a:srgbClr val="C9CFC3"/>
          </a:solidFill>
          <a:ln w="12700">
            <a:solidFill>
              <a:srgbClr val="C9CFC3"/>
            </a:solidFill>
            <a:prstDash val="solid"/>
          </a:ln>
        </p:spPr>
      </p:sp>
      <p:sp>
        <p:nvSpPr>
          <p:cNvPr id="69" name="Shape 64"/>
          <p:cNvSpPr/>
          <p:nvPr/>
        </p:nvSpPr>
        <p:spPr>
          <a:xfrm>
            <a:off x="2114684" y="2423588"/>
            <a:ext cx="13763" cy="13763"/>
          </a:xfrm>
          <a:prstGeom prst="rect">
            <a:avLst/>
          </a:prstGeom>
          <a:solidFill>
            <a:srgbClr val="C9CFC3"/>
          </a:solidFill>
          <a:ln w="12700">
            <a:solidFill>
              <a:srgbClr val="C9CFC3"/>
            </a:solidFill>
            <a:prstDash val="solid"/>
          </a:ln>
        </p:spPr>
      </p:sp>
      <p:sp>
        <p:nvSpPr>
          <p:cNvPr id="70" name="Shape 65"/>
          <p:cNvSpPr/>
          <p:nvPr/>
        </p:nvSpPr>
        <p:spPr>
          <a:xfrm>
            <a:off x="971550" y="2465927"/>
            <a:ext cx="13763" cy="13763"/>
          </a:xfrm>
          <a:prstGeom prst="rect">
            <a:avLst/>
          </a:prstGeom>
          <a:solidFill>
            <a:srgbClr val="C9CFC3"/>
          </a:solidFill>
          <a:ln w="12700">
            <a:solidFill>
              <a:srgbClr val="C9CFC3"/>
            </a:solidFill>
            <a:prstDash val="solid"/>
          </a:ln>
        </p:spPr>
      </p:sp>
      <p:sp>
        <p:nvSpPr>
          <p:cNvPr id="71" name="Shape 66"/>
          <p:cNvSpPr/>
          <p:nvPr/>
        </p:nvSpPr>
        <p:spPr>
          <a:xfrm>
            <a:off x="1013888" y="2465927"/>
            <a:ext cx="13763" cy="13763"/>
          </a:xfrm>
          <a:prstGeom prst="rect">
            <a:avLst/>
          </a:prstGeom>
          <a:solidFill>
            <a:srgbClr val="C9CFC3"/>
          </a:solidFill>
          <a:ln w="12700">
            <a:solidFill>
              <a:srgbClr val="C9CFC3"/>
            </a:solidFill>
            <a:prstDash val="solid"/>
          </a:ln>
        </p:spPr>
      </p:sp>
      <p:sp>
        <p:nvSpPr>
          <p:cNvPr id="72" name="Shape 67"/>
          <p:cNvSpPr/>
          <p:nvPr/>
        </p:nvSpPr>
        <p:spPr>
          <a:xfrm>
            <a:off x="1056227" y="2465927"/>
            <a:ext cx="13763" cy="13763"/>
          </a:xfrm>
          <a:prstGeom prst="rect">
            <a:avLst/>
          </a:prstGeom>
          <a:solidFill>
            <a:srgbClr val="C9CFC3"/>
          </a:solidFill>
          <a:ln w="12700">
            <a:solidFill>
              <a:srgbClr val="C9CFC3"/>
            </a:solidFill>
            <a:prstDash val="solid"/>
          </a:ln>
        </p:spPr>
      </p:sp>
      <p:sp>
        <p:nvSpPr>
          <p:cNvPr id="73" name="Shape 68"/>
          <p:cNvSpPr/>
          <p:nvPr/>
        </p:nvSpPr>
        <p:spPr>
          <a:xfrm>
            <a:off x="1098565" y="2465927"/>
            <a:ext cx="13763" cy="13763"/>
          </a:xfrm>
          <a:prstGeom prst="rect">
            <a:avLst/>
          </a:prstGeom>
          <a:solidFill>
            <a:srgbClr val="C9CFC3"/>
          </a:solidFill>
          <a:ln w="12700">
            <a:solidFill>
              <a:srgbClr val="C9CFC3"/>
            </a:solidFill>
            <a:prstDash val="solid"/>
          </a:ln>
        </p:spPr>
      </p:sp>
      <p:sp>
        <p:nvSpPr>
          <p:cNvPr id="74" name="Shape 69"/>
          <p:cNvSpPr/>
          <p:nvPr/>
        </p:nvSpPr>
        <p:spPr>
          <a:xfrm>
            <a:off x="1140903" y="2465927"/>
            <a:ext cx="13763" cy="13763"/>
          </a:xfrm>
          <a:prstGeom prst="rect">
            <a:avLst/>
          </a:prstGeom>
          <a:solidFill>
            <a:srgbClr val="C9CFC3"/>
          </a:solidFill>
          <a:ln w="12700">
            <a:solidFill>
              <a:srgbClr val="C9CFC3"/>
            </a:solidFill>
            <a:prstDash val="solid"/>
          </a:ln>
        </p:spPr>
      </p:sp>
      <p:sp>
        <p:nvSpPr>
          <p:cNvPr id="75" name="Shape 70"/>
          <p:cNvSpPr/>
          <p:nvPr/>
        </p:nvSpPr>
        <p:spPr>
          <a:xfrm>
            <a:off x="1183241" y="2465927"/>
            <a:ext cx="13763" cy="13763"/>
          </a:xfrm>
          <a:prstGeom prst="rect">
            <a:avLst/>
          </a:prstGeom>
          <a:solidFill>
            <a:srgbClr val="C9CFC3"/>
          </a:solidFill>
          <a:ln w="12700">
            <a:solidFill>
              <a:srgbClr val="C9CFC3"/>
            </a:solidFill>
            <a:prstDash val="solid"/>
          </a:ln>
        </p:spPr>
      </p:sp>
      <p:sp>
        <p:nvSpPr>
          <p:cNvPr id="76" name="Shape 71"/>
          <p:cNvSpPr/>
          <p:nvPr/>
        </p:nvSpPr>
        <p:spPr>
          <a:xfrm>
            <a:off x="1225580" y="2465927"/>
            <a:ext cx="13763" cy="13763"/>
          </a:xfrm>
          <a:prstGeom prst="rect">
            <a:avLst/>
          </a:prstGeom>
          <a:solidFill>
            <a:srgbClr val="C9CFC3"/>
          </a:solidFill>
          <a:ln w="12700">
            <a:solidFill>
              <a:srgbClr val="C9CFC3"/>
            </a:solidFill>
            <a:prstDash val="solid"/>
          </a:ln>
        </p:spPr>
      </p:sp>
      <p:sp>
        <p:nvSpPr>
          <p:cNvPr id="77" name="Shape 72"/>
          <p:cNvSpPr/>
          <p:nvPr/>
        </p:nvSpPr>
        <p:spPr>
          <a:xfrm>
            <a:off x="1267918" y="2465927"/>
            <a:ext cx="13763" cy="13763"/>
          </a:xfrm>
          <a:prstGeom prst="rect">
            <a:avLst/>
          </a:prstGeom>
          <a:solidFill>
            <a:srgbClr val="C9CFC3"/>
          </a:solidFill>
          <a:ln w="12700">
            <a:solidFill>
              <a:srgbClr val="C9CFC3"/>
            </a:solidFill>
            <a:prstDash val="solid"/>
          </a:ln>
        </p:spPr>
      </p:sp>
      <p:sp>
        <p:nvSpPr>
          <p:cNvPr id="78" name="Shape 73"/>
          <p:cNvSpPr/>
          <p:nvPr/>
        </p:nvSpPr>
        <p:spPr>
          <a:xfrm>
            <a:off x="1310256" y="2465927"/>
            <a:ext cx="13763" cy="13763"/>
          </a:xfrm>
          <a:prstGeom prst="rect">
            <a:avLst/>
          </a:prstGeom>
          <a:solidFill>
            <a:srgbClr val="C9CFC3"/>
          </a:solidFill>
          <a:ln w="12700">
            <a:solidFill>
              <a:srgbClr val="C9CFC3"/>
            </a:solidFill>
            <a:prstDash val="solid"/>
          </a:ln>
        </p:spPr>
      </p:sp>
      <p:sp>
        <p:nvSpPr>
          <p:cNvPr id="79" name="Shape 74"/>
          <p:cNvSpPr/>
          <p:nvPr/>
        </p:nvSpPr>
        <p:spPr>
          <a:xfrm>
            <a:off x="1352595" y="2465927"/>
            <a:ext cx="13763" cy="13763"/>
          </a:xfrm>
          <a:prstGeom prst="rect">
            <a:avLst/>
          </a:prstGeom>
          <a:solidFill>
            <a:srgbClr val="C9CFC3"/>
          </a:solidFill>
          <a:ln w="12700">
            <a:solidFill>
              <a:srgbClr val="C9CFC3"/>
            </a:solidFill>
            <a:prstDash val="solid"/>
          </a:ln>
        </p:spPr>
      </p:sp>
      <p:sp>
        <p:nvSpPr>
          <p:cNvPr id="80" name="Shape 75"/>
          <p:cNvSpPr/>
          <p:nvPr/>
        </p:nvSpPr>
        <p:spPr>
          <a:xfrm>
            <a:off x="1394933" y="2465927"/>
            <a:ext cx="13763" cy="13763"/>
          </a:xfrm>
          <a:prstGeom prst="rect">
            <a:avLst/>
          </a:prstGeom>
          <a:solidFill>
            <a:srgbClr val="C9CFC3"/>
          </a:solidFill>
          <a:ln w="12700">
            <a:solidFill>
              <a:srgbClr val="C9CFC3"/>
            </a:solidFill>
            <a:prstDash val="solid"/>
          </a:ln>
        </p:spPr>
      </p:sp>
      <p:sp>
        <p:nvSpPr>
          <p:cNvPr id="81" name="Shape 76"/>
          <p:cNvSpPr/>
          <p:nvPr/>
        </p:nvSpPr>
        <p:spPr>
          <a:xfrm>
            <a:off x="1437271" y="2465927"/>
            <a:ext cx="13763" cy="13763"/>
          </a:xfrm>
          <a:prstGeom prst="rect">
            <a:avLst/>
          </a:prstGeom>
          <a:solidFill>
            <a:srgbClr val="C9CFC3"/>
          </a:solidFill>
          <a:ln w="12700">
            <a:solidFill>
              <a:srgbClr val="C9CFC3"/>
            </a:solidFill>
            <a:prstDash val="solid"/>
          </a:ln>
        </p:spPr>
      </p:sp>
      <p:sp>
        <p:nvSpPr>
          <p:cNvPr id="82" name="Shape 77"/>
          <p:cNvSpPr/>
          <p:nvPr/>
        </p:nvSpPr>
        <p:spPr>
          <a:xfrm>
            <a:off x="1479609" y="2465927"/>
            <a:ext cx="13763" cy="13763"/>
          </a:xfrm>
          <a:prstGeom prst="rect">
            <a:avLst/>
          </a:prstGeom>
          <a:solidFill>
            <a:srgbClr val="C9CFC3"/>
          </a:solidFill>
          <a:ln w="12700">
            <a:solidFill>
              <a:srgbClr val="C9CFC3"/>
            </a:solidFill>
            <a:prstDash val="solid"/>
          </a:ln>
        </p:spPr>
      </p:sp>
      <p:sp>
        <p:nvSpPr>
          <p:cNvPr id="83" name="Shape 78"/>
          <p:cNvSpPr/>
          <p:nvPr/>
        </p:nvSpPr>
        <p:spPr>
          <a:xfrm>
            <a:off x="1521948" y="2465927"/>
            <a:ext cx="13763" cy="13763"/>
          </a:xfrm>
          <a:prstGeom prst="rect">
            <a:avLst/>
          </a:prstGeom>
          <a:solidFill>
            <a:srgbClr val="C9CFC3"/>
          </a:solidFill>
          <a:ln w="12700">
            <a:solidFill>
              <a:srgbClr val="C9CFC3"/>
            </a:solidFill>
            <a:prstDash val="solid"/>
          </a:ln>
        </p:spPr>
      </p:sp>
      <p:sp>
        <p:nvSpPr>
          <p:cNvPr id="84" name="Shape 79"/>
          <p:cNvSpPr/>
          <p:nvPr/>
        </p:nvSpPr>
        <p:spPr>
          <a:xfrm>
            <a:off x="1564286" y="2465927"/>
            <a:ext cx="13763" cy="13763"/>
          </a:xfrm>
          <a:prstGeom prst="rect">
            <a:avLst/>
          </a:prstGeom>
          <a:solidFill>
            <a:srgbClr val="C9CFC3"/>
          </a:solidFill>
          <a:ln w="12700">
            <a:solidFill>
              <a:srgbClr val="C9CFC3"/>
            </a:solidFill>
            <a:prstDash val="solid"/>
          </a:ln>
        </p:spPr>
      </p:sp>
      <p:sp>
        <p:nvSpPr>
          <p:cNvPr id="85" name="Shape 80"/>
          <p:cNvSpPr/>
          <p:nvPr/>
        </p:nvSpPr>
        <p:spPr>
          <a:xfrm>
            <a:off x="1606624" y="2465927"/>
            <a:ext cx="13763" cy="13763"/>
          </a:xfrm>
          <a:prstGeom prst="rect">
            <a:avLst/>
          </a:prstGeom>
          <a:solidFill>
            <a:srgbClr val="C9CFC3"/>
          </a:solidFill>
          <a:ln w="12700">
            <a:solidFill>
              <a:srgbClr val="C9CFC3"/>
            </a:solidFill>
            <a:prstDash val="solid"/>
          </a:ln>
        </p:spPr>
      </p:sp>
      <p:sp>
        <p:nvSpPr>
          <p:cNvPr id="86" name="Shape 81"/>
          <p:cNvSpPr/>
          <p:nvPr/>
        </p:nvSpPr>
        <p:spPr>
          <a:xfrm>
            <a:off x="1648963" y="2465927"/>
            <a:ext cx="13763" cy="13763"/>
          </a:xfrm>
          <a:prstGeom prst="rect">
            <a:avLst/>
          </a:prstGeom>
          <a:solidFill>
            <a:srgbClr val="C9CFC3"/>
          </a:solidFill>
          <a:ln w="12700">
            <a:solidFill>
              <a:srgbClr val="C9CFC3"/>
            </a:solidFill>
            <a:prstDash val="solid"/>
          </a:ln>
        </p:spPr>
      </p:sp>
      <p:sp>
        <p:nvSpPr>
          <p:cNvPr id="87" name="Shape 82"/>
          <p:cNvSpPr/>
          <p:nvPr/>
        </p:nvSpPr>
        <p:spPr>
          <a:xfrm>
            <a:off x="1691301" y="2465927"/>
            <a:ext cx="13763" cy="13763"/>
          </a:xfrm>
          <a:prstGeom prst="rect">
            <a:avLst/>
          </a:prstGeom>
          <a:solidFill>
            <a:srgbClr val="C9CFC3"/>
          </a:solidFill>
          <a:ln w="12700">
            <a:solidFill>
              <a:srgbClr val="C9CFC3"/>
            </a:solidFill>
            <a:prstDash val="solid"/>
          </a:ln>
        </p:spPr>
      </p:sp>
      <p:sp>
        <p:nvSpPr>
          <p:cNvPr id="88" name="Shape 83"/>
          <p:cNvSpPr/>
          <p:nvPr/>
        </p:nvSpPr>
        <p:spPr>
          <a:xfrm>
            <a:off x="1733639" y="2465927"/>
            <a:ext cx="13763" cy="13763"/>
          </a:xfrm>
          <a:prstGeom prst="rect">
            <a:avLst/>
          </a:prstGeom>
          <a:solidFill>
            <a:srgbClr val="C9CFC3"/>
          </a:solidFill>
          <a:ln w="12700">
            <a:solidFill>
              <a:srgbClr val="C9CFC3"/>
            </a:solidFill>
            <a:prstDash val="solid"/>
          </a:ln>
        </p:spPr>
      </p:sp>
      <p:sp>
        <p:nvSpPr>
          <p:cNvPr id="89" name="Shape 84"/>
          <p:cNvSpPr/>
          <p:nvPr/>
        </p:nvSpPr>
        <p:spPr>
          <a:xfrm>
            <a:off x="1775978" y="2465927"/>
            <a:ext cx="13763" cy="13763"/>
          </a:xfrm>
          <a:prstGeom prst="rect">
            <a:avLst/>
          </a:prstGeom>
          <a:solidFill>
            <a:srgbClr val="C9CFC3"/>
          </a:solidFill>
          <a:ln w="12700">
            <a:solidFill>
              <a:srgbClr val="C9CFC3"/>
            </a:solidFill>
            <a:prstDash val="solid"/>
          </a:ln>
        </p:spPr>
      </p:sp>
      <p:sp>
        <p:nvSpPr>
          <p:cNvPr id="90" name="Shape 85"/>
          <p:cNvSpPr/>
          <p:nvPr/>
        </p:nvSpPr>
        <p:spPr>
          <a:xfrm>
            <a:off x="1818316" y="2465927"/>
            <a:ext cx="13763" cy="13763"/>
          </a:xfrm>
          <a:prstGeom prst="rect">
            <a:avLst/>
          </a:prstGeom>
          <a:solidFill>
            <a:srgbClr val="C9CFC3"/>
          </a:solidFill>
          <a:ln w="12700">
            <a:solidFill>
              <a:srgbClr val="C9CFC3"/>
            </a:solidFill>
            <a:prstDash val="solid"/>
          </a:ln>
        </p:spPr>
      </p:sp>
      <p:sp>
        <p:nvSpPr>
          <p:cNvPr id="91" name="Shape 86"/>
          <p:cNvSpPr/>
          <p:nvPr/>
        </p:nvSpPr>
        <p:spPr>
          <a:xfrm>
            <a:off x="1860654" y="2465927"/>
            <a:ext cx="13763" cy="13763"/>
          </a:xfrm>
          <a:prstGeom prst="rect">
            <a:avLst/>
          </a:prstGeom>
          <a:solidFill>
            <a:srgbClr val="C9CFC3"/>
          </a:solidFill>
          <a:ln w="12700">
            <a:solidFill>
              <a:srgbClr val="C9CFC3"/>
            </a:solidFill>
            <a:prstDash val="solid"/>
          </a:ln>
        </p:spPr>
      </p:sp>
      <p:sp>
        <p:nvSpPr>
          <p:cNvPr id="92" name="Shape 87"/>
          <p:cNvSpPr/>
          <p:nvPr/>
        </p:nvSpPr>
        <p:spPr>
          <a:xfrm>
            <a:off x="1902992" y="2465927"/>
            <a:ext cx="13763" cy="13763"/>
          </a:xfrm>
          <a:prstGeom prst="rect">
            <a:avLst/>
          </a:prstGeom>
          <a:solidFill>
            <a:srgbClr val="C9CFC3"/>
          </a:solidFill>
          <a:ln w="12700">
            <a:solidFill>
              <a:srgbClr val="C9CFC3"/>
            </a:solidFill>
            <a:prstDash val="solid"/>
          </a:ln>
        </p:spPr>
      </p:sp>
      <p:sp>
        <p:nvSpPr>
          <p:cNvPr id="93" name="Shape 88"/>
          <p:cNvSpPr/>
          <p:nvPr/>
        </p:nvSpPr>
        <p:spPr>
          <a:xfrm>
            <a:off x="1945331" y="2465927"/>
            <a:ext cx="13763" cy="13763"/>
          </a:xfrm>
          <a:prstGeom prst="rect">
            <a:avLst/>
          </a:prstGeom>
          <a:solidFill>
            <a:srgbClr val="C9CFC3"/>
          </a:solidFill>
          <a:ln w="12700">
            <a:solidFill>
              <a:srgbClr val="C9CFC3"/>
            </a:solidFill>
            <a:prstDash val="solid"/>
          </a:ln>
        </p:spPr>
      </p:sp>
      <p:sp>
        <p:nvSpPr>
          <p:cNvPr id="94" name="Shape 89"/>
          <p:cNvSpPr/>
          <p:nvPr/>
        </p:nvSpPr>
        <p:spPr>
          <a:xfrm>
            <a:off x="1987669" y="2465927"/>
            <a:ext cx="13763" cy="13763"/>
          </a:xfrm>
          <a:prstGeom prst="rect">
            <a:avLst/>
          </a:prstGeom>
          <a:solidFill>
            <a:srgbClr val="C9CFC3"/>
          </a:solidFill>
          <a:ln w="12700">
            <a:solidFill>
              <a:srgbClr val="C9CFC3"/>
            </a:solidFill>
            <a:prstDash val="solid"/>
          </a:ln>
        </p:spPr>
      </p:sp>
      <p:sp>
        <p:nvSpPr>
          <p:cNvPr id="95" name="Shape 90"/>
          <p:cNvSpPr/>
          <p:nvPr/>
        </p:nvSpPr>
        <p:spPr>
          <a:xfrm>
            <a:off x="2030007" y="2465927"/>
            <a:ext cx="13763" cy="13763"/>
          </a:xfrm>
          <a:prstGeom prst="rect">
            <a:avLst/>
          </a:prstGeom>
          <a:solidFill>
            <a:srgbClr val="C9CFC3"/>
          </a:solidFill>
          <a:ln w="12700">
            <a:solidFill>
              <a:srgbClr val="C9CFC3"/>
            </a:solidFill>
            <a:prstDash val="solid"/>
          </a:ln>
        </p:spPr>
      </p:sp>
      <p:sp>
        <p:nvSpPr>
          <p:cNvPr id="96" name="Shape 91"/>
          <p:cNvSpPr/>
          <p:nvPr/>
        </p:nvSpPr>
        <p:spPr>
          <a:xfrm>
            <a:off x="2072346" y="2465927"/>
            <a:ext cx="13763" cy="13763"/>
          </a:xfrm>
          <a:prstGeom prst="rect">
            <a:avLst/>
          </a:prstGeom>
          <a:solidFill>
            <a:srgbClr val="C9CFC3"/>
          </a:solidFill>
          <a:ln w="12700">
            <a:solidFill>
              <a:srgbClr val="C9CFC3"/>
            </a:solidFill>
            <a:prstDash val="solid"/>
          </a:ln>
        </p:spPr>
      </p:sp>
      <p:sp>
        <p:nvSpPr>
          <p:cNvPr id="97" name="Shape 92"/>
          <p:cNvSpPr/>
          <p:nvPr/>
        </p:nvSpPr>
        <p:spPr>
          <a:xfrm>
            <a:off x="2114684" y="2465927"/>
            <a:ext cx="13763" cy="13763"/>
          </a:xfrm>
          <a:prstGeom prst="rect">
            <a:avLst/>
          </a:prstGeom>
          <a:solidFill>
            <a:srgbClr val="C9CFC3"/>
          </a:solidFill>
          <a:ln w="12700">
            <a:solidFill>
              <a:srgbClr val="C9CFC3"/>
            </a:solidFill>
            <a:prstDash val="solid"/>
          </a:ln>
        </p:spPr>
      </p:sp>
      <p:sp>
        <p:nvSpPr>
          <p:cNvPr id="98" name="Shape 93"/>
          <p:cNvSpPr/>
          <p:nvPr/>
        </p:nvSpPr>
        <p:spPr>
          <a:xfrm>
            <a:off x="971550" y="2508265"/>
            <a:ext cx="13763" cy="13763"/>
          </a:xfrm>
          <a:prstGeom prst="rect">
            <a:avLst/>
          </a:prstGeom>
          <a:solidFill>
            <a:srgbClr val="C9CFC3"/>
          </a:solidFill>
          <a:ln w="12700">
            <a:solidFill>
              <a:srgbClr val="C9CFC3"/>
            </a:solidFill>
            <a:prstDash val="solid"/>
          </a:ln>
        </p:spPr>
      </p:sp>
      <p:sp>
        <p:nvSpPr>
          <p:cNvPr id="99" name="Shape 94"/>
          <p:cNvSpPr/>
          <p:nvPr/>
        </p:nvSpPr>
        <p:spPr>
          <a:xfrm>
            <a:off x="1013888" y="2508265"/>
            <a:ext cx="13763" cy="13763"/>
          </a:xfrm>
          <a:prstGeom prst="rect">
            <a:avLst/>
          </a:prstGeom>
          <a:solidFill>
            <a:srgbClr val="C9CFC3"/>
          </a:solidFill>
          <a:ln w="12700">
            <a:solidFill>
              <a:srgbClr val="C9CFC3"/>
            </a:solidFill>
            <a:prstDash val="solid"/>
          </a:ln>
        </p:spPr>
      </p:sp>
      <p:sp>
        <p:nvSpPr>
          <p:cNvPr id="100" name="Shape 95"/>
          <p:cNvSpPr/>
          <p:nvPr/>
        </p:nvSpPr>
        <p:spPr>
          <a:xfrm>
            <a:off x="1056227" y="2508265"/>
            <a:ext cx="13763" cy="13763"/>
          </a:xfrm>
          <a:prstGeom prst="rect">
            <a:avLst/>
          </a:prstGeom>
          <a:solidFill>
            <a:srgbClr val="C9CFC3"/>
          </a:solidFill>
          <a:ln w="12700">
            <a:solidFill>
              <a:srgbClr val="C9CFC3"/>
            </a:solidFill>
            <a:prstDash val="solid"/>
          </a:ln>
        </p:spPr>
      </p:sp>
      <p:sp>
        <p:nvSpPr>
          <p:cNvPr id="101" name="Shape 96"/>
          <p:cNvSpPr/>
          <p:nvPr/>
        </p:nvSpPr>
        <p:spPr>
          <a:xfrm>
            <a:off x="1098565" y="2508265"/>
            <a:ext cx="13763" cy="13763"/>
          </a:xfrm>
          <a:prstGeom prst="rect">
            <a:avLst/>
          </a:prstGeom>
          <a:solidFill>
            <a:srgbClr val="C9CFC3"/>
          </a:solidFill>
          <a:ln w="12700">
            <a:solidFill>
              <a:srgbClr val="C9CFC3"/>
            </a:solidFill>
            <a:prstDash val="solid"/>
          </a:ln>
        </p:spPr>
      </p:sp>
      <p:sp>
        <p:nvSpPr>
          <p:cNvPr id="102" name="Shape 97"/>
          <p:cNvSpPr/>
          <p:nvPr/>
        </p:nvSpPr>
        <p:spPr>
          <a:xfrm>
            <a:off x="1140903" y="2508265"/>
            <a:ext cx="13763" cy="13763"/>
          </a:xfrm>
          <a:prstGeom prst="rect">
            <a:avLst/>
          </a:prstGeom>
          <a:solidFill>
            <a:srgbClr val="C9CFC3"/>
          </a:solidFill>
          <a:ln w="12700">
            <a:solidFill>
              <a:srgbClr val="C9CFC3"/>
            </a:solidFill>
            <a:prstDash val="solid"/>
          </a:ln>
        </p:spPr>
      </p:sp>
      <p:sp>
        <p:nvSpPr>
          <p:cNvPr id="103" name="Shape 98"/>
          <p:cNvSpPr/>
          <p:nvPr/>
        </p:nvSpPr>
        <p:spPr>
          <a:xfrm>
            <a:off x="1183241" y="2508265"/>
            <a:ext cx="13763" cy="13763"/>
          </a:xfrm>
          <a:prstGeom prst="rect">
            <a:avLst/>
          </a:prstGeom>
          <a:solidFill>
            <a:srgbClr val="C9CFC3"/>
          </a:solidFill>
          <a:ln w="12700">
            <a:solidFill>
              <a:srgbClr val="C9CFC3"/>
            </a:solidFill>
            <a:prstDash val="solid"/>
          </a:ln>
        </p:spPr>
      </p:sp>
      <p:sp>
        <p:nvSpPr>
          <p:cNvPr id="104" name="Shape 99"/>
          <p:cNvSpPr/>
          <p:nvPr/>
        </p:nvSpPr>
        <p:spPr>
          <a:xfrm>
            <a:off x="1225580" y="2508265"/>
            <a:ext cx="13763" cy="13763"/>
          </a:xfrm>
          <a:prstGeom prst="rect">
            <a:avLst/>
          </a:prstGeom>
          <a:solidFill>
            <a:srgbClr val="C9CFC3"/>
          </a:solidFill>
          <a:ln w="12700">
            <a:solidFill>
              <a:srgbClr val="C9CFC3"/>
            </a:solidFill>
            <a:prstDash val="solid"/>
          </a:ln>
        </p:spPr>
      </p:sp>
      <p:sp>
        <p:nvSpPr>
          <p:cNvPr id="105" name="Shape 100"/>
          <p:cNvSpPr/>
          <p:nvPr/>
        </p:nvSpPr>
        <p:spPr>
          <a:xfrm>
            <a:off x="1267918" y="2508265"/>
            <a:ext cx="13763" cy="13763"/>
          </a:xfrm>
          <a:prstGeom prst="rect">
            <a:avLst/>
          </a:prstGeom>
          <a:solidFill>
            <a:srgbClr val="C9CFC3"/>
          </a:solidFill>
          <a:ln w="12700">
            <a:solidFill>
              <a:srgbClr val="C9CFC3"/>
            </a:solidFill>
            <a:prstDash val="solid"/>
          </a:ln>
        </p:spPr>
      </p:sp>
      <p:sp>
        <p:nvSpPr>
          <p:cNvPr id="106" name="Shape 101"/>
          <p:cNvSpPr/>
          <p:nvPr/>
        </p:nvSpPr>
        <p:spPr>
          <a:xfrm>
            <a:off x="1310256" y="2508265"/>
            <a:ext cx="13763" cy="13763"/>
          </a:xfrm>
          <a:prstGeom prst="rect">
            <a:avLst/>
          </a:prstGeom>
          <a:solidFill>
            <a:srgbClr val="C9CFC3"/>
          </a:solidFill>
          <a:ln w="12700">
            <a:solidFill>
              <a:srgbClr val="C9CFC3"/>
            </a:solidFill>
            <a:prstDash val="solid"/>
          </a:ln>
        </p:spPr>
      </p:sp>
      <p:sp>
        <p:nvSpPr>
          <p:cNvPr id="107" name="Shape 102"/>
          <p:cNvSpPr/>
          <p:nvPr/>
        </p:nvSpPr>
        <p:spPr>
          <a:xfrm>
            <a:off x="1352595" y="2508265"/>
            <a:ext cx="13763" cy="13763"/>
          </a:xfrm>
          <a:prstGeom prst="rect">
            <a:avLst/>
          </a:prstGeom>
          <a:solidFill>
            <a:srgbClr val="C9CFC3"/>
          </a:solidFill>
          <a:ln w="12700">
            <a:solidFill>
              <a:srgbClr val="C9CFC3"/>
            </a:solidFill>
            <a:prstDash val="solid"/>
          </a:ln>
        </p:spPr>
      </p:sp>
      <p:sp>
        <p:nvSpPr>
          <p:cNvPr id="108" name="Shape 103"/>
          <p:cNvSpPr/>
          <p:nvPr/>
        </p:nvSpPr>
        <p:spPr>
          <a:xfrm>
            <a:off x="1394933" y="2508265"/>
            <a:ext cx="13763" cy="13763"/>
          </a:xfrm>
          <a:prstGeom prst="rect">
            <a:avLst/>
          </a:prstGeom>
          <a:solidFill>
            <a:srgbClr val="C9CFC3"/>
          </a:solidFill>
          <a:ln w="12700">
            <a:solidFill>
              <a:srgbClr val="C9CFC3"/>
            </a:solidFill>
            <a:prstDash val="solid"/>
          </a:ln>
        </p:spPr>
      </p:sp>
      <p:sp>
        <p:nvSpPr>
          <p:cNvPr id="109" name="Shape 104"/>
          <p:cNvSpPr/>
          <p:nvPr/>
        </p:nvSpPr>
        <p:spPr>
          <a:xfrm>
            <a:off x="1437271" y="2508265"/>
            <a:ext cx="13763" cy="13763"/>
          </a:xfrm>
          <a:prstGeom prst="rect">
            <a:avLst/>
          </a:prstGeom>
          <a:solidFill>
            <a:srgbClr val="C9CFC3"/>
          </a:solidFill>
          <a:ln w="12700">
            <a:solidFill>
              <a:srgbClr val="C9CFC3"/>
            </a:solidFill>
            <a:prstDash val="solid"/>
          </a:ln>
        </p:spPr>
      </p:sp>
      <p:sp>
        <p:nvSpPr>
          <p:cNvPr id="110" name="Shape 105"/>
          <p:cNvSpPr/>
          <p:nvPr/>
        </p:nvSpPr>
        <p:spPr>
          <a:xfrm>
            <a:off x="1479609" y="2508265"/>
            <a:ext cx="13763" cy="13763"/>
          </a:xfrm>
          <a:prstGeom prst="rect">
            <a:avLst/>
          </a:prstGeom>
          <a:solidFill>
            <a:srgbClr val="C9CFC3"/>
          </a:solidFill>
          <a:ln w="12700">
            <a:solidFill>
              <a:srgbClr val="C9CFC3"/>
            </a:solidFill>
            <a:prstDash val="solid"/>
          </a:ln>
        </p:spPr>
      </p:sp>
      <p:sp>
        <p:nvSpPr>
          <p:cNvPr id="111" name="Shape 106"/>
          <p:cNvSpPr/>
          <p:nvPr/>
        </p:nvSpPr>
        <p:spPr>
          <a:xfrm>
            <a:off x="1521948" y="2508265"/>
            <a:ext cx="13763" cy="13763"/>
          </a:xfrm>
          <a:prstGeom prst="rect">
            <a:avLst/>
          </a:prstGeom>
          <a:solidFill>
            <a:srgbClr val="C9CFC3"/>
          </a:solidFill>
          <a:ln w="12700">
            <a:solidFill>
              <a:srgbClr val="C9CFC3"/>
            </a:solidFill>
            <a:prstDash val="solid"/>
          </a:ln>
        </p:spPr>
      </p:sp>
      <p:sp>
        <p:nvSpPr>
          <p:cNvPr id="112" name="Shape 107"/>
          <p:cNvSpPr/>
          <p:nvPr/>
        </p:nvSpPr>
        <p:spPr>
          <a:xfrm>
            <a:off x="1564286" y="2508265"/>
            <a:ext cx="13763" cy="13763"/>
          </a:xfrm>
          <a:prstGeom prst="rect">
            <a:avLst/>
          </a:prstGeom>
          <a:solidFill>
            <a:srgbClr val="C9CFC3"/>
          </a:solidFill>
          <a:ln w="12700">
            <a:solidFill>
              <a:srgbClr val="C9CFC3"/>
            </a:solidFill>
            <a:prstDash val="solid"/>
          </a:ln>
        </p:spPr>
      </p:sp>
      <p:sp>
        <p:nvSpPr>
          <p:cNvPr id="113" name="Shape 108"/>
          <p:cNvSpPr/>
          <p:nvPr/>
        </p:nvSpPr>
        <p:spPr>
          <a:xfrm>
            <a:off x="1606624" y="2508265"/>
            <a:ext cx="13763" cy="13763"/>
          </a:xfrm>
          <a:prstGeom prst="rect">
            <a:avLst/>
          </a:prstGeom>
          <a:solidFill>
            <a:srgbClr val="C9CFC3"/>
          </a:solidFill>
          <a:ln w="12700">
            <a:solidFill>
              <a:srgbClr val="C9CFC3"/>
            </a:solidFill>
            <a:prstDash val="solid"/>
          </a:ln>
        </p:spPr>
      </p:sp>
      <p:sp>
        <p:nvSpPr>
          <p:cNvPr id="114" name="Shape 109"/>
          <p:cNvSpPr/>
          <p:nvPr/>
        </p:nvSpPr>
        <p:spPr>
          <a:xfrm>
            <a:off x="1648963" y="2508265"/>
            <a:ext cx="13763" cy="13763"/>
          </a:xfrm>
          <a:prstGeom prst="rect">
            <a:avLst/>
          </a:prstGeom>
          <a:solidFill>
            <a:srgbClr val="C9CFC3"/>
          </a:solidFill>
          <a:ln w="12700">
            <a:solidFill>
              <a:srgbClr val="C9CFC3"/>
            </a:solidFill>
            <a:prstDash val="solid"/>
          </a:ln>
        </p:spPr>
      </p:sp>
      <p:sp>
        <p:nvSpPr>
          <p:cNvPr id="115" name="Shape 110"/>
          <p:cNvSpPr/>
          <p:nvPr/>
        </p:nvSpPr>
        <p:spPr>
          <a:xfrm>
            <a:off x="1691301" y="2508265"/>
            <a:ext cx="13763" cy="13763"/>
          </a:xfrm>
          <a:prstGeom prst="rect">
            <a:avLst/>
          </a:prstGeom>
          <a:solidFill>
            <a:srgbClr val="C9CFC3"/>
          </a:solidFill>
          <a:ln w="12700">
            <a:solidFill>
              <a:srgbClr val="C9CFC3"/>
            </a:solidFill>
            <a:prstDash val="solid"/>
          </a:ln>
        </p:spPr>
      </p:sp>
      <p:sp>
        <p:nvSpPr>
          <p:cNvPr id="116" name="Shape 111"/>
          <p:cNvSpPr/>
          <p:nvPr/>
        </p:nvSpPr>
        <p:spPr>
          <a:xfrm>
            <a:off x="1733639" y="2508265"/>
            <a:ext cx="13763" cy="13763"/>
          </a:xfrm>
          <a:prstGeom prst="rect">
            <a:avLst/>
          </a:prstGeom>
          <a:solidFill>
            <a:srgbClr val="C9CFC3"/>
          </a:solidFill>
          <a:ln w="12700">
            <a:solidFill>
              <a:srgbClr val="C9CFC3"/>
            </a:solidFill>
            <a:prstDash val="solid"/>
          </a:ln>
        </p:spPr>
      </p:sp>
      <p:sp>
        <p:nvSpPr>
          <p:cNvPr id="117" name="Shape 112"/>
          <p:cNvSpPr/>
          <p:nvPr/>
        </p:nvSpPr>
        <p:spPr>
          <a:xfrm>
            <a:off x="1775978" y="2508265"/>
            <a:ext cx="13763" cy="13763"/>
          </a:xfrm>
          <a:prstGeom prst="rect">
            <a:avLst/>
          </a:prstGeom>
          <a:solidFill>
            <a:srgbClr val="C9CFC3"/>
          </a:solidFill>
          <a:ln w="12700">
            <a:solidFill>
              <a:srgbClr val="C9CFC3"/>
            </a:solidFill>
            <a:prstDash val="solid"/>
          </a:ln>
        </p:spPr>
      </p:sp>
      <p:sp>
        <p:nvSpPr>
          <p:cNvPr id="118" name="Shape 113"/>
          <p:cNvSpPr/>
          <p:nvPr/>
        </p:nvSpPr>
        <p:spPr>
          <a:xfrm>
            <a:off x="1818316" y="2508265"/>
            <a:ext cx="13763" cy="13763"/>
          </a:xfrm>
          <a:prstGeom prst="rect">
            <a:avLst/>
          </a:prstGeom>
          <a:solidFill>
            <a:srgbClr val="C9CFC3"/>
          </a:solidFill>
          <a:ln w="12700">
            <a:solidFill>
              <a:srgbClr val="C9CFC3"/>
            </a:solidFill>
            <a:prstDash val="solid"/>
          </a:ln>
        </p:spPr>
      </p:sp>
      <p:sp>
        <p:nvSpPr>
          <p:cNvPr id="119" name="Shape 114"/>
          <p:cNvSpPr/>
          <p:nvPr/>
        </p:nvSpPr>
        <p:spPr>
          <a:xfrm>
            <a:off x="1860654" y="2508265"/>
            <a:ext cx="13763" cy="13763"/>
          </a:xfrm>
          <a:prstGeom prst="rect">
            <a:avLst/>
          </a:prstGeom>
          <a:solidFill>
            <a:srgbClr val="C9CFC3"/>
          </a:solidFill>
          <a:ln w="12700">
            <a:solidFill>
              <a:srgbClr val="C9CFC3"/>
            </a:solidFill>
            <a:prstDash val="solid"/>
          </a:ln>
        </p:spPr>
      </p:sp>
      <p:sp>
        <p:nvSpPr>
          <p:cNvPr id="120" name="Shape 115"/>
          <p:cNvSpPr/>
          <p:nvPr/>
        </p:nvSpPr>
        <p:spPr>
          <a:xfrm>
            <a:off x="1902992" y="2508265"/>
            <a:ext cx="13763" cy="13763"/>
          </a:xfrm>
          <a:prstGeom prst="rect">
            <a:avLst/>
          </a:prstGeom>
          <a:solidFill>
            <a:srgbClr val="C9CFC3"/>
          </a:solidFill>
          <a:ln w="12700">
            <a:solidFill>
              <a:srgbClr val="C9CFC3"/>
            </a:solidFill>
            <a:prstDash val="solid"/>
          </a:ln>
        </p:spPr>
      </p:sp>
      <p:sp>
        <p:nvSpPr>
          <p:cNvPr id="121" name="Shape 116"/>
          <p:cNvSpPr/>
          <p:nvPr/>
        </p:nvSpPr>
        <p:spPr>
          <a:xfrm>
            <a:off x="1945331" y="2508265"/>
            <a:ext cx="13763" cy="13763"/>
          </a:xfrm>
          <a:prstGeom prst="rect">
            <a:avLst/>
          </a:prstGeom>
          <a:solidFill>
            <a:srgbClr val="C9CFC3"/>
          </a:solidFill>
          <a:ln w="12700">
            <a:solidFill>
              <a:srgbClr val="C9CFC3"/>
            </a:solidFill>
            <a:prstDash val="solid"/>
          </a:ln>
        </p:spPr>
      </p:sp>
      <p:sp>
        <p:nvSpPr>
          <p:cNvPr id="122" name="Shape 117"/>
          <p:cNvSpPr/>
          <p:nvPr/>
        </p:nvSpPr>
        <p:spPr>
          <a:xfrm>
            <a:off x="1987669" y="2508265"/>
            <a:ext cx="13763" cy="13763"/>
          </a:xfrm>
          <a:prstGeom prst="rect">
            <a:avLst/>
          </a:prstGeom>
          <a:solidFill>
            <a:srgbClr val="C9CFC3"/>
          </a:solidFill>
          <a:ln w="12700">
            <a:solidFill>
              <a:srgbClr val="C9CFC3"/>
            </a:solidFill>
            <a:prstDash val="solid"/>
          </a:ln>
        </p:spPr>
      </p:sp>
      <p:sp>
        <p:nvSpPr>
          <p:cNvPr id="123" name="Shape 118"/>
          <p:cNvSpPr/>
          <p:nvPr/>
        </p:nvSpPr>
        <p:spPr>
          <a:xfrm>
            <a:off x="2030007" y="2508265"/>
            <a:ext cx="13763" cy="13763"/>
          </a:xfrm>
          <a:prstGeom prst="rect">
            <a:avLst/>
          </a:prstGeom>
          <a:solidFill>
            <a:srgbClr val="C9CFC3"/>
          </a:solidFill>
          <a:ln w="12700">
            <a:solidFill>
              <a:srgbClr val="C9CFC3"/>
            </a:solidFill>
            <a:prstDash val="solid"/>
          </a:ln>
        </p:spPr>
      </p:sp>
      <p:sp>
        <p:nvSpPr>
          <p:cNvPr id="124" name="Shape 119"/>
          <p:cNvSpPr/>
          <p:nvPr/>
        </p:nvSpPr>
        <p:spPr>
          <a:xfrm>
            <a:off x="2072346" y="2508265"/>
            <a:ext cx="13763" cy="13763"/>
          </a:xfrm>
          <a:prstGeom prst="rect">
            <a:avLst/>
          </a:prstGeom>
          <a:solidFill>
            <a:srgbClr val="C9CFC3"/>
          </a:solidFill>
          <a:ln w="12700">
            <a:solidFill>
              <a:srgbClr val="C9CFC3"/>
            </a:solidFill>
            <a:prstDash val="solid"/>
          </a:ln>
        </p:spPr>
      </p:sp>
      <p:sp>
        <p:nvSpPr>
          <p:cNvPr id="125" name="Shape 120"/>
          <p:cNvSpPr/>
          <p:nvPr/>
        </p:nvSpPr>
        <p:spPr>
          <a:xfrm>
            <a:off x="2114684" y="2508265"/>
            <a:ext cx="13763" cy="13763"/>
          </a:xfrm>
          <a:prstGeom prst="rect">
            <a:avLst/>
          </a:prstGeom>
          <a:solidFill>
            <a:srgbClr val="C9CFC3"/>
          </a:solidFill>
          <a:ln w="12700">
            <a:solidFill>
              <a:srgbClr val="C9CFC3"/>
            </a:solidFill>
            <a:prstDash val="solid"/>
          </a:ln>
        </p:spPr>
      </p:sp>
      <p:sp>
        <p:nvSpPr>
          <p:cNvPr id="126" name="Shape 121"/>
          <p:cNvSpPr/>
          <p:nvPr/>
        </p:nvSpPr>
        <p:spPr>
          <a:xfrm>
            <a:off x="971550" y="2550603"/>
            <a:ext cx="13763" cy="13763"/>
          </a:xfrm>
          <a:prstGeom prst="rect">
            <a:avLst/>
          </a:prstGeom>
          <a:solidFill>
            <a:srgbClr val="C9CFC3"/>
          </a:solidFill>
          <a:ln w="12700">
            <a:solidFill>
              <a:srgbClr val="C9CFC3"/>
            </a:solidFill>
            <a:prstDash val="solid"/>
          </a:ln>
        </p:spPr>
      </p:sp>
      <p:sp>
        <p:nvSpPr>
          <p:cNvPr id="127" name="Shape 122"/>
          <p:cNvSpPr/>
          <p:nvPr/>
        </p:nvSpPr>
        <p:spPr>
          <a:xfrm>
            <a:off x="1013888" y="2550603"/>
            <a:ext cx="13763" cy="13763"/>
          </a:xfrm>
          <a:prstGeom prst="rect">
            <a:avLst/>
          </a:prstGeom>
          <a:solidFill>
            <a:srgbClr val="C9CFC3"/>
          </a:solidFill>
          <a:ln w="12700">
            <a:solidFill>
              <a:srgbClr val="C9CFC3"/>
            </a:solidFill>
            <a:prstDash val="solid"/>
          </a:ln>
        </p:spPr>
      </p:sp>
      <p:sp>
        <p:nvSpPr>
          <p:cNvPr id="128" name="Shape 123"/>
          <p:cNvSpPr/>
          <p:nvPr/>
        </p:nvSpPr>
        <p:spPr>
          <a:xfrm>
            <a:off x="1056227" y="2550603"/>
            <a:ext cx="13763" cy="13763"/>
          </a:xfrm>
          <a:prstGeom prst="rect">
            <a:avLst/>
          </a:prstGeom>
          <a:solidFill>
            <a:srgbClr val="C9CFC3"/>
          </a:solidFill>
          <a:ln w="12700">
            <a:solidFill>
              <a:srgbClr val="C9CFC3"/>
            </a:solidFill>
            <a:prstDash val="solid"/>
          </a:ln>
        </p:spPr>
      </p:sp>
      <p:sp>
        <p:nvSpPr>
          <p:cNvPr id="129" name="Shape 124"/>
          <p:cNvSpPr/>
          <p:nvPr/>
        </p:nvSpPr>
        <p:spPr>
          <a:xfrm>
            <a:off x="1098565" y="2550603"/>
            <a:ext cx="13763" cy="13763"/>
          </a:xfrm>
          <a:prstGeom prst="rect">
            <a:avLst/>
          </a:prstGeom>
          <a:solidFill>
            <a:srgbClr val="C9CFC3"/>
          </a:solidFill>
          <a:ln w="12700">
            <a:solidFill>
              <a:srgbClr val="C9CFC3"/>
            </a:solidFill>
            <a:prstDash val="solid"/>
          </a:ln>
        </p:spPr>
      </p:sp>
      <p:sp>
        <p:nvSpPr>
          <p:cNvPr id="130" name="Shape 125"/>
          <p:cNvSpPr/>
          <p:nvPr/>
        </p:nvSpPr>
        <p:spPr>
          <a:xfrm>
            <a:off x="1140903" y="2550603"/>
            <a:ext cx="13763" cy="13763"/>
          </a:xfrm>
          <a:prstGeom prst="rect">
            <a:avLst/>
          </a:prstGeom>
          <a:solidFill>
            <a:srgbClr val="C9CFC3"/>
          </a:solidFill>
          <a:ln w="12700">
            <a:solidFill>
              <a:srgbClr val="C9CFC3"/>
            </a:solidFill>
            <a:prstDash val="solid"/>
          </a:ln>
        </p:spPr>
      </p:sp>
      <p:sp>
        <p:nvSpPr>
          <p:cNvPr id="131" name="Shape 126"/>
          <p:cNvSpPr/>
          <p:nvPr/>
        </p:nvSpPr>
        <p:spPr>
          <a:xfrm>
            <a:off x="1183241" y="2550603"/>
            <a:ext cx="13763" cy="13763"/>
          </a:xfrm>
          <a:prstGeom prst="rect">
            <a:avLst/>
          </a:prstGeom>
          <a:solidFill>
            <a:srgbClr val="C9CFC3"/>
          </a:solidFill>
          <a:ln w="12700">
            <a:solidFill>
              <a:srgbClr val="C9CFC3"/>
            </a:solidFill>
            <a:prstDash val="solid"/>
          </a:ln>
        </p:spPr>
      </p:sp>
      <p:sp>
        <p:nvSpPr>
          <p:cNvPr id="132" name="Shape 127"/>
          <p:cNvSpPr/>
          <p:nvPr/>
        </p:nvSpPr>
        <p:spPr>
          <a:xfrm>
            <a:off x="1225580" y="2550603"/>
            <a:ext cx="13763" cy="13763"/>
          </a:xfrm>
          <a:prstGeom prst="rect">
            <a:avLst/>
          </a:prstGeom>
          <a:solidFill>
            <a:srgbClr val="C9CFC3"/>
          </a:solidFill>
          <a:ln w="12700">
            <a:solidFill>
              <a:srgbClr val="C9CFC3"/>
            </a:solidFill>
            <a:prstDash val="solid"/>
          </a:ln>
        </p:spPr>
      </p:sp>
      <p:sp>
        <p:nvSpPr>
          <p:cNvPr id="133" name="Shape 128"/>
          <p:cNvSpPr/>
          <p:nvPr/>
        </p:nvSpPr>
        <p:spPr>
          <a:xfrm>
            <a:off x="1267918" y="2550603"/>
            <a:ext cx="13763" cy="13763"/>
          </a:xfrm>
          <a:prstGeom prst="rect">
            <a:avLst/>
          </a:prstGeom>
          <a:solidFill>
            <a:srgbClr val="C9CFC3"/>
          </a:solidFill>
          <a:ln w="12700">
            <a:solidFill>
              <a:srgbClr val="C9CFC3"/>
            </a:solidFill>
            <a:prstDash val="solid"/>
          </a:ln>
        </p:spPr>
      </p:sp>
      <p:sp>
        <p:nvSpPr>
          <p:cNvPr id="134" name="Shape 129"/>
          <p:cNvSpPr/>
          <p:nvPr/>
        </p:nvSpPr>
        <p:spPr>
          <a:xfrm>
            <a:off x="1310256" y="2550603"/>
            <a:ext cx="13763" cy="13763"/>
          </a:xfrm>
          <a:prstGeom prst="rect">
            <a:avLst/>
          </a:prstGeom>
          <a:solidFill>
            <a:srgbClr val="C9CFC3"/>
          </a:solidFill>
          <a:ln w="12700">
            <a:solidFill>
              <a:srgbClr val="C9CFC3"/>
            </a:solidFill>
            <a:prstDash val="solid"/>
          </a:ln>
        </p:spPr>
      </p:sp>
      <p:sp>
        <p:nvSpPr>
          <p:cNvPr id="135" name="Shape 130"/>
          <p:cNvSpPr/>
          <p:nvPr/>
        </p:nvSpPr>
        <p:spPr>
          <a:xfrm>
            <a:off x="1352595" y="2550603"/>
            <a:ext cx="13763" cy="13763"/>
          </a:xfrm>
          <a:prstGeom prst="rect">
            <a:avLst/>
          </a:prstGeom>
          <a:solidFill>
            <a:srgbClr val="C9CFC3"/>
          </a:solidFill>
          <a:ln w="12700">
            <a:solidFill>
              <a:srgbClr val="C9CFC3"/>
            </a:solidFill>
            <a:prstDash val="solid"/>
          </a:ln>
        </p:spPr>
      </p:sp>
      <p:sp>
        <p:nvSpPr>
          <p:cNvPr id="136" name="Shape 131"/>
          <p:cNvSpPr/>
          <p:nvPr/>
        </p:nvSpPr>
        <p:spPr>
          <a:xfrm>
            <a:off x="1394933" y="2550603"/>
            <a:ext cx="13763" cy="13763"/>
          </a:xfrm>
          <a:prstGeom prst="rect">
            <a:avLst/>
          </a:prstGeom>
          <a:solidFill>
            <a:srgbClr val="C9CFC3"/>
          </a:solidFill>
          <a:ln w="12700">
            <a:solidFill>
              <a:srgbClr val="C9CFC3"/>
            </a:solidFill>
            <a:prstDash val="solid"/>
          </a:ln>
        </p:spPr>
      </p:sp>
      <p:sp>
        <p:nvSpPr>
          <p:cNvPr id="137" name="Shape 132"/>
          <p:cNvSpPr/>
          <p:nvPr/>
        </p:nvSpPr>
        <p:spPr>
          <a:xfrm>
            <a:off x="1437271" y="2550603"/>
            <a:ext cx="13763" cy="13763"/>
          </a:xfrm>
          <a:prstGeom prst="rect">
            <a:avLst/>
          </a:prstGeom>
          <a:solidFill>
            <a:srgbClr val="C9CFC3"/>
          </a:solidFill>
          <a:ln w="12700">
            <a:solidFill>
              <a:srgbClr val="C9CFC3"/>
            </a:solidFill>
            <a:prstDash val="solid"/>
          </a:ln>
        </p:spPr>
      </p:sp>
      <p:sp>
        <p:nvSpPr>
          <p:cNvPr id="138" name="Shape 133"/>
          <p:cNvSpPr/>
          <p:nvPr/>
        </p:nvSpPr>
        <p:spPr>
          <a:xfrm>
            <a:off x="1479609" y="2550603"/>
            <a:ext cx="13763" cy="13763"/>
          </a:xfrm>
          <a:prstGeom prst="rect">
            <a:avLst/>
          </a:prstGeom>
          <a:solidFill>
            <a:srgbClr val="C9CFC3"/>
          </a:solidFill>
          <a:ln w="12700">
            <a:solidFill>
              <a:srgbClr val="C9CFC3"/>
            </a:solidFill>
            <a:prstDash val="solid"/>
          </a:ln>
        </p:spPr>
      </p:sp>
      <p:sp>
        <p:nvSpPr>
          <p:cNvPr id="139" name="Shape 134"/>
          <p:cNvSpPr/>
          <p:nvPr/>
        </p:nvSpPr>
        <p:spPr>
          <a:xfrm>
            <a:off x="1521948" y="2550603"/>
            <a:ext cx="13763" cy="13763"/>
          </a:xfrm>
          <a:prstGeom prst="rect">
            <a:avLst/>
          </a:prstGeom>
          <a:solidFill>
            <a:srgbClr val="C9CFC3"/>
          </a:solidFill>
          <a:ln w="12700">
            <a:solidFill>
              <a:srgbClr val="C9CFC3"/>
            </a:solidFill>
            <a:prstDash val="solid"/>
          </a:ln>
        </p:spPr>
      </p:sp>
      <p:sp>
        <p:nvSpPr>
          <p:cNvPr id="140" name="Shape 135"/>
          <p:cNvSpPr/>
          <p:nvPr/>
        </p:nvSpPr>
        <p:spPr>
          <a:xfrm>
            <a:off x="1564286" y="2550603"/>
            <a:ext cx="13763" cy="13763"/>
          </a:xfrm>
          <a:prstGeom prst="rect">
            <a:avLst/>
          </a:prstGeom>
          <a:solidFill>
            <a:srgbClr val="C9CFC3"/>
          </a:solidFill>
          <a:ln w="12700">
            <a:solidFill>
              <a:srgbClr val="C9CFC3"/>
            </a:solidFill>
            <a:prstDash val="solid"/>
          </a:ln>
        </p:spPr>
      </p:sp>
      <p:sp>
        <p:nvSpPr>
          <p:cNvPr id="141" name="Shape 136"/>
          <p:cNvSpPr/>
          <p:nvPr/>
        </p:nvSpPr>
        <p:spPr>
          <a:xfrm>
            <a:off x="1606624" y="2550603"/>
            <a:ext cx="13763" cy="13763"/>
          </a:xfrm>
          <a:prstGeom prst="rect">
            <a:avLst/>
          </a:prstGeom>
          <a:solidFill>
            <a:srgbClr val="C9CFC3"/>
          </a:solidFill>
          <a:ln w="12700">
            <a:solidFill>
              <a:srgbClr val="C9CFC3"/>
            </a:solidFill>
            <a:prstDash val="solid"/>
          </a:ln>
        </p:spPr>
      </p:sp>
      <p:sp>
        <p:nvSpPr>
          <p:cNvPr id="142" name="Shape 137"/>
          <p:cNvSpPr/>
          <p:nvPr/>
        </p:nvSpPr>
        <p:spPr>
          <a:xfrm>
            <a:off x="1648963" y="2550603"/>
            <a:ext cx="13763" cy="13763"/>
          </a:xfrm>
          <a:prstGeom prst="rect">
            <a:avLst/>
          </a:prstGeom>
          <a:solidFill>
            <a:srgbClr val="C9CFC3"/>
          </a:solidFill>
          <a:ln w="12700">
            <a:solidFill>
              <a:srgbClr val="C9CFC3"/>
            </a:solidFill>
            <a:prstDash val="solid"/>
          </a:ln>
        </p:spPr>
      </p:sp>
      <p:sp>
        <p:nvSpPr>
          <p:cNvPr id="143" name="Shape 138"/>
          <p:cNvSpPr/>
          <p:nvPr/>
        </p:nvSpPr>
        <p:spPr>
          <a:xfrm>
            <a:off x="1691301" y="2550603"/>
            <a:ext cx="13763" cy="13763"/>
          </a:xfrm>
          <a:prstGeom prst="rect">
            <a:avLst/>
          </a:prstGeom>
          <a:solidFill>
            <a:srgbClr val="C9CFC3"/>
          </a:solidFill>
          <a:ln w="12700">
            <a:solidFill>
              <a:srgbClr val="C9CFC3"/>
            </a:solidFill>
            <a:prstDash val="solid"/>
          </a:ln>
        </p:spPr>
      </p:sp>
      <p:sp>
        <p:nvSpPr>
          <p:cNvPr id="144" name="Shape 139"/>
          <p:cNvSpPr/>
          <p:nvPr/>
        </p:nvSpPr>
        <p:spPr>
          <a:xfrm>
            <a:off x="1733639" y="2550603"/>
            <a:ext cx="13763" cy="13763"/>
          </a:xfrm>
          <a:prstGeom prst="rect">
            <a:avLst/>
          </a:prstGeom>
          <a:solidFill>
            <a:srgbClr val="C9CFC3"/>
          </a:solidFill>
          <a:ln w="12700">
            <a:solidFill>
              <a:srgbClr val="C9CFC3"/>
            </a:solidFill>
            <a:prstDash val="solid"/>
          </a:ln>
        </p:spPr>
      </p:sp>
      <p:sp>
        <p:nvSpPr>
          <p:cNvPr id="145" name="Shape 140"/>
          <p:cNvSpPr/>
          <p:nvPr/>
        </p:nvSpPr>
        <p:spPr>
          <a:xfrm>
            <a:off x="1775978" y="2550603"/>
            <a:ext cx="13763" cy="13763"/>
          </a:xfrm>
          <a:prstGeom prst="rect">
            <a:avLst/>
          </a:prstGeom>
          <a:solidFill>
            <a:srgbClr val="C9CFC3"/>
          </a:solidFill>
          <a:ln w="12700">
            <a:solidFill>
              <a:srgbClr val="C9CFC3"/>
            </a:solidFill>
            <a:prstDash val="solid"/>
          </a:ln>
        </p:spPr>
      </p:sp>
      <p:sp>
        <p:nvSpPr>
          <p:cNvPr id="146" name="Shape 141"/>
          <p:cNvSpPr/>
          <p:nvPr/>
        </p:nvSpPr>
        <p:spPr>
          <a:xfrm>
            <a:off x="1818316" y="2550603"/>
            <a:ext cx="13763" cy="13763"/>
          </a:xfrm>
          <a:prstGeom prst="rect">
            <a:avLst/>
          </a:prstGeom>
          <a:solidFill>
            <a:srgbClr val="C9CFC3"/>
          </a:solidFill>
          <a:ln w="12700">
            <a:solidFill>
              <a:srgbClr val="C9CFC3"/>
            </a:solidFill>
            <a:prstDash val="solid"/>
          </a:ln>
        </p:spPr>
      </p:sp>
      <p:sp>
        <p:nvSpPr>
          <p:cNvPr id="147" name="Shape 142"/>
          <p:cNvSpPr/>
          <p:nvPr/>
        </p:nvSpPr>
        <p:spPr>
          <a:xfrm>
            <a:off x="1860654" y="2550603"/>
            <a:ext cx="13763" cy="13763"/>
          </a:xfrm>
          <a:prstGeom prst="rect">
            <a:avLst/>
          </a:prstGeom>
          <a:solidFill>
            <a:srgbClr val="C9CFC3"/>
          </a:solidFill>
          <a:ln w="12700">
            <a:solidFill>
              <a:srgbClr val="C9CFC3"/>
            </a:solidFill>
            <a:prstDash val="solid"/>
          </a:ln>
        </p:spPr>
      </p:sp>
      <p:sp>
        <p:nvSpPr>
          <p:cNvPr id="148" name="Shape 143"/>
          <p:cNvSpPr/>
          <p:nvPr/>
        </p:nvSpPr>
        <p:spPr>
          <a:xfrm>
            <a:off x="1902992" y="2550603"/>
            <a:ext cx="13763" cy="13763"/>
          </a:xfrm>
          <a:prstGeom prst="rect">
            <a:avLst/>
          </a:prstGeom>
          <a:solidFill>
            <a:srgbClr val="C9CFC3"/>
          </a:solidFill>
          <a:ln w="12700">
            <a:solidFill>
              <a:srgbClr val="C9CFC3"/>
            </a:solidFill>
            <a:prstDash val="solid"/>
          </a:ln>
        </p:spPr>
      </p:sp>
      <p:sp>
        <p:nvSpPr>
          <p:cNvPr id="149" name="Shape 144"/>
          <p:cNvSpPr/>
          <p:nvPr/>
        </p:nvSpPr>
        <p:spPr>
          <a:xfrm>
            <a:off x="1945331" y="2550603"/>
            <a:ext cx="13763" cy="13763"/>
          </a:xfrm>
          <a:prstGeom prst="rect">
            <a:avLst/>
          </a:prstGeom>
          <a:solidFill>
            <a:srgbClr val="C9CFC3"/>
          </a:solidFill>
          <a:ln w="12700">
            <a:solidFill>
              <a:srgbClr val="C9CFC3"/>
            </a:solidFill>
            <a:prstDash val="solid"/>
          </a:ln>
        </p:spPr>
      </p:sp>
      <p:sp>
        <p:nvSpPr>
          <p:cNvPr id="150" name="Shape 145"/>
          <p:cNvSpPr/>
          <p:nvPr/>
        </p:nvSpPr>
        <p:spPr>
          <a:xfrm>
            <a:off x="1987669" y="2550603"/>
            <a:ext cx="13763" cy="13763"/>
          </a:xfrm>
          <a:prstGeom prst="rect">
            <a:avLst/>
          </a:prstGeom>
          <a:solidFill>
            <a:srgbClr val="C9CFC3"/>
          </a:solidFill>
          <a:ln w="12700">
            <a:solidFill>
              <a:srgbClr val="C9CFC3"/>
            </a:solidFill>
            <a:prstDash val="solid"/>
          </a:ln>
        </p:spPr>
      </p:sp>
      <p:sp>
        <p:nvSpPr>
          <p:cNvPr id="151" name="Shape 146"/>
          <p:cNvSpPr/>
          <p:nvPr/>
        </p:nvSpPr>
        <p:spPr>
          <a:xfrm>
            <a:off x="2030007" y="2550603"/>
            <a:ext cx="13763" cy="13763"/>
          </a:xfrm>
          <a:prstGeom prst="rect">
            <a:avLst/>
          </a:prstGeom>
          <a:solidFill>
            <a:srgbClr val="C9CFC3"/>
          </a:solidFill>
          <a:ln w="12700">
            <a:solidFill>
              <a:srgbClr val="C9CFC3"/>
            </a:solidFill>
            <a:prstDash val="solid"/>
          </a:ln>
        </p:spPr>
      </p:sp>
      <p:sp>
        <p:nvSpPr>
          <p:cNvPr id="152" name="Shape 147"/>
          <p:cNvSpPr/>
          <p:nvPr/>
        </p:nvSpPr>
        <p:spPr>
          <a:xfrm>
            <a:off x="2072346" y="2550603"/>
            <a:ext cx="13763" cy="13763"/>
          </a:xfrm>
          <a:prstGeom prst="rect">
            <a:avLst/>
          </a:prstGeom>
          <a:solidFill>
            <a:srgbClr val="C9CFC3"/>
          </a:solidFill>
          <a:ln w="12700">
            <a:solidFill>
              <a:srgbClr val="C9CFC3"/>
            </a:solidFill>
            <a:prstDash val="solid"/>
          </a:ln>
        </p:spPr>
      </p:sp>
      <p:sp>
        <p:nvSpPr>
          <p:cNvPr id="153" name="Shape 148"/>
          <p:cNvSpPr/>
          <p:nvPr/>
        </p:nvSpPr>
        <p:spPr>
          <a:xfrm>
            <a:off x="2114684" y="2550603"/>
            <a:ext cx="13763" cy="13763"/>
          </a:xfrm>
          <a:prstGeom prst="rect">
            <a:avLst/>
          </a:prstGeom>
          <a:solidFill>
            <a:srgbClr val="C9CFC3"/>
          </a:solidFill>
          <a:ln w="12700">
            <a:solidFill>
              <a:srgbClr val="C9CFC3"/>
            </a:solidFill>
            <a:prstDash val="solid"/>
          </a:ln>
        </p:spPr>
      </p:sp>
      <p:sp>
        <p:nvSpPr>
          <p:cNvPr id="154" name="Shape 149"/>
          <p:cNvSpPr/>
          <p:nvPr/>
        </p:nvSpPr>
        <p:spPr>
          <a:xfrm>
            <a:off x="971550" y="2592941"/>
            <a:ext cx="13763" cy="13763"/>
          </a:xfrm>
          <a:prstGeom prst="rect">
            <a:avLst/>
          </a:prstGeom>
          <a:solidFill>
            <a:srgbClr val="C9CFC3"/>
          </a:solidFill>
          <a:ln w="12700">
            <a:solidFill>
              <a:srgbClr val="C9CFC3"/>
            </a:solidFill>
            <a:prstDash val="solid"/>
          </a:ln>
        </p:spPr>
      </p:sp>
      <p:sp>
        <p:nvSpPr>
          <p:cNvPr id="155" name="Shape 150"/>
          <p:cNvSpPr/>
          <p:nvPr/>
        </p:nvSpPr>
        <p:spPr>
          <a:xfrm>
            <a:off x="1013888" y="2592941"/>
            <a:ext cx="13763" cy="13763"/>
          </a:xfrm>
          <a:prstGeom prst="rect">
            <a:avLst/>
          </a:prstGeom>
          <a:solidFill>
            <a:srgbClr val="C9CFC3"/>
          </a:solidFill>
          <a:ln w="12700">
            <a:solidFill>
              <a:srgbClr val="C9CFC3"/>
            </a:solidFill>
            <a:prstDash val="solid"/>
          </a:ln>
        </p:spPr>
      </p:sp>
      <p:sp>
        <p:nvSpPr>
          <p:cNvPr id="156" name="Shape 151"/>
          <p:cNvSpPr/>
          <p:nvPr/>
        </p:nvSpPr>
        <p:spPr>
          <a:xfrm>
            <a:off x="1056227" y="2592941"/>
            <a:ext cx="13763" cy="13763"/>
          </a:xfrm>
          <a:prstGeom prst="rect">
            <a:avLst/>
          </a:prstGeom>
          <a:solidFill>
            <a:srgbClr val="C9CFC3"/>
          </a:solidFill>
          <a:ln w="12700">
            <a:solidFill>
              <a:srgbClr val="C9CFC3"/>
            </a:solidFill>
            <a:prstDash val="solid"/>
          </a:ln>
        </p:spPr>
      </p:sp>
      <p:sp>
        <p:nvSpPr>
          <p:cNvPr id="157" name="Shape 152"/>
          <p:cNvSpPr/>
          <p:nvPr/>
        </p:nvSpPr>
        <p:spPr>
          <a:xfrm>
            <a:off x="1098565" y="2592941"/>
            <a:ext cx="13763" cy="13763"/>
          </a:xfrm>
          <a:prstGeom prst="rect">
            <a:avLst/>
          </a:prstGeom>
          <a:solidFill>
            <a:srgbClr val="C9CFC3"/>
          </a:solidFill>
          <a:ln w="12700">
            <a:solidFill>
              <a:srgbClr val="C9CFC3"/>
            </a:solidFill>
            <a:prstDash val="solid"/>
          </a:ln>
        </p:spPr>
      </p:sp>
      <p:sp>
        <p:nvSpPr>
          <p:cNvPr id="158" name="Shape 153"/>
          <p:cNvSpPr/>
          <p:nvPr/>
        </p:nvSpPr>
        <p:spPr>
          <a:xfrm>
            <a:off x="1140903" y="2592941"/>
            <a:ext cx="13763" cy="13763"/>
          </a:xfrm>
          <a:prstGeom prst="rect">
            <a:avLst/>
          </a:prstGeom>
          <a:solidFill>
            <a:srgbClr val="C9CFC3"/>
          </a:solidFill>
          <a:ln w="12700">
            <a:solidFill>
              <a:srgbClr val="C9CFC3"/>
            </a:solidFill>
            <a:prstDash val="solid"/>
          </a:ln>
        </p:spPr>
      </p:sp>
      <p:sp>
        <p:nvSpPr>
          <p:cNvPr id="159" name="Shape 154"/>
          <p:cNvSpPr/>
          <p:nvPr/>
        </p:nvSpPr>
        <p:spPr>
          <a:xfrm>
            <a:off x="1183241" y="2592941"/>
            <a:ext cx="13763" cy="13763"/>
          </a:xfrm>
          <a:prstGeom prst="rect">
            <a:avLst/>
          </a:prstGeom>
          <a:solidFill>
            <a:srgbClr val="C9CFC3"/>
          </a:solidFill>
          <a:ln w="12700">
            <a:solidFill>
              <a:srgbClr val="C9CFC3"/>
            </a:solidFill>
            <a:prstDash val="solid"/>
          </a:ln>
        </p:spPr>
      </p:sp>
      <p:sp>
        <p:nvSpPr>
          <p:cNvPr id="160" name="Shape 155"/>
          <p:cNvSpPr/>
          <p:nvPr/>
        </p:nvSpPr>
        <p:spPr>
          <a:xfrm>
            <a:off x="1225580" y="2592941"/>
            <a:ext cx="13763" cy="13763"/>
          </a:xfrm>
          <a:prstGeom prst="rect">
            <a:avLst/>
          </a:prstGeom>
          <a:solidFill>
            <a:srgbClr val="C9CFC3"/>
          </a:solidFill>
          <a:ln w="12700">
            <a:solidFill>
              <a:srgbClr val="C9CFC3"/>
            </a:solidFill>
            <a:prstDash val="solid"/>
          </a:ln>
        </p:spPr>
      </p:sp>
      <p:sp>
        <p:nvSpPr>
          <p:cNvPr id="161" name="Shape 156"/>
          <p:cNvSpPr/>
          <p:nvPr/>
        </p:nvSpPr>
        <p:spPr>
          <a:xfrm>
            <a:off x="1267918" y="2592941"/>
            <a:ext cx="13763" cy="13763"/>
          </a:xfrm>
          <a:prstGeom prst="rect">
            <a:avLst/>
          </a:prstGeom>
          <a:solidFill>
            <a:srgbClr val="C9CFC3"/>
          </a:solidFill>
          <a:ln w="12700">
            <a:solidFill>
              <a:srgbClr val="C9CFC3"/>
            </a:solidFill>
            <a:prstDash val="solid"/>
          </a:ln>
        </p:spPr>
      </p:sp>
      <p:sp>
        <p:nvSpPr>
          <p:cNvPr id="162" name="Shape 157"/>
          <p:cNvSpPr/>
          <p:nvPr/>
        </p:nvSpPr>
        <p:spPr>
          <a:xfrm>
            <a:off x="1310256" y="2592941"/>
            <a:ext cx="13763" cy="13763"/>
          </a:xfrm>
          <a:prstGeom prst="rect">
            <a:avLst/>
          </a:prstGeom>
          <a:solidFill>
            <a:srgbClr val="C9CFC3"/>
          </a:solidFill>
          <a:ln w="12700">
            <a:solidFill>
              <a:srgbClr val="C9CFC3"/>
            </a:solidFill>
            <a:prstDash val="solid"/>
          </a:ln>
        </p:spPr>
      </p:sp>
      <p:sp>
        <p:nvSpPr>
          <p:cNvPr id="163" name="Shape 158"/>
          <p:cNvSpPr/>
          <p:nvPr/>
        </p:nvSpPr>
        <p:spPr>
          <a:xfrm>
            <a:off x="1352595" y="2592941"/>
            <a:ext cx="13763" cy="13763"/>
          </a:xfrm>
          <a:prstGeom prst="rect">
            <a:avLst/>
          </a:prstGeom>
          <a:solidFill>
            <a:srgbClr val="C9CFC3"/>
          </a:solidFill>
          <a:ln w="12700">
            <a:solidFill>
              <a:srgbClr val="C9CFC3"/>
            </a:solidFill>
            <a:prstDash val="solid"/>
          </a:ln>
        </p:spPr>
      </p:sp>
      <p:sp>
        <p:nvSpPr>
          <p:cNvPr id="164" name="Shape 159"/>
          <p:cNvSpPr/>
          <p:nvPr/>
        </p:nvSpPr>
        <p:spPr>
          <a:xfrm>
            <a:off x="1394933" y="2592941"/>
            <a:ext cx="13763" cy="13763"/>
          </a:xfrm>
          <a:prstGeom prst="rect">
            <a:avLst/>
          </a:prstGeom>
          <a:solidFill>
            <a:srgbClr val="C9CFC3"/>
          </a:solidFill>
          <a:ln w="12700">
            <a:solidFill>
              <a:srgbClr val="C9CFC3"/>
            </a:solidFill>
            <a:prstDash val="solid"/>
          </a:ln>
        </p:spPr>
      </p:sp>
      <p:sp>
        <p:nvSpPr>
          <p:cNvPr id="165" name="Shape 160"/>
          <p:cNvSpPr/>
          <p:nvPr/>
        </p:nvSpPr>
        <p:spPr>
          <a:xfrm>
            <a:off x="1437271" y="2592941"/>
            <a:ext cx="13763" cy="13763"/>
          </a:xfrm>
          <a:prstGeom prst="rect">
            <a:avLst/>
          </a:prstGeom>
          <a:solidFill>
            <a:srgbClr val="C9CFC3"/>
          </a:solidFill>
          <a:ln w="12700">
            <a:solidFill>
              <a:srgbClr val="C9CFC3"/>
            </a:solidFill>
            <a:prstDash val="solid"/>
          </a:ln>
        </p:spPr>
      </p:sp>
      <p:sp>
        <p:nvSpPr>
          <p:cNvPr id="166" name="Shape 161"/>
          <p:cNvSpPr/>
          <p:nvPr/>
        </p:nvSpPr>
        <p:spPr>
          <a:xfrm>
            <a:off x="1479609" y="2592941"/>
            <a:ext cx="13763" cy="13763"/>
          </a:xfrm>
          <a:prstGeom prst="rect">
            <a:avLst/>
          </a:prstGeom>
          <a:solidFill>
            <a:srgbClr val="C9CFC3"/>
          </a:solidFill>
          <a:ln w="12700">
            <a:solidFill>
              <a:srgbClr val="C9CFC3"/>
            </a:solidFill>
            <a:prstDash val="solid"/>
          </a:ln>
        </p:spPr>
      </p:sp>
      <p:sp>
        <p:nvSpPr>
          <p:cNvPr id="167" name="Shape 162"/>
          <p:cNvSpPr/>
          <p:nvPr/>
        </p:nvSpPr>
        <p:spPr>
          <a:xfrm>
            <a:off x="1521948" y="2592941"/>
            <a:ext cx="13763" cy="13763"/>
          </a:xfrm>
          <a:prstGeom prst="rect">
            <a:avLst/>
          </a:prstGeom>
          <a:solidFill>
            <a:srgbClr val="C9CFC3"/>
          </a:solidFill>
          <a:ln w="12700">
            <a:solidFill>
              <a:srgbClr val="C9CFC3"/>
            </a:solidFill>
            <a:prstDash val="solid"/>
          </a:ln>
        </p:spPr>
      </p:sp>
      <p:sp>
        <p:nvSpPr>
          <p:cNvPr id="168" name="Shape 163"/>
          <p:cNvSpPr/>
          <p:nvPr/>
        </p:nvSpPr>
        <p:spPr>
          <a:xfrm>
            <a:off x="1564286" y="2592941"/>
            <a:ext cx="13763" cy="13763"/>
          </a:xfrm>
          <a:prstGeom prst="rect">
            <a:avLst/>
          </a:prstGeom>
          <a:solidFill>
            <a:srgbClr val="C9CFC3"/>
          </a:solidFill>
          <a:ln w="12700">
            <a:solidFill>
              <a:srgbClr val="C9CFC3"/>
            </a:solidFill>
            <a:prstDash val="solid"/>
          </a:ln>
        </p:spPr>
      </p:sp>
      <p:sp>
        <p:nvSpPr>
          <p:cNvPr id="169" name="Shape 164"/>
          <p:cNvSpPr/>
          <p:nvPr/>
        </p:nvSpPr>
        <p:spPr>
          <a:xfrm>
            <a:off x="1606624" y="2592941"/>
            <a:ext cx="13763" cy="13763"/>
          </a:xfrm>
          <a:prstGeom prst="rect">
            <a:avLst/>
          </a:prstGeom>
          <a:solidFill>
            <a:srgbClr val="C9CFC3"/>
          </a:solidFill>
          <a:ln w="12700">
            <a:solidFill>
              <a:srgbClr val="C9CFC3"/>
            </a:solidFill>
            <a:prstDash val="solid"/>
          </a:ln>
        </p:spPr>
      </p:sp>
      <p:sp>
        <p:nvSpPr>
          <p:cNvPr id="170" name="Shape 165"/>
          <p:cNvSpPr/>
          <p:nvPr/>
        </p:nvSpPr>
        <p:spPr>
          <a:xfrm>
            <a:off x="1648963" y="2592941"/>
            <a:ext cx="13763" cy="13763"/>
          </a:xfrm>
          <a:prstGeom prst="rect">
            <a:avLst/>
          </a:prstGeom>
          <a:solidFill>
            <a:srgbClr val="C9CFC3"/>
          </a:solidFill>
          <a:ln w="12700">
            <a:solidFill>
              <a:srgbClr val="C9CFC3"/>
            </a:solidFill>
            <a:prstDash val="solid"/>
          </a:ln>
        </p:spPr>
      </p:sp>
      <p:sp>
        <p:nvSpPr>
          <p:cNvPr id="171" name="Shape 166"/>
          <p:cNvSpPr/>
          <p:nvPr/>
        </p:nvSpPr>
        <p:spPr>
          <a:xfrm>
            <a:off x="1691301" y="2592941"/>
            <a:ext cx="13763" cy="13763"/>
          </a:xfrm>
          <a:prstGeom prst="rect">
            <a:avLst/>
          </a:prstGeom>
          <a:solidFill>
            <a:srgbClr val="C9CFC3"/>
          </a:solidFill>
          <a:ln w="12700">
            <a:solidFill>
              <a:srgbClr val="C9CFC3"/>
            </a:solidFill>
            <a:prstDash val="solid"/>
          </a:ln>
        </p:spPr>
      </p:sp>
      <p:sp>
        <p:nvSpPr>
          <p:cNvPr id="172" name="Shape 167"/>
          <p:cNvSpPr/>
          <p:nvPr/>
        </p:nvSpPr>
        <p:spPr>
          <a:xfrm>
            <a:off x="1733639" y="2592941"/>
            <a:ext cx="13763" cy="13763"/>
          </a:xfrm>
          <a:prstGeom prst="rect">
            <a:avLst/>
          </a:prstGeom>
          <a:solidFill>
            <a:srgbClr val="C9CFC3"/>
          </a:solidFill>
          <a:ln w="12700">
            <a:solidFill>
              <a:srgbClr val="C9CFC3"/>
            </a:solidFill>
            <a:prstDash val="solid"/>
          </a:ln>
        </p:spPr>
      </p:sp>
      <p:sp>
        <p:nvSpPr>
          <p:cNvPr id="173" name="Shape 168"/>
          <p:cNvSpPr/>
          <p:nvPr/>
        </p:nvSpPr>
        <p:spPr>
          <a:xfrm>
            <a:off x="1775978" y="2592941"/>
            <a:ext cx="13763" cy="13763"/>
          </a:xfrm>
          <a:prstGeom prst="rect">
            <a:avLst/>
          </a:prstGeom>
          <a:solidFill>
            <a:srgbClr val="C9CFC3"/>
          </a:solidFill>
          <a:ln w="12700">
            <a:solidFill>
              <a:srgbClr val="C9CFC3"/>
            </a:solidFill>
            <a:prstDash val="solid"/>
          </a:ln>
        </p:spPr>
      </p:sp>
      <p:sp>
        <p:nvSpPr>
          <p:cNvPr id="174" name="Shape 169"/>
          <p:cNvSpPr/>
          <p:nvPr/>
        </p:nvSpPr>
        <p:spPr>
          <a:xfrm>
            <a:off x="1818316" y="2592941"/>
            <a:ext cx="13763" cy="13763"/>
          </a:xfrm>
          <a:prstGeom prst="rect">
            <a:avLst/>
          </a:prstGeom>
          <a:solidFill>
            <a:srgbClr val="C9CFC3"/>
          </a:solidFill>
          <a:ln w="12700">
            <a:solidFill>
              <a:srgbClr val="C9CFC3"/>
            </a:solidFill>
            <a:prstDash val="solid"/>
          </a:ln>
        </p:spPr>
      </p:sp>
      <p:sp>
        <p:nvSpPr>
          <p:cNvPr id="175" name="Shape 170"/>
          <p:cNvSpPr/>
          <p:nvPr/>
        </p:nvSpPr>
        <p:spPr>
          <a:xfrm>
            <a:off x="1860654" y="2592941"/>
            <a:ext cx="13763" cy="13763"/>
          </a:xfrm>
          <a:prstGeom prst="rect">
            <a:avLst/>
          </a:prstGeom>
          <a:solidFill>
            <a:srgbClr val="C9CFC3"/>
          </a:solidFill>
          <a:ln w="12700">
            <a:solidFill>
              <a:srgbClr val="C9CFC3"/>
            </a:solidFill>
            <a:prstDash val="solid"/>
          </a:ln>
        </p:spPr>
      </p:sp>
      <p:sp>
        <p:nvSpPr>
          <p:cNvPr id="176" name="Shape 171"/>
          <p:cNvSpPr/>
          <p:nvPr/>
        </p:nvSpPr>
        <p:spPr>
          <a:xfrm>
            <a:off x="1902992" y="2592941"/>
            <a:ext cx="13763" cy="13763"/>
          </a:xfrm>
          <a:prstGeom prst="rect">
            <a:avLst/>
          </a:prstGeom>
          <a:solidFill>
            <a:srgbClr val="C9CFC3"/>
          </a:solidFill>
          <a:ln w="12700">
            <a:solidFill>
              <a:srgbClr val="C9CFC3"/>
            </a:solidFill>
            <a:prstDash val="solid"/>
          </a:ln>
        </p:spPr>
      </p:sp>
      <p:sp>
        <p:nvSpPr>
          <p:cNvPr id="177" name="Shape 172"/>
          <p:cNvSpPr/>
          <p:nvPr/>
        </p:nvSpPr>
        <p:spPr>
          <a:xfrm>
            <a:off x="1945331" y="2592941"/>
            <a:ext cx="13763" cy="13763"/>
          </a:xfrm>
          <a:prstGeom prst="rect">
            <a:avLst/>
          </a:prstGeom>
          <a:solidFill>
            <a:srgbClr val="C9CFC3"/>
          </a:solidFill>
          <a:ln w="12700">
            <a:solidFill>
              <a:srgbClr val="C9CFC3"/>
            </a:solidFill>
            <a:prstDash val="solid"/>
          </a:ln>
        </p:spPr>
      </p:sp>
      <p:sp>
        <p:nvSpPr>
          <p:cNvPr id="178" name="Shape 173"/>
          <p:cNvSpPr/>
          <p:nvPr/>
        </p:nvSpPr>
        <p:spPr>
          <a:xfrm>
            <a:off x="1987669" y="2592941"/>
            <a:ext cx="13763" cy="13763"/>
          </a:xfrm>
          <a:prstGeom prst="rect">
            <a:avLst/>
          </a:prstGeom>
          <a:solidFill>
            <a:srgbClr val="C9CFC3"/>
          </a:solidFill>
          <a:ln w="12700">
            <a:solidFill>
              <a:srgbClr val="C9CFC3"/>
            </a:solidFill>
            <a:prstDash val="solid"/>
          </a:ln>
        </p:spPr>
      </p:sp>
      <p:sp>
        <p:nvSpPr>
          <p:cNvPr id="179" name="Shape 174"/>
          <p:cNvSpPr/>
          <p:nvPr/>
        </p:nvSpPr>
        <p:spPr>
          <a:xfrm>
            <a:off x="2030007" y="2592941"/>
            <a:ext cx="13763" cy="13763"/>
          </a:xfrm>
          <a:prstGeom prst="rect">
            <a:avLst/>
          </a:prstGeom>
          <a:solidFill>
            <a:srgbClr val="C9CFC3"/>
          </a:solidFill>
          <a:ln w="12700">
            <a:solidFill>
              <a:srgbClr val="C9CFC3"/>
            </a:solidFill>
            <a:prstDash val="solid"/>
          </a:ln>
        </p:spPr>
      </p:sp>
      <p:sp>
        <p:nvSpPr>
          <p:cNvPr id="180" name="Shape 175"/>
          <p:cNvSpPr/>
          <p:nvPr/>
        </p:nvSpPr>
        <p:spPr>
          <a:xfrm>
            <a:off x="2072346" y="2592941"/>
            <a:ext cx="13763" cy="13763"/>
          </a:xfrm>
          <a:prstGeom prst="rect">
            <a:avLst/>
          </a:prstGeom>
          <a:solidFill>
            <a:srgbClr val="C9CFC3"/>
          </a:solidFill>
          <a:ln w="12700">
            <a:solidFill>
              <a:srgbClr val="C9CFC3"/>
            </a:solidFill>
            <a:prstDash val="solid"/>
          </a:ln>
        </p:spPr>
      </p:sp>
      <p:sp>
        <p:nvSpPr>
          <p:cNvPr id="181" name="Shape 176"/>
          <p:cNvSpPr/>
          <p:nvPr/>
        </p:nvSpPr>
        <p:spPr>
          <a:xfrm>
            <a:off x="2114684" y="2592941"/>
            <a:ext cx="13763" cy="13763"/>
          </a:xfrm>
          <a:prstGeom prst="rect">
            <a:avLst/>
          </a:prstGeom>
          <a:solidFill>
            <a:srgbClr val="C9CFC3"/>
          </a:solidFill>
          <a:ln w="12700">
            <a:solidFill>
              <a:srgbClr val="C9CFC3"/>
            </a:solidFill>
            <a:prstDash val="solid"/>
          </a:ln>
        </p:spPr>
      </p:sp>
      <p:sp>
        <p:nvSpPr>
          <p:cNvPr id="182" name="Shape 177"/>
          <p:cNvSpPr/>
          <p:nvPr/>
        </p:nvSpPr>
        <p:spPr>
          <a:xfrm>
            <a:off x="971550" y="2635280"/>
            <a:ext cx="13763" cy="13763"/>
          </a:xfrm>
          <a:prstGeom prst="rect">
            <a:avLst/>
          </a:prstGeom>
          <a:solidFill>
            <a:srgbClr val="C9CFC3"/>
          </a:solidFill>
          <a:ln w="12700">
            <a:solidFill>
              <a:srgbClr val="C9CFC3"/>
            </a:solidFill>
            <a:prstDash val="solid"/>
          </a:ln>
        </p:spPr>
      </p:sp>
      <p:sp>
        <p:nvSpPr>
          <p:cNvPr id="183" name="Shape 178"/>
          <p:cNvSpPr/>
          <p:nvPr/>
        </p:nvSpPr>
        <p:spPr>
          <a:xfrm>
            <a:off x="1013888" y="2635280"/>
            <a:ext cx="13763" cy="13763"/>
          </a:xfrm>
          <a:prstGeom prst="rect">
            <a:avLst/>
          </a:prstGeom>
          <a:solidFill>
            <a:srgbClr val="C9CFC3"/>
          </a:solidFill>
          <a:ln w="12700">
            <a:solidFill>
              <a:srgbClr val="C9CFC3"/>
            </a:solidFill>
            <a:prstDash val="solid"/>
          </a:ln>
        </p:spPr>
      </p:sp>
      <p:sp>
        <p:nvSpPr>
          <p:cNvPr id="184" name="Shape 179"/>
          <p:cNvSpPr/>
          <p:nvPr/>
        </p:nvSpPr>
        <p:spPr>
          <a:xfrm>
            <a:off x="1056227" y="2635280"/>
            <a:ext cx="13763" cy="13763"/>
          </a:xfrm>
          <a:prstGeom prst="rect">
            <a:avLst/>
          </a:prstGeom>
          <a:solidFill>
            <a:srgbClr val="C9CFC3"/>
          </a:solidFill>
          <a:ln w="12700">
            <a:solidFill>
              <a:srgbClr val="C9CFC3"/>
            </a:solidFill>
            <a:prstDash val="solid"/>
          </a:ln>
        </p:spPr>
      </p:sp>
      <p:sp>
        <p:nvSpPr>
          <p:cNvPr id="185" name="Shape 180"/>
          <p:cNvSpPr/>
          <p:nvPr/>
        </p:nvSpPr>
        <p:spPr>
          <a:xfrm>
            <a:off x="1098565" y="2635280"/>
            <a:ext cx="13763" cy="13763"/>
          </a:xfrm>
          <a:prstGeom prst="rect">
            <a:avLst/>
          </a:prstGeom>
          <a:solidFill>
            <a:srgbClr val="C9CFC3"/>
          </a:solidFill>
          <a:ln w="12700">
            <a:solidFill>
              <a:srgbClr val="C9CFC3"/>
            </a:solidFill>
            <a:prstDash val="solid"/>
          </a:ln>
        </p:spPr>
      </p:sp>
      <p:sp>
        <p:nvSpPr>
          <p:cNvPr id="186" name="Shape 181"/>
          <p:cNvSpPr/>
          <p:nvPr/>
        </p:nvSpPr>
        <p:spPr>
          <a:xfrm>
            <a:off x="1140903" y="2635280"/>
            <a:ext cx="13763" cy="13763"/>
          </a:xfrm>
          <a:prstGeom prst="rect">
            <a:avLst/>
          </a:prstGeom>
          <a:solidFill>
            <a:srgbClr val="C9CFC3"/>
          </a:solidFill>
          <a:ln w="12700">
            <a:solidFill>
              <a:srgbClr val="C9CFC3"/>
            </a:solidFill>
            <a:prstDash val="solid"/>
          </a:ln>
        </p:spPr>
      </p:sp>
      <p:sp>
        <p:nvSpPr>
          <p:cNvPr id="187" name="Shape 182"/>
          <p:cNvSpPr/>
          <p:nvPr/>
        </p:nvSpPr>
        <p:spPr>
          <a:xfrm>
            <a:off x="1183241" y="2635280"/>
            <a:ext cx="13763" cy="13763"/>
          </a:xfrm>
          <a:prstGeom prst="rect">
            <a:avLst/>
          </a:prstGeom>
          <a:solidFill>
            <a:srgbClr val="C9CFC3"/>
          </a:solidFill>
          <a:ln w="12700">
            <a:solidFill>
              <a:srgbClr val="C9CFC3"/>
            </a:solidFill>
            <a:prstDash val="solid"/>
          </a:ln>
        </p:spPr>
      </p:sp>
      <p:sp>
        <p:nvSpPr>
          <p:cNvPr id="188" name="Shape 183"/>
          <p:cNvSpPr/>
          <p:nvPr/>
        </p:nvSpPr>
        <p:spPr>
          <a:xfrm>
            <a:off x="1225580" y="2635280"/>
            <a:ext cx="13763" cy="13763"/>
          </a:xfrm>
          <a:prstGeom prst="rect">
            <a:avLst/>
          </a:prstGeom>
          <a:solidFill>
            <a:srgbClr val="C9CFC3"/>
          </a:solidFill>
          <a:ln w="12700">
            <a:solidFill>
              <a:srgbClr val="C9CFC3"/>
            </a:solidFill>
            <a:prstDash val="solid"/>
          </a:ln>
        </p:spPr>
      </p:sp>
      <p:sp>
        <p:nvSpPr>
          <p:cNvPr id="189" name="Shape 184"/>
          <p:cNvSpPr/>
          <p:nvPr/>
        </p:nvSpPr>
        <p:spPr>
          <a:xfrm>
            <a:off x="1267918" y="2635280"/>
            <a:ext cx="13763" cy="13763"/>
          </a:xfrm>
          <a:prstGeom prst="rect">
            <a:avLst/>
          </a:prstGeom>
          <a:solidFill>
            <a:srgbClr val="C9CFC3"/>
          </a:solidFill>
          <a:ln w="12700">
            <a:solidFill>
              <a:srgbClr val="C9CFC3"/>
            </a:solidFill>
            <a:prstDash val="solid"/>
          </a:ln>
        </p:spPr>
      </p:sp>
      <p:sp>
        <p:nvSpPr>
          <p:cNvPr id="190" name="Shape 185"/>
          <p:cNvSpPr/>
          <p:nvPr/>
        </p:nvSpPr>
        <p:spPr>
          <a:xfrm>
            <a:off x="1310256" y="2635280"/>
            <a:ext cx="13763" cy="13763"/>
          </a:xfrm>
          <a:prstGeom prst="rect">
            <a:avLst/>
          </a:prstGeom>
          <a:solidFill>
            <a:srgbClr val="C9CFC3"/>
          </a:solidFill>
          <a:ln w="12700">
            <a:solidFill>
              <a:srgbClr val="C9CFC3"/>
            </a:solidFill>
            <a:prstDash val="solid"/>
          </a:ln>
        </p:spPr>
      </p:sp>
      <p:sp>
        <p:nvSpPr>
          <p:cNvPr id="191" name="Shape 186"/>
          <p:cNvSpPr/>
          <p:nvPr/>
        </p:nvSpPr>
        <p:spPr>
          <a:xfrm>
            <a:off x="1352595" y="2635280"/>
            <a:ext cx="13763" cy="13763"/>
          </a:xfrm>
          <a:prstGeom prst="rect">
            <a:avLst/>
          </a:prstGeom>
          <a:solidFill>
            <a:srgbClr val="C9CFC3"/>
          </a:solidFill>
          <a:ln w="12700">
            <a:solidFill>
              <a:srgbClr val="C9CFC3"/>
            </a:solidFill>
            <a:prstDash val="solid"/>
          </a:ln>
        </p:spPr>
      </p:sp>
      <p:sp>
        <p:nvSpPr>
          <p:cNvPr id="192" name="Shape 187"/>
          <p:cNvSpPr/>
          <p:nvPr/>
        </p:nvSpPr>
        <p:spPr>
          <a:xfrm>
            <a:off x="1394933" y="2635280"/>
            <a:ext cx="13763" cy="13763"/>
          </a:xfrm>
          <a:prstGeom prst="rect">
            <a:avLst/>
          </a:prstGeom>
          <a:solidFill>
            <a:srgbClr val="C9CFC3"/>
          </a:solidFill>
          <a:ln w="12700">
            <a:solidFill>
              <a:srgbClr val="C9CFC3"/>
            </a:solidFill>
            <a:prstDash val="solid"/>
          </a:ln>
        </p:spPr>
      </p:sp>
      <p:sp>
        <p:nvSpPr>
          <p:cNvPr id="193" name="Shape 188"/>
          <p:cNvSpPr/>
          <p:nvPr/>
        </p:nvSpPr>
        <p:spPr>
          <a:xfrm>
            <a:off x="1437271" y="2635280"/>
            <a:ext cx="13763" cy="13763"/>
          </a:xfrm>
          <a:prstGeom prst="rect">
            <a:avLst/>
          </a:prstGeom>
          <a:solidFill>
            <a:srgbClr val="C9CFC3"/>
          </a:solidFill>
          <a:ln w="12700">
            <a:solidFill>
              <a:srgbClr val="C9CFC3"/>
            </a:solidFill>
            <a:prstDash val="solid"/>
          </a:ln>
        </p:spPr>
      </p:sp>
      <p:sp>
        <p:nvSpPr>
          <p:cNvPr id="194" name="Shape 189"/>
          <p:cNvSpPr/>
          <p:nvPr/>
        </p:nvSpPr>
        <p:spPr>
          <a:xfrm>
            <a:off x="1479609" y="2635280"/>
            <a:ext cx="13763" cy="13763"/>
          </a:xfrm>
          <a:prstGeom prst="rect">
            <a:avLst/>
          </a:prstGeom>
          <a:solidFill>
            <a:srgbClr val="C9CFC3"/>
          </a:solidFill>
          <a:ln w="12700">
            <a:solidFill>
              <a:srgbClr val="C9CFC3"/>
            </a:solidFill>
            <a:prstDash val="solid"/>
          </a:ln>
        </p:spPr>
      </p:sp>
      <p:sp>
        <p:nvSpPr>
          <p:cNvPr id="195" name="Shape 190"/>
          <p:cNvSpPr/>
          <p:nvPr/>
        </p:nvSpPr>
        <p:spPr>
          <a:xfrm>
            <a:off x="1521948" y="2635280"/>
            <a:ext cx="13763" cy="13763"/>
          </a:xfrm>
          <a:prstGeom prst="rect">
            <a:avLst/>
          </a:prstGeom>
          <a:solidFill>
            <a:srgbClr val="C9CFC3"/>
          </a:solidFill>
          <a:ln w="12700">
            <a:solidFill>
              <a:srgbClr val="C9CFC3"/>
            </a:solidFill>
            <a:prstDash val="solid"/>
          </a:ln>
        </p:spPr>
      </p:sp>
      <p:sp>
        <p:nvSpPr>
          <p:cNvPr id="196" name="Shape 191"/>
          <p:cNvSpPr/>
          <p:nvPr/>
        </p:nvSpPr>
        <p:spPr>
          <a:xfrm>
            <a:off x="1564286" y="2635280"/>
            <a:ext cx="13763" cy="13763"/>
          </a:xfrm>
          <a:prstGeom prst="rect">
            <a:avLst/>
          </a:prstGeom>
          <a:solidFill>
            <a:srgbClr val="C9CFC3"/>
          </a:solidFill>
          <a:ln w="12700">
            <a:solidFill>
              <a:srgbClr val="C9CFC3"/>
            </a:solidFill>
            <a:prstDash val="solid"/>
          </a:ln>
        </p:spPr>
      </p:sp>
      <p:sp>
        <p:nvSpPr>
          <p:cNvPr id="197" name="Shape 192"/>
          <p:cNvSpPr/>
          <p:nvPr/>
        </p:nvSpPr>
        <p:spPr>
          <a:xfrm>
            <a:off x="1606624" y="2635280"/>
            <a:ext cx="13763" cy="13763"/>
          </a:xfrm>
          <a:prstGeom prst="rect">
            <a:avLst/>
          </a:prstGeom>
          <a:solidFill>
            <a:srgbClr val="C9CFC3"/>
          </a:solidFill>
          <a:ln w="12700">
            <a:solidFill>
              <a:srgbClr val="C9CFC3"/>
            </a:solidFill>
            <a:prstDash val="solid"/>
          </a:ln>
        </p:spPr>
      </p:sp>
      <p:sp>
        <p:nvSpPr>
          <p:cNvPr id="198" name="Shape 193"/>
          <p:cNvSpPr/>
          <p:nvPr/>
        </p:nvSpPr>
        <p:spPr>
          <a:xfrm>
            <a:off x="1648963" y="2635280"/>
            <a:ext cx="13763" cy="13763"/>
          </a:xfrm>
          <a:prstGeom prst="rect">
            <a:avLst/>
          </a:prstGeom>
          <a:solidFill>
            <a:srgbClr val="C9CFC3"/>
          </a:solidFill>
          <a:ln w="12700">
            <a:solidFill>
              <a:srgbClr val="C9CFC3"/>
            </a:solidFill>
            <a:prstDash val="solid"/>
          </a:ln>
        </p:spPr>
      </p:sp>
      <p:sp>
        <p:nvSpPr>
          <p:cNvPr id="199" name="Shape 194"/>
          <p:cNvSpPr/>
          <p:nvPr/>
        </p:nvSpPr>
        <p:spPr>
          <a:xfrm>
            <a:off x="1691301" y="2635280"/>
            <a:ext cx="13763" cy="13763"/>
          </a:xfrm>
          <a:prstGeom prst="rect">
            <a:avLst/>
          </a:prstGeom>
          <a:solidFill>
            <a:srgbClr val="C9CFC3"/>
          </a:solidFill>
          <a:ln w="12700">
            <a:solidFill>
              <a:srgbClr val="C9CFC3"/>
            </a:solidFill>
            <a:prstDash val="solid"/>
          </a:ln>
        </p:spPr>
      </p:sp>
      <p:sp>
        <p:nvSpPr>
          <p:cNvPr id="200" name="Shape 195"/>
          <p:cNvSpPr/>
          <p:nvPr/>
        </p:nvSpPr>
        <p:spPr>
          <a:xfrm>
            <a:off x="1733639" y="2635280"/>
            <a:ext cx="13763" cy="13763"/>
          </a:xfrm>
          <a:prstGeom prst="rect">
            <a:avLst/>
          </a:prstGeom>
          <a:solidFill>
            <a:srgbClr val="C9CFC3"/>
          </a:solidFill>
          <a:ln w="12700">
            <a:solidFill>
              <a:srgbClr val="C9CFC3"/>
            </a:solidFill>
            <a:prstDash val="solid"/>
          </a:ln>
        </p:spPr>
      </p:sp>
      <p:sp>
        <p:nvSpPr>
          <p:cNvPr id="201" name="Shape 196"/>
          <p:cNvSpPr/>
          <p:nvPr/>
        </p:nvSpPr>
        <p:spPr>
          <a:xfrm>
            <a:off x="1775978" y="2635280"/>
            <a:ext cx="13763" cy="13763"/>
          </a:xfrm>
          <a:prstGeom prst="rect">
            <a:avLst/>
          </a:prstGeom>
          <a:solidFill>
            <a:srgbClr val="C9CFC3"/>
          </a:solidFill>
          <a:ln w="12700">
            <a:solidFill>
              <a:srgbClr val="C9CFC3"/>
            </a:solidFill>
            <a:prstDash val="solid"/>
          </a:ln>
        </p:spPr>
      </p:sp>
      <p:sp>
        <p:nvSpPr>
          <p:cNvPr id="202" name="Shape 197"/>
          <p:cNvSpPr/>
          <p:nvPr/>
        </p:nvSpPr>
        <p:spPr>
          <a:xfrm>
            <a:off x="1818316" y="2635280"/>
            <a:ext cx="13763" cy="13763"/>
          </a:xfrm>
          <a:prstGeom prst="rect">
            <a:avLst/>
          </a:prstGeom>
          <a:solidFill>
            <a:srgbClr val="C9CFC3"/>
          </a:solidFill>
          <a:ln w="12700">
            <a:solidFill>
              <a:srgbClr val="C9CFC3"/>
            </a:solidFill>
            <a:prstDash val="solid"/>
          </a:ln>
        </p:spPr>
      </p:sp>
      <p:sp>
        <p:nvSpPr>
          <p:cNvPr id="203" name="Shape 198"/>
          <p:cNvSpPr/>
          <p:nvPr/>
        </p:nvSpPr>
        <p:spPr>
          <a:xfrm>
            <a:off x="1860654" y="2635280"/>
            <a:ext cx="13763" cy="13763"/>
          </a:xfrm>
          <a:prstGeom prst="rect">
            <a:avLst/>
          </a:prstGeom>
          <a:solidFill>
            <a:srgbClr val="C9CFC3"/>
          </a:solidFill>
          <a:ln w="12700">
            <a:solidFill>
              <a:srgbClr val="C9CFC3"/>
            </a:solidFill>
            <a:prstDash val="solid"/>
          </a:ln>
        </p:spPr>
      </p:sp>
      <p:sp>
        <p:nvSpPr>
          <p:cNvPr id="204" name="Shape 199"/>
          <p:cNvSpPr/>
          <p:nvPr/>
        </p:nvSpPr>
        <p:spPr>
          <a:xfrm>
            <a:off x="1902992" y="2635280"/>
            <a:ext cx="13763" cy="13763"/>
          </a:xfrm>
          <a:prstGeom prst="rect">
            <a:avLst/>
          </a:prstGeom>
          <a:solidFill>
            <a:srgbClr val="C9CFC3"/>
          </a:solidFill>
          <a:ln w="12700">
            <a:solidFill>
              <a:srgbClr val="C9CFC3"/>
            </a:solidFill>
            <a:prstDash val="solid"/>
          </a:ln>
        </p:spPr>
      </p:sp>
      <p:sp>
        <p:nvSpPr>
          <p:cNvPr id="205" name="Shape 200"/>
          <p:cNvSpPr/>
          <p:nvPr/>
        </p:nvSpPr>
        <p:spPr>
          <a:xfrm>
            <a:off x="1945331" y="2635280"/>
            <a:ext cx="13763" cy="13763"/>
          </a:xfrm>
          <a:prstGeom prst="rect">
            <a:avLst/>
          </a:prstGeom>
          <a:solidFill>
            <a:srgbClr val="C9CFC3"/>
          </a:solidFill>
          <a:ln w="12700">
            <a:solidFill>
              <a:srgbClr val="C9CFC3"/>
            </a:solidFill>
            <a:prstDash val="solid"/>
          </a:ln>
        </p:spPr>
      </p:sp>
      <p:sp>
        <p:nvSpPr>
          <p:cNvPr id="206" name="Shape 201"/>
          <p:cNvSpPr/>
          <p:nvPr/>
        </p:nvSpPr>
        <p:spPr>
          <a:xfrm>
            <a:off x="1987669" y="2635280"/>
            <a:ext cx="13763" cy="13763"/>
          </a:xfrm>
          <a:prstGeom prst="rect">
            <a:avLst/>
          </a:prstGeom>
          <a:solidFill>
            <a:srgbClr val="C9CFC3"/>
          </a:solidFill>
          <a:ln w="12700">
            <a:solidFill>
              <a:srgbClr val="C9CFC3"/>
            </a:solidFill>
            <a:prstDash val="solid"/>
          </a:ln>
        </p:spPr>
      </p:sp>
      <p:sp>
        <p:nvSpPr>
          <p:cNvPr id="207" name="Shape 202"/>
          <p:cNvSpPr/>
          <p:nvPr/>
        </p:nvSpPr>
        <p:spPr>
          <a:xfrm>
            <a:off x="2030007" y="2635280"/>
            <a:ext cx="13763" cy="13763"/>
          </a:xfrm>
          <a:prstGeom prst="rect">
            <a:avLst/>
          </a:prstGeom>
          <a:solidFill>
            <a:srgbClr val="C9CFC3"/>
          </a:solidFill>
          <a:ln w="12700">
            <a:solidFill>
              <a:srgbClr val="C9CFC3"/>
            </a:solidFill>
            <a:prstDash val="solid"/>
          </a:ln>
        </p:spPr>
      </p:sp>
      <p:sp>
        <p:nvSpPr>
          <p:cNvPr id="208" name="Shape 203"/>
          <p:cNvSpPr/>
          <p:nvPr/>
        </p:nvSpPr>
        <p:spPr>
          <a:xfrm>
            <a:off x="2072346" y="2635280"/>
            <a:ext cx="13763" cy="13763"/>
          </a:xfrm>
          <a:prstGeom prst="rect">
            <a:avLst/>
          </a:prstGeom>
          <a:solidFill>
            <a:srgbClr val="C9CFC3"/>
          </a:solidFill>
          <a:ln w="12700">
            <a:solidFill>
              <a:srgbClr val="C9CFC3"/>
            </a:solidFill>
            <a:prstDash val="solid"/>
          </a:ln>
        </p:spPr>
      </p:sp>
      <p:sp>
        <p:nvSpPr>
          <p:cNvPr id="209" name="Shape 204"/>
          <p:cNvSpPr/>
          <p:nvPr/>
        </p:nvSpPr>
        <p:spPr>
          <a:xfrm>
            <a:off x="2114684" y="2635280"/>
            <a:ext cx="13763" cy="13763"/>
          </a:xfrm>
          <a:prstGeom prst="rect">
            <a:avLst/>
          </a:prstGeom>
          <a:solidFill>
            <a:srgbClr val="C9CFC3"/>
          </a:solidFill>
          <a:ln w="12700">
            <a:solidFill>
              <a:srgbClr val="C9CFC3"/>
            </a:solidFill>
            <a:prstDash val="solid"/>
          </a:ln>
        </p:spPr>
      </p:sp>
      <p:sp>
        <p:nvSpPr>
          <p:cNvPr id="210" name="Shape 205"/>
          <p:cNvSpPr/>
          <p:nvPr/>
        </p:nvSpPr>
        <p:spPr>
          <a:xfrm>
            <a:off x="971550" y="2677618"/>
            <a:ext cx="13763" cy="13763"/>
          </a:xfrm>
          <a:prstGeom prst="rect">
            <a:avLst/>
          </a:prstGeom>
          <a:solidFill>
            <a:srgbClr val="C9CFC3"/>
          </a:solidFill>
          <a:ln w="12700">
            <a:solidFill>
              <a:srgbClr val="C9CFC3"/>
            </a:solidFill>
            <a:prstDash val="solid"/>
          </a:ln>
        </p:spPr>
      </p:sp>
      <p:sp>
        <p:nvSpPr>
          <p:cNvPr id="211" name="Shape 206"/>
          <p:cNvSpPr/>
          <p:nvPr/>
        </p:nvSpPr>
        <p:spPr>
          <a:xfrm>
            <a:off x="1013888" y="2677618"/>
            <a:ext cx="13763" cy="13763"/>
          </a:xfrm>
          <a:prstGeom prst="rect">
            <a:avLst/>
          </a:prstGeom>
          <a:solidFill>
            <a:srgbClr val="C9CFC3"/>
          </a:solidFill>
          <a:ln w="12700">
            <a:solidFill>
              <a:srgbClr val="C9CFC3"/>
            </a:solidFill>
            <a:prstDash val="solid"/>
          </a:ln>
        </p:spPr>
      </p:sp>
      <p:sp>
        <p:nvSpPr>
          <p:cNvPr id="212" name="Shape 207"/>
          <p:cNvSpPr/>
          <p:nvPr/>
        </p:nvSpPr>
        <p:spPr>
          <a:xfrm>
            <a:off x="1056227" y="2677618"/>
            <a:ext cx="13763" cy="13763"/>
          </a:xfrm>
          <a:prstGeom prst="rect">
            <a:avLst/>
          </a:prstGeom>
          <a:solidFill>
            <a:srgbClr val="C9CFC3"/>
          </a:solidFill>
          <a:ln w="12700">
            <a:solidFill>
              <a:srgbClr val="C9CFC3"/>
            </a:solidFill>
            <a:prstDash val="solid"/>
          </a:ln>
        </p:spPr>
      </p:sp>
      <p:sp>
        <p:nvSpPr>
          <p:cNvPr id="213" name="Shape 208"/>
          <p:cNvSpPr/>
          <p:nvPr/>
        </p:nvSpPr>
        <p:spPr>
          <a:xfrm>
            <a:off x="1098565" y="2677618"/>
            <a:ext cx="13763" cy="13763"/>
          </a:xfrm>
          <a:prstGeom prst="rect">
            <a:avLst/>
          </a:prstGeom>
          <a:solidFill>
            <a:srgbClr val="C9CFC3"/>
          </a:solidFill>
          <a:ln w="12700">
            <a:solidFill>
              <a:srgbClr val="C9CFC3"/>
            </a:solidFill>
            <a:prstDash val="solid"/>
          </a:ln>
        </p:spPr>
      </p:sp>
      <p:sp>
        <p:nvSpPr>
          <p:cNvPr id="214" name="Shape 209"/>
          <p:cNvSpPr/>
          <p:nvPr/>
        </p:nvSpPr>
        <p:spPr>
          <a:xfrm>
            <a:off x="1140903" y="2677618"/>
            <a:ext cx="13763" cy="13763"/>
          </a:xfrm>
          <a:prstGeom prst="rect">
            <a:avLst/>
          </a:prstGeom>
          <a:solidFill>
            <a:srgbClr val="C9CFC3"/>
          </a:solidFill>
          <a:ln w="12700">
            <a:solidFill>
              <a:srgbClr val="C9CFC3"/>
            </a:solidFill>
            <a:prstDash val="solid"/>
          </a:ln>
        </p:spPr>
      </p:sp>
      <p:sp>
        <p:nvSpPr>
          <p:cNvPr id="215" name="Shape 210"/>
          <p:cNvSpPr/>
          <p:nvPr/>
        </p:nvSpPr>
        <p:spPr>
          <a:xfrm>
            <a:off x="1183241" y="2677618"/>
            <a:ext cx="13763" cy="13763"/>
          </a:xfrm>
          <a:prstGeom prst="rect">
            <a:avLst/>
          </a:prstGeom>
          <a:solidFill>
            <a:srgbClr val="C9CFC3"/>
          </a:solidFill>
          <a:ln w="12700">
            <a:solidFill>
              <a:srgbClr val="C9CFC3"/>
            </a:solidFill>
            <a:prstDash val="solid"/>
          </a:ln>
        </p:spPr>
      </p:sp>
      <p:sp>
        <p:nvSpPr>
          <p:cNvPr id="216" name="Shape 211"/>
          <p:cNvSpPr/>
          <p:nvPr/>
        </p:nvSpPr>
        <p:spPr>
          <a:xfrm>
            <a:off x="1225580" y="2677618"/>
            <a:ext cx="13763" cy="13763"/>
          </a:xfrm>
          <a:prstGeom prst="rect">
            <a:avLst/>
          </a:prstGeom>
          <a:solidFill>
            <a:srgbClr val="C9CFC3"/>
          </a:solidFill>
          <a:ln w="12700">
            <a:solidFill>
              <a:srgbClr val="C9CFC3"/>
            </a:solidFill>
            <a:prstDash val="solid"/>
          </a:ln>
        </p:spPr>
      </p:sp>
      <p:sp>
        <p:nvSpPr>
          <p:cNvPr id="217" name="Shape 212"/>
          <p:cNvSpPr/>
          <p:nvPr/>
        </p:nvSpPr>
        <p:spPr>
          <a:xfrm>
            <a:off x="1267918" y="2677618"/>
            <a:ext cx="13763" cy="13763"/>
          </a:xfrm>
          <a:prstGeom prst="rect">
            <a:avLst/>
          </a:prstGeom>
          <a:solidFill>
            <a:srgbClr val="C9CFC3"/>
          </a:solidFill>
          <a:ln w="12700">
            <a:solidFill>
              <a:srgbClr val="C9CFC3"/>
            </a:solidFill>
            <a:prstDash val="solid"/>
          </a:ln>
        </p:spPr>
      </p:sp>
      <p:sp>
        <p:nvSpPr>
          <p:cNvPr id="218" name="Shape 213"/>
          <p:cNvSpPr/>
          <p:nvPr/>
        </p:nvSpPr>
        <p:spPr>
          <a:xfrm>
            <a:off x="1310256" y="2677618"/>
            <a:ext cx="13763" cy="13763"/>
          </a:xfrm>
          <a:prstGeom prst="rect">
            <a:avLst/>
          </a:prstGeom>
          <a:solidFill>
            <a:srgbClr val="C9CFC3"/>
          </a:solidFill>
          <a:ln w="12700">
            <a:solidFill>
              <a:srgbClr val="C9CFC3"/>
            </a:solidFill>
            <a:prstDash val="solid"/>
          </a:ln>
        </p:spPr>
      </p:sp>
      <p:sp>
        <p:nvSpPr>
          <p:cNvPr id="219" name="Shape 214"/>
          <p:cNvSpPr/>
          <p:nvPr/>
        </p:nvSpPr>
        <p:spPr>
          <a:xfrm>
            <a:off x="1352595" y="2677618"/>
            <a:ext cx="13763" cy="13763"/>
          </a:xfrm>
          <a:prstGeom prst="rect">
            <a:avLst/>
          </a:prstGeom>
          <a:solidFill>
            <a:srgbClr val="C9CFC3"/>
          </a:solidFill>
          <a:ln w="12700">
            <a:solidFill>
              <a:srgbClr val="C9CFC3"/>
            </a:solidFill>
            <a:prstDash val="solid"/>
          </a:ln>
        </p:spPr>
      </p:sp>
      <p:sp>
        <p:nvSpPr>
          <p:cNvPr id="220" name="Shape 215"/>
          <p:cNvSpPr/>
          <p:nvPr/>
        </p:nvSpPr>
        <p:spPr>
          <a:xfrm>
            <a:off x="1394933" y="2677618"/>
            <a:ext cx="13763" cy="13763"/>
          </a:xfrm>
          <a:prstGeom prst="rect">
            <a:avLst/>
          </a:prstGeom>
          <a:solidFill>
            <a:srgbClr val="C9CFC3"/>
          </a:solidFill>
          <a:ln w="12700">
            <a:solidFill>
              <a:srgbClr val="C9CFC3"/>
            </a:solidFill>
            <a:prstDash val="solid"/>
          </a:ln>
        </p:spPr>
      </p:sp>
      <p:sp>
        <p:nvSpPr>
          <p:cNvPr id="221" name="Shape 216"/>
          <p:cNvSpPr/>
          <p:nvPr/>
        </p:nvSpPr>
        <p:spPr>
          <a:xfrm>
            <a:off x="1437271" y="2677618"/>
            <a:ext cx="13763" cy="13763"/>
          </a:xfrm>
          <a:prstGeom prst="rect">
            <a:avLst/>
          </a:prstGeom>
          <a:solidFill>
            <a:srgbClr val="C9CFC3"/>
          </a:solidFill>
          <a:ln w="12700">
            <a:solidFill>
              <a:srgbClr val="C9CFC3"/>
            </a:solidFill>
            <a:prstDash val="solid"/>
          </a:ln>
        </p:spPr>
      </p:sp>
      <p:sp>
        <p:nvSpPr>
          <p:cNvPr id="222" name="Shape 217"/>
          <p:cNvSpPr/>
          <p:nvPr/>
        </p:nvSpPr>
        <p:spPr>
          <a:xfrm>
            <a:off x="1479609" y="2677618"/>
            <a:ext cx="13763" cy="13763"/>
          </a:xfrm>
          <a:prstGeom prst="rect">
            <a:avLst/>
          </a:prstGeom>
          <a:solidFill>
            <a:srgbClr val="C9CFC3"/>
          </a:solidFill>
          <a:ln w="12700">
            <a:solidFill>
              <a:srgbClr val="C9CFC3"/>
            </a:solidFill>
            <a:prstDash val="solid"/>
          </a:ln>
        </p:spPr>
      </p:sp>
      <p:sp>
        <p:nvSpPr>
          <p:cNvPr id="223" name="Shape 218"/>
          <p:cNvSpPr/>
          <p:nvPr/>
        </p:nvSpPr>
        <p:spPr>
          <a:xfrm>
            <a:off x="1521948" y="2677618"/>
            <a:ext cx="13763" cy="13763"/>
          </a:xfrm>
          <a:prstGeom prst="rect">
            <a:avLst/>
          </a:prstGeom>
          <a:solidFill>
            <a:srgbClr val="C9CFC3"/>
          </a:solidFill>
          <a:ln w="12700">
            <a:solidFill>
              <a:srgbClr val="C9CFC3"/>
            </a:solidFill>
            <a:prstDash val="solid"/>
          </a:ln>
        </p:spPr>
      </p:sp>
      <p:sp>
        <p:nvSpPr>
          <p:cNvPr id="224" name="Shape 219"/>
          <p:cNvSpPr/>
          <p:nvPr/>
        </p:nvSpPr>
        <p:spPr>
          <a:xfrm>
            <a:off x="1564286" y="2677618"/>
            <a:ext cx="13763" cy="13763"/>
          </a:xfrm>
          <a:prstGeom prst="rect">
            <a:avLst/>
          </a:prstGeom>
          <a:solidFill>
            <a:srgbClr val="C9CFC3"/>
          </a:solidFill>
          <a:ln w="12700">
            <a:solidFill>
              <a:srgbClr val="C9CFC3"/>
            </a:solidFill>
            <a:prstDash val="solid"/>
          </a:ln>
        </p:spPr>
      </p:sp>
      <p:sp>
        <p:nvSpPr>
          <p:cNvPr id="225" name="Shape 220"/>
          <p:cNvSpPr/>
          <p:nvPr/>
        </p:nvSpPr>
        <p:spPr>
          <a:xfrm>
            <a:off x="1606624" y="2677618"/>
            <a:ext cx="13763" cy="13763"/>
          </a:xfrm>
          <a:prstGeom prst="rect">
            <a:avLst/>
          </a:prstGeom>
          <a:solidFill>
            <a:srgbClr val="C9CFC3"/>
          </a:solidFill>
          <a:ln w="12700">
            <a:solidFill>
              <a:srgbClr val="C9CFC3"/>
            </a:solidFill>
            <a:prstDash val="solid"/>
          </a:ln>
        </p:spPr>
      </p:sp>
      <p:sp>
        <p:nvSpPr>
          <p:cNvPr id="226" name="Shape 221"/>
          <p:cNvSpPr/>
          <p:nvPr/>
        </p:nvSpPr>
        <p:spPr>
          <a:xfrm>
            <a:off x="1648963" y="2677618"/>
            <a:ext cx="13763" cy="13763"/>
          </a:xfrm>
          <a:prstGeom prst="rect">
            <a:avLst/>
          </a:prstGeom>
          <a:solidFill>
            <a:srgbClr val="C9CFC3"/>
          </a:solidFill>
          <a:ln w="12700">
            <a:solidFill>
              <a:srgbClr val="C9CFC3"/>
            </a:solidFill>
            <a:prstDash val="solid"/>
          </a:ln>
        </p:spPr>
      </p:sp>
      <p:sp>
        <p:nvSpPr>
          <p:cNvPr id="227" name="Shape 222"/>
          <p:cNvSpPr/>
          <p:nvPr/>
        </p:nvSpPr>
        <p:spPr>
          <a:xfrm>
            <a:off x="1691301" y="2677618"/>
            <a:ext cx="13763" cy="13763"/>
          </a:xfrm>
          <a:prstGeom prst="rect">
            <a:avLst/>
          </a:prstGeom>
          <a:solidFill>
            <a:srgbClr val="C9CFC3"/>
          </a:solidFill>
          <a:ln w="12700">
            <a:solidFill>
              <a:srgbClr val="C9CFC3"/>
            </a:solidFill>
            <a:prstDash val="solid"/>
          </a:ln>
        </p:spPr>
      </p:sp>
      <p:sp>
        <p:nvSpPr>
          <p:cNvPr id="228" name="Shape 223"/>
          <p:cNvSpPr/>
          <p:nvPr/>
        </p:nvSpPr>
        <p:spPr>
          <a:xfrm>
            <a:off x="1733639" y="2677618"/>
            <a:ext cx="13763" cy="13763"/>
          </a:xfrm>
          <a:prstGeom prst="rect">
            <a:avLst/>
          </a:prstGeom>
          <a:solidFill>
            <a:srgbClr val="C9CFC3"/>
          </a:solidFill>
          <a:ln w="12700">
            <a:solidFill>
              <a:srgbClr val="C9CFC3"/>
            </a:solidFill>
            <a:prstDash val="solid"/>
          </a:ln>
        </p:spPr>
      </p:sp>
      <p:sp>
        <p:nvSpPr>
          <p:cNvPr id="229" name="Shape 224"/>
          <p:cNvSpPr/>
          <p:nvPr/>
        </p:nvSpPr>
        <p:spPr>
          <a:xfrm>
            <a:off x="1775978" y="2677618"/>
            <a:ext cx="13763" cy="13763"/>
          </a:xfrm>
          <a:prstGeom prst="rect">
            <a:avLst/>
          </a:prstGeom>
          <a:solidFill>
            <a:srgbClr val="C9CFC3"/>
          </a:solidFill>
          <a:ln w="12700">
            <a:solidFill>
              <a:srgbClr val="C9CFC3"/>
            </a:solidFill>
            <a:prstDash val="solid"/>
          </a:ln>
        </p:spPr>
      </p:sp>
      <p:sp>
        <p:nvSpPr>
          <p:cNvPr id="230" name="Shape 225"/>
          <p:cNvSpPr/>
          <p:nvPr/>
        </p:nvSpPr>
        <p:spPr>
          <a:xfrm>
            <a:off x="1818316" y="2677618"/>
            <a:ext cx="13763" cy="13763"/>
          </a:xfrm>
          <a:prstGeom prst="rect">
            <a:avLst/>
          </a:prstGeom>
          <a:solidFill>
            <a:srgbClr val="C9CFC3"/>
          </a:solidFill>
          <a:ln w="12700">
            <a:solidFill>
              <a:srgbClr val="C9CFC3"/>
            </a:solidFill>
            <a:prstDash val="solid"/>
          </a:ln>
        </p:spPr>
      </p:sp>
      <p:sp>
        <p:nvSpPr>
          <p:cNvPr id="231" name="Shape 226"/>
          <p:cNvSpPr/>
          <p:nvPr/>
        </p:nvSpPr>
        <p:spPr>
          <a:xfrm>
            <a:off x="1860654" y="2677618"/>
            <a:ext cx="13763" cy="13763"/>
          </a:xfrm>
          <a:prstGeom prst="rect">
            <a:avLst/>
          </a:prstGeom>
          <a:solidFill>
            <a:srgbClr val="C9CFC3"/>
          </a:solidFill>
          <a:ln w="12700">
            <a:solidFill>
              <a:srgbClr val="C9CFC3"/>
            </a:solidFill>
            <a:prstDash val="solid"/>
          </a:ln>
        </p:spPr>
      </p:sp>
      <p:sp>
        <p:nvSpPr>
          <p:cNvPr id="232" name="Shape 227"/>
          <p:cNvSpPr/>
          <p:nvPr/>
        </p:nvSpPr>
        <p:spPr>
          <a:xfrm>
            <a:off x="1902992" y="2677618"/>
            <a:ext cx="13763" cy="13763"/>
          </a:xfrm>
          <a:prstGeom prst="rect">
            <a:avLst/>
          </a:prstGeom>
          <a:solidFill>
            <a:srgbClr val="C9CFC3"/>
          </a:solidFill>
          <a:ln w="12700">
            <a:solidFill>
              <a:srgbClr val="C9CFC3"/>
            </a:solidFill>
            <a:prstDash val="solid"/>
          </a:ln>
        </p:spPr>
      </p:sp>
      <p:sp>
        <p:nvSpPr>
          <p:cNvPr id="233" name="Shape 228"/>
          <p:cNvSpPr/>
          <p:nvPr/>
        </p:nvSpPr>
        <p:spPr>
          <a:xfrm>
            <a:off x="1945331" y="2677618"/>
            <a:ext cx="13763" cy="13763"/>
          </a:xfrm>
          <a:prstGeom prst="rect">
            <a:avLst/>
          </a:prstGeom>
          <a:solidFill>
            <a:srgbClr val="C9CFC3"/>
          </a:solidFill>
          <a:ln w="12700">
            <a:solidFill>
              <a:srgbClr val="C9CFC3"/>
            </a:solidFill>
            <a:prstDash val="solid"/>
          </a:ln>
        </p:spPr>
      </p:sp>
      <p:sp>
        <p:nvSpPr>
          <p:cNvPr id="234" name="Shape 229"/>
          <p:cNvSpPr/>
          <p:nvPr/>
        </p:nvSpPr>
        <p:spPr>
          <a:xfrm>
            <a:off x="1987669" y="2677618"/>
            <a:ext cx="13763" cy="13763"/>
          </a:xfrm>
          <a:prstGeom prst="rect">
            <a:avLst/>
          </a:prstGeom>
          <a:solidFill>
            <a:srgbClr val="C9CFC3"/>
          </a:solidFill>
          <a:ln w="12700">
            <a:solidFill>
              <a:srgbClr val="C9CFC3"/>
            </a:solidFill>
            <a:prstDash val="solid"/>
          </a:ln>
        </p:spPr>
      </p:sp>
      <p:sp>
        <p:nvSpPr>
          <p:cNvPr id="235" name="Shape 230"/>
          <p:cNvSpPr/>
          <p:nvPr/>
        </p:nvSpPr>
        <p:spPr>
          <a:xfrm>
            <a:off x="2030007" y="2677618"/>
            <a:ext cx="13763" cy="13763"/>
          </a:xfrm>
          <a:prstGeom prst="rect">
            <a:avLst/>
          </a:prstGeom>
          <a:solidFill>
            <a:srgbClr val="C9CFC3"/>
          </a:solidFill>
          <a:ln w="12700">
            <a:solidFill>
              <a:srgbClr val="C9CFC3"/>
            </a:solidFill>
            <a:prstDash val="solid"/>
          </a:ln>
        </p:spPr>
      </p:sp>
      <p:sp>
        <p:nvSpPr>
          <p:cNvPr id="236" name="Shape 231"/>
          <p:cNvSpPr/>
          <p:nvPr/>
        </p:nvSpPr>
        <p:spPr>
          <a:xfrm>
            <a:off x="2072346" y="2677618"/>
            <a:ext cx="13763" cy="13763"/>
          </a:xfrm>
          <a:prstGeom prst="rect">
            <a:avLst/>
          </a:prstGeom>
          <a:solidFill>
            <a:srgbClr val="C9CFC3"/>
          </a:solidFill>
          <a:ln w="12700">
            <a:solidFill>
              <a:srgbClr val="C9CFC3"/>
            </a:solidFill>
            <a:prstDash val="solid"/>
          </a:ln>
        </p:spPr>
      </p:sp>
      <p:sp>
        <p:nvSpPr>
          <p:cNvPr id="237" name="Shape 232"/>
          <p:cNvSpPr/>
          <p:nvPr/>
        </p:nvSpPr>
        <p:spPr>
          <a:xfrm>
            <a:off x="2114684" y="2677618"/>
            <a:ext cx="13763" cy="13763"/>
          </a:xfrm>
          <a:prstGeom prst="rect">
            <a:avLst/>
          </a:prstGeom>
          <a:solidFill>
            <a:srgbClr val="C9CFC3"/>
          </a:solidFill>
          <a:ln w="12700">
            <a:solidFill>
              <a:srgbClr val="C9CFC3"/>
            </a:solidFill>
            <a:prstDash val="solid"/>
          </a:ln>
        </p:spPr>
      </p:sp>
      <p:sp>
        <p:nvSpPr>
          <p:cNvPr id="238" name="Shape 233"/>
          <p:cNvSpPr/>
          <p:nvPr/>
        </p:nvSpPr>
        <p:spPr>
          <a:xfrm>
            <a:off x="971550" y="2719956"/>
            <a:ext cx="13763" cy="13763"/>
          </a:xfrm>
          <a:prstGeom prst="rect">
            <a:avLst/>
          </a:prstGeom>
          <a:solidFill>
            <a:srgbClr val="C9CFC3"/>
          </a:solidFill>
          <a:ln w="12700">
            <a:solidFill>
              <a:srgbClr val="C9CFC3"/>
            </a:solidFill>
            <a:prstDash val="solid"/>
          </a:ln>
        </p:spPr>
      </p:sp>
      <p:sp>
        <p:nvSpPr>
          <p:cNvPr id="239" name="Shape 234"/>
          <p:cNvSpPr/>
          <p:nvPr/>
        </p:nvSpPr>
        <p:spPr>
          <a:xfrm>
            <a:off x="1013888" y="2719956"/>
            <a:ext cx="13763" cy="13763"/>
          </a:xfrm>
          <a:prstGeom prst="rect">
            <a:avLst/>
          </a:prstGeom>
          <a:solidFill>
            <a:srgbClr val="C9CFC3"/>
          </a:solidFill>
          <a:ln w="12700">
            <a:solidFill>
              <a:srgbClr val="C9CFC3"/>
            </a:solidFill>
            <a:prstDash val="solid"/>
          </a:ln>
        </p:spPr>
      </p:sp>
      <p:sp>
        <p:nvSpPr>
          <p:cNvPr id="240" name="Shape 235"/>
          <p:cNvSpPr/>
          <p:nvPr/>
        </p:nvSpPr>
        <p:spPr>
          <a:xfrm>
            <a:off x="1056227" y="2719956"/>
            <a:ext cx="13763" cy="13763"/>
          </a:xfrm>
          <a:prstGeom prst="rect">
            <a:avLst/>
          </a:prstGeom>
          <a:solidFill>
            <a:srgbClr val="C9CFC3"/>
          </a:solidFill>
          <a:ln w="12700">
            <a:solidFill>
              <a:srgbClr val="C9CFC3"/>
            </a:solidFill>
            <a:prstDash val="solid"/>
          </a:ln>
        </p:spPr>
      </p:sp>
      <p:sp>
        <p:nvSpPr>
          <p:cNvPr id="241" name="Shape 236"/>
          <p:cNvSpPr/>
          <p:nvPr/>
        </p:nvSpPr>
        <p:spPr>
          <a:xfrm>
            <a:off x="1098565" y="2719956"/>
            <a:ext cx="13763" cy="13763"/>
          </a:xfrm>
          <a:prstGeom prst="rect">
            <a:avLst/>
          </a:prstGeom>
          <a:solidFill>
            <a:srgbClr val="C9CFC3"/>
          </a:solidFill>
          <a:ln w="12700">
            <a:solidFill>
              <a:srgbClr val="C9CFC3"/>
            </a:solidFill>
            <a:prstDash val="solid"/>
          </a:ln>
        </p:spPr>
      </p:sp>
      <p:sp>
        <p:nvSpPr>
          <p:cNvPr id="242" name="Shape 237"/>
          <p:cNvSpPr/>
          <p:nvPr/>
        </p:nvSpPr>
        <p:spPr>
          <a:xfrm>
            <a:off x="1140903" y="2719956"/>
            <a:ext cx="13763" cy="13763"/>
          </a:xfrm>
          <a:prstGeom prst="rect">
            <a:avLst/>
          </a:prstGeom>
          <a:solidFill>
            <a:srgbClr val="C9CFC3"/>
          </a:solidFill>
          <a:ln w="12700">
            <a:solidFill>
              <a:srgbClr val="C9CFC3"/>
            </a:solidFill>
            <a:prstDash val="solid"/>
          </a:ln>
        </p:spPr>
      </p:sp>
      <p:sp>
        <p:nvSpPr>
          <p:cNvPr id="243" name="Shape 238"/>
          <p:cNvSpPr/>
          <p:nvPr/>
        </p:nvSpPr>
        <p:spPr>
          <a:xfrm>
            <a:off x="1183241" y="2719956"/>
            <a:ext cx="13763" cy="13763"/>
          </a:xfrm>
          <a:prstGeom prst="rect">
            <a:avLst/>
          </a:prstGeom>
          <a:solidFill>
            <a:srgbClr val="C9CFC3"/>
          </a:solidFill>
          <a:ln w="12700">
            <a:solidFill>
              <a:srgbClr val="C9CFC3"/>
            </a:solidFill>
            <a:prstDash val="solid"/>
          </a:ln>
        </p:spPr>
      </p:sp>
      <p:sp>
        <p:nvSpPr>
          <p:cNvPr id="244" name="Shape 239"/>
          <p:cNvSpPr/>
          <p:nvPr/>
        </p:nvSpPr>
        <p:spPr>
          <a:xfrm>
            <a:off x="1225580" y="2719956"/>
            <a:ext cx="13763" cy="13763"/>
          </a:xfrm>
          <a:prstGeom prst="rect">
            <a:avLst/>
          </a:prstGeom>
          <a:solidFill>
            <a:srgbClr val="C9CFC3"/>
          </a:solidFill>
          <a:ln w="12700">
            <a:solidFill>
              <a:srgbClr val="C9CFC3"/>
            </a:solidFill>
            <a:prstDash val="solid"/>
          </a:ln>
        </p:spPr>
      </p:sp>
      <p:sp>
        <p:nvSpPr>
          <p:cNvPr id="245" name="Shape 240"/>
          <p:cNvSpPr/>
          <p:nvPr/>
        </p:nvSpPr>
        <p:spPr>
          <a:xfrm>
            <a:off x="1267918" y="2719956"/>
            <a:ext cx="13763" cy="13763"/>
          </a:xfrm>
          <a:prstGeom prst="rect">
            <a:avLst/>
          </a:prstGeom>
          <a:solidFill>
            <a:srgbClr val="C9CFC3"/>
          </a:solidFill>
          <a:ln w="12700">
            <a:solidFill>
              <a:srgbClr val="C9CFC3"/>
            </a:solidFill>
            <a:prstDash val="solid"/>
          </a:ln>
        </p:spPr>
      </p:sp>
      <p:sp>
        <p:nvSpPr>
          <p:cNvPr id="246" name="Shape 241"/>
          <p:cNvSpPr/>
          <p:nvPr/>
        </p:nvSpPr>
        <p:spPr>
          <a:xfrm>
            <a:off x="1310256" y="2719956"/>
            <a:ext cx="13763" cy="13763"/>
          </a:xfrm>
          <a:prstGeom prst="rect">
            <a:avLst/>
          </a:prstGeom>
          <a:solidFill>
            <a:srgbClr val="C9CFC3"/>
          </a:solidFill>
          <a:ln w="12700">
            <a:solidFill>
              <a:srgbClr val="C9CFC3"/>
            </a:solidFill>
            <a:prstDash val="solid"/>
          </a:ln>
        </p:spPr>
      </p:sp>
      <p:sp>
        <p:nvSpPr>
          <p:cNvPr id="247" name="Shape 242"/>
          <p:cNvSpPr/>
          <p:nvPr/>
        </p:nvSpPr>
        <p:spPr>
          <a:xfrm>
            <a:off x="1352595" y="2719956"/>
            <a:ext cx="13763" cy="13763"/>
          </a:xfrm>
          <a:prstGeom prst="rect">
            <a:avLst/>
          </a:prstGeom>
          <a:solidFill>
            <a:srgbClr val="C9CFC3"/>
          </a:solidFill>
          <a:ln w="12700">
            <a:solidFill>
              <a:srgbClr val="C9CFC3"/>
            </a:solidFill>
            <a:prstDash val="solid"/>
          </a:ln>
        </p:spPr>
      </p:sp>
      <p:sp>
        <p:nvSpPr>
          <p:cNvPr id="248" name="Shape 243"/>
          <p:cNvSpPr/>
          <p:nvPr/>
        </p:nvSpPr>
        <p:spPr>
          <a:xfrm>
            <a:off x="1394933" y="2719956"/>
            <a:ext cx="13763" cy="13763"/>
          </a:xfrm>
          <a:prstGeom prst="rect">
            <a:avLst/>
          </a:prstGeom>
          <a:solidFill>
            <a:srgbClr val="C9CFC3"/>
          </a:solidFill>
          <a:ln w="12700">
            <a:solidFill>
              <a:srgbClr val="C9CFC3"/>
            </a:solidFill>
            <a:prstDash val="solid"/>
          </a:ln>
        </p:spPr>
      </p:sp>
      <p:sp>
        <p:nvSpPr>
          <p:cNvPr id="249" name="Shape 244"/>
          <p:cNvSpPr/>
          <p:nvPr/>
        </p:nvSpPr>
        <p:spPr>
          <a:xfrm>
            <a:off x="1437271" y="2719956"/>
            <a:ext cx="13763" cy="13763"/>
          </a:xfrm>
          <a:prstGeom prst="rect">
            <a:avLst/>
          </a:prstGeom>
          <a:solidFill>
            <a:srgbClr val="C9CFC3"/>
          </a:solidFill>
          <a:ln w="12700">
            <a:solidFill>
              <a:srgbClr val="C9CFC3"/>
            </a:solidFill>
            <a:prstDash val="solid"/>
          </a:ln>
        </p:spPr>
      </p:sp>
      <p:sp>
        <p:nvSpPr>
          <p:cNvPr id="250" name="Shape 245"/>
          <p:cNvSpPr/>
          <p:nvPr/>
        </p:nvSpPr>
        <p:spPr>
          <a:xfrm>
            <a:off x="1479609" y="2719956"/>
            <a:ext cx="13763" cy="13763"/>
          </a:xfrm>
          <a:prstGeom prst="rect">
            <a:avLst/>
          </a:prstGeom>
          <a:solidFill>
            <a:srgbClr val="C9CFC3"/>
          </a:solidFill>
          <a:ln w="12700">
            <a:solidFill>
              <a:srgbClr val="C9CFC3"/>
            </a:solidFill>
            <a:prstDash val="solid"/>
          </a:ln>
        </p:spPr>
      </p:sp>
      <p:sp>
        <p:nvSpPr>
          <p:cNvPr id="251" name="Shape 246"/>
          <p:cNvSpPr/>
          <p:nvPr/>
        </p:nvSpPr>
        <p:spPr>
          <a:xfrm>
            <a:off x="1521948" y="2719956"/>
            <a:ext cx="13763" cy="13763"/>
          </a:xfrm>
          <a:prstGeom prst="rect">
            <a:avLst/>
          </a:prstGeom>
          <a:solidFill>
            <a:srgbClr val="C9CFC3"/>
          </a:solidFill>
          <a:ln w="12700">
            <a:solidFill>
              <a:srgbClr val="C9CFC3"/>
            </a:solidFill>
            <a:prstDash val="solid"/>
          </a:ln>
        </p:spPr>
      </p:sp>
      <p:sp>
        <p:nvSpPr>
          <p:cNvPr id="252" name="Shape 247"/>
          <p:cNvSpPr/>
          <p:nvPr/>
        </p:nvSpPr>
        <p:spPr>
          <a:xfrm>
            <a:off x="1564286" y="2719956"/>
            <a:ext cx="13763" cy="13763"/>
          </a:xfrm>
          <a:prstGeom prst="rect">
            <a:avLst/>
          </a:prstGeom>
          <a:solidFill>
            <a:srgbClr val="C9CFC3"/>
          </a:solidFill>
          <a:ln w="12700">
            <a:solidFill>
              <a:srgbClr val="C9CFC3"/>
            </a:solidFill>
            <a:prstDash val="solid"/>
          </a:ln>
        </p:spPr>
      </p:sp>
      <p:sp>
        <p:nvSpPr>
          <p:cNvPr id="253" name="Shape 248"/>
          <p:cNvSpPr/>
          <p:nvPr/>
        </p:nvSpPr>
        <p:spPr>
          <a:xfrm>
            <a:off x="1606624" y="2719956"/>
            <a:ext cx="13763" cy="13763"/>
          </a:xfrm>
          <a:prstGeom prst="rect">
            <a:avLst/>
          </a:prstGeom>
          <a:solidFill>
            <a:srgbClr val="C9CFC3"/>
          </a:solidFill>
          <a:ln w="12700">
            <a:solidFill>
              <a:srgbClr val="C9CFC3"/>
            </a:solidFill>
            <a:prstDash val="solid"/>
          </a:ln>
        </p:spPr>
      </p:sp>
      <p:sp>
        <p:nvSpPr>
          <p:cNvPr id="254" name="Shape 249"/>
          <p:cNvSpPr/>
          <p:nvPr/>
        </p:nvSpPr>
        <p:spPr>
          <a:xfrm>
            <a:off x="1648963" y="2719956"/>
            <a:ext cx="13763" cy="13763"/>
          </a:xfrm>
          <a:prstGeom prst="rect">
            <a:avLst/>
          </a:prstGeom>
          <a:solidFill>
            <a:srgbClr val="C9CFC3"/>
          </a:solidFill>
          <a:ln w="12700">
            <a:solidFill>
              <a:srgbClr val="C9CFC3"/>
            </a:solidFill>
            <a:prstDash val="solid"/>
          </a:ln>
        </p:spPr>
      </p:sp>
      <p:sp>
        <p:nvSpPr>
          <p:cNvPr id="255" name="Shape 250"/>
          <p:cNvSpPr/>
          <p:nvPr/>
        </p:nvSpPr>
        <p:spPr>
          <a:xfrm>
            <a:off x="1691301" y="2719956"/>
            <a:ext cx="13763" cy="13763"/>
          </a:xfrm>
          <a:prstGeom prst="rect">
            <a:avLst/>
          </a:prstGeom>
          <a:solidFill>
            <a:srgbClr val="C9CFC3"/>
          </a:solidFill>
          <a:ln w="12700">
            <a:solidFill>
              <a:srgbClr val="C9CFC3"/>
            </a:solidFill>
            <a:prstDash val="solid"/>
          </a:ln>
        </p:spPr>
      </p:sp>
      <p:sp>
        <p:nvSpPr>
          <p:cNvPr id="256" name="Shape 251"/>
          <p:cNvSpPr/>
          <p:nvPr/>
        </p:nvSpPr>
        <p:spPr>
          <a:xfrm>
            <a:off x="1733639" y="2719956"/>
            <a:ext cx="13763" cy="13763"/>
          </a:xfrm>
          <a:prstGeom prst="rect">
            <a:avLst/>
          </a:prstGeom>
          <a:solidFill>
            <a:srgbClr val="C9CFC3"/>
          </a:solidFill>
          <a:ln w="12700">
            <a:solidFill>
              <a:srgbClr val="C9CFC3"/>
            </a:solidFill>
            <a:prstDash val="solid"/>
          </a:ln>
        </p:spPr>
      </p:sp>
      <p:sp>
        <p:nvSpPr>
          <p:cNvPr id="257" name="Shape 252"/>
          <p:cNvSpPr/>
          <p:nvPr/>
        </p:nvSpPr>
        <p:spPr>
          <a:xfrm>
            <a:off x="1775978" y="2719956"/>
            <a:ext cx="13763" cy="13763"/>
          </a:xfrm>
          <a:prstGeom prst="rect">
            <a:avLst/>
          </a:prstGeom>
          <a:solidFill>
            <a:srgbClr val="C9CFC3"/>
          </a:solidFill>
          <a:ln w="12700">
            <a:solidFill>
              <a:srgbClr val="C9CFC3"/>
            </a:solidFill>
            <a:prstDash val="solid"/>
          </a:ln>
        </p:spPr>
      </p:sp>
      <p:sp>
        <p:nvSpPr>
          <p:cNvPr id="258" name="Shape 253"/>
          <p:cNvSpPr/>
          <p:nvPr/>
        </p:nvSpPr>
        <p:spPr>
          <a:xfrm>
            <a:off x="1818316" y="2719956"/>
            <a:ext cx="13763" cy="13763"/>
          </a:xfrm>
          <a:prstGeom prst="rect">
            <a:avLst/>
          </a:prstGeom>
          <a:solidFill>
            <a:srgbClr val="C9CFC3"/>
          </a:solidFill>
          <a:ln w="12700">
            <a:solidFill>
              <a:srgbClr val="C9CFC3"/>
            </a:solidFill>
            <a:prstDash val="solid"/>
          </a:ln>
        </p:spPr>
      </p:sp>
      <p:sp>
        <p:nvSpPr>
          <p:cNvPr id="259" name="Shape 254"/>
          <p:cNvSpPr/>
          <p:nvPr/>
        </p:nvSpPr>
        <p:spPr>
          <a:xfrm>
            <a:off x="1860654" y="2719956"/>
            <a:ext cx="13763" cy="13763"/>
          </a:xfrm>
          <a:prstGeom prst="rect">
            <a:avLst/>
          </a:prstGeom>
          <a:solidFill>
            <a:srgbClr val="C9CFC3"/>
          </a:solidFill>
          <a:ln w="12700">
            <a:solidFill>
              <a:srgbClr val="C9CFC3"/>
            </a:solidFill>
            <a:prstDash val="solid"/>
          </a:ln>
        </p:spPr>
      </p:sp>
      <p:sp>
        <p:nvSpPr>
          <p:cNvPr id="260" name="Shape 255"/>
          <p:cNvSpPr/>
          <p:nvPr/>
        </p:nvSpPr>
        <p:spPr>
          <a:xfrm>
            <a:off x="1902992" y="2719956"/>
            <a:ext cx="13763" cy="13763"/>
          </a:xfrm>
          <a:prstGeom prst="rect">
            <a:avLst/>
          </a:prstGeom>
          <a:solidFill>
            <a:srgbClr val="C9CFC3"/>
          </a:solidFill>
          <a:ln w="12700">
            <a:solidFill>
              <a:srgbClr val="C9CFC3"/>
            </a:solidFill>
            <a:prstDash val="solid"/>
          </a:ln>
        </p:spPr>
      </p:sp>
      <p:sp>
        <p:nvSpPr>
          <p:cNvPr id="261" name="Shape 256"/>
          <p:cNvSpPr/>
          <p:nvPr/>
        </p:nvSpPr>
        <p:spPr>
          <a:xfrm>
            <a:off x="1945331" y="2719956"/>
            <a:ext cx="13763" cy="13763"/>
          </a:xfrm>
          <a:prstGeom prst="rect">
            <a:avLst/>
          </a:prstGeom>
          <a:solidFill>
            <a:srgbClr val="C9CFC3"/>
          </a:solidFill>
          <a:ln w="12700">
            <a:solidFill>
              <a:srgbClr val="C9CFC3"/>
            </a:solidFill>
            <a:prstDash val="solid"/>
          </a:ln>
        </p:spPr>
      </p:sp>
      <p:sp>
        <p:nvSpPr>
          <p:cNvPr id="262" name="Shape 257"/>
          <p:cNvSpPr/>
          <p:nvPr/>
        </p:nvSpPr>
        <p:spPr>
          <a:xfrm>
            <a:off x="1987669" y="2719956"/>
            <a:ext cx="13763" cy="13763"/>
          </a:xfrm>
          <a:prstGeom prst="rect">
            <a:avLst/>
          </a:prstGeom>
          <a:solidFill>
            <a:srgbClr val="C9CFC3"/>
          </a:solidFill>
          <a:ln w="12700">
            <a:solidFill>
              <a:srgbClr val="C9CFC3"/>
            </a:solidFill>
            <a:prstDash val="solid"/>
          </a:ln>
        </p:spPr>
      </p:sp>
      <p:sp>
        <p:nvSpPr>
          <p:cNvPr id="263" name="Shape 258"/>
          <p:cNvSpPr/>
          <p:nvPr/>
        </p:nvSpPr>
        <p:spPr>
          <a:xfrm>
            <a:off x="2030007" y="2719956"/>
            <a:ext cx="13763" cy="13763"/>
          </a:xfrm>
          <a:prstGeom prst="rect">
            <a:avLst/>
          </a:prstGeom>
          <a:solidFill>
            <a:srgbClr val="C9CFC3"/>
          </a:solidFill>
          <a:ln w="12700">
            <a:solidFill>
              <a:srgbClr val="C9CFC3"/>
            </a:solidFill>
            <a:prstDash val="solid"/>
          </a:ln>
        </p:spPr>
      </p:sp>
      <p:sp>
        <p:nvSpPr>
          <p:cNvPr id="264" name="Shape 259"/>
          <p:cNvSpPr/>
          <p:nvPr/>
        </p:nvSpPr>
        <p:spPr>
          <a:xfrm>
            <a:off x="2072346" y="2719956"/>
            <a:ext cx="13763" cy="13763"/>
          </a:xfrm>
          <a:prstGeom prst="rect">
            <a:avLst/>
          </a:prstGeom>
          <a:solidFill>
            <a:srgbClr val="C9CFC3"/>
          </a:solidFill>
          <a:ln w="12700">
            <a:solidFill>
              <a:srgbClr val="C9CFC3"/>
            </a:solidFill>
            <a:prstDash val="solid"/>
          </a:ln>
        </p:spPr>
      </p:sp>
      <p:sp>
        <p:nvSpPr>
          <p:cNvPr id="265" name="Shape 260"/>
          <p:cNvSpPr/>
          <p:nvPr/>
        </p:nvSpPr>
        <p:spPr>
          <a:xfrm>
            <a:off x="2114684" y="2719956"/>
            <a:ext cx="13763" cy="13763"/>
          </a:xfrm>
          <a:prstGeom prst="rect">
            <a:avLst/>
          </a:prstGeom>
          <a:solidFill>
            <a:srgbClr val="C9CFC3"/>
          </a:solidFill>
          <a:ln w="12700">
            <a:solidFill>
              <a:srgbClr val="C9CFC3"/>
            </a:solidFill>
            <a:prstDash val="solid"/>
          </a:ln>
        </p:spPr>
      </p:sp>
      <p:sp>
        <p:nvSpPr>
          <p:cNvPr id="266" name="Shape 261"/>
          <p:cNvSpPr/>
          <p:nvPr/>
        </p:nvSpPr>
        <p:spPr>
          <a:xfrm>
            <a:off x="971550" y="2762295"/>
            <a:ext cx="13763" cy="13763"/>
          </a:xfrm>
          <a:prstGeom prst="rect">
            <a:avLst/>
          </a:prstGeom>
          <a:solidFill>
            <a:srgbClr val="C9CFC3"/>
          </a:solidFill>
          <a:ln w="12700">
            <a:solidFill>
              <a:srgbClr val="C9CFC3"/>
            </a:solidFill>
            <a:prstDash val="solid"/>
          </a:ln>
        </p:spPr>
      </p:sp>
      <p:sp>
        <p:nvSpPr>
          <p:cNvPr id="267" name="Shape 262"/>
          <p:cNvSpPr/>
          <p:nvPr/>
        </p:nvSpPr>
        <p:spPr>
          <a:xfrm>
            <a:off x="1013888" y="2762295"/>
            <a:ext cx="13763" cy="13763"/>
          </a:xfrm>
          <a:prstGeom prst="rect">
            <a:avLst/>
          </a:prstGeom>
          <a:solidFill>
            <a:srgbClr val="C9CFC3"/>
          </a:solidFill>
          <a:ln w="12700">
            <a:solidFill>
              <a:srgbClr val="C9CFC3"/>
            </a:solidFill>
            <a:prstDash val="solid"/>
          </a:ln>
        </p:spPr>
      </p:sp>
      <p:sp>
        <p:nvSpPr>
          <p:cNvPr id="268" name="Shape 263"/>
          <p:cNvSpPr/>
          <p:nvPr/>
        </p:nvSpPr>
        <p:spPr>
          <a:xfrm>
            <a:off x="1056227" y="2762295"/>
            <a:ext cx="13763" cy="13763"/>
          </a:xfrm>
          <a:prstGeom prst="rect">
            <a:avLst/>
          </a:prstGeom>
          <a:solidFill>
            <a:srgbClr val="C9CFC3"/>
          </a:solidFill>
          <a:ln w="12700">
            <a:solidFill>
              <a:srgbClr val="C9CFC3"/>
            </a:solidFill>
            <a:prstDash val="solid"/>
          </a:ln>
        </p:spPr>
      </p:sp>
      <p:sp>
        <p:nvSpPr>
          <p:cNvPr id="269" name="Shape 264"/>
          <p:cNvSpPr/>
          <p:nvPr/>
        </p:nvSpPr>
        <p:spPr>
          <a:xfrm>
            <a:off x="1098565" y="2762295"/>
            <a:ext cx="13763" cy="13763"/>
          </a:xfrm>
          <a:prstGeom prst="rect">
            <a:avLst/>
          </a:prstGeom>
          <a:solidFill>
            <a:srgbClr val="C9CFC3"/>
          </a:solidFill>
          <a:ln w="12700">
            <a:solidFill>
              <a:srgbClr val="C9CFC3"/>
            </a:solidFill>
            <a:prstDash val="solid"/>
          </a:ln>
        </p:spPr>
      </p:sp>
      <p:sp>
        <p:nvSpPr>
          <p:cNvPr id="270" name="Shape 265"/>
          <p:cNvSpPr/>
          <p:nvPr/>
        </p:nvSpPr>
        <p:spPr>
          <a:xfrm>
            <a:off x="1140903" y="2762295"/>
            <a:ext cx="13763" cy="13763"/>
          </a:xfrm>
          <a:prstGeom prst="rect">
            <a:avLst/>
          </a:prstGeom>
          <a:solidFill>
            <a:srgbClr val="C9CFC3"/>
          </a:solidFill>
          <a:ln w="12700">
            <a:solidFill>
              <a:srgbClr val="C9CFC3"/>
            </a:solidFill>
            <a:prstDash val="solid"/>
          </a:ln>
        </p:spPr>
      </p:sp>
      <p:sp>
        <p:nvSpPr>
          <p:cNvPr id="271" name="Shape 266"/>
          <p:cNvSpPr/>
          <p:nvPr/>
        </p:nvSpPr>
        <p:spPr>
          <a:xfrm>
            <a:off x="1183241" y="2762295"/>
            <a:ext cx="13763" cy="13763"/>
          </a:xfrm>
          <a:prstGeom prst="rect">
            <a:avLst/>
          </a:prstGeom>
          <a:solidFill>
            <a:srgbClr val="C9CFC3"/>
          </a:solidFill>
          <a:ln w="12700">
            <a:solidFill>
              <a:srgbClr val="C9CFC3"/>
            </a:solidFill>
            <a:prstDash val="solid"/>
          </a:ln>
        </p:spPr>
      </p:sp>
      <p:sp>
        <p:nvSpPr>
          <p:cNvPr id="272" name="Shape 267"/>
          <p:cNvSpPr/>
          <p:nvPr/>
        </p:nvSpPr>
        <p:spPr>
          <a:xfrm>
            <a:off x="1225580" y="2762295"/>
            <a:ext cx="13763" cy="13763"/>
          </a:xfrm>
          <a:prstGeom prst="rect">
            <a:avLst/>
          </a:prstGeom>
          <a:solidFill>
            <a:srgbClr val="C9CFC3"/>
          </a:solidFill>
          <a:ln w="12700">
            <a:solidFill>
              <a:srgbClr val="C9CFC3"/>
            </a:solidFill>
            <a:prstDash val="solid"/>
          </a:ln>
        </p:spPr>
      </p:sp>
      <p:sp>
        <p:nvSpPr>
          <p:cNvPr id="273" name="Shape 268"/>
          <p:cNvSpPr/>
          <p:nvPr/>
        </p:nvSpPr>
        <p:spPr>
          <a:xfrm>
            <a:off x="1267918" y="2762295"/>
            <a:ext cx="13763" cy="13763"/>
          </a:xfrm>
          <a:prstGeom prst="rect">
            <a:avLst/>
          </a:prstGeom>
          <a:solidFill>
            <a:srgbClr val="C9CFC3"/>
          </a:solidFill>
          <a:ln w="12700">
            <a:solidFill>
              <a:srgbClr val="C9CFC3"/>
            </a:solidFill>
            <a:prstDash val="solid"/>
          </a:ln>
        </p:spPr>
      </p:sp>
      <p:sp>
        <p:nvSpPr>
          <p:cNvPr id="274" name="Shape 269"/>
          <p:cNvSpPr/>
          <p:nvPr/>
        </p:nvSpPr>
        <p:spPr>
          <a:xfrm>
            <a:off x="1310256" y="2762295"/>
            <a:ext cx="13763" cy="13763"/>
          </a:xfrm>
          <a:prstGeom prst="rect">
            <a:avLst/>
          </a:prstGeom>
          <a:solidFill>
            <a:srgbClr val="C9CFC3"/>
          </a:solidFill>
          <a:ln w="12700">
            <a:solidFill>
              <a:srgbClr val="C9CFC3"/>
            </a:solidFill>
            <a:prstDash val="solid"/>
          </a:ln>
        </p:spPr>
      </p:sp>
      <p:sp>
        <p:nvSpPr>
          <p:cNvPr id="275" name="Shape 270"/>
          <p:cNvSpPr/>
          <p:nvPr/>
        </p:nvSpPr>
        <p:spPr>
          <a:xfrm>
            <a:off x="1352595" y="2762295"/>
            <a:ext cx="13763" cy="13763"/>
          </a:xfrm>
          <a:prstGeom prst="rect">
            <a:avLst/>
          </a:prstGeom>
          <a:solidFill>
            <a:srgbClr val="C9CFC3"/>
          </a:solidFill>
          <a:ln w="12700">
            <a:solidFill>
              <a:srgbClr val="C9CFC3"/>
            </a:solidFill>
            <a:prstDash val="solid"/>
          </a:ln>
        </p:spPr>
      </p:sp>
      <p:sp>
        <p:nvSpPr>
          <p:cNvPr id="276" name="Shape 271"/>
          <p:cNvSpPr/>
          <p:nvPr/>
        </p:nvSpPr>
        <p:spPr>
          <a:xfrm>
            <a:off x="1394933" y="2762295"/>
            <a:ext cx="13763" cy="13763"/>
          </a:xfrm>
          <a:prstGeom prst="rect">
            <a:avLst/>
          </a:prstGeom>
          <a:solidFill>
            <a:srgbClr val="C9CFC3"/>
          </a:solidFill>
          <a:ln w="12700">
            <a:solidFill>
              <a:srgbClr val="C9CFC3"/>
            </a:solidFill>
            <a:prstDash val="solid"/>
          </a:ln>
        </p:spPr>
      </p:sp>
      <p:sp>
        <p:nvSpPr>
          <p:cNvPr id="277" name="Shape 272"/>
          <p:cNvSpPr/>
          <p:nvPr/>
        </p:nvSpPr>
        <p:spPr>
          <a:xfrm>
            <a:off x="1437271" y="2762295"/>
            <a:ext cx="13763" cy="13763"/>
          </a:xfrm>
          <a:prstGeom prst="rect">
            <a:avLst/>
          </a:prstGeom>
          <a:solidFill>
            <a:srgbClr val="C9CFC3"/>
          </a:solidFill>
          <a:ln w="12700">
            <a:solidFill>
              <a:srgbClr val="C9CFC3"/>
            </a:solidFill>
            <a:prstDash val="solid"/>
          </a:ln>
        </p:spPr>
      </p:sp>
      <p:sp>
        <p:nvSpPr>
          <p:cNvPr id="278" name="Shape 273"/>
          <p:cNvSpPr/>
          <p:nvPr/>
        </p:nvSpPr>
        <p:spPr>
          <a:xfrm>
            <a:off x="1479609" y="2762295"/>
            <a:ext cx="13763" cy="13763"/>
          </a:xfrm>
          <a:prstGeom prst="rect">
            <a:avLst/>
          </a:prstGeom>
          <a:solidFill>
            <a:srgbClr val="C9CFC3"/>
          </a:solidFill>
          <a:ln w="12700">
            <a:solidFill>
              <a:srgbClr val="C9CFC3"/>
            </a:solidFill>
            <a:prstDash val="solid"/>
          </a:ln>
        </p:spPr>
      </p:sp>
      <p:sp>
        <p:nvSpPr>
          <p:cNvPr id="279" name="Shape 274"/>
          <p:cNvSpPr/>
          <p:nvPr/>
        </p:nvSpPr>
        <p:spPr>
          <a:xfrm>
            <a:off x="1521948" y="2762295"/>
            <a:ext cx="13763" cy="13763"/>
          </a:xfrm>
          <a:prstGeom prst="rect">
            <a:avLst/>
          </a:prstGeom>
          <a:solidFill>
            <a:srgbClr val="C9CFC3"/>
          </a:solidFill>
          <a:ln w="12700">
            <a:solidFill>
              <a:srgbClr val="C9CFC3"/>
            </a:solidFill>
            <a:prstDash val="solid"/>
          </a:ln>
        </p:spPr>
      </p:sp>
      <p:sp>
        <p:nvSpPr>
          <p:cNvPr id="280" name="Shape 275"/>
          <p:cNvSpPr/>
          <p:nvPr/>
        </p:nvSpPr>
        <p:spPr>
          <a:xfrm>
            <a:off x="1564286" y="2762295"/>
            <a:ext cx="13763" cy="13763"/>
          </a:xfrm>
          <a:prstGeom prst="rect">
            <a:avLst/>
          </a:prstGeom>
          <a:solidFill>
            <a:srgbClr val="C9CFC3"/>
          </a:solidFill>
          <a:ln w="12700">
            <a:solidFill>
              <a:srgbClr val="C9CFC3"/>
            </a:solidFill>
            <a:prstDash val="solid"/>
          </a:ln>
        </p:spPr>
      </p:sp>
      <p:sp>
        <p:nvSpPr>
          <p:cNvPr id="281" name="Shape 276"/>
          <p:cNvSpPr/>
          <p:nvPr/>
        </p:nvSpPr>
        <p:spPr>
          <a:xfrm>
            <a:off x="1606624" y="2762295"/>
            <a:ext cx="13763" cy="13763"/>
          </a:xfrm>
          <a:prstGeom prst="rect">
            <a:avLst/>
          </a:prstGeom>
          <a:solidFill>
            <a:srgbClr val="C9CFC3"/>
          </a:solidFill>
          <a:ln w="12700">
            <a:solidFill>
              <a:srgbClr val="C9CFC3"/>
            </a:solidFill>
            <a:prstDash val="solid"/>
          </a:ln>
        </p:spPr>
      </p:sp>
      <p:sp>
        <p:nvSpPr>
          <p:cNvPr id="282" name="Shape 277"/>
          <p:cNvSpPr/>
          <p:nvPr/>
        </p:nvSpPr>
        <p:spPr>
          <a:xfrm>
            <a:off x="1648963" y="2762295"/>
            <a:ext cx="13763" cy="13763"/>
          </a:xfrm>
          <a:prstGeom prst="rect">
            <a:avLst/>
          </a:prstGeom>
          <a:solidFill>
            <a:srgbClr val="C9CFC3"/>
          </a:solidFill>
          <a:ln w="12700">
            <a:solidFill>
              <a:srgbClr val="C9CFC3"/>
            </a:solidFill>
            <a:prstDash val="solid"/>
          </a:ln>
        </p:spPr>
      </p:sp>
      <p:sp>
        <p:nvSpPr>
          <p:cNvPr id="283" name="Shape 278"/>
          <p:cNvSpPr/>
          <p:nvPr/>
        </p:nvSpPr>
        <p:spPr>
          <a:xfrm>
            <a:off x="1691301" y="2762295"/>
            <a:ext cx="13763" cy="13763"/>
          </a:xfrm>
          <a:prstGeom prst="rect">
            <a:avLst/>
          </a:prstGeom>
          <a:solidFill>
            <a:srgbClr val="C9CFC3"/>
          </a:solidFill>
          <a:ln w="12700">
            <a:solidFill>
              <a:srgbClr val="C9CFC3"/>
            </a:solidFill>
            <a:prstDash val="solid"/>
          </a:ln>
        </p:spPr>
      </p:sp>
      <p:sp>
        <p:nvSpPr>
          <p:cNvPr id="284" name="Shape 279"/>
          <p:cNvSpPr/>
          <p:nvPr/>
        </p:nvSpPr>
        <p:spPr>
          <a:xfrm>
            <a:off x="1733639" y="2762295"/>
            <a:ext cx="13763" cy="13763"/>
          </a:xfrm>
          <a:prstGeom prst="rect">
            <a:avLst/>
          </a:prstGeom>
          <a:solidFill>
            <a:srgbClr val="C9CFC3"/>
          </a:solidFill>
          <a:ln w="12700">
            <a:solidFill>
              <a:srgbClr val="C9CFC3"/>
            </a:solidFill>
            <a:prstDash val="solid"/>
          </a:ln>
        </p:spPr>
      </p:sp>
      <p:sp>
        <p:nvSpPr>
          <p:cNvPr id="285" name="Shape 280"/>
          <p:cNvSpPr/>
          <p:nvPr/>
        </p:nvSpPr>
        <p:spPr>
          <a:xfrm>
            <a:off x="1775978" y="2762295"/>
            <a:ext cx="13763" cy="13763"/>
          </a:xfrm>
          <a:prstGeom prst="rect">
            <a:avLst/>
          </a:prstGeom>
          <a:solidFill>
            <a:srgbClr val="C9CFC3"/>
          </a:solidFill>
          <a:ln w="12700">
            <a:solidFill>
              <a:srgbClr val="C9CFC3"/>
            </a:solidFill>
            <a:prstDash val="solid"/>
          </a:ln>
        </p:spPr>
      </p:sp>
      <p:sp>
        <p:nvSpPr>
          <p:cNvPr id="286" name="Shape 281"/>
          <p:cNvSpPr/>
          <p:nvPr/>
        </p:nvSpPr>
        <p:spPr>
          <a:xfrm>
            <a:off x="1818316" y="2762295"/>
            <a:ext cx="13763" cy="13763"/>
          </a:xfrm>
          <a:prstGeom prst="rect">
            <a:avLst/>
          </a:prstGeom>
          <a:solidFill>
            <a:srgbClr val="C9CFC3"/>
          </a:solidFill>
          <a:ln w="12700">
            <a:solidFill>
              <a:srgbClr val="C9CFC3"/>
            </a:solidFill>
            <a:prstDash val="solid"/>
          </a:ln>
        </p:spPr>
      </p:sp>
      <p:sp>
        <p:nvSpPr>
          <p:cNvPr id="287" name="Shape 282"/>
          <p:cNvSpPr/>
          <p:nvPr/>
        </p:nvSpPr>
        <p:spPr>
          <a:xfrm>
            <a:off x="1860654" y="2762295"/>
            <a:ext cx="13763" cy="13763"/>
          </a:xfrm>
          <a:prstGeom prst="rect">
            <a:avLst/>
          </a:prstGeom>
          <a:solidFill>
            <a:srgbClr val="C9CFC3"/>
          </a:solidFill>
          <a:ln w="12700">
            <a:solidFill>
              <a:srgbClr val="C9CFC3"/>
            </a:solidFill>
            <a:prstDash val="solid"/>
          </a:ln>
        </p:spPr>
      </p:sp>
      <p:sp>
        <p:nvSpPr>
          <p:cNvPr id="288" name="Shape 283"/>
          <p:cNvSpPr/>
          <p:nvPr/>
        </p:nvSpPr>
        <p:spPr>
          <a:xfrm>
            <a:off x="1902992" y="2762295"/>
            <a:ext cx="13763" cy="13763"/>
          </a:xfrm>
          <a:prstGeom prst="rect">
            <a:avLst/>
          </a:prstGeom>
          <a:solidFill>
            <a:srgbClr val="C9CFC3"/>
          </a:solidFill>
          <a:ln w="12700">
            <a:solidFill>
              <a:srgbClr val="C9CFC3"/>
            </a:solidFill>
            <a:prstDash val="solid"/>
          </a:ln>
        </p:spPr>
      </p:sp>
      <p:sp>
        <p:nvSpPr>
          <p:cNvPr id="289" name="Shape 284"/>
          <p:cNvSpPr/>
          <p:nvPr/>
        </p:nvSpPr>
        <p:spPr>
          <a:xfrm>
            <a:off x="1945331" y="2762295"/>
            <a:ext cx="13763" cy="13763"/>
          </a:xfrm>
          <a:prstGeom prst="rect">
            <a:avLst/>
          </a:prstGeom>
          <a:solidFill>
            <a:srgbClr val="C9CFC3"/>
          </a:solidFill>
          <a:ln w="12700">
            <a:solidFill>
              <a:srgbClr val="C9CFC3"/>
            </a:solidFill>
            <a:prstDash val="solid"/>
          </a:ln>
        </p:spPr>
      </p:sp>
      <p:sp>
        <p:nvSpPr>
          <p:cNvPr id="290" name="Shape 285"/>
          <p:cNvSpPr/>
          <p:nvPr/>
        </p:nvSpPr>
        <p:spPr>
          <a:xfrm>
            <a:off x="1987669" y="2762295"/>
            <a:ext cx="13763" cy="13763"/>
          </a:xfrm>
          <a:prstGeom prst="rect">
            <a:avLst/>
          </a:prstGeom>
          <a:solidFill>
            <a:srgbClr val="C9CFC3"/>
          </a:solidFill>
          <a:ln w="12700">
            <a:solidFill>
              <a:srgbClr val="C9CFC3"/>
            </a:solidFill>
            <a:prstDash val="solid"/>
          </a:ln>
        </p:spPr>
      </p:sp>
      <p:sp>
        <p:nvSpPr>
          <p:cNvPr id="291" name="Shape 286"/>
          <p:cNvSpPr/>
          <p:nvPr/>
        </p:nvSpPr>
        <p:spPr>
          <a:xfrm>
            <a:off x="2030007" y="2762295"/>
            <a:ext cx="13763" cy="13763"/>
          </a:xfrm>
          <a:prstGeom prst="rect">
            <a:avLst/>
          </a:prstGeom>
          <a:solidFill>
            <a:srgbClr val="C9CFC3"/>
          </a:solidFill>
          <a:ln w="12700">
            <a:solidFill>
              <a:srgbClr val="C9CFC3"/>
            </a:solidFill>
            <a:prstDash val="solid"/>
          </a:ln>
        </p:spPr>
      </p:sp>
      <p:sp>
        <p:nvSpPr>
          <p:cNvPr id="292" name="Shape 287"/>
          <p:cNvSpPr/>
          <p:nvPr/>
        </p:nvSpPr>
        <p:spPr>
          <a:xfrm>
            <a:off x="2072346" y="2762295"/>
            <a:ext cx="13763" cy="13763"/>
          </a:xfrm>
          <a:prstGeom prst="rect">
            <a:avLst/>
          </a:prstGeom>
          <a:solidFill>
            <a:srgbClr val="C9CFC3"/>
          </a:solidFill>
          <a:ln w="12700">
            <a:solidFill>
              <a:srgbClr val="C9CFC3"/>
            </a:solidFill>
            <a:prstDash val="solid"/>
          </a:ln>
        </p:spPr>
      </p:sp>
      <p:sp>
        <p:nvSpPr>
          <p:cNvPr id="293" name="Shape 288"/>
          <p:cNvSpPr/>
          <p:nvPr/>
        </p:nvSpPr>
        <p:spPr>
          <a:xfrm>
            <a:off x="2114684" y="2762295"/>
            <a:ext cx="13763" cy="13763"/>
          </a:xfrm>
          <a:prstGeom prst="rect">
            <a:avLst/>
          </a:prstGeom>
          <a:solidFill>
            <a:srgbClr val="C9CFC3"/>
          </a:solidFill>
          <a:ln w="12700">
            <a:solidFill>
              <a:srgbClr val="C9CFC3"/>
            </a:solidFill>
            <a:prstDash val="solid"/>
          </a:ln>
        </p:spPr>
      </p:sp>
      <p:sp>
        <p:nvSpPr>
          <p:cNvPr id="294" name="Shape 289"/>
          <p:cNvSpPr/>
          <p:nvPr/>
        </p:nvSpPr>
        <p:spPr>
          <a:xfrm>
            <a:off x="971550" y="2804633"/>
            <a:ext cx="13763" cy="13763"/>
          </a:xfrm>
          <a:prstGeom prst="rect">
            <a:avLst/>
          </a:prstGeom>
          <a:solidFill>
            <a:srgbClr val="C9CFC3"/>
          </a:solidFill>
          <a:ln w="12700">
            <a:solidFill>
              <a:srgbClr val="C9CFC3"/>
            </a:solidFill>
            <a:prstDash val="solid"/>
          </a:ln>
        </p:spPr>
      </p:sp>
      <p:sp>
        <p:nvSpPr>
          <p:cNvPr id="295" name="Shape 290"/>
          <p:cNvSpPr/>
          <p:nvPr/>
        </p:nvSpPr>
        <p:spPr>
          <a:xfrm>
            <a:off x="1013888" y="2804633"/>
            <a:ext cx="13763" cy="13763"/>
          </a:xfrm>
          <a:prstGeom prst="rect">
            <a:avLst/>
          </a:prstGeom>
          <a:solidFill>
            <a:srgbClr val="C9CFC3"/>
          </a:solidFill>
          <a:ln w="12700">
            <a:solidFill>
              <a:srgbClr val="C9CFC3"/>
            </a:solidFill>
            <a:prstDash val="solid"/>
          </a:ln>
        </p:spPr>
      </p:sp>
      <p:sp>
        <p:nvSpPr>
          <p:cNvPr id="296" name="Shape 291"/>
          <p:cNvSpPr/>
          <p:nvPr/>
        </p:nvSpPr>
        <p:spPr>
          <a:xfrm>
            <a:off x="1056227" y="2804633"/>
            <a:ext cx="13763" cy="13763"/>
          </a:xfrm>
          <a:prstGeom prst="rect">
            <a:avLst/>
          </a:prstGeom>
          <a:solidFill>
            <a:srgbClr val="C9CFC3"/>
          </a:solidFill>
          <a:ln w="12700">
            <a:solidFill>
              <a:srgbClr val="C9CFC3"/>
            </a:solidFill>
            <a:prstDash val="solid"/>
          </a:ln>
        </p:spPr>
      </p:sp>
      <p:sp>
        <p:nvSpPr>
          <p:cNvPr id="297" name="Shape 292"/>
          <p:cNvSpPr/>
          <p:nvPr/>
        </p:nvSpPr>
        <p:spPr>
          <a:xfrm>
            <a:off x="1098565" y="2804633"/>
            <a:ext cx="13763" cy="13763"/>
          </a:xfrm>
          <a:prstGeom prst="rect">
            <a:avLst/>
          </a:prstGeom>
          <a:solidFill>
            <a:srgbClr val="C9CFC3"/>
          </a:solidFill>
          <a:ln w="12700">
            <a:solidFill>
              <a:srgbClr val="C9CFC3"/>
            </a:solidFill>
            <a:prstDash val="solid"/>
          </a:ln>
        </p:spPr>
      </p:sp>
      <p:sp>
        <p:nvSpPr>
          <p:cNvPr id="298" name="Shape 293"/>
          <p:cNvSpPr/>
          <p:nvPr/>
        </p:nvSpPr>
        <p:spPr>
          <a:xfrm>
            <a:off x="1140903" y="2804633"/>
            <a:ext cx="13763" cy="13763"/>
          </a:xfrm>
          <a:prstGeom prst="rect">
            <a:avLst/>
          </a:prstGeom>
          <a:solidFill>
            <a:srgbClr val="C9CFC3"/>
          </a:solidFill>
          <a:ln w="12700">
            <a:solidFill>
              <a:srgbClr val="C9CFC3"/>
            </a:solidFill>
            <a:prstDash val="solid"/>
          </a:ln>
        </p:spPr>
      </p:sp>
      <p:sp>
        <p:nvSpPr>
          <p:cNvPr id="299" name="Shape 294"/>
          <p:cNvSpPr/>
          <p:nvPr/>
        </p:nvSpPr>
        <p:spPr>
          <a:xfrm>
            <a:off x="1183241" y="2804633"/>
            <a:ext cx="13763" cy="13763"/>
          </a:xfrm>
          <a:prstGeom prst="rect">
            <a:avLst/>
          </a:prstGeom>
          <a:solidFill>
            <a:srgbClr val="C9CFC3"/>
          </a:solidFill>
          <a:ln w="12700">
            <a:solidFill>
              <a:srgbClr val="C9CFC3"/>
            </a:solidFill>
            <a:prstDash val="solid"/>
          </a:ln>
        </p:spPr>
      </p:sp>
      <p:sp>
        <p:nvSpPr>
          <p:cNvPr id="300" name="Shape 295"/>
          <p:cNvSpPr/>
          <p:nvPr/>
        </p:nvSpPr>
        <p:spPr>
          <a:xfrm>
            <a:off x="1225580" y="2804633"/>
            <a:ext cx="13763" cy="13763"/>
          </a:xfrm>
          <a:prstGeom prst="rect">
            <a:avLst/>
          </a:prstGeom>
          <a:solidFill>
            <a:srgbClr val="C9CFC3"/>
          </a:solidFill>
          <a:ln w="12700">
            <a:solidFill>
              <a:srgbClr val="C9CFC3"/>
            </a:solidFill>
            <a:prstDash val="solid"/>
          </a:ln>
        </p:spPr>
      </p:sp>
      <p:sp>
        <p:nvSpPr>
          <p:cNvPr id="301" name="Shape 296"/>
          <p:cNvSpPr/>
          <p:nvPr/>
        </p:nvSpPr>
        <p:spPr>
          <a:xfrm>
            <a:off x="1267918" y="2804633"/>
            <a:ext cx="13763" cy="13763"/>
          </a:xfrm>
          <a:prstGeom prst="rect">
            <a:avLst/>
          </a:prstGeom>
          <a:solidFill>
            <a:srgbClr val="C9CFC3"/>
          </a:solidFill>
          <a:ln w="12700">
            <a:solidFill>
              <a:srgbClr val="C9CFC3"/>
            </a:solidFill>
            <a:prstDash val="solid"/>
          </a:ln>
        </p:spPr>
      </p:sp>
      <p:sp>
        <p:nvSpPr>
          <p:cNvPr id="302" name="Shape 297"/>
          <p:cNvSpPr/>
          <p:nvPr/>
        </p:nvSpPr>
        <p:spPr>
          <a:xfrm>
            <a:off x="1310256" y="2804633"/>
            <a:ext cx="13763" cy="13763"/>
          </a:xfrm>
          <a:prstGeom prst="rect">
            <a:avLst/>
          </a:prstGeom>
          <a:solidFill>
            <a:srgbClr val="C9CFC3"/>
          </a:solidFill>
          <a:ln w="12700">
            <a:solidFill>
              <a:srgbClr val="C9CFC3"/>
            </a:solidFill>
            <a:prstDash val="solid"/>
          </a:ln>
        </p:spPr>
      </p:sp>
      <p:sp>
        <p:nvSpPr>
          <p:cNvPr id="303" name="Shape 298"/>
          <p:cNvSpPr/>
          <p:nvPr/>
        </p:nvSpPr>
        <p:spPr>
          <a:xfrm>
            <a:off x="1352595" y="2804633"/>
            <a:ext cx="13763" cy="13763"/>
          </a:xfrm>
          <a:prstGeom prst="rect">
            <a:avLst/>
          </a:prstGeom>
          <a:solidFill>
            <a:srgbClr val="C9CFC3"/>
          </a:solidFill>
          <a:ln w="12700">
            <a:solidFill>
              <a:srgbClr val="C9CFC3"/>
            </a:solidFill>
            <a:prstDash val="solid"/>
          </a:ln>
        </p:spPr>
      </p:sp>
      <p:sp>
        <p:nvSpPr>
          <p:cNvPr id="304" name="Shape 299"/>
          <p:cNvSpPr/>
          <p:nvPr/>
        </p:nvSpPr>
        <p:spPr>
          <a:xfrm>
            <a:off x="1394933" y="2804633"/>
            <a:ext cx="13763" cy="13763"/>
          </a:xfrm>
          <a:prstGeom prst="rect">
            <a:avLst/>
          </a:prstGeom>
          <a:solidFill>
            <a:srgbClr val="C9CFC3"/>
          </a:solidFill>
          <a:ln w="12700">
            <a:solidFill>
              <a:srgbClr val="C9CFC3"/>
            </a:solidFill>
            <a:prstDash val="solid"/>
          </a:ln>
        </p:spPr>
      </p:sp>
      <p:sp>
        <p:nvSpPr>
          <p:cNvPr id="305" name="Shape 300"/>
          <p:cNvSpPr/>
          <p:nvPr/>
        </p:nvSpPr>
        <p:spPr>
          <a:xfrm>
            <a:off x="1437271" y="2804633"/>
            <a:ext cx="13763" cy="13763"/>
          </a:xfrm>
          <a:prstGeom prst="rect">
            <a:avLst/>
          </a:prstGeom>
          <a:solidFill>
            <a:srgbClr val="C9CFC3"/>
          </a:solidFill>
          <a:ln w="12700">
            <a:solidFill>
              <a:srgbClr val="C9CFC3"/>
            </a:solidFill>
            <a:prstDash val="solid"/>
          </a:ln>
        </p:spPr>
      </p:sp>
      <p:sp>
        <p:nvSpPr>
          <p:cNvPr id="306" name="Shape 301"/>
          <p:cNvSpPr/>
          <p:nvPr/>
        </p:nvSpPr>
        <p:spPr>
          <a:xfrm>
            <a:off x="1479609" y="2804633"/>
            <a:ext cx="13763" cy="13763"/>
          </a:xfrm>
          <a:prstGeom prst="rect">
            <a:avLst/>
          </a:prstGeom>
          <a:solidFill>
            <a:srgbClr val="C9CFC3"/>
          </a:solidFill>
          <a:ln w="12700">
            <a:solidFill>
              <a:srgbClr val="C9CFC3"/>
            </a:solidFill>
            <a:prstDash val="solid"/>
          </a:ln>
        </p:spPr>
      </p:sp>
      <p:sp>
        <p:nvSpPr>
          <p:cNvPr id="307" name="Shape 302"/>
          <p:cNvSpPr/>
          <p:nvPr/>
        </p:nvSpPr>
        <p:spPr>
          <a:xfrm>
            <a:off x="1521948" y="2804633"/>
            <a:ext cx="13763" cy="13763"/>
          </a:xfrm>
          <a:prstGeom prst="rect">
            <a:avLst/>
          </a:prstGeom>
          <a:solidFill>
            <a:srgbClr val="C9CFC3"/>
          </a:solidFill>
          <a:ln w="12700">
            <a:solidFill>
              <a:srgbClr val="C9CFC3"/>
            </a:solidFill>
            <a:prstDash val="solid"/>
          </a:ln>
        </p:spPr>
      </p:sp>
      <p:sp>
        <p:nvSpPr>
          <p:cNvPr id="308" name="Shape 303"/>
          <p:cNvSpPr/>
          <p:nvPr/>
        </p:nvSpPr>
        <p:spPr>
          <a:xfrm>
            <a:off x="1564286" y="2804633"/>
            <a:ext cx="13763" cy="13763"/>
          </a:xfrm>
          <a:prstGeom prst="rect">
            <a:avLst/>
          </a:prstGeom>
          <a:solidFill>
            <a:srgbClr val="C9CFC3"/>
          </a:solidFill>
          <a:ln w="12700">
            <a:solidFill>
              <a:srgbClr val="C9CFC3"/>
            </a:solidFill>
            <a:prstDash val="solid"/>
          </a:ln>
        </p:spPr>
      </p:sp>
      <p:sp>
        <p:nvSpPr>
          <p:cNvPr id="309" name="Shape 304"/>
          <p:cNvSpPr/>
          <p:nvPr/>
        </p:nvSpPr>
        <p:spPr>
          <a:xfrm>
            <a:off x="1606624" y="2804633"/>
            <a:ext cx="13763" cy="13763"/>
          </a:xfrm>
          <a:prstGeom prst="rect">
            <a:avLst/>
          </a:prstGeom>
          <a:solidFill>
            <a:srgbClr val="C9CFC3"/>
          </a:solidFill>
          <a:ln w="12700">
            <a:solidFill>
              <a:srgbClr val="C9CFC3"/>
            </a:solidFill>
            <a:prstDash val="solid"/>
          </a:ln>
        </p:spPr>
      </p:sp>
      <p:sp>
        <p:nvSpPr>
          <p:cNvPr id="310" name="Shape 305"/>
          <p:cNvSpPr/>
          <p:nvPr/>
        </p:nvSpPr>
        <p:spPr>
          <a:xfrm>
            <a:off x="1648963" y="2804633"/>
            <a:ext cx="13763" cy="13763"/>
          </a:xfrm>
          <a:prstGeom prst="rect">
            <a:avLst/>
          </a:prstGeom>
          <a:solidFill>
            <a:srgbClr val="C9CFC3"/>
          </a:solidFill>
          <a:ln w="12700">
            <a:solidFill>
              <a:srgbClr val="C9CFC3"/>
            </a:solidFill>
            <a:prstDash val="solid"/>
          </a:ln>
        </p:spPr>
      </p:sp>
      <p:sp>
        <p:nvSpPr>
          <p:cNvPr id="311" name="Shape 306"/>
          <p:cNvSpPr/>
          <p:nvPr/>
        </p:nvSpPr>
        <p:spPr>
          <a:xfrm>
            <a:off x="1691301" y="2804633"/>
            <a:ext cx="13763" cy="13763"/>
          </a:xfrm>
          <a:prstGeom prst="rect">
            <a:avLst/>
          </a:prstGeom>
          <a:solidFill>
            <a:srgbClr val="C9CFC3"/>
          </a:solidFill>
          <a:ln w="12700">
            <a:solidFill>
              <a:srgbClr val="C9CFC3"/>
            </a:solidFill>
            <a:prstDash val="solid"/>
          </a:ln>
        </p:spPr>
      </p:sp>
      <p:sp>
        <p:nvSpPr>
          <p:cNvPr id="312" name="Shape 307"/>
          <p:cNvSpPr/>
          <p:nvPr/>
        </p:nvSpPr>
        <p:spPr>
          <a:xfrm>
            <a:off x="1733639" y="2804633"/>
            <a:ext cx="13763" cy="13763"/>
          </a:xfrm>
          <a:prstGeom prst="rect">
            <a:avLst/>
          </a:prstGeom>
          <a:solidFill>
            <a:srgbClr val="C9CFC3"/>
          </a:solidFill>
          <a:ln w="12700">
            <a:solidFill>
              <a:srgbClr val="C9CFC3"/>
            </a:solidFill>
            <a:prstDash val="solid"/>
          </a:ln>
        </p:spPr>
      </p:sp>
      <p:sp>
        <p:nvSpPr>
          <p:cNvPr id="313" name="Shape 308"/>
          <p:cNvSpPr/>
          <p:nvPr/>
        </p:nvSpPr>
        <p:spPr>
          <a:xfrm>
            <a:off x="1775978" y="2804633"/>
            <a:ext cx="13763" cy="13763"/>
          </a:xfrm>
          <a:prstGeom prst="rect">
            <a:avLst/>
          </a:prstGeom>
          <a:solidFill>
            <a:srgbClr val="C9CFC3"/>
          </a:solidFill>
          <a:ln w="12700">
            <a:solidFill>
              <a:srgbClr val="C9CFC3"/>
            </a:solidFill>
            <a:prstDash val="solid"/>
          </a:ln>
        </p:spPr>
      </p:sp>
      <p:sp>
        <p:nvSpPr>
          <p:cNvPr id="314" name="Shape 309"/>
          <p:cNvSpPr/>
          <p:nvPr/>
        </p:nvSpPr>
        <p:spPr>
          <a:xfrm>
            <a:off x="1818316" y="2804633"/>
            <a:ext cx="13763" cy="13763"/>
          </a:xfrm>
          <a:prstGeom prst="rect">
            <a:avLst/>
          </a:prstGeom>
          <a:solidFill>
            <a:srgbClr val="C9CFC3"/>
          </a:solidFill>
          <a:ln w="12700">
            <a:solidFill>
              <a:srgbClr val="C9CFC3"/>
            </a:solidFill>
            <a:prstDash val="solid"/>
          </a:ln>
        </p:spPr>
      </p:sp>
      <p:sp>
        <p:nvSpPr>
          <p:cNvPr id="315" name="Shape 310"/>
          <p:cNvSpPr/>
          <p:nvPr/>
        </p:nvSpPr>
        <p:spPr>
          <a:xfrm>
            <a:off x="1860654" y="2804633"/>
            <a:ext cx="13763" cy="13763"/>
          </a:xfrm>
          <a:prstGeom prst="rect">
            <a:avLst/>
          </a:prstGeom>
          <a:solidFill>
            <a:srgbClr val="C9CFC3"/>
          </a:solidFill>
          <a:ln w="12700">
            <a:solidFill>
              <a:srgbClr val="C9CFC3"/>
            </a:solidFill>
            <a:prstDash val="solid"/>
          </a:ln>
        </p:spPr>
      </p:sp>
      <p:sp>
        <p:nvSpPr>
          <p:cNvPr id="316" name="Shape 311"/>
          <p:cNvSpPr/>
          <p:nvPr/>
        </p:nvSpPr>
        <p:spPr>
          <a:xfrm>
            <a:off x="1902992" y="2804633"/>
            <a:ext cx="13763" cy="13763"/>
          </a:xfrm>
          <a:prstGeom prst="rect">
            <a:avLst/>
          </a:prstGeom>
          <a:solidFill>
            <a:srgbClr val="C9CFC3"/>
          </a:solidFill>
          <a:ln w="12700">
            <a:solidFill>
              <a:srgbClr val="C9CFC3"/>
            </a:solidFill>
            <a:prstDash val="solid"/>
          </a:ln>
        </p:spPr>
      </p:sp>
      <p:sp>
        <p:nvSpPr>
          <p:cNvPr id="317" name="Shape 312"/>
          <p:cNvSpPr/>
          <p:nvPr/>
        </p:nvSpPr>
        <p:spPr>
          <a:xfrm>
            <a:off x="1945331" y="2804633"/>
            <a:ext cx="13763" cy="13763"/>
          </a:xfrm>
          <a:prstGeom prst="rect">
            <a:avLst/>
          </a:prstGeom>
          <a:solidFill>
            <a:srgbClr val="C9CFC3"/>
          </a:solidFill>
          <a:ln w="12700">
            <a:solidFill>
              <a:srgbClr val="C9CFC3"/>
            </a:solidFill>
            <a:prstDash val="solid"/>
          </a:ln>
        </p:spPr>
      </p:sp>
      <p:sp>
        <p:nvSpPr>
          <p:cNvPr id="318" name="Shape 313"/>
          <p:cNvSpPr/>
          <p:nvPr/>
        </p:nvSpPr>
        <p:spPr>
          <a:xfrm>
            <a:off x="1987669" y="2804633"/>
            <a:ext cx="13763" cy="13763"/>
          </a:xfrm>
          <a:prstGeom prst="rect">
            <a:avLst/>
          </a:prstGeom>
          <a:solidFill>
            <a:srgbClr val="C9CFC3"/>
          </a:solidFill>
          <a:ln w="12700">
            <a:solidFill>
              <a:srgbClr val="C9CFC3"/>
            </a:solidFill>
            <a:prstDash val="solid"/>
          </a:ln>
        </p:spPr>
      </p:sp>
      <p:sp>
        <p:nvSpPr>
          <p:cNvPr id="319" name="Shape 314"/>
          <p:cNvSpPr/>
          <p:nvPr/>
        </p:nvSpPr>
        <p:spPr>
          <a:xfrm>
            <a:off x="2030007" y="2804633"/>
            <a:ext cx="13763" cy="13763"/>
          </a:xfrm>
          <a:prstGeom prst="rect">
            <a:avLst/>
          </a:prstGeom>
          <a:solidFill>
            <a:srgbClr val="C9CFC3"/>
          </a:solidFill>
          <a:ln w="12700">
            <a:solidFill>
              <a:srgbClr val="C9CFC3"/>
            </a:solidFill>
            <a:prstDash val="solid"/>
          </a:ln>
        </p:spPr>
      </p:sp>
      <p:sp>
        <p:nvSpPr>
          <p:cNvPr id="320" name="Shape 315"/>
          <p:cNvSpPr/>
          <p:nvPr/>
        </p:nvSpPr>
        <p:spPr>
          <a:xfrm>
            <a:off x="2072346" y="2804633"/>
            <a:ext cx="13763" cy="13763"/>
          </a:xfrm>
          <a:prstGeom prst="rect">
            <a:avLst/>
          </a:prstGeom>
          <a:solidFill>
            <a:srgbClr val="C9CFC3"/>
          </a:solidFill>
          <a:ln w="12700">
            <a:solidFill>
              <a:srgbClr val="C9CFC3"/>
            </a:solidFill>
            <a:prstDash val="solid"/>
          </a:ln>
        </p:spPr>
      </p:sp>
      <p:sp>
        <p:nvSpPr>
          <p:cNvPr id="321" name="Shape 316"/>
          <p:cNvSpPr/>
          <p:nvPr/>
        </p:nvSpPr>
        <p:spPr>
          <a:xfrm>
            <a:off x="2114684" y="2804633"/>
            <a:ext cx="13763" cy="13763"/>
          </a:xfrm>
          <a:prstGeom prst="rect">
            <a:avLst/>
          </a:prstGeom>
          <a:solidFill>
            <a:srgbClr val="C9CFC3"/>
          </a:solidFill>
          <a:ln w="12700">
            <a:solidFill>
              <a:srgbClr val="C9CFC3"/>
            </a:solidFill>
            <a:prstDash val="solid"/>
          </a:ln>
        </p:spPr>
      </p:sp>
      <p:sp>
        <p:nvSpPr>
          <p:cNvPr id="322" name="Shape 317"/>
          <p:cNvSpPr/>
          <p:nvPr/>
        </p:nvSpPr>
        <p:spPr>
          <a:xfrm>
            <a:off x="971550" y="2846971"/>
            <a:ext cx="13763" cy="13763"/>
          </a:xfrm>
          <a:prstGeom prst="rect">
            <a:avLst/>
          </a:prstGeom>
          <a:solidFill>
            <a:srgbClr val="C9CFC3"/>
          </a:solidFill>
          <a:ln w="12700">
            <a:solidFill>
              <a:srgbClr val="C9CFC3"/>
            </a:solidFill>
            <a:prstDash val="solid"/>
          </a:ln>
        </p:spPr>
      </p:sp>
      <p:sp>
        <p:nvSpPr>
          <p:cNvPr id="323" name="Shape 318"/>
          <p:cNvSpPr/>
          <p:nvPr/>
        </p:nvSpPr>
        <p:spPr>
          <a:xfrm>
            <a:off x="1013888" y="2846971"/>
            <a:ext cx="13763" cy="13763"/>
          </a:xfrm>
          <a:prstGeom prst="rect">
            <a:avLst/>
          </a:prstGeom>
          <a:solidFill>
            <a:srgbClr val="C9CFC3"/>
          </a:solidFill>
          <a:ln w="12700">
            <a:solidFill>
              <a:srgbClr val="C9CFC3"/>
            </a:solidFill>
            <a:prstDash val="solid"/>
          </a:ln>
        </p:spPr>
      </p:sp>
      <p:sp>
        <p:nvSpPr>
          <p:cNvPr id="324" name="Shape 319"/>
          <p:cNvSpPr/>
          <p:nvPr/>
        </p:nvSpPr>
        <p:spPr>
          <a:xfrm>
            <a:off x="1056227" y="2846971"/>
            <a:ext cx="13763" cy="13763"/>
          </a:xfrm>
          <a:prstGeom prst="rect">
            <a:avLst/>
          </a:prstGeom>
          <a:solidFill>
            <a:srgbClr val="C9CFC3"/>
          </a:solidFill>
          <a:ln w="12700">
            <a:solidFill>
              <a:srgbClr val="C9CFC3"/>
            </a:solidFill>
            <a:prstDash val="solid"/>
          </a:ln>
        </p:spPr>
      </p:sp>
      <p:sp>
        <p:nvSpPr>
          <p:cNvPr id="325" name="Shape 320"/>
          <p:cNvSpPr/>
          <p:nvPr/>
        </p:nvSpPr>
        <p:spPr>
          <a:xfrm>
            <a:off x="1098565" y="2846971"/>
            <a:ext cx="13763" cy="13763"/>
          </a:xfrm>
          <a:prstGeom prst="rect">
            <a:avLst/>
          </a:prstGeom>
          <a:solidFill>
            <a:srgbClr val="C9CFC3"/>
          </a:solidFill>
          <a:ln w="12700">
            <a:solidFill>
              <a:srgbClr val="C9CFC3"/>
            </a:solidFill>
            <a:prstDash val="solid"/>
          </a:ln>
        </p:spPr>
      </p:sp>
      <p:sp>
        <p:nvSpPr>
          <p:cNvPr id="326" name="Shape 321"/>
          <p:cNvSpPr/>
          <p:nvPr/>
        </p:nvSpPr>
        <p:spPr>
          <a:xfrm>
            <a:off x="1140903" y="2846971"/>
            <a:ext cx="13763" cy="13763"/>
          </a:xfrm>
          <a:prstGeom prst="rect">
            <a:avLst/>
          </a:prstGeom>
          <a:solidFill>
            <a:srgbClr val="C9CFC3"/>
          </a:solidFill>
          <a:ln w="12700">
            <a:solidFill>
              <a:srgbClr val="C9CFC3"/>
            </a:solidFill>
            <a:prstDash val="solid"/>
          </a:ln>
        </p:spPr>
      </p:sp>
      <p:sp>
        <p:nvSpPr>
          <p:cNvPr id="327" name="Shape 322"/>
          <p:cNvSpPr/>
          <p:nvPr/>
        </p:nvSpPr>
        <p:spPr>
          <a:xfrm>
            <a:off x="1183241" y="2846971"/>
            <a:ext cx="13763" cy="13763"/>
          </a:xfrm>
          <a:prstGeom prst="rect">
            <a:avLst/>
          </a:prstGeom>
          <a:solidFill>
            <a:srgbClr val="C9CFC3"/>
          </a:solidFill>
          <a:ln w="12700">
            <a:solidFill>
              <a:srgbClr val="C9CFC3"/>
            </a:solidFill>
            <a:prstDash val="solid"/>
          </a:ln>
        </p:spPr>
      </p:sp>
      <p:sp>
        <p:nvSpPr>
          <p:cNvPr id="328" name="Shape 323"/>
          <p:cNvSpPr/>
          <p:nvPr/>
        </p:nvSpPr>
        <p:spPr>
          <a:xfrm>
            <a:off x="1225580" y="2846971"/>
            <a:ext cx="13763" cy="13763"/>
          </a:xfrm>
          <a:prstGeom prst="rect">
            <a:avLst/>
          </a:prstGeom>
          <a:solidFill>
            <a:srgbClr val="C9CFC3"/>
          </a:solidFill>
          <a:ln w="12700">
            <a:solidFill>
              <a:srgbClr val="C9CFC3"/>
            </a:solidFill>
            <a:prstDash val="solid"/>
          </a:ln>
        </p:spPr>
      </p:sp>
      <p:sp>
        <p:nvSpPr>
          <p:cNvPr id="329" name="Shape 324"/>
          <p:cNvSpPr/>
          <p:nvPr/>
        </p:nvSpPr>
        <p:spPr>
          <a:xfrm>
            <a:off x="1267918" y="2846971"/>
            <a:ext cx="13763" cy="13763"/>
          </a:xfrm>
          <a:prstGeom prst="rect">
            <a:avLst/>
          </a:prstGeom>
          <a:solidFill>
            <a:srgbClr val="C9CFC3"/>
          </a:solidFill>
          <a:ln w="12700">
            <a:solidFill>
              <a:srgbClr val="C9CFC3"/>
            </a:solidFill>
            <a:prstDash val="solid"/>
          </a:ln>
        </p:spPr>
      </p:sp>
      <p:sp>
        <p:nvSpPr>
          <p:cNvPr id="330" name="Shape 325"/>
          <p:cNvSpPr/>
          <p:nvPr/>
        </p:nvSpPr>
        <p:spPr>
          <a:xfrm>
            <a:off x="1310256" y="2846971"/>
            <a:ext cx="13763" cy="13763"/>
          </a:xfrm>
          <a:prstGeom prst="rect">
            <a:avLst/>
          </a:prstGeom>
          <a:solidFill>
            <a:srgbClr val="C9CFC3"/>
          </a:solidFill>
          <a:ln w="12700">
            <a:solidFill>
              <a:srgbClr val="C9CFC3"/>
            </a:solidFill>
            <a:prstDash val="solid"/>
          </a:ln>
        </p:spPr>
      </p:sp>
      <p:sp>
        <p:nvSpPr>
          <p:cNvPr id="331" name="Shape 326"/>
          <p:cNvSpPr/>
          <p:nvPr/>
        </p:nvSpPr>
        <p:spPr>
          <a:xfrm>
            <a:off x="1352595" y="2846971"/>
            <a:ext cx="13763" cy="13763"/>
          </a:xfrm>
          <a:prstGeom prst="rect">
            <a:avLst/>
          </a:prstGeom>
          <a:solidFill>
            <a:srgbClr val="C9CFC3"/>
          </a:solidFill>
          <a:ln w="12700">
            <a:solidFill>
              <a:srgbClr val="C9CFC3"/>
            </a:solidFill>
            <a:prstDash val="solid"/>
          </a:ln>
        </p:spPr>
      </p:sp>
      <p:sp>
        <p:nvSpPr>
          <p:cNvPr id="332" name="Shape 327"/>
          <p:cNvSpPr/>
          <p:nvPr/>
        </p:nvSpPr>
        <p:spPr>
          <a:xfrm>
            <a:off x="1394933" y="2846971"/>
            <a:ext cx="13763" cy="13763"/>
          </a:xfrm>
          <a:prstGeom prst="rect">
            <a:avLst/>
          </a:prstGeom>
          <a:solidFill>
            <a:srgbClr val="C9CFC3"/>
          </a:solidFill>
          <a:ln w="12700">
            <a:solidFill>
              <a:srgbClr val="C9CFC3"/>
            </a:solidFill>
            <a:prstDash val="solid"/>
          </a:ln>
        </p:spPr>
      </p:sp>
      <p:sp>
        <p:nvSpPr>
          <p:cNvPr id="333" name="Shape 328"/>
          <p:cNvSpPr/>
          <p:nvPr/>
        </p:nvSpPr>
        <p:spPr>
          <a:xfrm>
            <a:off x="1437271" y="2846971"/>
            <a:ext cx="13763" cy="13763"/>
          </a:xfrm>
          <a:prstGeom prst="rect">
            <a:avLst/>
          </a:prstGeom>
          <a:solidFill>
            <a:srgbClr val="C9CFC3"/>
          </a:solidFill>
          <a:ln w="12700">
            <a:solidFill>
              <a:srgbClr val="C9CFC3"/>
            </a:solidFill>
            <a:prstDash val="solid"/>
          </a:ln>
        </p:spPr>
      </p:sp>
      <p:sp>
        <p:nvSpPr>
          <p:cNvPr id="334" name="Shape 329"/>
          <p:cNvSpPr/>
          <p:nvPr/>
        </p:nvSpPr>
        <p:spPr>
          <a:xfrm>
            <a:off x="1479609" y="2846971"/>
            <a:ext cx="13763" cy="13763"/>
          </a:xfrm>
          <a:prstGeom prst="rect">
            <a:avLst/>
          </a:prstGeom>
          <a:solidFill>
            <a:srgbClr val="C9CFC3"/>
          </a:solidFill>
          <a:ln w="12700">
            <a:solidFill>
              <a:srgbClr val="C9CFC3"/>
            </a:solidFill>
            <a:prstDash val="solid"/>
          </a:ln>
        </p:spPr>
      </p:sp>
      <p:sp>
        <p:nvSpPr>
          <p:cNvPr id="335" name="Shape 330"/>
          <p:cNvSpPr/>
          <p:nvPr/>
        </p:nvSpPr>
        <p:spPr>
          <a:xfrm>
            <a:off x="1521948" y="2846971"/>
            <a:ext cx="13763" cy="13763"/>
          </a:xfrm>
          <a:prstGeom prst="rect">
            <a:avLst/>
          </a:prstGeom>
          <a:solidFill>
            <a:srgbClr val="C9CFC3"/>
          </a:solidFill>
          <a:ln w="12700">
            <a:solidFill>
              <a:srgbClr val="C9CFC3"/>
            </a:solidFill>
            <a:prstDash val="solid"/>
          </a:ln>
        </p:spPr>
      </p:sp>
      <p:sp>
        <p:nvSpPr>
          <p:cNvPr id="336" name="Shape 331"/>
          <p:cNvSpPr/>
          <p:nvPr/>
        </p:nvSpPr>
        <p:spPr>
          <a:xfrm>
            <a:off x="1564286" y="2846971"/>
            <a:ext cx="13763" cy="13763"/>
          </a:xfrm>
          <a:prstGeom prst="rect">
            <a:avLst/>
          </a:prstGeom>
          <a:solidFill>
            <a:srgbClr val="C9CFC3"/>
          </a:solidFill>
          <a:ln w="12700">
            <a:solidFill>
              <a:srgbClr val="C9CFC3"/>
            </a:solidFill>
            <a:prstDash val="solid"/>
          </a:ln>
        </p:spPr>
      </p:sp>
      <p:sp>
        <p:nvSpPr>
          <p:cNvPr id="337" name="Shape 332"/>
          <p:cNvSpPr/>
          <p:nvPr/>
        </p:nvSpPr>
        <p:spPr>
          <a:xfrm>
            <a:off x="1606624" y="2846971"/>
            <a:ext cx="13763" cy="13763"/>
          </a:xfrm>
          <a:prstGeom prst="rect">
            <a:avLst/>
          </a:prstGeom>
          <a:solidFill>
            <a:srgbClr val="C9CFC3"/>
          </a:solidFill>
          <a:ln w="12700">
            <a:solidFill>
              <a:srgbClr val="C9CFC3"/>
            </a:solidFill>
            <a:prstDash val="solid"/>
          </a:ln>
        </p:spPr>
      </p:sp>
      <p:sp>
        <p:nvSpPr>
          <p:cNvPr id="338" name="Shape 333"/>
          <p:cNvSpPr/>
          <p:nvPr/>
        </p:nvSpPr>
        <p:spPr>
          <a:xfrm>
            <a:off x="1648963" y="2846971"/>
            <a:ext cx="13763" cy="13763"/>
          </a:xfrm>
          <a:prstGeom prst="rect">
            <a:avLst/>
          </a:prstGeom>
          <a:solidFill>
            <a:srgbClr val="C9CFC3"/>
          </a:solidFill>
          <a:ln w="12700">
            <a:solidFill>
              <a:srgbClr val="C9CFC3"/>
            </a:solidFill>
            <a:prstDash val="solid"/>
          </a:ln>
        </p:spPr>
      </p:sp>
      <p:sp>
        <p:nvSpPr>
          <p:cNvPr id="339" name="Shape 334"/>
          <p:cNvSpPr/>
          <p:nvPr/>
        </p:nvSpPr>
        <p:spPr>
          <a:xfrm>
            <a:off x="1691301" y="2846971"/>
            <a:ext cx="13763" cy="13763"/>
          </a:xfrm>
          <a:prstGeom prst="rect">
            <a:avLst/>
          </a:prstGeom>
          <a:solidFill>
            <a:srgbClr val="C9CFC3"/>
          </a:solidFill>
          <a:ln w="12700">
            <a:solidFill>
              <a:srgbClr val="C9CFC3"/>
            </a:solidFill>
            <a:prstDash val="solid"/>
          </a:ln>
        </p:spPr>
      </p:sp>
      <p:sp>
        <p:nvSpPr>
          <p:cNvPr id="340" name="Shape 335"/>
          <p:cNvSpPr/>
          <p:nvPr/>
        </p:nvSpPr>
        <p:spPr>
          <a:xfrm>
            <a:off x="1733639" y="2846971"/>
            <a:ext cx="13763" cy="13763"/>
          </a:xfrm>
          <a:prstGeom prst="rect">
            <a:avLst/>
          </a:prstGeom>
          <a:solidFill>
            <a:srgbClr val="C9CFC3"/>
          </a:solidFill>
          <a:ln w="12700">
            <a:solidFill>
              <a:srgbClr val="C9CFC3"/>
            </a:solidFill>
            <a:prstDash val="solid"/>
          </a:ln>
        </p:spPr>
      </p:sp>
      <p:sp>
        <p:nvSpPr>
          <p:cNvPr id="341" name="Shape 336"/>
          <p:cNvSpPr/>
          <p:nvPr/>
        </p:nvSpPr>
        <p:spPr>
          <a:xfrm>
            <a:off x="1775978" y="2846971"/>
            <a:ext cx="13763" cy="13763"/>
          </a:xfrm>
          <a:prstGeom prst="rect">
            <a:avLst/>
          </a:prstGeom>
          <a:solidFill>
            <a:srgbClr val="C9CFC3"/>
          </a:solidFill>
          <a:ln w="12700">
            <a:solidFill>
              <a:srgbClr val="C9CFC3"/>
            </a:solidFill>
            <a:prstDash val="solid"/>
          </a:ln>
        </p:spPr>
      </p:sp>
      <p:sp>
        <p:nvSpPr>
          <p:cNvPr id="342" name="Shape 337"/>
          <p:cNvSpPr/>
          <p:nvPr/>
        </p:nvSpPr>
        <p:spPr>
          <a:xfrm>
            <a:off x="1818316" y="2846971"/>
            <a:ext cx="13763" cy="13763"/>
          </a:xfrm>
          <a:prstGeom prst="rect">
            <a:avLst/>
          </a:prstGeom>
          <a:solidFill>
            <a:srgbClr val="C9CFC3"/>
          </a:solidFill>
          <a:ln w="12700">
            <a:solidFill>
              <a:srgbClr val="C9CFC3"/>
            </a:solidFill>
            <a:prstDash val="solid"/>
          </a:ln>
        </p:spPr>
      </p:sp>
      <p:sp>
        <p:nvSpPr>
          <p:cNvPr id="343" name="Shape 338"/>
          <p:cNvSpPr/>
          <p:nvPr/>
        </p:nvSpPr>
        <p:spPr>
          <a:xfrm>
            <a:off x="1860654" y="2846971"/>
            <a:ext cx="13763" cy="13763"/>
          </a:xfrm>
          <a:prstGeom prst="rect">
            <a:avLst/>
          </a:prstGeom>
          <a:solidFill>
            <a:srgbClr val="C9CFC3"/>
          </a:solidFill>
          <a:ln w="12700">
            <a:solidFill>
              <a:srgbClr val="C9CFC3"/>
            </a:solidFill>
            <a:prstDash val="solid"/>
          </a:ln>
        </p:spPr>
      </p:sp>
      <p:sp>
        <p:nvSpPr>
          <p:cNvPr id="344" name="Shape 339"/>
          <p:cNvSpPr/>
          <p:nvPr/>
        </p:nvSpPr>
        <p:spPr>
          <a:xfrm>
            <a:off x="1902992" y="2846971"/>
            <a:ext cx="13763" cy="13763"/>
          </a:xfrm>
          <a:prstGeom prst="rect">
            <a:avLst/>
          </a:prstGeom>
          <a:solidFill>
            <a:srgbClr val="C9CFC3"/>
          </a:solidFill>
          <a:ln w="12700">
            <a:solidFill>
              <a:srgbClr val="C9CFC3"/>
            </a:solidFill>
            <a:prstDash val="solid"/>
          </a:ln>
        </p:spPr>
      </p:sp>
      <p:sp>
        <p:nvSpPr>
          <p:cNvPr id="345" name="Shape 340"/>
          <p:cNvSpPr/>
          <p:nvPr/>
        </p:nvSpPr>
        <p:spPr>
          <a:xfrm>
            <a:off x="1945331" y="2846971"/>
            <a:ext cx="13763" cy="13763"/>
          </a:xfrm>
          <a:prstGeom prst="rect">
            <a:avLst/>
          </a:prstGeom>
          <a:solidFill>
            <a:srgbClr val="C9CFC3"/>
          </a:solidFill>
          <a:ln w="12700">
            <a:solidFill>
              <a:srgbClr val="C9CFC3"/>
            </a:solidFill>
            <a:prstDash val="solid"/>
          </a:ln>
        </p:spPr>
      </p:sp>
      <p:sp>
        <p:nvSpPr>
          <p:cNvPr id="346" name="Shape 341"/>
          <p:cNvSpPr/>
          <p:nvPr/>
        </p:nvSpPr>
        <p:spPr>
          <a:xfrm>
            <a:off x="1987669" y="2846971"/>
            <a:ext cx="13763" cy="13763"/>
          </a:xfrm>
          <a:prstGeom prst="rect">
            <a:avLst/>
          </a:prstGeom>
          <a:solidFill>
            <a:srgbClr val="C9CFC3"/>
          </a:solidFill>
          <a:ln w="12700">
            <a:solidFill>
              <a:srgbClr val="C9CFC3"/>
            </a:solidFill>
            <a:prstDash val="solid"/>
          </a:ln>
        </p:spPr>
      </p:sp>
      <p:sp>
        <p:nvSpPr>
          <p:cNvPr id="347" name="Shape 342"/>
          <p:cNvSpPr/>
          <p:nvPr/>
        </p:nvSpPr>
        <p:spPr>
          <a:xfrm>
            <a:off x="2030007" y="2846971"/>
            <a:ext cx="13763" cy="13763"/>
          </a:xfrm>
          <a:prstGeom prst="rect">
            <a:avLst/>
          </a:prstGeom>
          <a:solidFill>
            <a:srgbClr val="C9CFC3"/>
          </a:solidFill>
          <a:ln w="12700">
            <a:solidFill>
              <a:srgbClr val="C9CFC3"/>
            </a:solidFill>
            <a:prstDash val="solid"/>
          </a:ln>
        </p:spPr>
      </p:sp>
      <p:sp>
        <p:nvSpPr>
          <p:cNvPr id="348" name="Shape 343"/>
          <p:cNvSpPr/>
          <p:nvPr/>
        </p:nvSpPr>
        <p:spPr>
          <a:xfrm>
            <a:off x="2072346" y="2846971"/>
            <a:ext cx="13763" cy="13763"/>
          </a:xfrm>
          <a:prstGeom prst="rect">
            <a:avLst/>
          </a:prstGeom>
          <a:solidFill>
            <a:srgbClr val="C9CFC3"/>
          </a:solidFill>
          <a:ln w="12700">
            <a:solidFill>
              <a:srgbClr val="C9CFC3"/>
            </a:solidFill>
            <a:prstDash val="solid"/>
          </a:ln>
        </p:spPr>
      </p:sp>
      <p:sp>
        <p:nvSpPr>
          <p:cNvPr id="349" name="Shape 344"/>
          <p:cNvSpPr/>
          <p:nvPr/>
        </p:nvSpPr>
        <p:spPr>
          <a:xfrm>
            <a:off x="2114684" y="2846971"/>
            <a:ext cx="13763" cy="13763"/>
          </a:xfrm>
          <a:prstGeom prst="rect">
            <a:avLst/>
          </a:prstGeom>
          <a:solidFill>
            <a:srgbClr val="C9CFC3"/>
          </a:solidFill>
          <a:ln w="12700">
            <a:solidFill>
              <a:srgbClr val="C9CFC3"/>
            </a:solidFill>
            <a:prstDash val="solid"/>
          </a:ln>
        </p:spPr>
      </p:sp>
      <p:sp>
        <p:nvSpPr>
          <p:cNvPr id="350" name="Shape 345"/>
          <p:cNvSpPr/>
          <p:nvPr/>
        </p:nvSpPr>
        <p:spPr>
          <a:xfrm>
            <a:off x="971550" y="2889309"/>
            <a:ext cx="13763" cy="13763"/>
          </a:xfrm>
          <a:prstGeom prst="rect">
            <a:avLst/>
          </a:prstGeom>
          <a:solidFill>
            <a:srgbClr val="C9CFC3"/>
          </a:solidFill>
          <a:ln w="12700">
            <a:solidFill>
              <a:srgbClr val="C9CFC3"/>
            </a:solidFill>
            <a:prstDash val="solid"/>
          </a:ln>
        </p:spPr>
      </p:sp>
      <p:sp>
        <p:nvSpPr>
          <p:cNvPr id="351" name="Shape 346"/>
          <p:cNvSpPr/>
          <p:nvPr/>
        </p:nvSpPr>
        <p:spPr>
          <a:xfrm>
            <a:off x="1013888" y="2889309"/>
            <a:ext cx="13763" cy="13763"/>
          </a:xfrm>
          <a:prstGeom prst="rect">
            <a:avLst/>
          </a:prstGeom>
          <a:solidFill>
            <a:srgbClr val="C9CFC3"/>
          </a:solidFill>
          <a:ln w="12700">
            <a:solidFill>
              <a:srgbClr val="C9CFC3"/>
            </a:solidFill>
            <a:prstDash val="solid"/>
          </a:ln>
        </p:spPr>
      </p:sp>
      <p:sp>
        <p:nvSpPr>
          <p:cNvPr id="352" name="Shape 347"/>
          <p:cNvSpPr/>
          <p:nvPr/>
        </p:nvSpPr>
        <p:spPr>
          <a:xfrm>
            <a:off x="1056227" y="2889309"/>
            <a:ext cx="13763" cy="13763"/>
          </a:xfrm>
          <a:prstGeom prst="rect">
            <a:avLst/>
          </a:prstGeom>
          <a:solidFill>
            <a:srgbClr val="C9CFC3"/>
          </a:solidFill>
          <a:ln w="12700">
            <a:solidFill>
              <a:srgbClr val="C9CFC3"/>
            </a:solidFill>
            <a:prstDash val="solid"/>
          </a:ln>
        </p:spPr>
      </p:sp>
      <p:sp>
        <p:nvSpPr>
          <p:cNvPr id="353" name="Shape 348"/>
          <p:cNvSpPr/>
          <p:nvPr/>
        </p:nvSpPr>
        <p:spPr>
          <a:xfrm>
            <a:off x="1098565" y="2889309"/>
            <a:ext cx="13763" cy="13763"/>
          </a:xfrm>
          <a:prstGeom prst="rect">
            <a:avLst/>
          </a:prstGeom>
          <a:solidFill>
            <a:srgbClr val="C9CFC3"/>
          </a:solidFill>
          <a:ln w="12700">
            <a:solidFill>
              <a:srgbClr val="C9CFC3"/>
            </a:solidFill>
            <a:prstDash val="solid"/>
          </a:ln>
        </p:spPr>
      </p:sp>
      <p:sp>
        <p:nvSpPr>
          <p:cNvPr id="354" name="Shape 349"/>
          <p:cNvSpPr/>
          <p:nvPr/>
        </p:nvSpPr>
        <p:spPr>
          <a:xfrm>
            <a:off x="1140903" y="2889309"/>
            <a:ext cx="13763" cy="13763"/>
          </a:xfrm>
          <a:prstGeom prst="rect">
            <a:avLst/>
          </a:prstGeom>
          <a:solidFill>
            <a:srgbClr val="C9CFC3"/>
          </a:solidFill>
          <a:ln w="12700">
            <a:solidFill>
              <a:srgbClr val="C9CFC3"/>
            </a:solidFill>
            <a:prstDash val="solid"/>
          </a:ln>
        </p:spPr>
      </p:sp>
      <p:sp>
        <p:nvSpPr>
          <p:cNvPr id="355" name="Shape 350"/>
          <p:cNvSpPr/>
          <p:nvPr/>
        </p:nvSpPr>
        <p:spPr>
          <a:xfrm>
            <a:off x="1183241" y="2889309"/>
            <a:ext cx="13763" cy="13763"/>
          </a:xfrm>
          <a:prstGeom prst="rect">
            <a:avLst/>
          </a:prstGeom>
          <a:solidFill>
            <a:srgbClr val="C9CFC3"/>
          </a:solidFill>
          <a:ln w="12700">
            <a:solidFill>
              <a:srgbClr val="C9CFC3"/>
            </a:solidFill>
            <a:prstDash val="solid"/>
          </a:ln>
        </p:spPr>
      </p:sp>
      <p:sp>
        <p:nvSpPr>
          <p:cNvPr id="356" name="Shape 351"/>
          <p:cNvSpPr/>
          <p:nvPr/>
        </p:nvSpPr>
        <p:spPr>
          <a:xfrm>
            <a:off x="1225580" y="2889309"/>
            <a:ext cx="13763" cy="13763"/>
          </a:xfrm>
          <a:prstGeom prst="rect">
            <a:avLst/>
          </a:prstGeom>
          <a:solidFill>
            <a:srgbClr val="C9CFC3"/>
          </a:solidFill>
          <a:ln w="12700">
            <a:solidFill>
              <a:srgbClr val="C9CFC3"/>
            </a:solidFill>
            <a:prstDash val="solid"/>
          </a:ln>
        </p:spPr>
      </p:sp>
      <p:sp>
        <p:nvSpPr>
          <p:cNvPr id="357" name="Shape 352"/>
          <p:cNvSpPr/>
          <p:nvPr/>
        </p:nvSpPr>
        <p:spPr>
          <a:xfrm>
            <a:off x="1267918" y="2889309"/>
            <a:ext cx="13763" cy="13763"/>
          </a:xfrm>
          <a:prstGeom prst="rect">
            <a:avLst/>
          </a:prstGeom>
          <a:solidFill>
            <a:srgbClr val="C9CFC3"/>
          </a:solidFill>
          <a:ln w="12700">
            <a:solidFill>
              <a:srgbClr val="C9CFC3"/>
            </a:solidFill>
            <a:prstDash val="solid"/>
          </a:ln>
        </p:spPr>
      </p:sp>
      <p:sp>
        <p:nvSpPr>
          <p:cNvPr id="358" name="Shape 353"/>
          <p:cNvSpPr/>
          <p:nvPr/>
        </p:nvSpPr>
        <p:spPr>
          <a:xfrm>
            <a:off x="1310256" y="2889309"/>
            <a:ext cx="13763" cy="13763"/>
          </a:xfrm>
          <a:prstGeom prst="rect">
            <a:avLst/>
          </a:prstGeom>
          <a:solidFill>
            <a:srgbClr val="C9CFC3"/>
          </a:solidFill>
          <a:ln w="12700">
            <a:solidFill>
              <a:srgbClr val="C9CFC3"/>
            </a:solidFill>
            <a:prstDash val="solid"/>
          </a:ln>
        </p:spPr>
      </p:sp>
      <p:sp>
        <p:nvSpPr>
          <p:cNvPr id="359" name="Shape 354"/>
          <p:cNvSpPr/>
          <p:nvPr/>
        </p:nvSpPr>
        <p:spPr>
          <a:xfrm>
            <a:off x="1352595" y="2889309"/>
            <a:ext cx="13763" cy="13763"/>
          </a:xfrm>
          <a:prstGeom prst="rect">
            <a:avLst/>
          </a:prstGeom>
          <a:solidFill>
            <a:srgbClr val="C9CFC3"/>
          </a:solidFill>
          <a:ln w="12700">
            <a:solidFill>
              <a:srgbClr val="C9CFC3"/>
            </a:solidFill>
            <a:prstDash val="solid"/>
          </a:ln>
        </p:spPr>
      </p:sp>
      <p:sp>
        <p:nvSpPr>
          <p:cNvPr id="360" name="Shape 355"/>
          <p:cNvSpPr/>
          <p:nvPr/>
        </p:nvSpPr>
        <p:spPr>
          <a:xfrm>
            <a:off x="1394933" y="2889309"/>
            <a:ext cx="13763" cy="13763"/>
          </a:xfrm>
          <a:prstGeom prst="rect">
            <a:avLst/>
          </a:prstGeom>
          <a:solidFill>
            <a:srgbClr val="C9CFC3"/>
          </a:solidFill>
          <a:ln w="12700">
            <a:solidFill>
              <a:srgbClr val="C9CFC3"/>
            </a:solidFill>
            <a:prstDash val="solid"/>
          </a:ln>
        </p:spPr>
      </p:sp>
      <p:sp>
        <p:nvSpPr>
          <p:cNvPr id="361" name="Shape 356"/>
          <p:cNvSpPr/>
          <p:nvPr/>
        </p:nvSpPr>
        <p:spPr>
          <a:xfrm>
            <a:off x="1437271" y="2889309"/>
            <a:ext cx="13763" cy="13763"/>
          </a:xfrm>
          <a:prstGeom prst="rect">
            <a:avLst/>
          </a:prstGeom>
          <a:solidFill>
            <a:srgbClr val="C9CFC3"/>
          </a:solidFill>
          <a:ln w="12700">
            <a:solidFill>
              <a:srgbClr val="C9CFC3"/>
            </a:solidFill>
            <a:prstDash val="solid"/>
          </a:ln>
        </p:spPr>
      </p:sp>
      <p:sp>
        <p:nvSpPr>
          <p:cNvPr id="362" name="Shape 357"/>
          <p:cNvSpPr/>
          <p:nvPr/>
        </p:nvSpPr>
        <p:spPr>
          <a:xfrm>
            <a:off x="1479609" y="2889309"/>
            <a:ext cx="13763" cy="13763"/>
          </a:xfrm>
          <a:prstGeom prst="rect">
            <a:avLst/>
          </a:prstGeom>
          <a:solidFill>
            <a:srgbClr val="C9CFC3"/>
          </a:solidFill>
          <a:ln w="12700">
            <a:solidFill>
              <a:srgbClr val="C9CFC3"/>
            </a:solidFill>
            <a:prstDash val="solid"/>
          </a:ln>
        </p:spPr>
      </p:sp>
      <p:sp>
        <p:nvSpPr>
          <p:cNvPr id="363" name="Shape 358"/>
          <p:cNvSpPr/>
          <p:nvPr/>
        </p:nvSpPr>
        <p:spPr>
          <a:xfrm>
            <a:off x="1521948" y="2889309"/>
            <a:ext cx="13763" cy="13763"/>
          </a:xfrm>
          <a:prstGeom prst="rect">
            <a:avLst/>
          </a:prstGeom>
          <a:solidFill>
            <a:srgbClr val="C9CFC3"/>
          </a:solidFill>
          <a:ln w="12700">
            <a:solidFill>
              <a:srgbClr val="C9CFC3"/>
            </a:solidFill>
            <a:prstDash val="solid"/>
          </a:ln>
        </p:spPr>
      </p:sp>
      <p:sp>
        <p:nvSpPr>
          <p:cNvPr id="364" name="Shape 359"/>
          <p:cNvSpPr/>
          <p:nvPr/>
        </p:nvSpPr>
        <p:spPr>
          <a:xfrm>
            <a:off x="1564286" y="2889309"/>
            <a:ext cx="13763" cy="13763"/>
          </a:xfrm>
          <a:prstGeom prst="rect">
            <a:avLst/>
          </a:prstGeom>
          <a:solidFill>
            <a:srgbClr val="C9CFC3"/>
          </a:solidFill>
          <a:ln w="12700">
            <a:solidFill>
              <a:srgbClr val="C9CFC3"/>
            </a:solidFill>
            <a:prstDash val="solid"/>
          </a:ln>
        </p:spPr>
      </p:sp>
      <p:sp>
        <p:nvSpPr>
          <p:cNvPr id="365" name="Shape 360"/>
          <p:cNvSpPr/>
          <p:nvPr/>
        </p:nvSpPr>
        <p:spPr>
          <a:xfrm>
            <a:off x="1606624" y="2889309"/>
            <a:ext cx="13763" cy="13763"/>
          </a:xfrm>
          <a:prstGeom prst="rect">
            <a:avLst/>
          </a:prstGeom>
          <a:solidFill>
            <a:srgbClr val="C9CFC3"/>
          </a:solidFill>
          <a:ln w="12700">
            <a:solidFill>
              <a:srgbClr val="C9CFC3"/>
            </a:solidFill>
            <a:prstDash val="solid"/>
          </a:ln>
        </p:spPr>
      </p:sp>
      <p:sp>
        <p:nvSpPr>
          <p:cNvPr id="366" name="Shape 361"/>
          <p:cNvSpPr/>
          <p:nvPr/>
        </p:nvSpPr>
        <p:spPr>
          <a:xfrm>
            <a:off x="1648963" y="2889309"/>
            <a:ext cx="13763" cy="13763"/>
          </a:xfrm>
          <a:prstGeom prst="rect">
            <a:avLst/>
          </a:prstGeom>
          <a:solidFill>
            <a:srgbClr val="C9CFC3"/>
          </a:solidFill>
          <a:ln w="12700">
            <a:solidFill>
              <a:srgbClr val="C9CFC3"/>
            </a:solidFill>
            <a:prstDash val="solid"/>
          </a:ln>
        </p:spPr>
      </p:sp>
      <p:sp>
        <p:nvSpPr>
          <p:cNvPr id="367" name="Shape 362"/>
          <p:cNvSpPr/>
          <p:nvPr/>
        </p:nvSpPr>
        <p:spPr>
          <a:xfrm>
            <a:off x="1691301" y="2889309"/>
            <a:ext cx="13763" cy="13763"/>
          </a:xfrm>
          <a:prstGeom prst="rect">
            <a:avLst/>
          </a:prstGeom>
          <a:solidFill>
            <a:srgbClr val="C9CFC3"/>
          </a:solidFill>
          <a:ln w="12700">
            <a:solidFill>
              <a:srgbClr val="C9CFC3"/>
            </a:solidFill>
            <a:prstDash val="solid"/>
          </a:ln>
        </p:spPr>
      </p:sp>
      <p:sp>
        <p:nvSpPr>
          <p:cNvPr id="368" name="Shape 363"/>
          <p:cNvSpPr/>
          <p:nvPr/>
        </p:nvSpPr>
        <p:spPr>
          <a:xfrm>
            <a:off x="1733639" y="2889309"/>
            <a:ext cx="13763" cy="13763"/>
          </a:xfrm>
          <a:prstGeom prst="rect">
            <a:avLst/>
          </a:prstGeom>
          <a:solidFill>
            <a:srgbClr val="C9CFC3"/>
          </a:solidFill>
          <a:ln w="12700">
            <a:solidFill>
              <a:srgbClr val="C9CFC3"/>
            </a:solidFill>
            <a:prstDash val="solid"/>
          </a:ln>
        </p:spPr>
      </p:sp>
      <p:sp>
        <p:nvSpPr>
          <p:cNvPr id="369" name="Shape 364"/>
          <p:cNvSpPr/>
          <p:nvPr/>
        </p:nvSpPr>
        <p:spPr>
          <a:xfrm>
            <a:off x="1775978" y="2889309"/>
            <a:ext cx="13763" cy="13763"/>
          </a:xfrm>
          <a:prstGeom prst="rect">
            <a:avLst/>
          </a:prstGeom>
          <a:solidFill>
            <a:srgbClr val="C9CFC3"/>
          </a:solidFill>
          <a:ln w="12700">
            <a:solidFill>
              <a:srgbClr val="C9CFC3"/>
            </a:solidFill>
            <a:prstDash val="solid"/>
          </a:ln>
        </p:spPr>
      </p:sp>
      <p:sp>
        <p:nvSpPr>
          <p:cNvPr id="370" name="Shape 365"/>
          <p:cNvSpPr/>
          <p:nvPr/>
        </p:nvSpPr>
        <p:spPr>
          <a:xfrm>
            <a:off x="1818316" y="2889309"/>
            <a:ext cx="13763" cy="13763"/>
          </a:xfrm>
          <a:prstGeom prst="rect">
            <a:avLst/>
          </a:prstGeom>
          <a:solidFill>
            <a:srgbClr val="C9CFC3"/>
          </a:solidFill>
          <a:ln w="12700">
            <a:solidFill>
              <a:srgbClr val="C9CFC3"/>
            </a:solidFill>
            <a:prstDash val="solid"/>
          </a:ln>
        </p:spPr>
      </p:sp>
      <p:sp>
        <p:nvSpPr>
          <p:cNvPr id="371" name="Shape 366"/>
          <p:cNvSpPr/>
          <p:nvPr/>
        </p:nvSpPr>
        <p:spPr>
          <a:xfrm>
            <a:off x="1860654" y="2889309"/>
            <a:ext cx="13763" cy="13763"/>
          </a:xfrm>
          <a:prstGeom prst="rect">
            <a:avLst/>
          </a:prstGeom>
          <a:solidFill>
            <a:srgbClr val="C9CFC3"/>
          </a:solidFill>
          <a:ln w="12700">
            <a:solidFill>
              <a:srgbClr val="C9CFC3"/>
            </a:solidFill>
            <a:prstDash val="solid"/>
          </a:ln>
        </p:spPr>
      </p:sp>
      <p:sp>
        <p:nvSpPr>
          <p:cNvPr id="372" name="Shape 367"/>
          <p:cNvSpPr/>
          <p:nvPr/>
        </p:nvSpPr>
        <p:spPr>
          <a:xfrm>
            <a:off x="1902992" y="2889309"/>
            <a:ext cx="13763" cy="13763"/>
          </a:xfrm>
          <a:prstGeom prst="rect">
            <a:avLst/>
          </a:prstGeom>
          <a:solidFill>
            <a:srgbClr val="C9CFC3"/>
          </a:solidFill>
          <a:ln w="12700">
            <a:solidFill>
              <a:srgbClr val="C9CFC3"/>
            </a:solidFill>
            <a:prstDash val="solid"/>
          </a:ln>
        </p:spPr>
      </p:sp>
      <p:sp>
        <p:nvSpPr>
          <p:cNvPr id="373" name="Shape 368"/>
          <p:cNvSpPr/>
          <p:nvPr/>
        </p:nvSpPr>
        <p:spPr>
          <a:xfrm>
            <a:off x="1945331" y="2889309"/>
            <a:ext cx="13763" cy="13763"/>
          </a:xfrm>
          <a:prstGeom prst="rect">
            <a:avLst/>
          </a:prstGeom>
          <a:solidFill>
            <a:srgbClr val="C9CFC3"/>
          </a:solidFill>
          <a:ln w="12700">
            <a:solidFill>
              <a:srgbClr val="C9CFC3"/>
            </a:solidFill>
            <a:prstDash val="solid"/>
          </a:ln>
        </p:spPr>
      </p:sp>
      <p:sp>
        <p:nvSpPr>
          <p:cNvPr id="374" name="Shape 369"/>
          <p:cNvSpPr/>
          <p:nvPr/>
        </p:nvSpPr>
        <p:spPr>
          <a:xfrm>
            <a:off x="1987669" y="2889309"/>
            <a:ext cx="13763" cy="13763"/>
          </a:xfrm>
          <a:prstGeom prst="rect">
            <a:avLst/>
          </a:prstGeom>
          <a:solidFill>
            <a:srgbClr val="C9CFC3"/>
          </a:solidFill>
          <a:ln w="12700">
            <a:solidFill>
              <a:srgbClr val="C9CFC3"/>
            </a:solidFill>
            <a:prstDash val="solid"/>
          </a:ln>
        </p:spPr>
      </p:sp>
      <p:sp>
        <p:nvSpPr>
          <p:cNvPr id="375" name="Shape 370"/>
          <p:cNvSpPr/>
          <p:nvPr/>
        </p:nvSpPr>
        <p:spPr>
          <a:xfrm>
            <a:off x="2030007" y="2889309"/>
            <a:ext cx="13763" cy="13763"/>
          </a:xfrm>
          <a:prstGeom prst="rect">
            <a:avLst/>
          </a:prstGeom>
          <a:solidFill>
            <a:srgbClr val="C9CFC3"/>
          </a:solidFill>
          <a:ln w="12700">
            <a:solidFill>
              <a:srgbClr val="C9CFC3"/>
            </a:solidFill>
            <a:prstDash val="solid"/>
          </a:ln>
        </p:spPr>
      </p:sp>
      <p:sp>
        <p:nvSpPr>
          <p:cNvPr id="376" name="Shape 371"/>
          <p:cNvSpPr/>
          <p:nvPr/>
        </p:nvSpPr>
        <p:spPr>
          <a:xfrm>
            <a:off x="2072346" y="2889309"/>
            <a:ext cx="13763" cy="13763"/>
          </a:xfrm>
          <a:prstGeom prst="rect">
            <a:avLst/>
          </a:prstGeom>
          <a:solidFill>
            <a:srgbClr val="C9CFC3"/>
          </a:solidFill>
          <a:ln w="12700">
            <a:solidFill>
              <a:srgbClr val="C9CFC3"/>
            </a:solidFill>
            <a:prstDash val="solid"/>
          </a:ln>
        </p:spPr>
      </p:sp>
      <p:sp>
        <p:nvSpPr>
          <p:cNvPr id="377" name="Shape 372"/>
          <p:cNvSpPr/>
          <p:nvPr/>
        </p:nvSpPr>
        <p:spPr>
          <a:xfrm>
            <a:off x="2114684" y="2889309"/>
            <a:ext cx="13763" cy="13763"/>
          </a:xfrm>
          <a:prstGeom prst="rect">
            <a:avLst/>
          </a:prstGeom>
          <a:solidFill>
            <a:srgbClr val="C9CFC3"/>
          </a:solidFill>
          <a:ln w="12700">
            <a:solidFill>
              <a:srgbClr val="C9CFC3"/>
            </a:solidFill>
            <a:prstDash val="solid"/>
          </a:ln>
        </p:spPr>
      </p:sp>
      <p:sp>
        <p:nvSpPr>
          <p:cNvPr id="378" name="Shape 373"/>
          <p:cNvSpPr/>
          <p:nvPr/>
        </p:nvSpPr>
        <p:spPr>
          <a:xfrm>
            <a:off x="971550" y="2931648"/>
            <a:ext cx="13763" cy="13763"/>
          </a:xfrm>
          <a:prstGeom prst="rect">
            <a:avLst/>
          </a:prstGeom>
          <a:solidFill>
            <a:srgbClr val="C9CFC3"/>
          </a:solidFill>
          <a:ln w="12700">
            <a:solidFill>
              <a:srgbClr val="C9CFC3"/>
            </a:solidFill>
            <a:prstDash val="solid"/>
          </a:ln>
        </p:spPr>
      </p:sp>
      <p:sp>
        <p:nvSpPr>
          <p:cNvPr id="379" name="Shape 374"/>
          <p:cNvSpPr/>
          <p:nvPr/>
        </p:nvSpPr>
        <p:spPr>
          <a:xfrm>
            <a:off x="1013888" y="2931648"/>
            <a:ext cx="13763" cy="13763"/>
          </a:xfrm>
          <a:prstGeom prst="rect">
            <a:avLst/>
          </a:prstGeom>
          <a:solidFill>
            <a:srgbClr val="C9CFC3"/>
          </a:solidFill>
          <a:ln w="12700">
            <a:solidFill>
              <a:srgbClr val="C9CFC3"/>
            </a:solidFill>
            <a:prstDash val="solid"/>
          </a:ln>
        </p:spPr>
      </p:sp>
      <p:sp>
        <p:nvSpPr>
          <p:cNvPr id="380" name="Shape 375"/>
          <p:cNvSpPr/>
          <p:nvPr/>
        </p:nvSpPr>
        <p:spPr>
          <a:xfrm>
            <a:off x="1056227" y="2931648"/>
            <a:ext cx="13763" cy="13763"/>
          </a:xfrm>
          <a:prstGeom prst="rect">
            <a:avLst/>
          </a:prstGeom>
          <a:solidFill>
            <a:srgbClr val="C9CFC3"/>
          </a:solidFill>
          <a:ln w="12700">
            <a:solidFill>
              <a:srgbClr val="C9CFC3"/>
            </a:solidFill>
            <a:prstDash val="solid"/>
          </a:ln>
        </p:spPr>
      </p:sp>
      <p:sp>
        <p:nvSpPr>
          <p:cNvPr id="381" name="Shape 376"/>
          <p:cNvSpPr/>
          <p:nvPr/>
        </p:nvSpPr>
        <p:spPr>
          <a:xfrm>
            <a:off x="1098565" y="2931648"/>
            <a:ext cx="13763" cy="13763"/>
          </a:xfrm>
          <a:prstGeom prst="rect">
            <a:avLst/>
          </a:prstGeom>
          <a:solidFill>
            <a:srgbClr val="C9CFC3"/>
          </a:solidFill>
          <a:ln w="12700">
            <a:solidFill>
              <a:srgbClr val="C9CFC3"/>
            </a:solidFill>
            <a:prstDash val="solid"/>
          </a:ln>
        </p:spPr>
      </p:sp>
      <p:sp>
        <p:nvSpPr>
          <p:cNvPr id="382" name="Shape 377"/>
          <p:cNvSpPr/>
          <p:nvPr/>
        </p:nvSpPr>
        <p:spPr>
          <a:xfrm>
            <a:off x="1140903" y="2931648"/>
            <a:ext cx="13763" cy="13763"/>
          </a:xfrm>
          <a:prstGeom prst="rect">
            <a:avLst/>
          </a:prstGeom>
          <a:solidFill>
            <a:srgbClr val="C9CFC3"/>
          </a:solidFill>
          <a:ln w="12700">
            <a:solidFill>
              <a:srgbClr val="C9CFC3"/>
            </a:solidFill>
            <a:prstDash val="solid"/>
          </a:ln>
        </p:spPr>
      </p:sp>
      <p:sp>
        <p:nvSpPr>
          <p:cNvPr id="383" name="Shape 378"/>
          <p:cNvSpPr/>
          <p:nvPr/>
        </p:nvSpPr>
        <p:spPr>
          <a:xfrm>
            <a:off x="1183241" y="2931648"/>
            <a:ext cx="13763" cy="13763"/>
          </a:xfrm>
          <a:prstGeom prst="rect">
            <a:avLst/>
          </a:prstGeom>
          <a:solidFill>
            <a:srgbClr val="C9CFC3"/>
          </a:solidFill>
          <a:ln w="12700">
            <a:solidFill>
              <a:srgbClr val="C9CFC3"/>
            </a:solidFill>
            <a:prstDash val="solid"/>
          </a:ln>
        </p:spPr>
      </p:sp>
      <p:sp>
        <p:nvSpPr>
          <p:cNvPr id="384" name="Shape 379"/>
          <p:cNvSpPr/>
          <p:nvPr/>
        </p:nvSpPr>
        <p:spPr>
          <a:xfrm>
            <a:off x="1225580" y="2931648"/>
            <a:ext cx="13763" cy="13763"/>
          </a:xfrm>
          <a:prstGeom prst="rect">
            <a:avLst/>
          </a:prstGeom>
          <a:solidFill>
            <a:srgbClr val="C9CFC3"/>
          </a:solidFill>
          <a:ln w="12700">
            <a:solidFill>
              <a:srgbClr val="C9CFC3"/>
            </a:solidFill>
            <a:prstDash val="solid"/>
          </a:ln>
        </p:spPr>
      </p:sp>
      <p:sp>
        <p:nvSpPr>
          <p:cNvPr id="385" name="Shape 380"/>
          <p:cNvSpPr/>
          <p:nvPr/>
        </p:nvSpPr>
        <p:spPr>
          <a:xfrm>
            <a:off x="1267918" y="2931648"/>
            <a:ext cx="13763" cy="13763"/>
          </a:xfrm>
          <a:prstGeom prst="rect">
            <a:avLst/>
          </a:prstGeom>
          <a:solidFill>
            <a:srgbClr val="C9CFC3"/>
          </a:solidFill>
          <a:ln w="12700">
            <a:solidFill>
              <a:srgbClr val="C9CFC3"/>
            </a:solidFill>
            <a:prstDash val="solid"/>
          </a:ln>
        </p:spPr>
      </p:sp>
      <p:sp>
        <p:nvSpPr>
          <p:cNvPr id="386" name="Shape 381"/>
          <p:cNvSpPr/>
          <p:nvPr/>
        </p:nvSpPr>
        <p:spPr>
          <a:xfrm>
            <a:off x="1310256" y="2931648"/>
            <a:ext cx="13763" cy="13763"/>
          </a:xfrm>
          <a:prstGeom prst="rect">
            <a:avLst/>
          </a:prstGeom>
          <a:solidFill>
            <a:srgbClr val="C9CFC3"/>
          </a:solidFill>
          <a:ln w="12700">
            <a:solidFill>
              <a:srgbClr val="C9CFC3"/>
            </a:solidFill>
            <a:prstDash val="solid"/>
          </a:ln>
        </p:spPr>
      </p:sp>
      <p:sp>
        <p:nvSpPr>
          <p:cNvPr id="387" name="Shape 382"/>
          <p:cNvSpPr/>
          <p:nvPr/>
        </p:nvSpPr>
        <p:spPr>
          <a:xfrm>
            <a:off x="1352595" y="2931648"/>
            <a:ext cx="13763" cy="13763"/>
          </a:xfrm>
          <a:prstGeom prst="rect">
            <a:avLst/>
          </a:prstGeom>
          <a:solidFill>
            <a:srgbClr val="C9CFC3"/>
          </a:solidFill>
          <a:ln w="12700">
            <a:solidFill>
              <a:srgbClr val="C9CFC3"/>
            </a:solidFill>
            <a:prstDash val="solid"/>
          </a:ln>
        </p:spPr>
      </p:sp>
      <p:sp>
        <p:nvSpPr>
          <p:cNvPr id="388" name="Shape 383"/>
          <p:cNvSpPr/>
          <p:nvPr/>
        </p:nvSpPr>
        <p:spPr>
          <a:xfrm>
            <a:off x="1394933" y="2931648"/>
            <a:ext cx="13763" cy="13763"/>
          </a:xfrm>
          <a:prstGeom prst="rect">
            <a:avLst/>
          </a:prstGeom>
          <a:solidFill>
            <a:srgbClr val="C9CFC3"/>
          </a:solidFill>
          <a:ln w="12700">
            <a:solidFill>
              <a:srgbClr val="C9CFC3"/>
            </a:solidFill>
            <a:prstDash val="solid"/>
          </a:ln>
        </p:spPr>
      </p:sp>
      <p:sp>
        <p:nvSpPr>
          <p:cNvPr id="389" name="Shape 384"/>
          <p:cNvSpPr/>
          <p:nvPr/>
        </p:nvSpPr>
        <p:spPr>
          <a:xfrm>
            <a:off x="1437271" y="2931648"/>
            <a:ext cx="13763" cy="13763"/>
          </a:xfrm>
          <a:prstGeom prst="rect">
            <a:avLst/>
          </a:prstGeom>
          <a:solidFill>
            <a:srgbClr val="C9CFC3"/>
          </a:solidFill>
          <a:ln w="12700">
            <a:solidFill>
              <a:srgbClr val="C9CFC3"/>
            </a:solidFill>
            <a:prstDash val="solid"/>
          </a:ln>
        </p:spPr>
      </p:sp>
      <p:sp>
        <p:nvSpPr>
          <p:cNvPr id="390" name="Shape 385"/>
          <p:cNvSpPr/>
          <p:nvPr/>
        </p:nvSpPr>
        <p:spPr>
          <a:xfrm>
            <a:off x="1479609" y="2931648"/>
            <a:ext cx="13763" cy="13763"/>
          </a:xfrm>
          <a:prstGeom prst="rect">
            <a:avLst/>
          </a:prstGeom>
          <a:solidFill>
            <a:srgbClr val="C9CFC3"/>
          </a:solidFill>
          <a:ln w="12700">
            <a:solidFill>
              <a:srgbClr val="C9CFC3"/>
            </a:solidFill>
            <a:prstDash val="solid"/>
          </a:ln>
        </p:spPr>
      </p:sp>
      <p:sp>
        <p:nvSpPr>
          <p:cNvPr id="391" name="Shape 386"/>
          <p:cNvSpPr/>
          <p:nvPr/>
        </p:nvSpPr>
        <p:spPr>
          <a:xfrm>
            <a:off x="1521948" y="2931648"/>
            <a:ext cx="13763" cy="13763"/>
          </a:xfrm>
          <a:prstGeom prst="rect">
            <a:avLst/>
          </a:prstGeom>
          <a:solidFill>
            <a:srgbClr val="C9CFC3"/>
          </a:solidFill>
          <a:ln w="12700">
            <a:solidFill>
              <a:srgbClr val="C9CFC3"/>
            </a:solidFill>
            <a:prstDash val="solid"/>
          </a:ln>
        </p:spPr>
      </p:sp>
      <p:sp>
        <p:nvSpPr>
          <p:cNvPr id="392" name="Shape 387"/>
          <p:cNvSpPr/>
          <p:nvPr/>
        </p:nvSpPr>
        <p:spPr>
          <a:xfrm>
            <a:off x="1564286" y="2931648"/>
            <a:ext cx="13763" cy="13763"/>
          </a:xfrm>
          <a:prstGeom prst="rect">
            <a:avLst/>
          </a:prstGeom>
          <a:solidFill>
            <a:srgbClr val="C9CFC3"/>
          </a:solidFill>
          <a:ln w="12700">
            <a:solidFill>
              <a:srgbClr val="C9CFC3"/>
            </a:solidFill>
            <a:prstDash val="solid"/>
          </a:ln>
        </p:spPr>
      </p:sp>
      <p:sp>
        <p:nvSpPr>
          <p:cNvPr id="393" name="Shape 388"/>
          <p:cNvSpPr/>
          <p:nvPr/>
        </p:nvSpPr>
        <p:spPr>
          <a:xfrm>
            <a:off x="1606624" y="2931648"/>
            <a:ext cx="13763" cy="13763"/>
          </a:xfrm>
          <a:prstGeom prst="rect">
            <a:avLst/>
          </a:prstGeom>
          <a:solidFill>
            <a:srgbClr val="C9CFC3"/>
          </a:solidFill>
          <a:ln w="12700">
            <a:solidFill>
              <a:srgbClr val="C9CFC3"/>
            </a:solidFill>
            <a:prstDash val="solid"/>
          </a:ln>
        </p:spPr>
      </p:sp>
      <p:sp>
        <p:nvSpPr>
          <p:cNvPr id="394" name="Shape 389"/>
          <p:cNvSpPr/>
          <p:nvPr/>
        </p:nvSpPr>
        <p:spPr>
          <a:xfrm>
            <a:off x="1648963" y="2931648"/>
            <a:ext cx="13763" cy="13763"/>
          </a:xfrm>
          <a:prstGeom prst="rect">
            <a:avLst/>
          </a:prstGeom>
          <a:solidFill>
            <a:srgbClr val="D9A21B"/>
          </a:solidFill>
          <a:ln w="12700">
            <a:solidFill>
              <a:srgbClr val="D9A21B"/>
            </a:solidFill>
            <a:prstDash val="solid"/>
          </a:ln>
        </p:spPr>
      </p:sp>
      <p:sp>
        <p:nvSpPr>
          <p:cNvPr id="395" name="Shape 390"/>
          <p:cNvSpPr/>
          <p:nvPr/>
        </p:nvSpPr>
        <p:spPr>
          <a:xfrm>
            <a:off x="1691301" y="2931648"/>
            <a:ext cx="13763" cy="13763"/>
          </a:xfrm>
          <a:prstGeom prst="rect">
            <a:avLst/>
          </a:prstGeom>
          <a:solidFill>
            <a:srgbClr val="D9A21B"/>
          </a:solidFill>
          <a:ln w="12700">
            <a:solidFill>
              <a:srgbClr val="D9A21B"/>
            </a:solidFill>
            <a:prstDash val="solid"/>
          </a:ln>
        </p:spPr>
      </p:sp>
      <p:sp>
        <p:nvSpPr>
          <p:cNvPr id="396" name="Shape 391"/>
          <p:cNvSpPr/>
          <p:nvPr/>
        </p:nvSpPr>
        <p:spPr>
          <a:xfrm>
            <a:off x="1733639" y="2931648"/>
            <a:ext cx="13763" cy="13763"/>
          </a:xfrm>
          <a:prstGeom prst="rect">
            <a:avLst/>
          </a:prstGeom>
          <a:solidFill>
            <a:srgbClr val="D9A21B"/>
          </a:solidFill>
          <a:ln w="12700">
            <a:solidFill>
              <a:srgbClr val="D9A21B"/>
            </a:solidFill>
            <a:prstDash val="solid"/>
          </a:ln>
        </p:spPr>
      </p:sp>
      <p:sp>
        <p:nvSpPr>
          <p:cNvPr id="397" name="Shape 392"/>
          <p:cNvSpPr/>
          <p:nvPr/>
        </p:nvSpPr>
        <p:spPr>
          <a:xfrm>
            <a:off x="1775978" y="2931648"/>
            <a:ext cx="13763" cy="13763"/>
          </a:xfrm>
          <a:prstGeom prst="rect">
            <a:avLst/>
          </a:prstGeom>
          <a:solidFill>
            <a:srgbClr val="D9A21B"/>
          </a:solidFill>
          <a:ln w="12700">
            <a:solidFill>
              <a:srgbClr val="D9A21B"/>
            </a:solidFill>
            <a:prstDash val="solid"/>
          </a:ln>
        </p:spPr>
      </p:sp>
      <p:sp>
        <p:nvSpPr>
          <p:cNvPr id="398" name="Shape 393"/>
          <p:cNvSpPr/>
          <p:nvPr/>
        </p:nvSpPr>
        <p:spPr>
          <a:xfrm>
            <a:off x="1818316" y="2931648"/>
            <a:ext cx="13763" cy="13763"/>
          </a:xfrm>
          <a:prstGeom prst="rect">
            <a:avLst/>
          </a:prstGeom>
          <a:solidFill>
            <a:srgbClr val="D9A21B"/>
          </a:solidFill>
          <a:ln w="12700">
            <a:solidFill>
              <a:srgbClr val="D9A21B"/>
            </a:solidFill>
            <a:prstDash val="solid"/>
          </a:ln>
        </p:spPr>
      </p:sp>
      <p:sp>
        <p:nvSpPr>
          <p:cNvPr id="399" name="Shape 394"/>
          <p:cNvSpPr/>
          <p:nvPr/>
        </p:nvSpPr>
        <p:spPr>
          <a:xfrm>
            <a:off x="1860654" y="2931648"/>
            <a:ext cx="13763" cy="13763"/>
          </a:xfrm>
          <a:prstGeom prst="rect">
            <a:avLst/>
          </a:prstGeom>
          <a:solidFill>
            <a:srgbClr val="D9A21B"/>
          </a:solidFill>
          <a:ln w="12700">
            <a:solidFill>
              <a:srgbClr val="D9A21B"/>
            </a:solidFill>
            <a:prstDash val="solid"/>
          </a:ln>
        </p:spPr>
      </p:sp>
      <p:sp>
        <p:nvSpPr>
          <p:cNvPr id="400" name="Shape 395"/>
          <p:cNvSpPr/>
          <p:nvPr/>
        </p:nvSpPr>
        <p:spPr>
          <a:xfrm>
            <a:off x="1902992" y="2931648"/>
            <a:ext cx="13763" cy="13763"/>
          </a:xfrm>
          <a:prstGeom prst="rect">
            <a:avLst/>
          </a:prstGeom>
          <a:solidFill>
            <a:srgbClr val="D9A21B"/>
          </a:solidFill>
          <a:ln w="12700">
            <a:solidFill>
              <a:srgbClr val="D9A21B"/>
            </a:solidFill>
            <a:prstDash val="solid"/>
          </a:ln>
        </p:spPr>
      </p:sp>
      <p:sp>
        <p:nvSpPr>
          <p:cNvPr id="401" name="Shape 396"/>
          <p:cNvSpPr/>
          <p:nvPr/>
        </p:nvSpPr>
        <p:spPr>
          <a:xfrm>
            <a:off x="1945331" y="2931648"/>
            <a:ext cx="13763" cy="13763"/>
          </a:xfrm>
          <a:prstGeom prst="rect">
            <a:avLst/>
          </a:prstGeom>
          <a:solidFill>
            <a:srgbClr val="D9A21B"/>
          </a:solidFill>
          <a:ln w="12700">
            <a:solidFill>
              <a:srgbClr val="D9A21B"/>
            </a:solidFill>
            <a:prstDash val="solid"/>
          </a:ln>
        </p:spPr>
      </p:sp>
      <p:sp>
        <p:nvSpPr>
          <p:cNvPr id="402" name="Shape 397"/>
          <p:cNvSpPr/>
          <p:nvPr/>
        </p:nvSpPr>
        <p:spPr>
          <a:xfrm>
            <a:off x="1987669" y="2931648"/>
            <a:ext cx="13763" cy="13763"/>
          </a:xfrm>
          <a:prstGeom prst="rect">
            <a:avLst/>
          </a:prstGeom>
          <a:solidFill>
            <a:srgbClr val="D9A21B"/>
          </a:solidFill>
          <a:ln w="12700">
            <a:solidFill>
              <a:srgbClr val="D9A21B"/>
            </a:solidFill>
            <a:prstDash val="solid"/>
          </a:ln>
        </p:spPr>
      </p:sp>
      <p:sp>
        <p:nvSpPr>
          <p:cNvPr id="403" name="Shape 398"/>
          <p:cNvSpPr/>
          <p:nvPr/>
        </p:nvSpPr>
        <p:spPr>
          <a:xfrm>
            <a:off x="2030007" y="2931648"/>
            <a:ext cx="13763" cy="13763"/>
          </a:xfrm>
          <a:prstGeom prst="rect">
            <a:avLst/>
          </a:prstGeom>
          <a:solidFill>
            <a:srgbClr val="D9A21B"/>
          </a:solidFill>
          <a:ln w="12700">
            <a:solidFill>
              <a:srgbClr val="D9A21B"/>
            </a:solidFill>
            <a:prstDash val="solid"/>
          </a:ln>
        </p:spPr>
      </p:sp>
      <p:sp>
        <p:nvSpPr>
          <p:cNvPr id="404" name="Shape 399"/>
          <p:cNvSpPr/>
          <p:nvPr/>
        </p:nvSpPr>
        <p:spPr>
          <a:xfrm>
            <a:off x="2072346" y="2931648"/>
            <a:ext cx="13763" cy="13763"/>
          </a:xfrm>
          <a:prstGeom prst="rect">
            <a:avLst/>
          </a:prstGeom>
          <a:solidFill>
            <a:srgbClr val="D9A21B"/>
          </a:solidFill>
          <a:ln w="12700">
            <a:solidFill>
              <a:srgbClr val="D9A21B"/>
            </a:solidFill>
            <a:prstDash val="solid"/>
          </a:ln>
        </p:spPr>
      </p:sp>
      <p:sp>
        <p:nvSpPr>
          <p:cNvPr id="405" name="Shape 400"/>
          <p:cNvSpPr/>
          <p:nvPr/>
        </p:nvSpPr>
        <p:spPr>
          <a:xfrm>
            <a:off x="2114684" y="2931648"/>
            <a:ext cx="13763" cy="13763"/>
          </a:xfrm>
          <a:prstGeom prst="rect">
            <a:avLst/>
          </a:prstGeom>
          <a:solidFill>
            <a:srgbClr val="D9A21B"/>
          </a:solidFill>
          <a:ln w="12700">
            <a:solidFill>
              <a:srgbClr val="D9A21B"/>
            </a:solidFill>
            <a:prstDash val="solid"/>
          </a:ln>
        </p:spPr>
      </p:sp>
      <p:sp>
        <p:nvSpPr>
          <p:cNvPr id="406" name="Shape 401"/>
          <p:cNvSpPr/>
          <p:nvPr/>
        </p:nvSpPr>
        <p:spPr>
          <a:xfrm>
            <a:off x="971550" y="2973986"/>
            <a:ext cx="13763" cy="13763"/>
          </a:xfrm>
          <a:prstGeom prst="rect">
            <a:avLst/>
          </a:prstGeom>
          <a:solidFill>
            <a:srgbClr val="D9A21B"/>
          </a:solidFill>
          <a:ln w="12700">
            <a:solidFill>
              <a:srgbClr val="D9A21B"/>
            </a:solidFill>
            <a:prstDash val="solid"/>
          </a:ln>
        </p:spPr>
      </p:sp>
      <p:sp>
        <p:nvSpPr>
          <p:cNvPr id="407" name="Shape 402"/>
          <p:cNvSpPr/>
          <p:nvPr/>
        </p:nvSpPr>
        <p:spPr>
          <a:xfrm>
            <a:off x="1013888" y="2973986"/>
            <a:ext cx="13763" cy="13763"/>
          </a:xfrm>
          <a:prstGeom prst="rect">
            <a:avLst/>
          </a:prstGeom>
          <a:solidFill>
            <a:srgbClr val="D9A21B"/>
          </a:solidFill>
          <a:ln w="12700">
            <a:solidFill>
              <a:srgbClr val="D9A21B"/>
            </a:solidFill>
            <a:prstDash val="solid"/>
          </a:ln>
        </p:spPr>
      </p:sp>
      <p:sp>
        <p:nvSpPr>
          <p:cNvPr id="408" name="Shape 403"/>
          <p:cNvSpPr/>
          <p:nvPr/>
        </p:nvSpPr>
        <p:spPr>
          <a:xfrm>
            <a:off x="1056227" y="2973986"/>
            <a:ext cx="13763" cy="13763"/>
          </a:xfrm>
          <a:prstGeom prst="rect">
            <a:avLst/>
          </a:prstGeom>
          <a:solidFill>
            <a:srgbClr val="D9A21B"/>
          </a:solidFill>
          <a:ln w="12700">
            <a:solidFill>
              <a:srgbClr val="D9A21B"/>
            </a:solidFill>
            <a:prstDash val="solid"/>
          </a:ln>
        </p:spPr>
      </p:sp>
      <p:sp>
        <p:nvSpPr>
          <p:cNvPr id="409" name="Shape 404"/>
          <p:cNvSpPr/>
          <p:nvPr/>
        </p:nvSpPr>
        <p:spPr>
          <a:xfrm>
            <a:off x="1098565" y="2973986"/>
            <a:ext cx="13763" cy="13763"/>
          </a:xfrm>
          <a:prstGeom prst="rect">
            <a:avLst/>
          </a:prstGeom>
          <a:solidFill>
            <a:srgbClr val="D9A21B"/>
          </a:solidFill>
          <a:ln w="12700">
            <a:solidFill>
              <a:srgbClr val="D9A21B"/>
            </a:solidFill>
            <a:prstDash val="solid"/>
          </a:ln>
        </p:spPr>
      </p:sp>
      <p:sp>
        <p:nvSpPr>
          <p:cNvPr id="410" name="Shape 405"/>
          <p:cNvSpPr/>
          <p:nvPr/>
        </p:nvSpPr>
        <p:spPr>
          <a:xfrm>
            <a:off x="1140903" y="2973986"/>
            <a:ext cx="13763" cy="13763"/>
          </a:xfrm>
          <a:prstGeom prst="rect">
            <a:avLst/>
          </a:prstGeom>
          <a:solidFill>
            <a:srgbClr val="D9A21B"/>
          </a:solidFill>
          <a:ln w="12700">
            <a:solidFill>
              <a:srgbClr val="D9A21B"/>
            </a:solidFill>
            <a:prstDash val="solid"/>
          </a:ln>
        </p:spPr>
      </p:sp>
      <p:sp>
        <p:nvSpPr>
          <p:cNvPr id="411" name="Shape 406"/>
          <p:cNvSpPr/>
          <p:nvPr/>
        </p:nvSpPr>
        <p:spPr>
          <a:xfrm>
            <a:off x="1183241" y="2973986"/>
            <a:ext cx="13763" cy="13763"/>
          </a:xfrm>
          <a:prstGeom prst="rect">
            <a:avLst/>
          </a:prstGeom>
          <a:solidFill>
            <a:srgbClr val="D9A21B"/>
          </a:solidFill>
          <a:ln w="12700">
            <a:solidFill>
              <a:srgbClr val="D9A21B"/>
            </a:solidFill>
            <a:prstDash val="solid"/>
          </a:ln>
        </p:spPr>
      </p:sp>
      <p:sp>
        <p:nvSpPr>
          <p:cNvPr id="412" name="Shape 407"/>
          <p:cNvSpPr/>
          <p:nvPr/>
        </p:nvSpPr>
        <p:spPr>
          <a:xfrm>
            <a:off x="1225580" y="2973986"/>
            <a:ext cx="13763" cy="13763"/>
          </a:xfrm>
          <a:prstGeom prst="rect">
            <a:avLst/>
          </a:prstGeom>
          <a:solidFill>
            <a:srgbClr val="D9A21B"/>
          </a:solidFill>
          <a:ln w="12700">
            <a:solidFill>
              <a:srgbClr val="D9A21B"/>
            </a:solidFill>
            <a:prstDash val="solid"/>
          </a:ln>
        </p:spPr>
      </p:sp>
      <p:sp>
        <p:nvSpPr>
          <p:cNvPr id="413" name="Shape 408"/>
          <p:cNvSpPr/>
          <p:nvPr/>
        </p:nvSpPr>
        <p:spPr>
          <a:xfrm>
            <a:off x="1267918" y="2973986"/>
            <a:ext cx="13763" cy="13763"/>
          </a:xfrm>
          <a:prstGeom prst="rect">
            <a:avLst/>
          </a:prstGeom>
          <a:solidFill>
            <a:srgbClr val="D9A21B"/>
          </a:solidFill>
          <a:ln w="12700">
            <a:solidFill>
              <a:srgbClr val="D9A21B"/>
            </a:solidFill>
            <a:prstDash val="solid"/>
          </a:ln>
        </p:spPr>
      </p:sp>
      <p:sp>
        <p:nvSpPr>
          <p:cNvPr id="414" name="Shape 409"/>
          <p:cNvSpPr/>
          <p:nvPr/>
        </p:nvSpPr>
        <p:spPr>
          <a:xfrm>
            <a:off x="1310256" y="2973986"/>
            <a:ext cx="13763" cy="13763"/>
          </a:xfrm>
          <a:prstGeom prst="rect">
            <a:avLst/>
          </a:prstGeom>
          <a:solidFill>
            <a:srgbClr val="D9A21B"/>
          </a:solidFill>
          <a:ln w="12700">
            <a:solidFill>
              <a:srgbClr val="D9A21B"/>
            </a:solidFill>
            <a:prstDash val="solid"/>
          </a:ln>
        </p:spPr>
      </p:sp>
      <p:sp>
        <p:nvSpPr>
          <p:cNvPr id="415" name="Shape 410"/>
          <p:cNvSpPr/>
          <p:nvPr/>
        </p:nvSpPr>
        <p:spPr>
          <a:xfrm>
            <a:off x="1352595" y="2973986"/>
            <a:ext cx="13763" cy="13763"/>
          </a:xfrm>
          <a:prstGeom prst="rect">
            <a:avLst/>
          </a:prstGeom>
          <a:solidFill>
            <a:srgbClr val="D9A21B"/>
          </a:solidFill>
          <a:ln w="12700">
            <a:solidFill>
              <a:srgbClr val="D9A21B"/>
            </a:solidFill>
            <a:prstDash val="solid"/>
          </a:ln>
        </p:spPr>
      </p:sp>
      <p:sp>
        <p:nvSpPr>
          <p:cNvPr id="416" name="Shape 411"/>
          <p:cNvSpPr/>
          <p:nvPr/>
        </p:nvSpPr>
        <p:spPr>
          <a:xfrm>
            <a:off x="1394933" y="2973986"/>
            <a:ext cx="13763" cy="13763"/>
          </a:xfrm>
          <a:prstGeom prst="rect">
            <a:avLst/>
          </a:prstGeom>
          <a:solidFill>
            <a:srgbClr val="D9A21B"/>
          </a:solidFill>
          <a:ln w="12700">
            <a:solidFill>
              <a:srgbClr val="D9A21B"/>
            </a:solidFill>
            <a:prstDash val="solid"/>
          </a:ln>
        </p:spPr>
      </p:sp>
      <p:sp>
        <p:nvSpPr>
          <p:cNvPr id="417" name="Shape 412"/>
          <p:cNvSpPr/>
          <p:nvPr/>
        </p:nvSpPr>
        <p:spPr>
          <a:xfrm>
            <a:off x="1437271" y="2973986"/>
            <a:ext cx="13763" cy="13763"/>
          </a:xfrm>
          <a:prstGeom prst="rect">
            <a:avLst/>
          </a:prstGeom>
          <a:solidFill>
            <a:srgbClr val="D9A21B"/>
          </a:solidFill>
          <a:ln w="12700">
            <a:solidFill>
              <a:srgbClr val="D9A21B"/>
            </a:solidFill>
            <a:prstDash val="solid"/>
          </a:ln>
        </p:spPr>
      </p:sp>
      <p:sp>
        <p:nvSpPr>
          <p:cNvPr id="418" name="Shape 413"/>
          <p:cNvSpPr/>
          <p:nvPr/>
        </p:nvSpPr>
        <p:spPr>
          <a:xfrm>
            <a:off x="1479609" y="2973986"/>
            <a:ext cx="13763" cy="13763"/>
          </a:xfrm>
          <a:prstGeom prst="rect">
            <a:avLst/>
          </a:prstGeom>
          <a:solidFill>
            <a:srgbClr val="D9A21B"/>
          </a:solidFill>
          <a:ln w="12700">
            <a:solidFill>
              <a:srgbClr val="D9A21B"/>
            </a:solidFill>
            <a:prstDash val="solid"/>
          </a:ln>
        </p:spPr>
      </p:sp>
      <p:sp>
        <p:nvSpPr>
          <p:cNvPr id="419" name="Shape 414"/>
          <p:cNvSpPr/>
          <p:nvPr/>
        </p:nvSpPr>
        <p:spPr>
          <a:xfrm>
            <a:off x="1521948" y="2973986"/>
            <a:ext cx="13763" cy="13763"/>
          </a:xfrm>
          <a:prstGeom prst="rect">
            <a:avLst/>
          </a:prstGeom>
          <a:solidFill>
            <a:srgbClr val="D9A21B"/>
          </a:solidFill>
          <a:ln w="12700">
            <a:solidFill>
              <a:srgbClr val="D9A21B"/>
            </a:solidFill>
            <a:prstDash val="solid"/>
          </a:ln>
        </p:spPr>
      </p:sp>
      <p:sp>
        <p:nvSpPr>
          <p:cNvPr id="420" name="Shape 415"/>
          <p:cNvSpPr/>
          <p:nvPr/>
        </p:nvSpPr>
        <p:spPr>
          <a:xfrm>
            <a:off x="1564286" y="2973986"/>
            <a:ext cx="13763" cy="13763"/>
          </a:xfrm>
          <a:prstGeom prst="rect">
            <a:avLst/>
          </a:prstGeom>
          <a:solidFill>
            <a:srgbClr val="D9A21B"/>
          </a:solidFill>
          <a:ln w="12700">
            <a:solidFill>
              <a:srgbClr val="D9A21B"/>
            </a:solidFill>
            <a:prstDash val="solid"/>
          </a:ln>
        </p:spPr>
      </p:sp>
      <p:sp>
        <p:nvSpPr>
          <p:cNvPr id="421" name="Shape 416"/>
          <p:cNvSpPr/>
          <p:nvPr/>
        </p:nvSpPr>
        <p:spPr>
          <a:xfrm>
            <a:off x="1606624" y="2973986"/>
            <a:ext cx="13763" cy="13763"/>
          </a:xfrm>
          <a:prstGeom prst="rect">
            <a:avLst/>
          </a:prstGeom>
          <a:solidFill>
            <a:srgbClr val="D9A21B"/>
          </a:solidFill>
          <a:ln w="12700">
            <a:solidFill>
              <a:srgbClr val="D9A21B"/>
            </a:solidFill>
            <a:prstDash val="solid"/>
          </a:ln>
        </p:spPr>
      </p:sp>
      <p:sp>
        <p:nvSpPr>
          <p:cNvPr id="422" name="Shape 417"/>
          <p:cNvSpPr/>
          <p:nvPr/>
        </p:nvSpPr>
        <p:spPr>
          <a:xfrm>
            <a:off x="1648963" y="2973986"/>
            <a:ext cx="13763" cy="13763"/>
          </a:xfrm>
          <a:prstGeom prst="rect">
            <a:avLst/>
          </a:prstGeom>
          <a:solidFill>
            <a:srgbClr val="D9A21B"/>
          </a:solidFill>
          <a:ln w="12700">
            <a:solidFill>
              <a:srgbClr val="D9A21B"/>
            </a:solidFill>
            <a:prstDash val="solid"/>
          </a:ln>
        </p:spPr>
      </p:sp>
      <p:sp>
        <p:nvSpPr>
          <p:cNvPr id="423" name="Shape 418"/>
          <p:cNvSpPr/>
          <p:nvPr/>
        </p:nvSpPr>
        <p:spPr>
          <a:xfrm>
            <a:off x="1691301" y="2973986"/>
            <a:ext cx="13763" cy="13763"/>
          </a:xfrm>
          <a:prstGeom prst="rect">
            <a:avLst/>
          </a:prstGeom>
          <a:solidFill>
            <a:srgbClr val="D9A21B"/>
          </a:solidFill>
          <a:ln w="12700">
            <a:solidFill>
              <a:srgbClr val="D9A21B"/>
            </a:solidFill>
            <a:prstDash val="solid"/>
          </a:ln>
        </p:spPr>
      </p:sp>
      <p:sp>
        <p:nvSpPr>
          <p:cNvPr id="424" name="Shape 419"/>
          <p:cNvSpPr/>
          <p:nvPr/>
        </p:nvSpPr>
        <p:spPr>
          <a:xfrm>
            <a:off x="1733639" y="2973986"/>
            <a:ext cx="13763" cy="13763"/>
          </a:xfrm>
          <a:prstGeom prst="rect">
            <a:avLst/>
          </a:prstGeom>
          <a:solidFill>
            <a:srgbClr val="D9A21B"/>
          </a:solidFill>
          <a:ln w="12700">
            <a:solidFill>
              <a:srgbClr val="D9A21B"/>
            </a:solidFill>
            <a:prstDash val="solid"/>
          </a:ln>
        </p:spPr>
      </p:sp>
      <p:sp>
        <p:nvSpPr>
          <p:cNvPr id="425" name="Shape 420"/>
          <p:cNvSpPr/>
          <p:nvPr/>
        </p:nvSpPr>
        <p:spPr>
          <a:xfrm>
            <a:off x="1775978" y="2973986"/>
            <a:ext cx="13763" cy="13763"/>
          </a:xfrm>
          <a:prstGeom prst="rect">
            <a:avLst/>
          </a:prstGeom>
          <a:solidFill>
            <a:srgbClr val="D9A21B"/>
          </a:solidFill>
          <a:ln w="12700">
            <a:solidFill>
              <a:srgbClr val="D9A21B"/>
            </a:solidFill>
            <a:prstDash val="solid"/>
          </a:ln>
        </p:spPr>
      </p:sp>
      <p:sp>
        <p:nvSpPr>
          <p:cNvPr id="426" name="Shape 421"/>
          <p:cNvSpPr/>
          <p:nvPr/>
        </p:nvSpPr>
        <p:spPr>
          <a:xfrm>
            <a:off x="1818316" y="2973986"/>
            <a:ext cx="13763" cy="13763"/>
          </a:xfrm>
          <a:prstGeom prst="rect">
            <a:avLst/>
          </a:prstGeom>
          <a:solidFill>
            <a:srgbClr val="D9A21B"/>
          </a:solidFill>
          <a:ln w="12700">
            <a:solidFill>
              <a:srgbClr val="D9A21B"/>
            </a:solidFill>
            <a:prstDash val="solid"/>
          </a:ln>
        </p:spPr>
      </p:sp>
      <p:sp>
        <p:nvSpPr>
          <p:cNvPr id="427" name="Shape 422"/>
          <p:cNvSpPr/>
          <p:nvPr/>
        </p:nvSpPr>
        <p:spPr>
          <a:xfrm>
            <a:off x="1860654" y="2973986"/>
            <a:ext cx="13763" cy="13763"/>
          </a:xfrm>
          <a:prstGeom prst="rect">
            <a:avLst/>
          </a:prstGeom>
          <a:solidFill>
            <a:srgbClr val="D9A21B"/>
          </a:solidFill>
          <a:ln w="12700">
            <a:solidFill>
              <a:srgbClr val="D9A21B"/>
            </a:solidFill>
            <a:prstDash val="solid"/>
          </a:ln>
        </p:spPr>
      </p:sp>
      <p:sp>
        <p:nvSpPr>
          <p:cNvPr id="428" name="Shape 423"/>
          <p:cNvSpPr/>
          <p:nvPr/>
        </p:nvSpPr>
        <p:spPr>
          <a:xfrm>
            <a:off x="1902992" y="2973986"/>
            <a:ext cx="13763" cy="13763"/>
          </a:xfrm>
          <a:prstGeom prst="rect">
            <a:avLst/>
          </a:prstGeom>
          <a:solidFill>
            <a:srgbClr val="D9A21B"/>
          </a:solidFill>
          <a:ln w="12700">
            <a:solidFill>
              <a:srgbClr val="D9A21B"/>
            </a:solidFill>
            <a:prstDash val="solid"/>
          </a:ln>
        </p:spPr>
      </p:sp>
      <p:sp>
        <p:nvSpPr>
          <p:cNvPr id="429" name="Shape 424"/>
          <p:cNvSpPr/>
          <p:nvPr/>
        </p:nvSpPr>
        <p:spPr>
          <a:xfrm>
            <a:off x="1945331" y="2973986"/>
            <a:ext cx="13763" cy="13763"/>
          </a:xfrm>
          <a:prstGeom prst="rect">
            <a:avLst/>
          </a:prstGeom>
          <a:solidFill>
            <a:srgbClr val="D9A21B"/>
          </a:solidFill>
          <a:ln w="12700">
            <a:solidFill>
              <a:srgbClr val="D9A21B"/>
            </a:solidFill>
            <a:prstDash val="solid"/>
          </a:ln>
        </p:spPr>
      </p:sp>
      <p:sp>
        <p:nvSpPr>
          <p:cNvPr id="430" name="Shape 425"/>
          <p:cNvSpPr/>
          <p:nvPr/>
        </p:nvSpPr>
        <p:spPr>
          <a:xfrm>
            <a:off x="1987669" y="2973986"/>
            <a:ext cx="13763" cy="13763"/>
          </a:xfrm>
          <a:prstGeom prst="rect">
            <a:avLst/>
          </a:prstGeom>
          <a:solidFill>
            <a:srgbClr val="D9A21B"/>
          </a:solidFill>
          <a:ln w="12700">
            <a:solidFill>
              <a:srgbClr val="D9A21B"/>
            </a:solidFill>
            <a:prstDash val="solid"/>
          </a:ln>
        </p:spPr>
      </p:sp>
      <p:sp>
        <p:nvSpPr>
          <p:cNvPr id="431" name="Shape 426"/>
          <p:cNvSpPr/>
          <p:nvPr/>
        </p:nvSpPr>
        <p:spPr>
          <a:xfrm>
            <a:off x="2030007" y="2973986"/>
            <a:ext cx="13763" cy="13763"/>
          </a:xfrm>
          <a:prstGeom prst="rect">
            <a:avLst/>
          </a:prstGeom>
          <a:solidFill>
            <a:srgbClr val="D9A21B"/>
          </a:solidFill>
          <a:ln w="12700">
            <a:solidFill>
              <a:srgbClr val="D9A21B"/>
            </a:solidFill>
            <a:prstDash val="solid"/>
          </a:ln>
        </p:spPr>
      </p:sp>
      <p:sp>
        <p:nvSpPr>
          <p:cNvPr id="432" name="Shape 427"/>
          <p:cNvSpPr/>
          <p:nvPr/>
        </p:nvSpPr>
        <p:spPr>
          <a:xfrm>
            <a:off x="2072346" y="2973986"/>
            <a:ext cx="13763" cy="13763"/>
          </a:xfrm>
          <a:prstGeom prst="rect">
            <a:avLst/>
          </a:prstGeom>
          <a:solidFill>
            <a:srgbClr val="D9A21B"/>
          </a:solidFill>
          <a:ln w="12700">
            <a:solidFill>
              <a:srgbClr val="D9A21B"/>
            </a:solidFill>
            <a:prstDash val="solid"/>
          </a:ln>
        </p:spPr>
      </p:sp>
      <p:sp>
        <p:nvSpPr>
          <p:cNvPr id="433" name="Shape 428"/>
          <p:cNvSpPr/>
          <p:nvPr/>
        </p:nvSpPr>
        <p:spPr>
          <a:xfrm>
            <a:off x="2114684" y="2973986"/>
            <a:ext cx="13763" cy="13763"/>
          </a:xfrm>
          <a:prstGeom prst="rect">
            <a:avLst/>
          </a:prstGeom>
          <a:solidFill>
            <a:srgbClr val="D9A21B"/>
          </a:solidFill>
          <a:ln w="12700">
            <a:solidFill>
              <a:srgbClr val="D9A21B"/>
            </a:solidFill>
            <a:prstDash val="solid"/>
          </a:ln>
        </p:spPr>
      </p:sp>
      <p:sp>
        <p:nvSpPr>
          <p:cNvPr id="434" name="Shape 429"/>
          <p:cNvSpPr/>
          <p:nvPr/>
        </p:nvSpPr>
        <p:spPr>
          <a:xfrm>
            <a:off x="971550" y="3016324"/>
            <a:ext cx="13763" cy="13763"/>
          </a:xfrm>
          <a:prstGeom prst="rect">
            <a:avLst/>
          </a:prstGeom>
          <a:solidFill>
            <a:srgbClr val="D9A21B"/>
          </a:solidFill>
          <a:ln w="12700">
            <a:solidFill>
              <a:srgbClr val="D9A21B"/>
            </a:solidFill>
            <a:prstDash val="solid"/>
          </a:ln>
        </p:spPr>
      </p:sp>
      <p:sp>
        <p:nvSpPr>
          <p:cNvPr id="435" name="Shape 430"/>
          <p:cNvSpPr/>
          <p:nvPr/>
        </p:nvSpPr>
        <p:spPr>
          <a:xfrm>
            <a:off x="1013888" y="3016324"/>
            <a:ext cx="13763" cy="13763"/>
          </a:xfrm>
          <a:prstGeom prst="rect">
            <a:avLst/>
          </a:prstGeom>
          <a:solidFill>
            <a:srgbClr val="D9A21B"/>
          </a:solidFill>
          <a:ln w="12700">
            <a:solidFill>
              <a:srgbClr val="D9A21B"/>
            </a:solidFill>
            <a:prstDash val="solid"/>
          </a:ln>
        </p:spPr>
      </p:sp>
      <p:sp>
        <p:nvSpPr>
          <p:cNvPr id="436" name="Shape 431"/>
          <p:cNvSpPr/>
          <p:nvPr/>
        </p:nvSpPr>
        <p:spPr>
          <a:xfrm>
            <a:off x="1056227" y="3016324"/>
            <a:ext cx="13763" cy="13763"/>
          </a:xfrm>
          <a:prstGeom prst="rect">
            <a:avLst/>
          </a:prstGeom>
          <a:solidFill>
            <a:srgbClr val="D9A21B"/>
          </a:solidFill>
          <a:ln w="12700">
            <a:solidFill>
              <a:srgbClr val="D9A21B"/>
            </a:solidFill>
            <a:prstDash val="solid"/>
          </a:ln>
        </p:spPr>
      </p:sp>
      <p:sp>
        <p:nvSpPr>
          <p:cNvPr id="437" name="Shape 432"/>
          <p:cNvSpPr/>
          <p:nvPr/>
        </p:nvSpPr>
        <p:spPr>
          <a:xfrm>
            <a:off x="1098565" y="3016324"/>
            <a:ext cx="13763" cy="13763"/>
          </a:xfrm>
          <a:prstGeom prst="rect">
            <a:avLst/>
          </a:prstGeom>
          <a:solidFill>
            <a:srgbClr val="D9A21B"/>
          </a:solidFill>
          <a:ln w="12700">
            <a:solidFill>
              <a:srgbClr val="D9A21B"/>
            </a:solidFill>
            <a:prstDash val="solid"/>
          </a:ln>
        </p:spPr>
      </p:sp>
      <p:sp>
        <p:nvSpPr>
          <p:cNvPr id="438" name="Shape 433"/>
          <p:cNvSpPr/>
          <p:nvPr/>
        </p:nvSpPr>
        <p:spPr>
          <a:xfrm>
            <a:off x="1140903" y="3016324"/>
            <a:ext cx="13763" cy="13763"/>
          </a:xfrm>
          <a:prstGeom prst="rect">
            <a:avLst/>
          </a:prstGeom>
          <a:solidFill>
            <a:srgbClr val="D9A21B"/>
          </a:solidFill>
          <a:ln w="12700">
            <a:solidFill>
              <a:srgbClr val="D9A21B"/>
            </a:solidFill>
            <a:prstDash val="solid"/>
          </a:ln>
        </p:spPr>
      </p:sp>
      <p:sp>
        <p:nvSpPr>
          <p:cNvPr id="439" name="Shape 434"/>
          <p:cNvSpPr/>
          <p:nvPr/>
        </p:nvSpPr>
        <p:spPr>
          <a:xfrm>
            <a:off x="1183241" y="3016324"/>
            <a:ext cx="13763" cy="13763"/>
          </a:xfrm>
          <a:prstGeom prst="rect">
            <a:avLst/>
          </a:prstGeom>
          <a:solidFill>
            <a:srgbClr val="D9A21B"/>
          </a:solidFill>
          <a:ln w="12700">
            <a:solidFill>
              <a:srgbClr val="D9A21B"/>
            </a:solidFill>
            <a:prstDash val="solid"/>
          </a:ln>
        </p:spPr>
      </p:sp>
      <p:sp>
        <p:nvSpPr>
          <p:cNvPr id="440" name="Shape 435"/>
          <p:cNvSpPr/>
          <p:nvPr/>
        </p:nvSpPr>
        <p:spPr>
          <a:xfrm>
            <a:off x="1225580" y="3016324"/>
            <a:ext cx="13763" cy="13763"/>
          </a:xfrm>
          <a:prstGeom prst="rect">
            <a:avLst/>
          </a:prstGeom>
          <a:solidFill>
            <a:srgbClr val="D9A21B"/>
          </a:solidFill>
          <a:ln w="12700">
            <a:solidFill>
              <a:srgbClr val="D9A21B"/>
            </a:solidFill>
            <a:prstDash val="solid"/>
          </a:ln>
        </p:spPr>
      </p:sp>
      <p:sp>
        <p:nvSpPr>
          <p:cNvPr id="441" name="Shape 436"/>
          <p:cNvSpPr/>
          <p:nvPr/>
        </p:nvSpPr>
        <p:spPr>
          <a:xfrm>
            <a:off x="1267918" y="3016324"/>
            <a:ext cx="13763" cy="13763"/>
          </a:xfrm>
          <a:prstGeom prst="rect">
            <a:avLst/>
          </a:prstGeom>
          <a:solidFill>
            <a:srgbClr val="D9A21B"/>
          </a:solidFill>
          <a:ln w="12700">
            <a:solidFill>
              <a:srgbClr val="D9A21B"/>
            </a:solidFill>
            <a:prstDash val="solid"/>
          </a:ln>
        </p:spPr>
      </p:sp>
      <p:sp>
        <p:nvSpPr>
          <p:cNvPr id="442" name="Shape 437"/>
          <p:cNvSpPr/>
          <p:nvPr/>
        </p:nvSpPr>
        <p:spPr>
          <a:xfrm>
            <a:off x="1310256" y="3016324"/>
            <a:ext cx="13763" cy="13763"/>
          </a:xfrm>
          <a:prstGeom prst="rect">
            <a:avLst/>
          </a:prstGeom>
          <a:solidFill>
            <a:srgbClr val="D9A21B"/>
          </a:solidFill>
          <a:ln w="12700">
            <a:solidFill>
              <a:srgbClr val="D9A21B"/>
            </a:solidFill>
            <a:prstDash val="solid"/>
          </a:ln>
        </p:spPr>
      </p:sp>
      <p:sp>
        <p:nvSpPr>
          <p:cNvPr id="443" name="Shape 438"/>
          <p:cNvSpPr/>
          <p:nvPr/>
        </p:nvSpPr>
        <p:spPr>
          <a:xfrm>
            <a:off x="1352595" y="3016324"/>
            <a:ext cx="13763" cy="13763"/>
          </a:xfrm>
          <a:prstGeom prst="rect">
            <a:avLst/>
          </a:prstGeom>
          <a:solidFill>
            <a:srgbClr val="D9A21B"/>
          </a:solidFill>
          <a:ln w="12700">
            <a:solidFill>
              <a:srgbClr val="D9A21B"/>
            </a:solidFill>
            <a:prstDash val="solid"/>
          </a:ln>
        </p:spPr>
      </p:sp>
      <p:sp>
        <p:nvSpPr>
          <p:cNvPr id="444" name="Shape 439"/>
          <p:cNvSpPr/>
          <p:nvPr/>
        </p:nvSpPr>
        <p:spPr>
          <a:xfrm>
            <a:off x="1394933" y="3016324"/>
            <a:ext cx="13763" cy="13763"/>
          </a:xfrm>
          <a:prstGeom prst="rect">
            <a:avLst/>
          </a:prstGeom>
          <a:solidFill>
            <a:srgbClr val="D9A21B"/>
          </a:solidFill>
          <a:ln w="12700">
            <a:solidFill>
              <a:srgbClr val="D9A21B"/>
            </a:solidFill>
            <a:prstDash val="solid"/>
          </a:ln>
        </p:spPr>
      </p:sp>
      <p:sp>
        <p:nvSpPr>
          <p:cNvPr id="445" name="Shape 440"/>
          <p:cNvSpPr/>
          <p:nvPr/>
        </p:nvSpPr>
        <p:spPr>
          <a:xfrm>
            <a:off x="1437271" y="3016324"/>
            <a:ext cx="13763" cy="13763"/>
          </a:xfrm>
          <a:prstGeom prst="rect">
            <a:avLst/>
          </a:prstGeom>
          <a:solidFill>
            <a:srgbClr val="D9A21B"/>
          </a:solidFill>
          <a:ln w="12700">
            <a:solidFill>
              <a:srgbClr val="D9A21B"/>
            </a:solidFill>
            <a:prstDash val="solid"/>
          </a:ln>
        </p:spPr>
      </p:sp>
      <p:sp>
        <p:nvSpPr>
          <p:cNvPr id="446" name="Shape 441"/>
          <p:cNvSpPr/>
          <p:nvPr/>
        </p:nvSpPr>
        <p:spPr>
          <a:xfrm>
            <a:off x="1479609" y="3016324"/>
            <a:ext cx="13763" cy="13763"/>
          </a:xfrm>
          <a:prstGeom prst="rect">
            <a:avLst/>
          </a:prstGeom>
          <a:solidFill>
            <a:srgbClr val="D9A21B"/>
          </a:solidFill>
          <a:ln w="12700">
            <a:solidFill>
              <a:srgbClr val="D9A21B"/>
            </a:solidFill>
            <a:prstDash val="solid"/>
          </a:ln>
        </p:spPr>
      </p:sp>
      <p:sp>
        <p:nvSpPr>
          <p:cNvPr id="447" name="Shape 442"/>
          <p:cNvSpPr/>
          <p:nvPr/>
        </p:nvSpPr>
        <p:spPr>
          <a:xfrm>
            <a:off x="1521948" y="3016324"/>
            <a:ext cx="13763" cy="13763"/>
          </a:xfrm>
          <a:prstGeom prst="rect">
            <a:avLst/>
          </a:prstGeom>
          <a:solidFill>
            <a:srgbClr val="D9A21B"/>
          </a:solidFill>
          <a:ln w="12700">
            <a:solidFill>
              <a:srgbClr val="D9A21B"/>
            </a:solidFill>
            <a:prstDash val="solid"/>
          </a:ln>
        </p:spPr>
      </p:sp>
      <p:sp>
        <p:nvSpPr>
          <p:cNvPr id="448" name="Shape 443"/>
          <p:cNvSpPr/>
          <p:nvPr/>
        </p:nvSpPr>
        <p:spPr>
          <a:xfrm>
            <a:off x="1564286" y="3016324"/>
            <a:ext cx="13763" cy="13763"/>
          </a:xfrm>
          <a:prstGeom prst="rect">
            <a:avLst/>
          </a:prstGeom>
          <a:solidFill>
            <a:srgbClr val="D9A21B"/>
          </a:solidFill>
          <a:ln w="12700">
            <a:solidFill>
              <a:srgbClr val="D9A21B"/>
            </a:solidFill>
            <a:prstDash val="solid"/>
          </a:ln>
        </p:spPr>
      </p:sp>
      <p:sp>
        <p:nvSpPr>
          <p:cNvPr id="449" name="Shape 444"/>
          <p:cNvSpPr/>
          <p:nvPr/>
        </p:nvSpPr>
        <p:spPr>
          <a:xfrm>
            <a:off x="1606624" y="3016324"/>
            <a:ext cx="13763" cy="13763"/>
          </a:xfrm>
          <a:prstGeom prst="rect">
            <a:avLst/>
          </a:prstGeom>
          <a:solidFill>
            <a:srgbClr val="D9A21B"/>
          </a:solidFill>
          <a:ln w="12700">
            <a:solidFill>
              <a:srgbClr val="D9A21B"/>
            </a:solidFill>
            <a:prstDash val="solid"/>
          </a:ln>
        </p:spPr>
      </p:sp>
      <p:sp>
        <p:nvSpPr>
          <p:cNvPr id="450" name="Shape 445"/>
          <p:cNvSpPr/>
          <p:nvPr/>
        </p:nvSpPr>
        <p:spPr>
          <a:xfrm>
            <a:off x="1648963" y="3016324"/>
            <a:ext cx="13763" cy="13763"/>
          </a:xfrm>
          <a:prstGeom prst="rect">
            <a:avLst/>
          </a:prstGeom>
          <a:solidFill>
            <a:srgbClr val="D9A21B"/>
          </a:solidFill>
          <a:ln w="12700">
            <a:solidFill>
              <a:srgbClr val="D9A21B"/>
            </a:solidFill>
            <a:prstDash val="solid"/>
          </a:ln>
        </p:spPr>
      </p:sp>
      <p:sp>
        <p:nvSpPr>
          <p:cNvPr id="451" name="Shape 446"/>
          <p:cNvSpPr/>
          <p:nvPr/>
        </p:nvSpPr>
        <p:spPr>
          <a:xfrm>
            <a:off x="1691301" y="3016324"/>
            <a:ext cx="13763" cy="13763"/>
          </a:xfrm>
          <a:prstGeom prst="rect">
            <a:avLst/>
          </a:prstGeom>
          <a:solidFill>
            <a:srgbClr val="D9A21B"/>
          </a:solidFill>
          <a:ln w="12700">
            <a:solidFill>
              <a:srgbClr val="D9A21B"/>
            </a:solidFill>
            <a:prstDash val="solid"/>
          </a:ln>
        </p:spPr>
      </p:sp>
      <p:sp>
        <p:nvSpPr>
          <p:cNvPr id="452" name="Shape 447"/>
          <p:cNvSpPr/>
          <p:nvPr/>
        </p:nvSpPr>
        <p:spPr>
          <a:xfrm>
            <a:off x="1733639" y="3016324"/>
            <a:ext cx="13763" cy="13763"/>
          </a:xfrm>
          <a:prstGeom prst="rect">
            <a:avLst/>
          </a:prstGeom>
          <a:solidFill>
            <a:srgbClr val="D9A21B"/>
          </a:solidFill>
          <a:ln w="12700">
            <a:solidFill>
              <a:srgbClr val="D9A21B"/>
            </a:solidFill>
            <a:prstDash val="solid"/>
          </a:ln>
        </p:spPr>
      </p:sp>
      <p:sp>
        <p:nvSpPr>
          <p:cNvPr id="453" name="Shape 448"/>
          <p:cNvSpPr/>
          <p:nvPr/>
        </p:nvSpPr>
        <p:spPr>
          <a:xfrm>
            <a:off x="1775978" y="3016324"/>
            <a:ext cx="13763" cy="13763"/>
          </a:xfrm>
          <a:prstGeom prst="rect">
            <a:avLst/>
          </a:prstGeom>
          <a:solidFill>
            <a:srgbClr val="D9A21B"/>
          </a:solidFill>
          <a:ln w="12700">
            <a:solidFill>
              <a:srgbClr val="D9A21B"/>
            </a:solidFill>
            <a:prstDash val="solid"/>
          </a:ln>
        </p:spPr>
      </p:sp>
      <p:sp>
        <p:nvSpPr>
          <p:cNvPr id="454" name="Shape 449"/>
          <p:cNvSpPr/>
          <p:nvPr/>
        </p:nvSpPr>
        <p:spPr>
          <a:xfrm>
            <a:off x="1818316" y="3016324"/>
            <a:ext cx="13763" cy="13763"/>
          </a:xfrm>
          <a:prstGeom prst="rect">
            <a:avLst/>
          </a:prstGeom>
          <a:solidFill>
            <a:srgbClr val="D9A21B"/>
          </a:solidFill>
          <a:ln w="12700">
            <a:solidFill>
              <a:srgbClr val="D9A21B"/>
            </a:solidFill>
            <a:prstDash val="solid"/>
          </a:ln>
        </p:spPr>
      </p:sp>
      <p:sp>
        <p:nvSpPr>
          <p:cNvPr id="455" name="Shape 450"/>
          <p:cNvSpPr/>
          <p:nvPr/>
        </p:nvSpPr>
        <p:spPr>
          <a:xfrm>
            <a:off x="1860654" y="3016324"/>
            <a:ext cx="13763" cy="13763"/>
          </a:xfrm>
          <a:prstGeom prst="rect">
            <a:avLst/>
          </a:prstGeom>
          <a:solidFill>
            <a:srgbClr val="D9A21B"/>
          </a:solidFill>
          <a:ln w="12700">
            <a:solidFill>
              <a:srgbClr val="D9A21B"/>
            </a:solidFill>
            <a:prstDash val="solid"/>
          </a:ln>
        </p:spPr>
      </p:sp>
      <p:sp>
        <p:nvSpPr>
          <p:cNvPr id="456" name="Shape 451"/>
          <p:cNvSpPr/>
          <p:nvPr/>
        </p:nvSpPr>
        <p:spPr>
          <a:xfrm>
            <a:off x="1902992" y="3016324"/>
            <a:ext cx="13763" cy="13763"/>
          </a:xfrm>
          <a:prstGeom prst="rect">
            <a:avLst/>
          </a:prstGeom>
          <a:solidFill>
            <a:srgbClr val="D9A21B"/>
          </a:solidFill>
          <a:ln w="12700">
            <a:solidFill>
              <a:srgbClr val="D9A21B"/>
            </a:solidFill>
            <a:prstDash val="solid"/>
          </a:ln>
        </p:spPr>
      </p:sp>
      <p:sp>
        <p:nvSpPr>
          <p:cNvPr id="457" name="Shape 452"/>
          <p:cNvSpPr/>
          <p:nvPr/>
        </p:nvSpPr>
        <p:spPr>
          <a:xfrm>
            <a:off x="1945331" y="3016324"/>
            <a:ext cx="13763" cy="13763"/>
          </a:xfrm>
          <a:prstGeom prst="rect">
            <a:avLst/>
          </a:prstGeom>
          <a:solidFill>
            <a:srgbClr val="D9A21B"/>
          </a:solidFill>
          <a:ln w="12700">
            <a:solidFill>
              <a:srgbClr val="D9A21B"/>
            </a:solidFill>
            <a:prstDash val="solid"/>
          </a:ln>
        </p:spPr>
      </p:sp>
      <p:sp>
        <p:nvSpPr>
          <p:cNvPr id="458" name="Shape 453"/>
          <p:cNvSpPr/>
          <p:nvPr/>
        </p:nvSpPr>
        <p:spPr>
          <a:xfrm>
            <a:off x="1987669" y="3016324"/>
            <a:ext cx="13763" cy="13763"/>
          </a:xfrm>
          <a:prstGeom prst="rect">
            <a:avLst/>
          </a:prstGeom>
          <a:solidFill>
            <a:srgbClr val="D9A21B"/>
          </a:solidFill>
          <a:ln w="12700">
            <a:solidFill>
              <a:srgbClr val="D9A21B"/>
            </a:solidFill>
            <a:prstDash val="solid"/>
          </a:ln>
        </p:spPr>
      </p:sp>
      <p:sp>
        <p:nvSpPr>
          <p:cNvPr id="459" name="Shape 454"/>
          <p:cNvSpPr/>
          <p:nvPr/>
        </p:nvSpPr>
        <p:spPr>
          <a:xfrm>
            <a:off x="2030007" y="3016324"/>
            <a:ext cx="13763" cy="13763"/>
          </a:xfrm>
          <a:prstGeom prst="rect">
            <a:avLst/>
          </a:prstGeom>
          <a:solidFill>
            <a:srgbClr val="D9A21B"/>
          </a:solidFill>
          <a:ln w="12700">
            <a:solidFill>
              <a:srgbClr val="D9A21B"/>
            </a:solidFill>
            <a:prstDash val="solid"/>
          </a:ln>
        </p:spPr>
      </p:sp>
      <p:sp>
        <p:nvSpPr>
          <p:cNvPr id="460" name="Shape 455"/>
          <p:cNvSpPr/>
          <p:nvPr/>
        </p:nvSpPr>
        <p:spPr>
          <a:xfrm>
            <a:off x="2072346" y="3016324"/>
            <a:ext cx="13763" cy="13763"/>
          </a:xfrm>
          <a:prstGeom prst="rect">
            <a:avLst/>
          </a:prstGeom>
          <a:solidFill>
            <a:srgbClr val="D9A21B"/>
          </a:solidFill>
          <a:ln w="12700">
            <a:solidFill>
              <a:srgbClr val="D9A21B"/>
            </a:solidFill>
            <a:prstDash val="solid"/>
          </a:ln>
        </p:spPr>
      </p:sp>
      <p:sp>
        <p:nvSpPr>
          <p:cNvPr id="461" name="Shape 456"/>
          <p:cNvSpPr/>
          <p:nvPr/>
        </p:nvSpPr>
        <p:spPr>
          <a:xfrm>
            <a:off x="2114684" y="3016324"/>
            <a:ext cx="13763" cy="13763"/>
          </a:xfrm>
          <a:prstGeom prst="rect">
            <a:avLst/>
          </a:prstGeom>
          <a:solidFill>
            <a:srgbClr val="D9A21B"/>
          </a:solidFill>
          <a:ln w="12700">
            <a:solidFill>
              <a:srgbClr val="D9A21B"/>
            </a:solidFill>
            <a:prstDash val="solid"/>
          </a:ln>
        </p:spPr>
      </p:sp>
      <p:sp>
        <p:nvSpPr>
          <p:cNvPr id="462" name="Shape 457"/>
          <p:cNvSpPr/>
          <p:nvPr/>
        </p:nvSpPr>
        <p:spPr>
          <a:xfrm>
            <a:off x="971550" y="3058663"/>
            <a:ext cx="13763" cy="13763"/>
          </a:xfrm>
          <a:prstGeom prst="rect">
            <a:avLst/>
          </a:prstGeom>
          <a:solidFill>
            <a:srgbClr val="D9A21B"/>
          </a:solidFill>
          <a:ln w="12700">
            <a:solidFill>
              <a:srgbClr val="D9A21B"/>
            </a:solidFill>
            <a:prstDash val="solid"/>
          </a:ln>
        </p:spPr>
      </p:sp>
      <p:sp>
        <p:nvSpPr>
          <p:cNvPr id="463" name="Shape 458"/>
          <p:cNvSpPr/>
          <p:nvPr/>
        </p:nvSpPr>
        <p:spPr>
          <a:xfrm>
            <a:off x="1013888" y="3058663"/>
            <a:ext cx="13763" cy="13763"/>
          </a:xfrm>
          <a:prstGeom prst="rect">
            <a:avLst/>
          </a:prstGeom>
          <a:solidFill>
            <a:srgbClr val="D9A21B"/>
          </a:solidFill>
          <a:ln w="12700">
            <a:solidFill>
              <a:srgbClr val="D9A21B"/>
            </a:solidFill>
            <a:prstDash val="solid"/>
          </a:ln>
        </p:spPr>
      </p:sp>
      <p:sp>
        <p:nvSpPr>
          <p:cNvPr id="464" name="Shape 459"/>
          <p:cNvSpPr/>
          <p:nvPr/>
        </p:nvSpPr>
        <p:spPr>
          <a:xfrm>
            <a:off x="1056227" y="3058663"/>
            <a:ext cx="13763" cy="13763"/>
          </a:xfrm>
          <a:prstGeom prst="rect">
            <a:avLst/>
          </a:prstGeom>
          <a:solidFill>
            <a:srgbClr val="D9A21B"/>
          </a:solidFill>
          <a:ln w="12700">
            <a:solidFill>
              <a:srgbClr val="D9A21B"/>
            </a:solidFill>
            <a:prstDash val="solid"/>
          </a:ln>
        </p:spPr>
      </p:sp>
      <p:sp>
        <p:nvSpPr>
          <p:cNvPr id="465" name="Shape 460"/>
          <p:cNvSpPr/>
          <p:nvPr/>
        </p:nvSpPr>
        <p:spPr>
          <a:xfrm>
            <a:off x="1098565" y="3058663"/>
            <a:ext cx="13763" cy="13763"/>
          </a:xfrm>
          <a:prstGeom prst="rect">
            <a:avLst/>
          </a:prstGeom>
          <a:solidFill>
            <a:srgbClr val="D9A21B"/>
          </a:solidFill>
          <a:ln w="12700">
            <a:solidFill>
              <a:srgbClr val="D9A21B"/>
            </a:solidFill>
            <a:prstDash val="solid"/>
          </a:ln>
        </p:spPr>
      </p:sp>
      <p:sp>
        <p:nvSpPr>
          <p:cNvPr id="466" name="Shape 461"/>
          <p:cNvSpPr/>
          <p:nvPr/>
        </p:nvSpPr>
        <p:spPr>
          <a:xfrm>
            <a:off x="1140903" y="3058663"/>
            <a:ext cx="13763" cy="13763"/>
          </a:xfrm>
          <a:prstGeom prst="rect">
            <a:avLst/>
          </a:prstGeom>
          <a:solidFill>
            <a:srgbClr val="D9A21B"/>
          </a:solidFill>
          <a:ln w="12700">
            <a:solidFill>
              <a:srgbClr val="D9A21B"/>
            </a:solidFill>
            <a:prstDash val="solid"/>
          </a:ln>
        </p:spPr>
      </p:sp>
      <p:sp>
        <p:nvSpPr>
          <p:cNvPr id="467" name="Shape 462"/>
          <p:cNvSpPr/>
          <p:nvPr/>
        </p:nvSpPr>
        <p:spPr>
          <a:xfrm>
            <a:off x="1183241" y="3058663"/>
            <a:ext cx="13763" cy="13763"/>
          </a:xfrm>
          <a:prstGeom prst="rect">
            <a:avLst/>
          </a:prstGeom>
          <a:solidFill>
            <a:srgbClr val="D9A21B"/>
          </a:solidFill>
          <a:ln w="12700">
            <a:solidFill>
              <a:srgbClr val="D9A21B"/>
            </a:solidFill>
            <a:prstDash val="solid"/>
          </a:ln>
        </p:spPr>
      </p:sp>
      <p:sp>
        <p:nvSpPr>
          <p:cNvPr id="468" name="Shape 463"/>
          <p:cNvSpPr/>
          <p:nvPr/>
        </p:nvSpPr>
        <p:spPr>
          <a:xfrm>
            <a:off x="1225580" y="3058663"/>
            <a:ext cx="13763" cy="13763"/>
          </a:xfrm>
          <a:prstGeom prst="rect">
            <a:avLst/>
          </a:prstGeom>
          <a:solidFill>
            <a:srgbClr val="D9A21B"/>
          </a:solidFill>
          <a:ln w="12700">
            <a:solidFill>
              <a:srgbClr val="D9A21B"/>
            </a:solidFill>
            <a:prstDash val="solid"/>
          </a:ln>
        </p:spPr>
      </p:sp>
      <p:sp>
        <p:nvSpPr>
          <p:cNvPr id="469" name="Shape 464"/>
          <p:cNvSpPr/>
          <p:nvPr/>
        </p:nvSpPr>
        <p:spPr>
          <a:xfrm>
            <a:off x="1267918" y="3058663"/>
            <a:ext cx="13763" cy="13763"/>
          </a:xfrm>
          <a:prstGeom prst="rect">
            <a:avLst/>
          </a:prstGeom>
          <a:solidFill>
            <a:srgbClr val="D9A21B"/>
          </a:solidFill>
          <a:ln w="12700">
            <a:solidFill>
              <a:srgbClr val="D9A21B"/>
            </a:solidFill>
            <a:prstDash val="solid"/>
          </a:ln>
        </p:spPr>
      </p:sp>
      <p:sp>
        <p:nvSpPr>
          <p:cNvPr id="470" name="Shape 465"/>
          <p:cNvSpPr/>
          <p:nvPr/>
        </p:nvSpPr>
        <p:spPr>
          <a:xfrm>
            <a:off x="1310256" y="3058663"/>
            <a:ext cx="13763" cy="13763"/>
          </a:xfrm>
          <a:prstGeom prst="rect">
            <a:avLst/>
          </a:prstGeom>
          <a:solidFill>
            <a:srgbClr val="D9A21B"/>
          </a:solidFill>
          <a:ln w="12700">
            <a:solidFill>
              <a:srgbClr val="D9A21B"/>
            </a:solidFill>
            <a:prstDash val="solid"/>
          </a:ln>
        </p:spPr>
      </p:sp>
      <p:sp>
        <p:nvSpPr>
          <p:cNvPr id="471" name="Shape 466"/>
          <p:cNvSpPr/>
          <p:nvPr/>
        </p:nvSpPr>
        <p:spPr>
          <a:xfrm>
            <a:off x="1352595" y="3058663"/>
            <a:ext cx="13763" cy="13763"/>
          </a:xfrm>
          <a:prstGeom prst="rect">
            <a:avLst/>
          </a:prstGeom>
          <a:solidFill>
            <a:srgbClr val="D9A21B"/>
          </a:solidFill>
          <a:ln w="12700">
            <a:solidFill>
              <a:srgbClr val="D9A21B"/>
            </a:solidFill>
            <a:prstDash val="solid"/>
          </a:ln>
        </p:spPr>
      </p:sp>
      <p:sp>
        <p:nvSpPr>
          <p:cNvPr id="472" name="Shape 467"/>
          <p:cNvSpPr/>
          <p:nvPr/>
        </p:nvSpPr>
        <p:spPr>
          <a:xfrm>
            <a:off x="1394933" y="3058663"/>
            <a:ext cx="13763" cy="13763"/>
          </a:xfrm>
          <a:prstGeom prst="rect">
            <a:avLst/>
          </a:prstGeom>
          <a:solidFill>
            <a:srgbClr val="D9A21B"/>
          </a:solidFill>
          <a:ln w="12700">
            <a:solidFill>
              <a:srgbClr val="D9A21B"/>
            </a:solidFill>
            <a:prstDash val="solid"/>
          </a:ln>
        </p:spPr>
      </p:sp>
      <p:sp>
        <p:nvSpPr>
          <p:cNvPr id="473" name="Shape 468"/>
          <p:cNvSpPr/>
          <p:nvPr/>
        </p:nvSpPr>
        <p:spPr>
          <a:xfrm>
            <a:off x="1437271" y="3058663"/>
            <a:ext cx="13763" cy="13763"/>
          </a:xfrm>
          <a:prstGeom prst="rect">
            <a:avLst/>
          </a:prstGeom>
          <a:solidFill>
            <a:srgbClr val="D9A21B"/>
          </a:solidFill>
          <a:ln w="12700">
            <a:solidFill>
              <a:srgbClr val="D9A21B"/>
            </a:solidFill>
            <a:prstDash val="solid"/>
          </a:ln>
        </p:spPr>
      </p:sp>
      <p:sp>
        <p:nvSpPr>
          <p:cNvPr id="474" name="Shape 469"/>
          <p:cNvSpPr/>
          <p:nvPr/>
        </p:nvSpPr>
        <p:spPr>
          <a:xfrm>
            <a:off x="1479609" y="3058663"/>
            <a:ext cx="13763" cy="13763"/>
          </a:xfrm>
          <a:prstGeom prst="rect">
            <a:avLst/>
          </a:prstGeom>
          <a:solidFill>
            <a:srgbClr val="D9A21B"/>
          </a:solidFill>
          <a:ln w="12700">
            <a:solidFill>
              <a:srgbClr val="D9A21B"/>
            </a:solidFill>
            <a:prstDash val="solid"/>
          </a:ln>
        </p:spPr>
      </p:sp>
      <p:sp>
        <p:nvSpPr>
          <p:cNvPr id="475" name="Shape 470"/>
          <p:cNvSpPr/>
          <p:nvPr/>
        </p:nvSpPr>
        <p:spPr>
          <a:xfrm>
            <a:off x="1521948" y="3058663"/>
            <a:ext cx="13763" cy="13763"/>
          </a:xfrm>
          <a:prstGeom prst="rect">
            <a:avLst/>
          </a:prstGeom>
          <a:solidFill>
            <a:srgbClr val="D9A21B"/>
          </a:solidFill>
          <a:ln w="12700">
            <a:solidFill>
              <a:srgbClr val="D9A21B"/>
            </a:solidFill>
            <a:prstDash val="solid"/>
          </a:ln>
        </p:spPr>
      </p:sp>
      <p:sp>
        <p:nvSpPr>
          <p:cNvPr id="476" name="Shape 471"/>
          <p:cNvSpPr/>
          <p:nvPr/>
        </p:nvSpPr>
        <p:spPr>
          <a:xfrm>
            <a:off x="1564286" y="3058663"/>
            <a:ext cx="13763" cy="13763"/>
          </a:xfrm>
          <a:prstGeom prst="rect">
            <a:avLst/>
          </a:prstGeom>
          <a:solidFill>
            <a:srgbClr val="D9A21B"/>
          </a:solidFill>
          <a:ln w="12700">
            <a:solidFill>
              <a:srgbClr val="D9A21B"/>
            </a:solidFill>
            <a:prstDash val="solid"/>
          </a:ln>
        </p:spPr>
      </p:sp>
      <p:sp>
        <p:nvSpPr>
          <p:cNvPr id="477" name="Shape 472"/>
          <p:cNvSpPr/>
          <p:nvPr/>
        </p:nvSpPr>
        <p:spPr>
          <a:xfrm>
            <a:off x="1606624" y="3058663"/>
            <a:ext cx="13763" cy="13763"/>
          </a:xfrm>
          <a:prstGeom prst="rect">
            <a:avLst/>
          </a:prstGeom>
          <a:solidFill>
            <a:srgbClr val="D9A21B"/>
          </a:solidFill>
          <a:ln w="12700">
            <a:solidFill>
              <a:srgbClr val="D9A21B"/>
            </a:solidFill>
            <a:prstDash val="solid"/>
          </a:ln>
        </p:spPr>
      </p:sp>
      <p:sp>
        <p:nvSpPr>
          <p:cNvPr id="478" name="Shape 473"/>
          <p:cNvSpPr/>
          <p:nvPr/>
        </p:nvSpPr>
        <p:spPr>
          <a:xfrm>
            <a:off x="1648963" y="3058663"/>
            <a:ext cx="13763" cy="13763"/>
          </a:xfrm>
          <a:prstGeom prst="rect">
            <a:avLst/>
          </a:prstGeom>
          <a:solidFill>
            <a:srgbClr val="D9A21B"/>
          </a:solidFill>
          <a:ln w="12700">
            <a:solidFill>
              <a:srgbClr val="D9A21B"/>
            </a:solidFill>
            <a:prstDash val="solid"/>
          </a:ln>
        </p:spPr>
      </p:sp>
      <p:sp>
        <p:nvSpPr>
          <p:cNvPr id="479" name="Shape 474"/>
          <p:cNvSpPr/>
          <p:nvPr/>
        </p:nvSpPr>
        <p:spPr>
          <a:xfrm>
            <a:off x="1691301" y="3058663"/>
            <a:ext cx="13763" cy="13763"/>
          </a:xfrm>
          <a:prstGeom prst="rect">
            <a:avLst/>
          </a:prstGeom>
          <a:solidFill>
            <a:srgbClr val="D9A21B"/>
          </a:solidFill>
          <a:ln w="12700">
            <a:solidFill>
              <a:srgbClr val="D9A21B"/>
            </a:solidFill>
            <a:prstDash val="solid"/>
          </a:ln>
        </p:spPr>
      </p:sp>
      <p:sp>
        <p:nvSpPr>
          <p:cNvPr id="480" name="Shape 475"/>
          <p:cNvSpPr/>
          <p:nvPr/>
        </p:nvSpPr>
        <p:spPr>
          <a:xfrm>
            <a:off x="1733639" y="3058663"/>
            <a:ext cx="13763" cy="13763"/>
          </a:xfrm>
          <a:prstGeom prst="rect">
            <a:avLst/>
          </a:prstGeom>
          <a:solidFill>
            <a:srgbClr val="D9A21B"/>
          </a:solidFill>
          <a:ln w="12700">
            <a:solidFill>
              <a:srgbClr val="D9A21B"/>
            </a:solidFill>
            <a:prstDash val="solid"/>
          </a:ln>
        </p:spPr>
      </p:sp>
      <p:sp>
        <p:nvSpPr>
          <p:cNvPr id="481" name="Shape 476"/>
          <p:cNvSpPr/>
          <p:nvPr/>
        </p:nvSpPr>
        <p:spPr>
          <a:xfrm>
            <a:off x="1775978" y="3058663"/>
            <a:ext cx="13763" cy="13763"/>
          </a:xfrm>
          <a:prstGeom prst="rect">
            <a:avLst/>
          </a:prstGeom>
          <a:solidFill>
            <a:srgbClr val="D9A21B"/>
          </a:solidFill>
          <a:ln w="12700">
            <a:solidFill>
              <a:srgbClr val="D9A21B"/>
            </a:solidFill>
            <a:prstDash val="solid"/>
          </a:ln>
        </p:spPr>
      </p:sp>
      <p:sp>
        <p:nvSpPr>
          <p:cNvPr id="482" name="Shape 477"/>
          <p:cNvSpPr/>
          <p:nvPr/>
        </p:nvSpPr>
        <p:spPr>
          <a:xfrm>
            <a:off x="1818316" y="3058663"/>
            <a:ext cx="13763" cy="13763"/>
          </a:xfrm>
          <a:prstGeom prst="rect">
            <a:avLst/>
          </a:prstGeom>
          <a:solidFill>
            <a:srgbClr val="D9A21B"/>
          </a:solidFill>
          <a:ln w="12700">
            <a:solidFill>
              <a:srgbClr val="D9A21B"/>
            </a:solidFill>
            <a:prstDash val="solid"/>
          </a:ln>
        </p:spPr>
      </p:sp>
      <p:sp>
        <p:nvSpPr>
          <p:cNvPr id="483" name="Shape 478"/>
          <p:cNvSpPr/>
          <p:nvPr/>
        </p:nvSpPr>
        <p:spPr>
          <a:xfrm>
            <a:off x="1860654" y="3058663"/>
            <a:ext cx="13763" cy="13763"/>
          </a:xfrm>
          <a:prstGeom prst="rect">
            <a:avLst/>
          </a:prstGeom>
          <a:solidFill>
            <a:srgbClr val="D9A21B"/>
          </a:solidFill>
          <a:ln w="12700">
            <a:solidFill>
              <a:srgbClr val="D9A21B"/>
            </a:solidFill>
            <a:prstDash val="solid"/>
          </a:ln>
        </p:spPr>
      </p:sp>
      <p:sp>
        <p:nvSpPr>
          <p:cNvPr id="484" name="Shape 479"/>
          <p:cNvSpPr/>
          <p:nvPr/>
        </p:nvSpPr>
        <p:spPr>
          <a:xfrm>
            <a:off x="1902992" y="3058663"/>
            <a:ext cx="13763" cy="13763"/>
          </a:xfrm>
          <a:prstGeom prst="rect">
            <a:avLst/>
          </a:prstGeom>
          <a:solidFill>
            <a:srgbClr val="D9A21B"/>
          </a:solidFill>
          <a:ln w="12700">
            <a:solidFill>
              <a:srgbClr val="D9A21B"/>
            </a:solidFill>
            <a:prstDash val="solid"/>
          </a:ln>
        </p:spPr>
      </p:sp>
      <p:sp>
        <p:nvSpPr>
          <p:cNvPr id="485" name="Shape 480"/>
          <p:cNvSpPr/>
          <p:nvPr/>
        </p:nvSpPr>
        <p:spPr>
          <a:xfrm>
            <a:off x="1945331" y="3058663"/>
            <a:ext cx="13763" cy="13763"/>
          </a:xfrm>
          <a:prstGeom prst="rect">
            <a:avLst/>
          </a:prstGeom>
          <a:solidFill>
            <a:srgbClr val="D9A21B"/>
          </a:solidFill>
          <a:ln w="12700">
            <a:solidFill>
              <a:srgbClr val="D9A21B"/>
            </a:solidFill>
            <a:prstDash val="solid"/>
          </a:ln>
        </p:spPr>
      </p:sp>
      <p:sp>
        <p:nvSpPr>
          <p:cNvPr id="486" name="Shape 481"/>
          <p:cNvSpPr/>
          <p:nvPr/>
        </p:nvSpPr>
        <p:spPr>
          <a:xfrm>
            <a:off x="1987669" y="3058663"/>
            <a:ext cx="13763" cy="13763"/>
          </a:xfrm>
          <a:prstGeom prst="rect">
            <a:avLst/>
          </a:prstGeom>
          <a:solidFill>
            <a:srgbClr val="D9A21B"/>
          </a:solidFill>
          <a:ln w="12700">
            <a:solidFill>
              <a:srgbClr val="D9A21B"/>
            </a:solidFill>
            <a:prstDash val="solid"/>
          </a:ln>
        </p:spPr>
      </p:sp>
      <p:sp>
        <p:nvSpPr>
          <p:cNvPr id="487" name="Shape 482"/>
          <p:cNvSpPr/>
          <p:nvPr/>
        </p:nvSpPr>
        <p:spPr>
          <a:xfrm>
            <a:off x="2030007" y="3058663"/>
            <a:ext cx="13763" cy="13763"/>
          </a:xfrm>
          <a:prstGeom prst="rect">
            <a:avLst/>
          </a:prstGeom>
          <a:solidFill>
            <a:srgbClr val="D9A21B"/>
          </a:solidFill>
          <a:ln w="12700">
            <a:solidFill>
              <a:srgbClr val="D9A21B"/>
            </a:solidFill>
            <a:prstDash val="solid"/>
          </a:ln>
        </p:spPr>
      </p:sp>
      <p:sp>
        <p:nvSpPr>
          <p:cNvPr id="488" name="Shape 483"/>
          <p:cNvSpPr/>
          <p:nvPr/>
        </p:nvSpPr>
        <p:spPr>
          <a:xfrm>
            <a:off x="2072346" y="3058663"/>
            <a:ext cx="13763" cy="13763"/>
          </a:xfrm>
          <a:prstGeom prst="rect">
            <a:avLst/>
          </a:prstGeom>
          <a:solidFill>
            <a:srgbClr val="D9A21B"/>
          </a:solidFill>
          <a:ln w="12700">
            <a:solidFill>
              <a:srgbClr val="D9A21B"/>
            </a:solidFill>
            <a:prstDash val="solid"/>
          </a:ln>
        </p:spPr>
      </p:sp>
      <p:sp>
        <p:nvSpPr>
          <p:cNvPr id="489" name="Shape 484"/>
          <p:cNvSpPr/>
          <p:nvPr/>
        </p:nvSpPr>
        <p:spPr>
          <a:xfrm>
            <a:off x="2114684" y="3058663"/>
            <a:ext cx="13763" cy="13763"/>
          </a:xfrm>
          <a:prstGeom prst="rect">
            <a:avLst/>
          </a:prstGeom>
          <a:solidFill>
            <a:srgbClr val="D9A21B"/>
          </a:solidFill>
          <a:ln w="12700">
            <a:solidFill>
              <a:srgbClr val="D9A21B"/>
            </a:solidFill>
            <a:prstDash val="solid"/>
          </a:ln>
        </p:spPr>
      </p:sp>
      <p:sp>
        <p:nvSpPr>
          <p:cNvPr id="490" name="Shape 485"/>
          <p:cNvSpPr/>
          <p:nvPr/>
        </p:nvSpPr>
        <p:spPr>
          <a:xfrm>
            <a:off x="971550" y="3101001"/>
            <a:ext cx="13763" cy="13763"/>
          </a:xfrm>
          <a:prstGeom prst="rect">
            <a:avLst/>
          </a:prstGeom>
          <a:solidFill>
            <a:srgbClr val="D9A21B"/>
          </a:solidFill>
          <a:ln w="12700">
            <a:solidFill>
              <a:srgbClr val="D9A21B"/>
            </a:solidFill>
            <a:prstDash val="solid"/>
          </a:ln>
        </p:spPr>
      </p:sp>
      <p:sp>
        <p:nvSpPr>
          <p:cNvPr id="491" name="Shape 486"/>
          <p:cNvSpPr/>
          <p:nvPr/>
        </p:nvSpPr>
        <p:spPr>
          <a:xfrm>
            <a:off x="1013888" y="3101001"/>
            <a:ext cx="13763" cy="13763"/>
          </a:xfrm>
          <a:prstGeom prst="rect">
            <a:avLst/>
          </a:prstGeom>
          <a:solidFill>
            <a:srgbClr val="D9A21B"/>
          </a:solidFill>
          <a:ln w="12700">
            <a:solidFill>
              <a:srgbClr val="D9A21B"/>
            </a:solidFill>
            <a:prstDash val="solid"/>
          </a:ln>
        </p:spPr>
      </p:sp>
      <p:sp>
        <p:nvSpPr>
          <p:cNvPr id="492" name="Shape 487"/>
          <p:cNvSpPr/>
          <p:nvPr/>
        </p:nvSpPr>
        <p:spPr>
          <a:xfrm>
            <a:off x="1056227" y="3101001"/>
            <a:ext cx="13763" cy="13763"/>
          </a:xfrm>
          <a:prstGeom prst="rect">
            <a:avLst/>
          </a:prstGeom>
          <a:solidFill>
            <a:srgbClr val="D9A21B"/>
          </a:solidFill>
          <a:ln w="12700">
            <a:solidFill>
              <a:srgbClr val="D9A21B"/>
            </a:solidFill>
            <a:prstDash val="solid"/>
          </a:ln>
        </p:spPr>
      </p:sp>
      <p:sp>
        <p:nvSpPr>
          <p:cNvPr id="493" name="Shape 488"/>
          <p:cNvSpPr/>
          <p:nvPr/>
        </p:nvSpPr>
        <p:spPr>
          <a:xfrm>
            <a:off x="1098565" y="3101001"/>
            <a:ext cx="13763" cy="13763"/>
          </a:xfrm>
          <a:prstGeom prst="rect">
            <a:avLst/>
          </a:prstGeom>
          <a:solidFill>
            <a:srgbClr val="D9A21B"/>
          </a:solidFill>
          <a:ln w="12700">
            <a:solidFill>
              <a:srgbClr val="D9A21B"/>
            </a:solidFill>
            <a:prstDash val="solid"/>
          </a:ln>
        </p:spPr>
      </p:sp>
      <p:sp>
        <p:nvSpPr>
          <p:cNvPr id="494" name="Shape 489"/>
          <p:cNvSpPr/>
          <p:nvPr/>
        </p:nvSpPr>
        <p:spPr>
          <a:xfrm>
            <a:off x="1140903" y="3101001"/>
            <a:ext cx="13763" cy="13763"/>
          </a:xfrm>
          <a:prstGeom prst="rect">
            <a:avLst/>
          </a:prstGeom>
          <a:solidFill>
            <a:srgbClr val="D9A21B"/>
          </a:solidFill>
          <a:ln w="12700">
            <a:solidFill>
              <a:srgbClr val="D9A21B"/>
            </a:solidFill>
            <a:prstDash val="solid"/>
          </a:ln>
        </p:spPr>
      </p:sp>
      <p:sp>
        <p:nvSpPr>
          <p:cNvPr id="495" name="Shape 490"/>
          <p:cNvSpPr/>
          <p:nvPr/>
        </p:nvSpPr>
        <p:spPr>
          <a:xfrm>
            <a:off x="1183241" y="3101001"/>
            <a:ext cx="13763" cy="13763"/>
          </a:xfrm>
          <a:prstGeom prst="rect">
            <a:avLst/>
          </a:prstGeom>
          <a:solidFill>
            <a:srgbClr val="D9A21B"/>
          </a:solidFill>
          <a:ln w="12700">
            <a:solidFill>
              <a:srgbClr val="D9A21B"/>
            </a:solidFill>
            <a:prstDash val="solid"/>
          </a:ln>
        </p:spPr>
      </p:sp>
      <p:sp>
        <p:nvSpPr>
          <p:cNvPr id="496" name="Shape 491"/>
          <p:cNvSpPr/>
          <p:nvPr/>
        </p:nvSpPr>
        <p:spPr>
          <a:xfrm>
            <a:off x="1225580" y="3101001"/>
            <a:ext cx="13763" cy="13763"/>
          </a:xfrm>
          <a:prstGeom prst="rect">
            <a:avLst/>
          </a:prstGeom>
          <a:solidFill>
            <a:srgbClr val="D9A21B"/>
          </a:solidFill>
          <a:ln w="12700">
            <a:solidFill>
              <a:srgbClr val="D9A21B"/>
            </a:solidFill>
            <a:prstDash val="solid"/>
          </a:ln>
        </p:spPr>
      </p:sp>
      <p:sp>
        <p:nvSpPr>
          <p:cNvPr id="497" name="Shape 492"/>
          <p:cNvSpPr/>
          <p:nvPr/>
        </p:nvSpPr>
        <p:spPr>
          <a:xfrm>
            <a:off x="1267918" y="3101001"/>
            <a:ext cx="13763" cy="13763"/>
          </a:xfrm>
          <a:prstGeom prst="rect">
            <a:avLst/>
          </a:prstGeom>
          <a:solidFill>
            <a:srgbClr val="D9A21B"/>
          </a:solidFill>
          <a:ln w="12700">
            <a:solidFill>
              <a:srgbClr val="D9A21B"/>
            </a:solidFill>
            <a:prstDash val="solid"/>
          </a:ln>
        </p:spPr>
      </p:sp>
      <p:sp>
        <p:nvSpPr>
          <p:cNvPr id="498" name="Shape 493"/>
          <p:cNvSpPr/>
          <p:nvPr/>
        </p:nvSpPr>
        <p:spPr>
          <a:xfrm>
            <a:off x="1310256" y="3101001"/>
            <a:ext cx="13763" cy="13763"/>
          </a:xfrm>
          <a:prstGeom prst="rect">
            <a:avLst/>
          </a:prstGeom>
          <a:solidFill>
            <a:srgbClr val="D9A21B"/>
          </a:solidFill>
          <a:ln w="12700">
            <a:solidFill>
              <a:srgbClr val="D9A21B"/>
            </a:solidFill>
            <a:prstDash val="solid"/>
          </a:ln>
        </p:spPr>
      </p:sp>
      <p:sp>
        <p:nvSpPr>
          <p:cNvPr id="499" name="Shape 494"/>
          <p:cNvSpPr/>
          <p:nvPr/>
        </p:nvSpPr>
        <p:spPr>
          <a:xfrm>
            <a:off x="1352595" y="3101001"/>
            <a:ext cx="13763" cy="13763"/>
          </a:xfrm>
          <a:prstGeom prst="rect">
            <a:avLst/>
          </a:prstGeom>
          <a:solidFill>
            <a:srgbClr val="D9A21B"/>
          </a:solidFill>
          <a:ln w="12700">
            <a:solidFill>
              <a:srgbClr val="D9A21B"/>
            </a:solidFill>
            <a:prstDash val="solid"/>
          </a:ln>
        </p:spPr>
      </p:sp>
      <p:sp>
        <p:nvSpPr>
          <p:cNvPr id="500" name="Shape 495"/>
          <p:cNvSpPr/>
          <p:nvPr/>
        </p:nvSpPr>
        <p:spPr>
          <a:xfrm>
            <a:off x="1394933" y="3101001"/>
            <a:ext cx="13763" cy="13763"/>
          </a:xfrm>
          <a:prstGeom prst="rect">
            <a:avLst/>
          </a:prstGeom>
          <a:solidFill>
            <a:srgbClr val="D9A21B"/>
          </a:solidFill>
          <a:ln w="12700">
            <a:solidFill>
              <a:srgbClr val="D9A21B"/>
            </a:solidFill>
            <a:prstDash val="solid"/>
          </a:ln>
        </p:spPr>
      </p:sp>
      <p:sp>
        <p:nvSpPr>
          <p:cNvPr id="501" name="Shape 496"/>
          <p:cNvSpPr/>
          <p:nvPr/>
        </p:nvSpPr>
        <p:spPr>
          <a:xfrm>
            <a:off x="1437271" y="3101001"/>
            <a:ext cx="13763" cy="13763"/>
          </a:xfrm>
          <a:prstGeom prst="rect">
            <a:avLst/>
          </a:prstGeom>
          <a:solidFill>
            <a:srgbClr val="D9A21B"/>
          </a:solidFill>
          <a:ln w="12700">
            <a:solidFill>
              <a:srgbClr val="D9A21B"/>
            </a:solidFill>
            <a:prstDash val="solid"/>
          </a:ln>
        </p:spPr>
      </p:sp>
      <p:sp>
        <p:nvSpPr>
          <p:cNvPr id="502" name="Shape 497"/>
          <p:cNvSpPr/>
          <p:nvPr/>
        </p:nvSpPr>
        <p:spPr>
          <a:xfrm>
            <a:off x="1479609" y="3101001"/>
            <a:ext cx="13763" cy="13763"/>
          </a:xfrm>
          <a:prstGeom prst="rect">
            <a:avLst/>
          </a:prstGeom>
          <a:solidFill>
            <a:srgbClr val="D9A21B"/>
          </a:solidFill>
          <a:ln w="12700">
            <a:solidFill>
              <a:srgbClr val="D9A21B"/>
            </a:solidFill>
            <a:prstDash val="solid"/>
          </a:ln>
        </p:spPr>
      </p:sp>
      <p:sp>
        <p:nvSpPr>
          <p:cNvPr id="503" name="Shape 498"/>
          <p:cNvSpPr/>
          <p:nvPr/>
        </p:nvSpPr>
        <p:spPr>
          <a:xfrm>
            <a:off x="1521948" y="3101001"/>
            <a:ext cx="13763" cy="13763"/>
          </a:xfrm>
          <a:prstGeom prst="rect">
            <a:avLst/>
          </a:prstGeom>
          <a:solidFill>
            <a:srgbClr val="D9A21B"/>
          </a:solidFill>
          <a:ln w="12700">
            <a:solidFill>
              <a:srgbClr val="D9A21B"/>
            </a:solidFill>
            <a:prstDash val="solid"/>
          </a:ln>
        </p:spPr>
      </p:sp>
      <p:sp>
        <p:nvSpPr>
          <p:cNvPr id="504" name="Shape 499"/>
          <p:cNvSpPr/>
          <p:nvPr/>
        </p:nvSpPr>
        <p:spPr>
          <a:xfrm>
            <a:off x="1564286" y="3101001"/>
            <a:ext cx="13763" cy="13763"/>
          </a:xfrm>
          <a:prstGeom prst="rect">
            <a:avLst/>
          </a:prstGeom>
          <a:solidFill>
            <a:srgbClr val="D9A21B"/>
          </a:solidFill>
          <a:ln w="12700">
            <a:solidFill>
              <a:srgbClr val="D9A21B"/>
            </a:solidFill>
            <a:prstDash val="solid"/>
          </a:ln>
        </p:spPr>
      </p:sp>
      <p:sp>
        <p:nvSpPr>
          <p:cNvPr id="505" name="Shape 500"/>
          <p:cNvSpPr/>
          <p:nvPr/>
        </p:nvSpPr>
        <p:spPr>
          <a:xfrm>
            <a:off x="1606624" y="3101001"/>
            <a:ext cx="13763" cy="13763"/>
          </a:xfrm>
          <a:prstGeom prst="rect">
            <a:avLst/>
          </a:prstGeom>
          <a:solidFill>
            <a:srgbClr val="D9A21B"/>
          </a:solidFill>
          <a:ln w="12700">
            <a:solidFill>
              <a:srgbClr val="D9A21B"/>
            </a:solidFill>
            <a:prstDash val="solid"/>
          </a:ln>
        </p:spPr>
      </p:sp>
      <p:sp>
        <p:nvSpPr>
          <p:cNvPr id="506" name="Shape 501"/>
          <p:cNvSpPr/>
          <p:nvPr/>
        </p:nvSpPr>
        <p:spPr>
          <a:xfrm>
            <a:off x="1648963" y="3101001"/>
            <a:ext cx="13763" cy="13763"/>
          </a:xfrm>
          <a:prstGeom prst="rect">
            <a:avLst/>
          </a:prstGeom>
          <a:solidFill>
            <a:srgbClr val="D9A21B"/>
          </a:solidFill>
          <a:ln w="12700">
            <a:solidFill>
              <a:srgbClr val="D9A21B"/>
            </a:solidFill>
            <a:prstDash val="solid"/>
          </a:ln>
        </p:spPr>
      </p:sp>
      <p:sp>
        <p:nvSpPr>
          <p:cNvPr id="507" name="Shape 502"/>
          <p:cNvSpPr/>
          <p:nvPr/>
        </p:nvSpPr>
        <p:spPr>
          <a:xfrm>
            <a:off x="1691301" y="3101001"/>
            <a:ext cx="13763" cy="13763"/>
          </a:xfrm>
          <a:prstGeom prst="rect">
            <a:avLst/>
          </a:prstGeom>
          <a:solidFill>
            <a:srgbClr val="D9A21B"/>
          </a:solidFill>
          <a:ln w="12700">
            <a:solidFill>
              <a:srgbClr val="D9A21B"/>
            </a:solidFill>
            <a:prstDash val="solid"/>
          </a:ln>
        </p:spPr>
      </p:sp>
      <p:sp>
        <p:nvSpPr>
          <p:cNvPr id="508" name="Shape 503"/>
          <p:cNvSpPr/>
          <p:nvPr/>
        </p:nvSpPr>
        <p:spPr>
          <a:xfrm>
            <a:off x="1733639" y="3101001"/>
            <a:ext cx="13763" cy="13763"/>
          </a:xfrm>
          <a:prstGeom prst="rect">
            <a:avLst/>
          </a:prstGeom>
          <a:solidFill>
            <a:srgbClr val="D9A21B"/>
          </a:solidFill>
          <a:ln w="12700">
            <a:solidFill>
              <a:srgbClr val="D9A21B"/>
            </a:solidFill>
            <a:prstDash val="solid"/>
          </a:ln>
        </p:spPr>
      </p:sp>
      <p:sp>
        <p:nvSpPr>
          <p:cNvPr id="509" name="Shape 504"/>
          <p:cNvSpPr/>
          <p:nvPr/>
        </p:nvSpPr>
        <p:spPr>
          <a:xfrm>
            <a:off x="1775978" y="3101001"/>
            <a:ext cx="13763" cy="13763"/>
          </a:xfrm>
          <a:prstGeom prst="rect">
            <a:avLst/>
          </a:prstGeom>
          <a:solidFill>
            <a:srgbClr val="D9A21B"/>
          </a:solidFill>
          <a:ln w="12700">
            <a:solidFill>
              <a:srgbClr val="D9A21B"/>
            </a:solidFill>
            <a:prstDash val="solid"/>
          </a:ln>
        </p:spPr>
      </p:sp>
      <p:sp>
        <p:nvSpPr>
          <p:cNvPr id="510" name="Shape 505"/>
          <p:cNvSpPr/>
          <p:nvPr/>
        </p:nvSpPr>
        <p:spPr>
          <a:xfrm>
            <a:off x="1818316" y="3101001"/>
            <a:ext cx="13763" cy="13763"/>
          </a:xfrm>
          <a:prstGeom prst="rect">
            <a:avLst/>
          </a:prstGeom>
          <a:solidFill>
            <a:srgbClr val="D9A21B"/>
          </a:solidFill>
          <a:ln w="12700">
            <a:solidFill>
              <a:srgbClr val="D9A21B"/>
            </a:solidFill>
            <a:prstDash val="solid"/>
          </a:ln>
        </p:spPr>
      </p:sp>
      <p:sp>
        <p:nvSpPr>
          <p:cNvPr id="511" name="Shape 506"/>
          <p:cNvSpPr/>
          <p:nvPr/>
        </p:nvSpPr>
        <p:spPr>
          <a:xfrm>
            <a:off x="1860654" y="3101001"/>
            <a:ext cx="13763" cy="13763"/>
          </a:xfrm>
          <a:prstGeom prst="rect">
            <a:avLst/>
          </a:prstGeom>
          <a:solidFill>
            <a:srgbClr val="D9A21B"/>
          </a:solidFill>
          <a:ln w="12700">
            <a:solidFill>
              <a:srgbClr val="D9A21B"/>
            </a:solidFill>
            <a:prstDash val="solid"/>
          </a:ln>
        </p:spPr>
      </p:sp>
      <p:sp>
        <p:nvSpPr>
          <p:cNvPr id="512" name="Shape 507"/>
          <p:cNvSpPr/>
          <p:nvPr/>
        </p:nvSpPr>
        <p:spPr>
          <a:xfrm>
            <a:off x="1902992" y="3101001"/>
            <a:ext cx="13763" cy="13763"/>
          </a:xfrm>
          <a:prstGeom prst="rect">
            <a:avLst/>
          </a:prstGeom>
          <a:solidFill>
            <a:srgbClr val="D9A21B"/>
          </a:solidFill>
          <a:ln w="12700">
            <a:solidFill>
              <a:srgbClr val="D9A21B"/>
            </a:solidFill>
            <a:prstDash val="solid"/>
          </a:ln>
        </p:spPr>
      </p:sp>
      <p:sp>
        <p:nvSpPr>
          <p:cNvPr id="513" name="Shape 508"/>
          <p:cNvSpPr/>
          <p:nvPr/>
        </p:nvSpPr>
        <p:spPr>
          <a:xfrm>
            <a:off x="1945331" y="3101001"/>
            <a:ext cx="13763" cy="13763"/>
          </a:xfrm>
          <a:prstGeom prst="rect">
            <a:avLst/>
          </a:prstGeom>
          <a:solidFill>
            <a:srgbClr val="D9A21B"/>
          </a:solidFill>
          <a:ln w="12700">
            <a:solidFill>
              <a:srgbClr val="D9A21B"/>
            </a:solidFill>
            <a:prstDash val="solid"/>
          </a:ln>
        </p:spPr>
      </p:sp>
      <p:sp>
        <p:nvSpPr>
          <p:cNvPr id="514" name="Shape 509"/>
          <p:cNvSpPr/>
          <p:nvPr/>
        </p:nvSpPr>
        <p:spPr>
          <a:xfrm>
            <a:off x="1987669" y="3101001"/>
            <a:ext cx="13763" cy="13763"/>
          </a:xfrm>
          <a:prstGeom prst="rect">
            <a:avLst/>
          </a:prstGeom>
          <a:solidFill>
            <a:srgbClr val="D9A21B"/>
          </a:solidFill>
          <a:ln w="12700">
            <a:solidFill>
              <a:srgbClr val="D9A21B"/>
            </a:solidFill>
            <a:prstDash val="solid"/>
          </a:ln>
        </p:spPr>
      </p:sp>
      <p:sp>
        <p:nvSpPr>
          <p:cNvPr id="515" name="Shape 510"/>
          <p:cNvSpPr/>
          <p:nvPr/>
        </p:nvSpPr>
        <p:spPr>
          <a:xfrm>
            <a:off x="2030007" y="3101001"/>
            <a:ext cx="13763" cy="13763"/>
          </a:xfrm>
          <a:prstGeom prst="rect">
            <a:avLst/>
          </a:prstGeom>
          <a:solidFill>
            <a:srgbClr val="D9A21B"/>
          </a:solidFill>
          <a:ln w="12700">
            <a:solidFill>
              <a:srgbClr val="D9A21B"/>
            </a:solidFill>
            <a:prstDash val="solid"/>
          </a:ln>
        </p:spPr>
      </p:sp>
      <p:sp>
        <p:nvSpPr>
          <p:cNvPr id="516" name="Shape 511"/>
          <p:cNvSpPr/>
          <p:nvPr/>
        </p:nvSpPr>
        <p:spPr>
          <a:xfrm>
            <a:off x="2072346" y="3101001"/>
            <a:ext cx="13763" cy="13763"/>
          </a:xfrm>
          <a:prstGeom prst="rect">
            <a:avLst/>
          </a:prstGeom>
          <a:solidFill>
            <a:srgbClr val="D9A21B"/>
          </a:solidFill>
          <a:ln w="12700">
            <a:solidFill>
              <a:srgbClr val="D9A21B"/>
            </a:solidFill>
            <a:prstDash val="solid"/>
          </a:ln>
        </p:spPr>
      </p:sp>
      <p:sp>
        <p:nvSpPr>
          <p:cNvPr id="517" name="Shape 512"/>
          <p:cNvSpPr/>
          <p:nvPr/>
        </p:nvSpPr>
        <p:spPr>
          <a:xfrm>
            <a:off x="2114684" y="3101001"/>
            <a:ext cx="13763" cy="13763"/>
          </a:xfrm>
          <a:prstGeom prst="rect">
            <a:avLst/>
          </a:prstGeom>
          <a:solidFill>
            <a:srgbClr val="D9A21B"/>
          </a:solidFill>
          <a:ln w="12700">
            <a:solidFill>
              <a:srgbClr val="D9A21B"/>
            </a:solidFill>
            <a:prstDash val="solid"/>
          </a:ln>
        </p:spPr>
      </p:sp>
      <p:sp>
        <p:nvSpPr>
          <p:cNvPr id="518" name="Shape 513"/>
          <p:cNvSpPr/>
          <p:nvPr/>
        </p:nvSpPr>
        <p:spPr>
          <a:xfrm>
            <a:off x="971550" y="3143339"/>
            <a:ext cx="13763" cy="13763"/>
          </a:xfrm>
          <a:prstGeom prst="rect">
            <a:avLst/>
          </a:prstGeom>
          <a:solidFill>
            <a:srgbClr val="D9A21B"/>
          </a:solidFill>
          <a:ln w="12700">
            <a:solidFill>
              <a:srgbClr val="D9A21B"/>
            </a:solidFill>
            <a:prstDash val="solid"/>
          </a:ln>
        </p:spPr>
      </p:sp>
      <p:sp>
        <p:nvSpPr>
          <p:cNvPr id="519" name="Shape 514"/>
          <p:cNvSpPr/>
          <p:nvPr/>
        </p:nvSpPr>
        <p:spPr>
          <a:xfrm>
            <a:off x="1013888" y="3143339"/>
            <a:ext cx="13763" cy="13763"/>
          </a:xfrm>
          <a:prstGeom prst="rect">
            <a:avLst/>
          </a:prstGeom>
          <a:solidFill>
            <a:srgbClr val="D9A21B"/>
          </a:solidFill>
          <a:ln w="12700">
            <a:solidFill>
              <a:srgbClr val="D9A21B"/>
            </a:solidFill>
            <a:prstDash val="solid"/>
          </a:ln>
        </p:spPr>
      </p:sp>
      <p:sp>
        <p:nvSpPr>
          <p:cNvPr id="520" name="Shape 515"/>
          <p:cNvSpPr/>
          <p:nvPr/>
        </p:nvSpPr>
        <p:spPr>
          <a:xfrm>
            <a:off x="1056227" y="3143339"/>
            <a:ext cx="13763" cy="13763"/>
          </a:xfrm>
          <a:prstGeom prst="rect">
            <a:avLst/>
          </a:prstGeom>
          <a:solidFill>
            <a:srgbClr val="D9A21B"/>
          </a:solidFill>
          <a:ln w="12700">
            <a:solidFill>
              <a:srgbClr val="D9A21B"/>
            </a:solidFill>
            <a:prstDash val="solid"/>
          </a:ln>
        </p:spPr>
      </p:sp>
      <p:sp>
        <p:nvSpPr>
          <p:cNvPr id="521" name="Shape 516"/>
          <p:cNvSpPr/>
          <p:nvPr/>
        </p:nvSpPr>
        <p:spPr>
          <a:xfrm>
            <a:off x="1098565" y="3143339"/>
            <a:ext cx="13763" cy="13763"/>
          </a:xfrm>
          <a:prstGeom prst="rect">
            <a:avLst/>
          </a:prstGeom>
          <a:solidFill>
            <a:srgbClr val="D9A21B"/>
          </a:solidFill>
          <a:ln w="12700">
            <a:solidFill>
              <a:srgbClr val="D9A21B"/>
            </a:solidFill>
            <a:prstDash val="solid"/>
          </a:ln>
        </p:spPr>
      </p:sp>
      <p:sp>
        <p:nvSpPr>
          <p:cNvPr id="522" name="Shape 517"/>
          <p:cNvSpPr/>
          <p:nvPr/>
        </p:nvSpPr>
        <p:spPr>
          <a:xfrm>
            <a:off x="1140903" y="3143339"/>
            <a:ext cx="13763" cy="13763"/>
          </a:xfrm>
          <a:prstGeom prst="rect">
            <a:avLst/>
          </a:prstGeom>
          <a:solidFill>
            <a:srgbClr val="D9A21B"/>
          </a:solidFill>
          <a:ln w="12700">
            <a:solidFill>
              <a:srgbClr val="D9A21B"/>
            </a:solidFill>
            <a:prstDash val="solid"/>
          </a:ln>
        </p:spPr>
      </p:sp>
      <p:sp>
        <p:nvSpPr>
          <p:cNvPr id="523" name="Shape 518"/>
          <p:cNvSpPr/>
          <p:nvPr/>
        </p:nvSpPr>
        <p:spPr>
          <a:xfrm>
            <a:off x="1183241" y="3143339"/>
            <a:ext cx="13763" cy="13763"/>
          </a:xfrm>
          <a:prstGeom prst="rect">
            <a:avLst/>
          </a:prstGeom>
          <a:solidFill>
            <a:srgbClr val="D9A21B"/>
          </a:solidFill>
          <a:ln w="12700">
            <a:solidFill>
              <a:srgbClr val="D9A21B"/>
            </a:solidFill>
            <a:prstDash val="solid"/>
          </a:ln>
        </p:spPr>
      </p:sp>
      <p:sp>
        <p:nvSpPr>
          <p:cNvPr id="524" name="Shape 519"/>
          <p:cNvSpPr/>
          <p:nvPr/>
        </p:nvSpPr>
        <p:spPr>
          <a:xfrm>
            <a:off x="1225580" y="3143339"/>
            <a:ext cx="13763" cy="13763"/>
          </a:xfrm>
          <a:prstGeom prst="rect">
            <a:avLst/>
          </a:prstGeom>
          <a:solidFill>
            <a:srgbClr val="D9A21B"/>
          </a:solidFill>
          <a:ln w="12700">
            <a:solidFill>
              <a:srgbClr val="D9A21B"/>
            </a:solidFill>
            <a:prstDash val="solid"/>
          </a:ln>
        </p:spPr>
      </p:sp>
      <p:sp>
        <p:nvSpPr>
          <p:cNvPr id="525" name="Shape 520"/>
          <p:cNvSpPr/>
          <p:nvPr/>
        </p:nvSpPr>
        <p:spPr>
          <a:xfrm>
            <a:off x="1267918" y="3143339"/>
            <a:ext cx="13763" cy="13763"/>
          </a:xfrm>
          <a:prstGeom prst="rect">
            <a:avLst/>
          </a:prstGeom>
          <a:solidFill>
            <a:srgbClr val="D9A21B"/>
          </a:solidFill>
          <a:ln w="12700">
            <a:solidFill>
              <a:srgbClr val="D9A21B"/>
            </a:solidFill>
            <a:prstDash val="solid"/>
          </a:ln>
        </p:spPr>
      </p:sp>
      <p:sp>
        <p:nvSpPr>
          <p:cNvPr id="526" name="Shape 521"/>
          <p:cNvSpPr/>
          <p:nvPr/>
        </p:nvSpPr>
        <p:spPr>
          <a:xfrm>
            <a:off x="1310256" y="3143339"/>
            <a:ext cx="13763" cy="13763"/>
          </a:xfrm>
          <a:prstGeom prst="rect">
            <a:avLst/>
          </a:prstGeom>
          <a:solidFill>
            <a:srgbClr val="D9A21B"/>
          </a:solidFill>
          <a:ln w="12700">
            <a:solidFill>
              <a:srgbClr val="D9A21B"/>
            </a:solidFill>
            <a:prstDash val="solid"/>
          </a:ln>
        </p:spPr>
      </p:sp>
      <p:sp>
        <p:nvSpPr>
          <p:cNvPr id="527" name="Shape 522"/>
          <p:cNvSpPr/>
          <p:nvPr/>
        </p:nvSpPr>
        <p:spPr>
          <a:xfrm>
            <a:off x="1352595" y="3143339"/>
            <a:ext cx="13763" cy="13763"/>
          </a:xfrm>
          <a:prstGeom prst="rect">
            <a:avLst/>
          </a:prstGeom>
          <a:solidFill>
            <a:srgbClr val="D9A21B"/>
          </a:solidFill>
          <a:ln w="12700">
            <a:solidFill>
              <a:srgbClr val="D9A21B"/>
            </a:solidFill>
            <a:prstDash val="solid"/>
          </a:ln>
        </p:spPr>
      </p:sp>
      <p:sp>
        <p:nvSpPr>
          <p:cNvPr id="528" name="Shape 523"/>
          <p:cNvSpPr/>
          <p:nvPr/>
        </p:nvSpPr>
        <p:spPr>
          <a:xfrm>
            <a:off x="1394933" y="3143339"/>
            <a:ext cx="13763" cy="13763"/>
          </a:xfrm>
          <a:prstGeom prst="rect">
            <a:avLst/>
          </a:prstGeom>
          <a:solidFill>
            <a:srgbClr val="D9A21B"/>
          </a:solidFill>
          <a:ln w="12700">
            <a:solidFill>
              <a:srgbClr val="D9A21B"/>
            </a:solidFill>
            <a:prstDash val="solid"/>
          </a:ln>
        </p:spPr>
      </p:sp>
      <p:sp>
        <p:nvSpPr>
          <p:cNvPr id="529" name="Shape 524"/>
          <p:cNvSpPr/>
          <p:nvPr/>
        </p:nvSpPr>
        <p:spPr>
          <a:xfrm>
            <a:off x="1437271" y="3143339"/>
            <a:ext cx="13763" cy="13763"/>
          </a:xfrm>
          <a:prstGeom prst="rect">
            <a:avLst/>
          </a:prstGeom>
          <a:solidFill>
            <a:srgbClr val="D9A21B"/>
          </a:solidFill>
          <a:ln w="12700">
            <a:solidFill>
              <a:srgbClr val="D9A21B"/>
            </a:solidFill>
            <a:prstDash val="solid"/>
          </a:ln>
        </p:spPr>
      </p:sp>
      <p:sp>
        <p:nvSpPr>
          <p:cNvPr id="530" name="Shape 525"/>
          <p:cNvSpPr/>
          <p:nvPr/>
        </p:nvSpPr>
        <p:spPr>
          <a:xfrm>
            <a:off x="1479609" y="3143339"/>
            <a:ext cx="13763" cy="13763"/>
          </a:xfrm>
          <a:prstGeom prst="rect">
            <a:avLst/>
          </a:prstGeom>
          <a:solidFill>
            <a:srgbClr val="D9A21B"/>
          </a:solidFill>
          <a:ln w="12700">
            <a:solidFill>
              <a:srgbClr val="D9A21B"/>
            </a:solidFill>
            <a:prstDash val="solid"/>
          </a:ln>
        </p:spPr>
      </p:sp>
      <p:sp>
        <p:nvSpPr>
          <p:cNvPr id="531" name="Shape 526"/>
          <p:cNvSpPr/>
          <p:nvPr/>
        </p:nvSpPr>
        <p:spPr>
          <a:xfrm>
            <a:off x="1521948" y="3143339"/>
            <a:ext cx="13763" cy="13763"/>
          </a:xfrm>
          <a:prstGeom prst="rect">
            <a:avLst/>
          </a:prstGeom>
          <a:solidFill>
            <a:srgbClr val="D9A21B"/>
          </a:solidFill>
          <a:ln w="12700">
            <a:solidFill>
              <a:srgbClr val="D9A21B"/>
            </a:solidFill>
            <a:prstDash val="solid"/>
          </a:ln>
        </p:spPr>
      </p:sp>
      <p:sp>
        <p:nvSpPr>
          <p:cNvPr id="532" name="Shape 527"/>
          <p:cNvSpPr/>
          <p:nvPr/>
        </p:nvSpPr>
        <p:spPr>
          <a:xfrm>
            <a:off x="1564286" y="3143339"/>
            <a:ext cx="13763" cy="13763"/>
          </a:xfrm>
          <a:prstGeom prst="rect">
            <a:avLst/>
          </a:prstGeom>
          <a:solidFill>
            <a:srgbClr val="D9A21B"/>
          </a:solidFill>
          <a:ln w="12700">
            <a:solidFill>
              <a:srgbClr val="D9A21B"/>
            </a:solidFill>
            <a:prstDash val="solid"/>
          </a:ln>
        </p:spPr>
      </p:sp>
      <p:sp>
        <p:nvSpPr>
          <p:cNvPr id="533" name="Shape 528"/>
          <p:cNvSpPr/>
          <p:nvPr/>
        </p:nvSpPr>
        <p:spPr>
          <a:xfrm>
            <a:off x="1606624" y="3143339"/>
            <a:ext cx="13763" cy="13763"/>
          </a:xfrm>
          <a:prstGeom prst="rect">
            <a:avLst/>
          </a:prstGeom>
          <a:solidFill>
            <a:srgbClr val="D9A21B"/>
          </a:solidFill>
          <a:ln w="12700">
            <a:solidFill>
              <a:srgbClr val="D9A21B"/>
            </a:solidFill>
            <a:prstDash val="solid"/>
          </a:ln>
        </p:spPr>
      </p:sp>
      <p:sp>
        <p:nvSpPr>
          <p:cNvPr id="534" name="Shape 529"/>
          <p:cNvSpPr/>
          <p:nvPr/>
        </p:nvSpPr>
        <p:spPr>
          <a:xfrm>
            <a:off x="1648963" y="3143339"/>
            <a:ext cx="13763" cy="13763"/>
          </a:xfrm>
          <a:prstGeom prst="rect">
            <a:avLst/>
          </a:prstGeom>
          <a:solidFill>
            <a:srgbClr val="D9A21B"/>
          </a:solidFill>
          <a:ln w="12700">
            <a:solidFill>
              <a:srgbClr val="D9A21B"/>
            </a:solidFill>
            <a:prstDash val="solid"/>
          </a:ln>
        </p:spPr>
      </p:sp>
      <p:sp>
        <p:nvSpPr>
          <p:cNvPr id="535" name="Shape 530"/>
          <p:cNvSpPr/>
          <p:nvPr/>
        </p:nvSpPr>
        <p:spPr>
          <a:xfrm>
            <a:off x="1691301" y="3143339"/>
            <a:ext cx="13763" cy="13763"/>
          </a:xfrm>
          <a:prstGeom prst="rect">
            <a:avLst/>
          </a:prstGeom>
          <a:solidFill>
            <a:srgbClr val="D9A21B"/>
          </a:solidFill>
          <a:ln w="12700">
            <a:solidFill>
              <a:srgbClr val="D9A21B"/>
            </a:solidFill>
            <a:prstDash val="solid"/>
          </a:ln>
        </p:spPr>
      </p:sp>
      <p:sp>
        <p:nvSpPr>
          <p:cNvPr id="536" name="Shape 531"/>
          <p:cNvSpPr/>
          <p:nvPr/>
        </p:nvSpPr>
        <p:spPr>
          <a:xfrm>
            <a:off x="1733639" y="3143339"/>
            <a:ext cx="13763" cy="13763"/>
          </a:xfrm>
          <a:prstGeom prst="rect">
            <a:avLst/>
          </a:prstGeom>
          <a:solidFill>
            <a:srgbClr val="D9A21B"/>
          </a:solidFill>
          <a:ln w="12700">
            <a:solidFill>
              <a:srgbClr val="D9A21B"/>
            </a:solidFill>
            <a:prstDash val="solid"/>
          </a:ln>
        </p:spPr>
      </p:sp>
      <p:sp>
        <p:nvSpPr>
          <p:cNvPr id="537" name="Shape 532"/>
          <p:cNvSpPr/>
          <p:nvPr/>
        </p:nvSpPr>
        <p:spPr>
          <a:xfrm>
            <a:off x="1775978" y="3143339"/>
            <a:ext cx="13763" cy="13763"/>
          </a:xfrm>
          <a:prstGeom prst="rect">
            <a:avLst/>
          </a:prstGeom>
          <a:solidFill>
            <a:srgbClr val="D9A21B"/>
          </a:solidFill>
          <a:ln w="12700">
            <a:solidFill>
              <a:srgbClr val="D9A21B"/>
            </a:solidFill>
            <a:prstDash val="solid"/>
          </a:ln>
        </p:spPr>
      </p:sp>
      <p:sp>
        <p:nvSpPr>
          <p:cNvPr id="538" name="Shape 533"/>
          <p:cNvSpPr/>
          <p:nvPr/>
        </p:nvSpPr>
        <p:spPr>
          <a:xfrm>
            <a:off x="1818316" y="3143339"/>
            <a:ext cx="13763" cy="13763"/>
          </a:xfrm>
          <a:prstGeom prst="rect">
            <a:avLst/>
          </a:prstGeom>
          <a:solidFill>
            <a:srgbClr val="D9A21B"/>
          </a:solidFill>
          <a:ln w="12700">
            <a:solidFill>
              <a:srgbClr val="D9A21B"/>
            </a:solidFill>
            <a:prstDash val="solid"/>
          </a:ln>
        </p:spPr>
      </p:sp>
      <p:sp>
        <p:nvSpPr>
          <p:cNvPr id="539" name="Shape 534"/>
          <p:cNvSpPr/>
          <p:nvPr/>
        </p:nvSpPr>
        <p:spPr>
          <a:xfrm>
            <a:off x="1860654" y="3143339"/>
            <a:ext cx="13763" cy="13763"/>
          </a:xfrm>
          <a:prstGeom prst="rect">
            <a:avLst/>
          </a:prstGeom>
          <a:solidFill>
            <a:srgbClr val="D9A21B"/>
          </a:solidFill>
          <a:ln w="12700">
            <a:solidFill>
              <a:srgbClr val="D9A21B"/>
            </a:solidFill>
            <a:prstDash val="solid"/>
          </a:ln>
        </p:spPr>
      </p:sp>
      <p:sp>
        <p:nvSpPr>
          <p:cNvPr id="540" name="Shape 535"/>
          <p:cNvSpPr/>
          <p:nvPr/>
        </p:nvSpPr>
        <p:spPr>
          <a:xfrm>
            <a:off x="1902992" y="3143339"/>
            <a:ext cx="13763" cy="13763"/>
          </a:xfrm>
          <a:prstGeom prst="rect">
            <a:avLst/>
          </a:prstGeom>
          <a:solidFill>
            <a:srgbClr val="D9A21B"/>
          </a:solidFill>
          <a:ln w="12700">
            <a:solidFill>
              <a:srgbClr val="D9A21B"/>
            </a:solidFill>
            <a:prstDash val="solid"/>
          </a:ln>
        </p:spPr>
      </p:sp>
      <p:sp>
        <p:nvSpPr>
          <p:cNvPr id="541" name="Shape 536"/>
          <p:cNvSpPr/>
          <p:nvPr/>
        </p:nvSpPr>
        <p:spPr>
          <a:xfrm>
            <a:off x="1945331" y="3143339"/>
            <a:ext cx="13763" cy="13763"/>
          </a:xfrm>
          <a:prstGeom prst="rect">
            <a:avLst/>
          </a:prstGeom>
          <a:solidFill>
            <a:srgbClr val="D9A21B"/>
          </a:solidFill>
          <a:ln w="12700">
            <a:solidFill>
              <a:srgbClr val="D9A21B"/>
            </a:solidFill>
            <a:prstDash val="solid"/>
          </a:ln>
        </p:spPr>
      </p:sp>
      <p:sp>
        <p:nvSpPr>
          <p:cNvPr id="542" name="Shape 537"/>
          <p:cNvSpPr/>
          <p:nvPr/>
        </p:nvSpPr>
        <p:spPr>
          <a:xfrm>
            <a:off x="1987669" y="3143339"/>
            <a:ext cx="13763" cy="13763"/>
          </a:xfrm>
          <a:prstGeom prst="rect">
            <a:avLst/>
          </a:prstGeom>
          <a:solidFill>
            <a:srgbClr val="D9A21B"/>
          </a:solidFill>
          <a:ln w="12700">
            <a:solidFill>
              <a:srgbClr val="D9A21B"/>
            </a:solidFill>
            <a:prstDash val="solid"/>
          </a:ln>
        </p:spPr>
      </p:sp>
      <p:sp>
        <p:nvSpPr>
          <p:cNvPr id="543" name="Shape 538"/>
          <p:cNvSpPr/>
          <p:nvPr/>
        </p:nvSpPr>
        <p:spPr>
          <a:xfrm>
            <a:off x="2030007" y="3143339"/>
            <a:ext cx="13763" cy="13763"/>
          </a:xfrm>
          <a:prstGeom prst="rect">
            <a:avLst/>
          </a:prstGeom>
          <a:solidFill>
            <a:srgbClr val="D9A21B"/>
          </a:solidFill>
          <a:ln w="12700">
            <a:solidFill>
              <a:srgbClr val="D9A21B"/>
            </a:solidFill>
            <a:prstDash val="solid"/>
          </a:ln>
        </p:spPr>
      </p:sp>
      <p:sp>
        <p:nvSpPr>
          <p:cNvPr id="544" name="Shape 539"/>
          <p:cNvSpPr/>
          <p:nvPr/>
        </p:nvSpPr>
        <p:spPr>
          <a:xfrm>
            <a:off x="2072346" y="3143339"/>
            <a:ext cx="13763" cy="13763"/>
          </a:xfrm>
          <a:prstGeom prst="rect">
            <a:avLst/>
          </a:prstGeom>
          <a:solidFill>
            <a:srgbClr val="D9A21B"/>
          </a:solidFill>
          <a:ln w="12700">
            <a:solidFill>
              <a:srgbClr val="D9A21B"/>
            </a:solidFill>
            <a:prstDash val="solid"/>
          </a:ln>
        </p:spPr>
      </p:sp>
      <p:sp>
        <p:nvSpPr>
          <p:cNvPr id="545" name="Shape 540"/>
          <p:cNvSpPr/>
          <p:nvPr/>
        </p:nvSpPr>
        <p:spPr>
          <a:xfrm>
            <a:off x="2114684" y="3143339"/>
            <a:ext cx="13763" cy="13763"/>
          </a:xfrm>
          <a:prstGeom prst="rect">
            <a:avLst/>
          </a:prstGeom>
          <a:solidFill>
            <a:srgbClr val="D9A21B"/>
          </a:solidFill>
          <a:ln w="12700">
            <a:solidFill>
              <a:srgbClr val="D9A21B"/>
            </a:solidFill>
            <a:prstDash val="solid"/>
          </a:ln>
        </p:spPr>
      </p:sp>
      <p:sp>
        <p:nvSpPr>
          <p:cNvPr id="546" name="Shape 541"/>
          <p:cNvSpPr/>
          <p:nvPr/>
        </p:nvSpPr>
        <p:spPr>
          <a:xfrm>
            <a:off x="971550" y="3185678"/>
            <a:ext cx="13763" cy="13763"/>
          </a:xfrm>
          <a:prstGeom prst="rect">
            <a:avLst/>
          </a:prstGeom>
          <a:solidFill>
            <a:srgbClr val="D9A21B"/>
          </a:solidFill>
          <a:ln w="12700">
            <a:solidFill>
              <a:srgbClr val="D9A21B"/>
            </a:solidFill>
            <a:prstDash val="solid"/>
          </a:ln>
        </p:spPr>
      </p:sp>
      <p:sp>
        <p:nvSpPr>
          <p:cNvPr id="547" name="Shape 542"/>
          <p:cNvSpPr/>
          <p:nvPr/>
        </p:nvSpPr>
        <p:spPr>
          <a:xfrm>
            <a:off x="1013888" y="3185678"/>
            <a:ext cx="13763" cy="13763"/>
          </a:xfrm>
          <a:prstGeom prst="rect">
            <a:avLst/>
          </a:prstGeom>
          <a:solidFill>
            <a:srgbClr val="D9A21B"/>
          </a:solidFill>
          <a:ln w="12700">
            <a:solidFill>
              <a:srgbClr val="D9A21B"/>
            </a:solidFill>
            <a:prstDash val="solid"/>
          </a:ln>
        </p:spPr>
      </p:sp>
      <p:sp>
        <p:nvSpPr>
          <p:cNvPr id="548" name="Shape 543"/>
          <p:cNvSpPr/>
          <p:nvPr/>
        </p:nvSpPr>
        <p:spPr>
          <a:xfrm>
            <a:off x="1056227" y="3185678"/>
            <a:ext cx="13763" cy="13763"/>
          </a:xfrm>
          <a:prstGeom prst="rect">
            <a:avLst/>
          </a:prstGeom>
          <a:solidFill>
            <a:srgbClr val="D9A21B"/>
          </a:solidFill>
          <a:ln w="12700">
            <a:solidFill>
              <a:srgbClr val="D9A21B"/>
            </a:solidFill>
            <a:prstDash val="solid"/>
          </a:ln>
        </p:spPr>
      </p:sp>
      <p:sp>
        <p:nvSpPr>
          <p:cNvPr id="549" name="Shape 544"/>
          <p:cNvSpPr/>
          <p:nvPr/>
        </p:nvSpPr>
        <p:spPr>
          <a:xfrm>
            <a:off x="1098565" y="3185678"/>
            <a:ext cx="13763" cy="13763"/>
          </a:xfrm>
          <a:prstGeom prst="rect">
            <a:avLst/>
          </a:prstGeom>
          <a:solidFill>
            <a:srgbClr val="D9A21B"/>
          </a:solidFill>
          <a:ln w="12700">
            <a:solidFill>
              <a:srgbClr val="D9A21B"/>
            </a:solidFill>
            <a:prstDash val="solid"/>
          </a:ln>
        </p:spPr>
      </p:sp>
      <p:sp>
        <p:nvSpPr>
          <p:cNvPr id="550" name="Shape 545"/>
          <p:cNvSpPr/>
          <p:nvPr/>
        </p:nvSpPr>
        <p:spPr>
          <a:xfrm>
            <a:off x="1140903" y="3185678"/>
            <a:ext cx="13763" cy="13763"/>
          </a:xfrm>
          <a:prstGeom prst="rect">
            <a:avLst/>
          </a:prstGeom>
          <a:solidFill>
            <a:srgbClr val="D9A21B"/>
          </a:solidFill>
          <a:ln w="12700">
            <a:solidFill>
              <a:srgbClr val="D9A21B"/>
            </a:solidFill>
            <a:prstDash val="solid"/>
          </a:ln>
        </p:spPr>
      </p:sp>
      <p:sp>
        <p:nvSpPr>
          <p:cNvPr id="551" name="Shape 546"/>
          <p:cNvSpPr/>
          <p:nvPr/>
        </p:nvSpPr>
        <p:spPr>
          <a:xfrm>
            <a:off x="1183241" y="3185678"/>
            <a:ext cx="13763" cy="13763"/>
          </a:xfrm>
          <a:prstGeom prst="rect">
            <a:avLst/>
          </a:prstGeom>
          <a:solidFill>
            <a:srgbClr val="D9A21B"/>
          </a:solidFill>
          <a:ln w="12700">
            <a:solidFill>
              <a:srgbClr val="D9A21B"/>
            </a:solidFill>
            <a:prstDash val="solid"/>
          </a:ln>
        </p:spPr>
      </p:sp>
      <p:sp>
        <p:nvSpPr>
          <p:cNvPr id="552" name="Shape 547"/>
          <p:cNvSpPr/>
          <p:nvPr/>
        </p:nvSpPr>
        <p:spPr>
          <a:xfrm>
            <a:off x="1225580" y="3185678"/>
            <a:ext cx="13763" cy="13763"/>
          </a:xfrm>
          <a:prstGeom prst="rect">
            <a:avLst/>
          </a:prstGeom>
          <a:solidFill>
            <a:srgbClr val="D9A21B"/>
          </a:solidFill>
          <a:ln w="12700">
            <a:solidFill>
              <a:srgbClr val="D9A21B"/>
            </a:solidFill>
            <a:prstDash val="solid"/>
          </a:ln>
        </p:spPr>
      </p:sp>
      <p:sp>
        <p:nvSpPr>
          <p:cNvPr id="553" name="Shape 548"/>
          <p:cNvSpPr/>
          <p:nvPr/>
        </p:nvSpPr>
        <p:spPr>
          <a:xfrm>
            <a:off x="1267918" y="3185678"/>
            <a:ext cx="13763" cy="13763"/>
          </a:xfrm>
          <a:prstGeom prst="rect">
            <a:avLst/>
          </a:prstGeom>
          <a:solidFill>
            <a:srgbClr val="D9A21B"/>
          </a:solidFill>
          <a:ln w="12700">
            <a:solidFill>
              <a:srgbClr val="D9A21B"/>
            </a:solidFill>
            <a:prstDash val="solid"/>
          </a:ln>
        </p:spPr>
      </p:sp>
      <p:sp>
        <p:nvSpPr>
          <p:cNvPr id="554" name="Shape 549"/>
          <p:cNvSpPr/>
          <p:nvPr/>
        </p:nvSpPr>
        <p:spPr>
          <a:xfrm>
            <a:off x="1310256" y="3185678"/>
            <a:ext cx="13763" cy="13763"/>
          </a:xfrm>
          <a:prstGeom prst="rect">
            <a:avLst/>
          </a:prstGeom>
          <a:solidFill>
            <a:srgbClr val="D9A21B"/>
          </a:solidFill>
          <a:ln w="12700">
            <a:solidFill>
              <a:srgbClr val="D9A21B"/>
            </a:solidFill>
            <a:prstDash val="solid"/>
          </a:ln>
        </p:spPr>
      </p:sp>
      <p:sp>
        <p:nvSpPr>
          <p:cNvPr id="555" name="Shape 550"/>
          <p:cNvSpPr/>
          <p:nvPr/>
        </p:nvSpPr>
        <p:spPr>
          <a:xfrm>
            <a:off x="1352595" y="3185678"/>
            <a:ext cx="13763" cy="13763"/>
          </a:xfrm>
          <a:prstGeom prst="rect">
            <a:avLst/>
          </a:prstGeom>
          <a:solidFill>
            <a:srgbClr val="D9A21B"/>
          </a:solidFill>
          <a:ln w="12700">
            <a:solidFill>
              <a:srgbClr val="D9A21B"/>
            </a:solidFill>
            <a:prstDash val="solid"/>
          </a:ln>
        </p:spPr>
      </p:sp>
      <p:sp>
        <p:nvSpPr>
          <p:cNvPr id="556" name="Shape 551"/>
          <p:cNvSpPr/>
          <p:nvPr/>
        </p:nvSpPr>
        <p:spPr>
          <a:xfrm>
            <a:off x="1394933" y="3185678"/>
            <a:ext cx="13763" cy="13763"/>
          </a:xfrm>
          <a:prstGeom prst="rect">
            <a:avLst/>
          </a:prstGeom>
          <a:solidFill>
            <a:srgbClr val="D9A21B"/>
          </a:solidFill>
          <a:ln w="12700">
            <a:solidFill>
              <a:srgbClr val="D9A21B"/>
            </a:solidFill>
            <a:prstDash val="solid"/>
          </a:ln>
        </p:spPr>
      </p:sp>
      <p:sp>
        <p:nvSpPr>
          <p:cNvPr id="557" name="Shape 552"/>
          <p:cNvSpPr/>
          <p:nvPr/>
        </p:nvSpPr>
        <p:spPr>
          <a:xfrm>
            <a:off x="1437271" y="3185678"/>
            <a:ext cx="13763" cy="13763"/>
          </a:xfrm>
          <a:prstGeom prst="rect">
            <a:avLst/>
          </a:prstGeom>
          <a:solidFill>
            <a:srgbClr val="D9A21B"/>
          </a:solidFill>
          <a:ln w="12700">
            <a:solidFill>
              <a:srgbClr val="D9A21B"/>
            </a:solidFill>
            <a:prstDash val="solid"/>
          </a:ln>
        </p:spPr>
      </p:sp>
      <p:sp>
        <p:nvSpPr>
          <p:cNvPr id="558" name="Shape 553"/>
          <p:cNvSpPr/>
          <p:nvPr/>
        </p:nvSpPr>
        <p:spPr>
          <a:xfrm>
            <a:off x="1479609" y="3185678"/>
            <a:ext cx="13763" cy="13763"/>
          </a:xfrm>
          <a:prstGeom prst="rect">
            <a:avLst/>
          </a:prstGeom>
          <a:solidFill>
            <a:srgbClr val="D9A21B"/>
          </a:solidFill>
          <a:ln w="12700">
            <a:solidFill>
              <a:srgbClr val="D9A21B"/>
            </a:solidFill>
            <a:prstDash val="solid"/>
          </a:ln>
        </p:spPr>
      </p:sp>
      <p:sp>
        <p:nvSpPr>
          <p:cNvPr id="559" name="Shape 554"/>
          <p:cNvSpPr/>
          <p:nvPr/>
        </p:nvSpPr>
        <p:spPr>
          <a:xfrm>
            <a:off x="1521948" y="3185678"/>
            <a:ext cx="13763" cy="13763"/>
          </a:xfrm>
          <a:prstGeom prst="rect">
            <a:avLst/>
          </a:prstGeom>
          <a:solidFill>
            <a:srgbClr val="D9A21B"/>
          </a:solidFill>
          <a:ln w="12700">
            <a:solidFill>
              <a:srgbClr val="D9A21B"/>
            </a:solidFill>
            <a:prstDash val="solid"/>
          </a:ln>
        </p:spPr>
      </p:sp>
      <p:sp>
        <p:nvSpPr>
          <p:cNvPr id="560" name="Shape 555"/>
          <p:cNvSpPr/>
          <p:nvPr/>
        </p:nvSpPr>
        <p:spPr>
          <a:xfrm>
            <a:off x="1564286" y="3185678"/>
            <a:ext cx="13763" cy="13763"/>
          </a:xfrm>
          <a:prstGeom prst="rect">
            <a:avLst/>
          </a:prstGeom>
          <a:solidFill>
            <a:srgbClr val="D9A21B"/>
          </a:solidFill>
          <a:ln w="12700">
            <a:solidFill>
              <a:srgbClr val="D9A21B"/>
            </a:solidFill>
            <a:prstDash val="solid"/>
          </a:ln>
        </p:spPr>
      </p:sp>
      <p:sp>
        <p:nvSpPr>
          <p:cNvPr id="561" name="Shape 556"/>
          <p:cNvSpPr/>
          <p:nvPr/>
        </p:nvSpPr>
        <p:spPr>
          <a:xfrm>
            <a:off x="1606624" y="3185678"/>
            <a:ext cx="13763" cy="13763"/>
          </a:xfrm>
          <a:prstGeom prst="rect">
            <a:avLst/>
          </a:prstGeom>
          <a:solidFill>
            <a:srgbClr val="D9A21B"/>
          </a:solidFill>
          <a:ln w="12700">
            <a:solidFill>
              <a:srgbClr val="D9A21B"/>
            </a:solidFill>
            <a:prstDash val="solid"/>
          </a:ln>
        </p:spPr>
      </p:sp>
      <p:sp>
        <p:nvSpPr>
          <p:cNvPr id="562" name="Shape 557"/>
          <p:cNvSpPr/>
          <p:nvPr/>
        </p:nvSpPr>
        <p:spPr>
          <a:xfrm>
            <a:off x="1648963" y="3185678"/>
            <a:ext cx="13763" cy="13763"/>
          </a:xfrm>
          <a:prstGeom prst="rect">
            <a:avLst/>
          </a:prstGeom>
          <a:solidFill>
            <a:srgbClr val="D9A21B"/>
          </a:solidFill>
          <a:ln w="12700">
            <a:solidFill>
              <a:srgbClr val="D9A21B"/>
            </a:solidFill>
            <a:prstDash val="solid"/>
          </a:ln>
        </p:spPr>
      </p:sp>
      <p:sp>
        <p:nvSpPr>
          <p:cNvPr id="563" name="Shape 558"/>
          <p:cNvSpPr/>
          <p:nvPr/>
        </p:nvSpPr>
        <p:spPr>
          <a:xfrm>
            <a:off x="1691301" y="3185678"/>
            <a:ext cx="13763" cy="13763"/>
          </a:xfrm>
          <a:prstGeom prst="rect">
            <a:avLst/>
          </a:prstGeom>
          <a:solidFill>
            <a:srgbClr val="D9A21B"/>
          </a:solidFill>
          <a:ln w="12700">
            <a:solidFill>
              <a:srgbClr val="D9A21B"/>
            </a:solidFill>
            <a:prstDash val="solid"/>
          </a:ln>
        </p:spPr>
      </p:sp>
      <p:sp>
        <p:nvSpPr>
          <p:cNvPr id="564" name="Shape 559"/>
          <p:cNvSpPr/>
          <p:nvPr/>
        </p:nvSpPr>
        <p:spPr>
          <a:xfrm>
            <a:off x="1733639" y="3185678"/>
            <a:ext cx="13763" cy="13763"/>
          </a:xfrm>
          <a:prstGeom prst="rect">
            <a:avLst/>
          </a:prstGeom>
          <a:solidFill>
            <a:srgbClr val="D9A21B"/>
          </a:solidFill>
          <a:ln w="12700">
            <a:solidFill>
              <a:srgbClr val="D9A21B"/>
            </a:solidFill>
            <a:prstDash val="solid"/>
          </a:ln>
        </p:spPr>
      </p:sp>
      <p:sp>
        <p:nvSpPr>
          <p:cNvPr id="565" name="Shape 560"/>
          <p:cNvSpPr/>
          <p:nvPr/>
        </p:nvSpPr>
        <p:spPr>
          <a:xfrm>
            <a:off x="1775978" y="3185678"/>
            <a:ext cx="13763" cy="13763"/>
          </a:xfrm>
          <a:prstGeom prst="rect">
            <a:avLst/>
          </a:prstGeom>
          <a:solidFill>
            <a:srgbClr val="D9A21B"/>
          </a:solidFill>
          <a:ln w="12700">
            <a:solidFill>
              <a:srgbClr val="D9A21B"/>
            </a:solidFill>
            <a:prstDash val="solid"/>
          </a:ln>
        </p:spPr>
      </p:sp>
      <p:sp>
        <p:nvSpPr>
          <p:cNvPr id="566" name="Shape 561"/>
          <p:cNvSpPr/>
          <p:nvPr/>
        </p:nvSpPr>
        <p:spPr>
          <a:xfrm>
            <a:off x="1818316" y="3185678"/>
            <a:ext cx="13763" cy="13763"/>
          </a:xfrm>
          <a:prstGeom prst="rect">
            <a:avLst/>
          </a:prstGeom>
          <a:solidFill>
            <a:srgbClr val="D9A21B"/>
          </a:solidFill>
          <a:ln w="12700">
            <a:solidFill>
              <a:srgbClr val="D9A21B"/>
            </a:solidFill>
            <a:prstDash val="solid"/>
          </a:ln>
        </p:spPr>
      </p:sp>
      <p:sp>
        <p:nvSpPr>
          <p:cNvPr id="567" name="Shape 562"/>
          <p:cNvSpPr/>
          <p:nvPr/>
        </p:nvSpPr>
        <p:spPr>
          <a:xfrm>
            <a:off x="1860654" y="3185678"/>
            <a:ext cx="13763" cy="13763"/>
          </a:xfrm>
          <a:prstGeom prst="rect">
            <a:avLst/>
          </a:prstGeom>
          <a:solidFill>
            <a:srgbClr val="D9A21B"/>
          </a:solidFill>
          <a:ln w="12700">
            <a:solidFill>
              <a:srgbClr val="D9A21B"/>
            </a:solidFill>
            <a:prstDash val="solid"/>
          </a:ln>
        </p:spPr>
      </p:sp>
      <p:sp>
        <p:nvSpPr>
          <p:cNvPr id="568" name="Shape 563"/>
          <p:cNvSpPr/>
          <p:nvPr/>
        </p:nvSpPr>
        <p:spPr>
          <a:xfrm>
            <a:off x="1902992" y="3185678"/>
            <a:ext cx="13763" cy="13763"/>
          </a:xfrm>
          <a:prstGeom prst="rect">
            <a:avLst/>
          </a:prstGeom>
          <a:solidFill>
            <a:srgbClr val="D9A21B"/>
          </a:solidFill>
          <a:ln w="12700">
            <a:solidFill>
              <a:srgbClr val="D9A21B"/>
            </a:solidFill>
            <a:prstDash val="solid"/>
          </a:ln>
        </p:spPr>
      </p:sp>
      <p:sp>
        <p:nvSpPr>
          <p:cNvPr id="569" name="Shape 564"/>
          <p:cNvSpPr/>
          <p:nvPr/>
        </p:nvSpPr>
        <p:spPr>
          <a:xfrm>
            <a:off x="1945331" y="3185678"/>
            <a:ext cx="13763" cy="13763"/>
          </a:xfrm>
          <a:prstGeom prst="rect">
            <a:avLst/>
          </a:prstGeom>
          <a:solidFill>
            <a:srgbClr val="D9A21B"/>
          </a:solidFill>
          <a:ln w="12700">
            <a:solidFill>
              <a:srgbClr val="D9A21B"/>
            </a:solidFill>
            <a:prstDash val="solid"/>
          </a:ln>
        </p:spPr>
      </p:sp>
      <p:sp>
        <p:nvSpPr>
          <p:cNvPr id="570" name="Shape 565"/>
          <p:cNvSpPr/>
          <p:nvPr/>
        </p:nvSpPr>
        <p:spPr>
          <a:xfrm>
            <a:off x="1987669" y="3185678"/>
            <a:ext cx="13763" cy="13763"/>
          </a:xfrm>
          <a:prstGeom prst="rect">
            <a:avLst/>
          </a:prstGeom>
          <a:solidFill>
            <a:srgbClr val="D9A21B"/>
          </a:solidFill>
          <a:ln w="12700">
            <a:solidFill>
              <a:srgbClr val="D9A21B"/>
            </a:solidFill>
            <a:prstDash val="solid"/>
          </a:ln>
        </p:spPr>
      </p:sp>
      <p:sp>
        <p:nvSpPr>
          <p:cNvPr id="571" name="Shape 566"/>
          <p:cNvSpPr/>
          <p:nvPr/>
        </p:nvSpPr>
        <p:spPr>
          <a:xfrm>
            <a:off x="2030007" y="3185678"/>
            <a:ext cx="13763" cy="13763"/>
          </a:xfrm>
          <a:prstGeom prst="rect">
            <a:avLst/>
          </a:prstGeom>
          <a:solidFill>
            <a:srgbClr val="D9A21B"/>
          </a:solidFill>
          <a:ln w="12700">
            <a:solidFill>
              <a:srgbClr val="D9A21B"/>
            </a:solidFill>
            <a:prstDash val="solid"/>
          </a:ln>
        </p:spPr>
      </p:sp>
      <p:sp>
        <p:nvSpPr>
          <p:cNvPr id="572" name="Shape 567"/>
          <p:cNvSpPr/>
          <p:nvPr/>
        </p:nvSpPr>
        <p:spPr>
          <a:xfrm>
            <a:off x="2072346" y="3185678"/>
            <a:ext cx="13763" cy="13763"/>
          </a:xfrm>
          <a:prstGeom prst="rect">
            <a:avLst/>
          </a:prstGeom>
          <a:solidFill>
            <a:srgbClr val="D9A21B"/>
          </a:solidFill>
          <a:ln w="12700">
            <a:solidFill>
              <a:srgbClr val="D9A21B"/>
            </a:solidFill>
            <a:prstDash val="solid"/>
          </a:ln>
        </p:spPr>
      </p:sp>
      <p:sp>
        <p:nvSpPr>
          <p:cNvPr id="573" name="Shape 568"/>
          <p:cNvSpPr/>
          <p:nvPr/>
        </p:nvSpPr>
        <p:spPr>
          <a:xfrm>
            <a:off x="2114684" y="3185678"/>
            <a:ext cx="13763" cy="13763"/>
          </a:xfrm>
          <a:prstGeom prst="rect">
            <a:avLst/>
          </a:prstGeom>
          <a:solidFill>
            <a:srgbClr val="D9A21B"/>
          </a:solidFill>
          <a:ln w="12700">
            <a:solidFill>
              <a:srgbClr val="D9A21B"/>
            </a:solidFill>
            <a:prstDash val="solid"/>
          </a:ln>
        </p:spPr>
      </p:sp>
      <p:sp>
        <p:nvSpPr>
          <p:cNvPr id="574" name="Shape 569"/>
          <p:cNvSpPr/>
          <p:nvPr/>
        </p:nvSpPr>
        <p:spPr>
          <a:xfrm>
            <a:off x="971550" y="3228016"/>
            <a:ext cx="13763" cy="13763"/>
          </a:xfrm>
          <a:prstGeom prst="rect">
            <a:avLst/>
          </a:prstGeom>
          <a:solidFill>
            <a:srgbClr val="D9A21B"/>
          </a:solidFill>
          <a:ln w="12700">
            <a:solidFill>
              <a:srgbClr val="D9A21B"/>
            </a:solidFill>
            <a:prstDash val="solid"/>
          </a:ln>
        </p:spPr>
      </p:sp>
      <p:sp>
        <p:nvSpPr>
          <p:cNvPr id="575" name="Shape 570"/>
          <p:cNvSpPr/>
          <p:nvPr/>
        </p:nvSpPr>
        <p:spPr>
          <a:xfrm>
            <a:off x="1013888" y="3228016"/>
            <a:ext cx="13763" cy="13763"/>
          </a:xfrm>
          <a:prstGeom prst="rect">
            <a:avLst/>
          </a:prstGeom>
          <a:solidFill>
            <a:srgbClr val="D9A21B"/>
          </a:solidFill>
          <a:ln w="12700">
            <a:solidFill>
              <a:srgbClr val="D9A21B"/>
            </a:solidFill>
            <a:prstDash val="solid"/>
          </a:ln>
        </p:spPr>
      </p:sp>
      <p:sp>
        <p:nvSpPr>
          <p:cNvPr id="576" name="Shape 571"/>
          <p:cNvSpPr/>
          <p:nvPr/>
        </p:nvSpPr>
        <p:spPr>
          <a:xfrm>
            <a:off x="1056227" y="3228016"/>
            <a:ext cx="13763" cy="13763"/>
          </a:xfrm>
          <a:prstGeom prst="rect">
            <a:avLst/>
          </a:prstGeom>
          <a:solidFill>
            <a:srgbClr val="D9A21B"/>
          </a:solidFill>
          <a:ln w="12700">
            <a:solidFill>
              <a:srgbClr val="D9A21B"/>
            </a:solidFill>
            <a:prstDash val="solid"/>
          </a:ln>
        </p:spPr>
      </p:sp>
      <p:sp>
        <p:nvSpPr>
          <p:cNvPr id="577" name="Shape 572"/>
          <p:cNvSpPr/>
          <p:nvPr/>
        </p:nvSpPr>
        <p:spPr>
          <a:xfrm>
            <a:off x="1098565" y="3228016"/>
            <a:ext cx="13763" cy="13763"/>
          </a:xfrm>
          <a:prstGeom prst="rect">
            <a:avLst/>
          </a:prstGeom>
          <a:solidFill>
            <a:srgbClr val="D9A21B"/>
          </a:solidFill>
          <a:ln w="12700">
            <a:solidFill>
              <a:srgbClr val="D9A21B"/>
            </a:solidFill>
            <a:prstDash val="solid"/>
          </a:ln>
        </p:spPr>
      </p:sp>
      <p:sp>
        <p:nvSpPr>
          <p:cNvPr id="578" name="Shape 573"/>
          <p:cNvSpPr/>
          <p:nvPr/>
        </p:nvSpPr>
        <p:spPr>
          <a:xfrm>
            <a:off x="1140903" y="3228016"/>
            <a:ext cx="13763" cy="13763"/>
          </a:xfrm>
          <a:prstGeom prst="rect">
            <a:avLst/>
          </a:prstGeom>
          <a:solidFill>
            <a:srgbClr val="D9A21B"/>
          </a:solidFill>
          <a:ln w="12700">
            <a:solidFill>
              <a:srgbClr val="D9A21B"/>
            </a:solidFill>
            <a:prstDash val="solid"/>
          </a:ln>
        </p:spPr>
      </p:sp>
      <p:sp>
        <p:nvSpPr>
          <p:cNvPr id="579" name="Shape 574"/>
          <p:cNvSpPr/>
          <p:nvPr/>
        </p:nvSpPr>
        <p:spPr>
          <a:xfrm>
            <a:off x="1183241" y="3228016"/>
            <a:ext cx="13763" cy="13763"/>
          </a:xfrm>
          <a:prstGeom prst="rect">
            <a:avLst/>
          </a:prstGeom>
          <a:solidFill>
            <a:srgbClr val="D9A21B"/>
          </a:solidFill>
          <a:ln w="12700">
            <a:solidFill>
              <a:srgbClr val="D9A21B"/>
            </a:solidFill>
            <a:prstDash val="solid"/>
          </a:ln>
        </p:spPr>
      </p:sp>
      <p:sp>
        <p:nvSpPr>
          <p:cNvPr id="580" name="Shape 575"/>
          <p:cNvSpPr/>
          <p:nvPr/>
        </p:nvSpPr>
        <p:spPr>
          <a:xfrm>
            <a:off x="1225580" y="3228016"/>
            <a:ext cx="13763" cy="13763"/>
          </a:xfrm>
          <a:prstGeom prst="rect">
            <a:avLst/>
          </a:prstGeom>
          <a:solidFill>
            <a:srgbClr val="D9A21B"/>
          </a:solidFill>
          <a:ln w="12700">
            <a:solidFill>
              <a:srgbClr val="D9A21B"/>
            </a:solidFill>
            <a:prstDash val="solid"/>
          </a:ln>
        </p:spPr>
      </p:sp>
      <p:sp>
        <p:nvSpPr>
          <p:cNvPr id="581" name="Shape 576"/>
          <p:cNvSpPr/>
          <p:nvPr/>
        </p:nvSpPr>
        <p:spPr>
          <a:xfrm>
            <a:off x="1267918" y="3228016"/>
            <a:ext cx="13763" cy="13763"/>
          </a:xfrm>
          <a:prstGeom prst="rect">
            <a:avLst/>
          </a:prstGeom>
          <a:solidFill>
            <a:srgbClr val="D9A21B"/>
          </a:solidFill>
          <a:ln w="12700">
            <a:solidFill>
              <a:srgbClr val="D9A21B"/>
            </a:solidFill>
            <a:prstDash val="solid"/>
          </a:ln>
        </p:spPr>
      </p:sp>
      <p:sp>
        <p:nvSpPr>
          <p:cNvPr id="582" name="Shape 577"/>
          <p:cNvSpPr/>
          <p:nvPr/>
        </p:nvSpPr>
        <p:spPr>
          <a:xfrm>
            <a:off x="1310256" y="3228016"/>
            <a:ext cx="13763" cy="13763"/>
          </a:xfrm>
          <a:prstGeom prst="rect">
            <a:avLst/>
          </a:prstGeom>
          <a:solidFill>
            <a:srgbClr val="D9A21B"/>
          </a:solidFill>
          <a:ln w="12700">
            <a:solidFill>
              <a:srgbClr val="D9A21B"/>
            </a:solidFill>
            <a:prstDash val="solid"/>
          </a:ln>
        </p:spPr>
      </p:sp>
      <p:sp>
        <p:nvSpPr>
          <p:cNvPr id="583" name="Shape 578"/>
          <p:cNvSpPr/>
          <p:nvPr/>
        </p:nvSpPr>
        <p:spPr>
          <a:xfrm>
            <a:off x="1352595" y="3228016"/>
            <a:ext cx="13763" cy="13763"/>
          </a:xfrm>
          <a:prstGeom prst="rect">
            <a:avLst/>
          </a:prstGeom>
          <a:solidFill>
            <a:srgbClr val="D9A21B"/>
          </a:solidFill>
          <a:ln w="12700">
            <a:solidFill>
              <a:srgbClr val="D9A21B"/>
            </a:solidFill>
            <a:prstDash val="solid"/>
          </a:ln>
        </p:spPr>
      </p:sp>
      <p:sp>
        <p:nvSpPr>
          <p:cNvPr id="584" name="Shape 579"/>
          <p:cNvSpPr/>
          <p:nvPr/>
        </p:nvSpPr>
        <p:spPr>
          <a:xfrm>
            <a:off x="1394933" y="3228016"/>
            <a:ext cx="13763" cy="13763"/>
          </a:xfrm>
          <a:prstGeom prst="rect">
            <a:avLst/>
          </a:prstGeom>
          <a:solidFill>
            <a:srgbClr val="D9A21B"/>
          </a:solidFill>
          <a:ln w="12700">
            <a:solidFill>
              <a:srgbClr val="D9A21B"/>
            </a:solidFill>
            <a:prstDash val="solid"/>
          </a:ln>
        </p:spPr>
      </p:sp>
      <p:sp>
        <p:nvSpPr>
          <p:cNvPr id="585" name="Shape 580"/>
          <p:cNvSpPr/>
          <p:nvPr/>
        </p:nvSpPr>
        <p:spPr>
          <a:xfrm>
            <a:off x="1437271" y="3228016"/>
            <a:ext cx="13763" cy="13763"/>
          </a:xfrm>
          <a:prstGeom prst="rect">
            <a:avLst/>
          </a:prstGeom>
          <a:solidFill>
            <a:srgbClr val="B85A28"/>
          </a:solidFill>
          <a:ln w="12700">
            <a:solidFill>
              <a:srgbClr val="B85A28"/>
            </a:solidFill>
            <a:prstDash val="solid"/>
          </a:ln>
        </p:spPr>
      </p:sp>
      <p:sp>
        <p:nvSpPr>
          <p:cNvPr id="586" name="Shape 581"/>
          <p:cNvSpPr/>
          <p:nvPr/>
        </p:nvSpPr>
        <p:spPr>
          <a:xfrm>
            <a:off x="1479609" y="3228016"/>
            <a:ext cx="13763" cy="13763"/>
          </a:xfrm>
          <a:prstGeom prst="rect">
            <a:avLst/>
          </a:prstGeom>
          <a:solidFill>
            <a:srgbClr val="B85A28"/>
          </a:solidFill>
          <a:ln w="12700">
            <a:solidFill>
              <a:srgbClr val="B85A28"/>
            </a:solidFill>
            <a:prstDash val="solid"/>
          </a:ln>
        </p:spPr>
      </p:sp>
      <p:sp>
        <p:nvSpPr>
          <p:cNvPr id="587" name="Shape 582"/>
          <p:cNvSpPr/>
          <p:nvPr/>
        </p:nvSpPr>
        <p:spPr>
          <a:xfrm>
            <a:off x="1521948" y="3228016"/>
            <a:ext cx="13763" cy="13763"/>
          </a:xfrm>
          <a:prstGeom prst="rect">
            <a:avLst/>
          </a:prstGeom>
          <a:solidFill>
            <a:srgbClr val="B85A28"/>
          </a:solidFill>
          <a:ln w="12700">
            <a:solidFill>
              <a:srgbClr val="B85A28"/>
            </a:solidFill>
            <a:prstDash val="solid"/>
          </a:ln>
        </p:spPr>
      </p:sp>
      <p:sp>
        <p:nvSpPr>
          <p:cNvPr id="588" name="Shape 583"/>
          <p:cNvSpPr/>
          <p:nvPr/>
        </p:nvSpPr>
        <p:spPr>
          <a:xfrm>
            <a:off x="1564286" y="3228016"/>
            <a:ext cx="13763" cy="13763"/>
          </a:xfrm>
          <a:prstGeom prst="rect">
            <a:avLst/>
          </a:prstGeom>
          <a:solidFill>
            <a:srgbClr val="B85A28"/>
          </a:solidFill>
          <a:ln w="12700">
            <a:solidFill>
              <a:srgbClr val="B85A28"/>
            </a:solidFill>
            <a:prstDash val="solid"/>
          </a:ln>
        </p:spPr>
      </p:sp>
      <p:sp>
        <p:nvSpPr>
          <p:cNvPr id="589" name="Shape 584"/>
          <p:cNvSpPr/>
          <p:nvPr/>
        </p:nvSpPr>
        <p:spPr>
          <a:xfrm>
            <a:off x="1606624" y="3228016"/>
            <a:ext cx="13763" cy="13763"/>
          </a:xfrm>
          <a:prstGeom prst="rect">
            <a:avLst/>
          </a:prstGeom>
          <a:solidFill>
            <a:srgbClr val="B85A28"/>
          </a:solidFill>
          <a:ln w="12700">
            <a:solidFill>
              <a:srgbClr val="B85A28"/>
            </a:solidFill>
            <a:prstDash val="solid"/>
          </a:ln>
        </p:spPr>
      </p:sp>
      <p:sp>
        <p:nvSpPr>
          <p:cNvPr id="590" name="Shape 585"/>
          <p:cNvSpPr/>
          <p:nvPr/>
        </p:nvSpPr>
        <p:spPr>
          <a:xfrm>
            <a:off x="1648963" y="3228016"/>
            <a:ext cx="13763" cy="13763"/>
          </a:xfrm>
          <a:prstGeom prst="rect">
            <a:avLst/>
          </a:prstGeom>
          <a:solidFill>
            <a:srgbClr val="B85A28"/>
          </a:solidFill>
          <a:ln w="12700">
            <a:solidFill>
              <a:srgbClr val="B85A28"/>
            </a:solidFill>
            <a:prstDash val="solid"/>
          </a:ln>
        </p:spPr>
      </p:sp>
      <p:sp>
        <p:nvSpPr>
          <p:cNvPr id="591" name="Shape 586"/>
          <p:cNvSpPr/>
          <p:nvPr/>
        </p:nvSpPr>
        <p:spPr>
          <a:xfrm>
            <a:off x="1691301" y="3228016"/>
            <a:ext cx="13763" cy="13763"/>
          </a:xfrm>
          <a:prstGeom prst="rect">
            <a:avLst/>
          </a:prstGeom>
          <a:solidFill>
            <a:srgbClr val="B85A28"/>
          </a:solidFill>
          <a:ln w="12700">
            <a:solidFill>
              <a:srgbClr val="B85A28"/>
            </a:solidFill>
            <a:prstDash val="solid"/>
          </a:ln>
        </p:spPr>
      </p:sp>
      <p:sp>
        <p:nvSpPr>
          <p:cNvPr id="592" name="Shape 587"/>
          <p:cNvSpPr/>
          <p:nvPr/>
        </p:nvSpPr>
        <p:spPr>
          <a:xfrm>
            <a:off x="1733639" y="3228016"/>
            <a:ext cx="13763" cy="13763"/>
          </a:xfrm>
          <a:prstGeom prst="rect">
            <a:avLst/>
          </a:prstGeom>
          <a:solidFill>
            <a:srgbClr val="B85A28"/>
          </a:solidFill>
          <a:ln w="12700">
            <a:solidFill>
              <a:srgbClr val="B85A28"/>
            </a:solidFill>
            <a:prstDash val="solid"/>
          </a:ln>
        </p:spPr>
      </p:sp>
      <p:sp>
        <p:nvSpPr>
          <p:cNvPr id="593" name="Shape 588"/>
          <p:cNvSpPr/>
          <p:nvPr/>
        </p:nvSpPr>
        <p:spPr>
          <a:xfrm>
            <a:off x="1775978" y="3228016"/>
            <a:ext cx="13763" cy="13763"/>
          </a:xfrm>
          <a:prstGeom prst="rect">
            <a:avLst/>
          </a:prstGeom>
          <a:solidFill>
            <a:srgbClr val="B85A28"/>
          </a:solidFill>
          <a:ln w="12700">
            <a:solidFill>
              <a:srgbClr val="B85A28"/>
            </a:solidFill>
            <a:prstDash val="solid"/>
          </a:ln>
        </p:spPr>
      </p:sp>
      <p:sp>
        <p:nvSpPr>
          <p:cNvPr id="594" name="Shape 589"/>
          <p:cNvSpPr/>
          <p:nvPr/>
        </p:nvSpPr>
        <p:spPr>
          <a:xfrm>
            <a:off x="1818316" y="3228016"/>
            <a:ext cx="13763" cy="13763"/>
          </a:xfrm>
          <a:prstGeom prst="rect">
            <a:avLst/>
          </a:prstGeom>
          <a:solidFill>
            <a:srgbClr val="B85A28"/>
          </a:solidFill>
          <a:ln w="12700">
            <a:solidFill>
              <a:srgbClr val="B85A28"/>
            </a:solidFill>
            <a:prstDash val="solid"/>
          </a:ln>
        </p:spPr>
      </p:sp>
      <p:sp>
        <p:nvSpPr>
          <p:cNvPr id="595" name="Shape 590"/>
          <p:cNvSpPr/>
          <p:nvPr/>
        </p:nvSpPr>
        <p:spPr>
          <a:xfrm>
            <a:off x="1860654" y="3228016"/>
            <a:ext cx="13763" cy="13763"/>
          </a:xfrm>
          <a:prstGeom prst="rect">
            <a:avLst/>
          </a:prstGeom>
          <a:solidFill>
            <a:srgbClr val="B85A28"/>
          </a:solidFill>
          <a:ln w="12700">
            <a:solidFill>
              <a:srgbClr val="B85A28"/>
            </a:solidFill>
            <a:prstDash val="solid"/>
          </a:ln>
        </p:spPr>
      </p:sp>
      <p:sp>
        <p:nvSpPr>
          <p:cNvPr id="596" name="Shape 591"/>
          <p:cNvSpPr/>
          <p:nvPr/>
        </p:nvSpPr>
        <p:spPr>
          <a:xfrm>
            <a:off x="1902992" y="3228016"/>
            <a:ext cx="13763" cy="13763"/>
          </a:xfrm>
          <a:prstGeom prst="rect">
            <a:avLst/>
          </a:prstGeom>
          <a:solidFill>
            <a:srgbClr val="B85A28"/>
          </a:solidFill>
          <a:ln w="12700">
            <a:solidFill>
              <a:srgbClr val="B85A28"/>
            </a:solidFill>
            <a:prstDash val="solid"/>
          </a:ln>
        </p:spPr>
      </p:sp>
      <p:sp>
        <p:nvSpPr>
          <p:cNvPr id="597" name="Shape 592"/>
          <p:cNvSpPr/>
          <p:nvPr/>
        </p:nvSpPr>
        <p:spPr>
          <a:xfrm>
            <a:off x="1945331" y="3228016"/>
            <a:ext cx="13763" cy="13763"/>
          </a:xfrm>
          <a:prstGeom prst="rect">
            <a:avLst/>
          </a:prstGeom>
          <a:solidFill>
            <a:srgbClr val="B85A28"/>
          </a:solidFill>
          <a:ln w="12700">
            <a:solidFill>
              <a:srgbClr val="B85A28"/>
            </a:solidFill>
            <a:prstDash val="solid"/>
          </a:ln>
        </p:spPr>
      </p:sp>
      <p:sp>
        <p:nvSpPr>
          <p:cNvPr id="598" name="Shape 593"/>
          <p:cNvSpPr/>
          <p:nvPr/>
        </p:nvSpPr>
        <p:spPr>
          <a:xfrm>
            <a:off x="1987669" y="3228016"/>
            <a:ext cx="13763" cy="13763"/>
          </a:xfrm>
          <a:prstGeom prst="rect">
            <a:avLst/>
          </a:prstGeom>
          <a:solidFill>
            <a:srgbClr val="B85A28"/>
          </a:solidFill>
          <a:ln w="12700">
            <a:solidFill>
              <a:srgbClr val="B85A28"/>
            </a:solidFill>
            <a:prstDash val="solid"/>
          </a:ln>
        </p:spPr>
      </p:sp>
      <p:sp>
        <p:nvSpPr>
          <p:cNvPr id="599" name="Shape 594"/>
          <p:cNvSpPr/>
          <p:nvPr/>
        </p:nvSpPr>
        <p:spPr>
          <a:xfrm>
            <a:off x="2030007" y="3228016"/>
            <a:ext cx="13763" cy="13763"/>
          </a:xfrm>
          <a:prstGeom prst="rect">
            <a:avLst/>
          </a:prstGeom>
          <a:solidFill>
            <a:srgbClr val="B85A28"/>
          </a:solidFill>
          <a:ln w="12700">
            <a:solidFill>
              <a:srgbClr val="B85A28"/>
            </a:solidFill>
            <a:prstDash val="solid"/>
          </a:ln>
        </p:spPr>
      </p:sp>
      <p:sp>
        <p:nvSpPr>
          <p:cNvPr id="600" name="Shape 595"/>
          <p:cNvSpPr/>
          <p:nvPr/>
        </p:nvSpPr>
        <p:spPr>
          <a:xfrm>
            <a:off x="2072346" y="3228016"/>
            <a:ext cx="13763" cy="13763"/>
          </a:xfrm>
          <a:prstGeom prst="rect">
            <a:avLst/>
          </a:prstGeom>
          <a:solidFill>
            <a:srgbClr val="B85A28"/>
          </a:solidFill>
          <a:ln w="12700">
            <a:solidFill>
              <a:srgbClr val="B85A28"/>
            </a:solidFill>
            <a:prstDash val="solid"/>
          </a:ln>
        </p:spPr>
      </p:sp>
      <p:sp>
        <p:nvSpPr>
          <p:cNvPr id="601" name="Shape 596"/>
          <p:cNvSpPr/>
          <p:nvPr/>
        </p:nvSpPr>
        <p:spPr>
          <a:xfrm>
            <a:off x="2114684" y="3228016"/>
            <a:ext cx="13763" cy="13763"/>
          </a:xfrm>
          <a:prstGeom prst="rect">
            <a:avLst/>
          </a:prstGeom>
          <a:solidFill>
            <a:srgbClr val="B85A28"/>
          </a:solidFill>
          <a:ln w="12700">
            <a:solidFill>
              <a:srgbClr val="B85A28"/>
            </a:solidFill>
            <a:prstDash val="solid"/>
          </a:ln>
        </p:spPr>
      </p:sp>
      <p:sp>
        <p:nvSpPr>
          <p:cNvPr id="602" name="Shape 597"/>
          <p:cNvSpPr/>
          <p:nvPr/>
        </p:nvSpPr>
        <p:spPr>
          <a:xfrm>
            <a:off x="971550" y="3270354"/>
            <a:ext cx="13763" cy="13763"/>
          </a:xfrm>
          <a:prstGeom prst="rect">
            <a:avLst/>
          </a:prstGeom>
          <a:solidFill>
            <a:srgbClr val="B85A28"/>
          </a:solidFill>
          <a:ln w="12700">
            <a:solidFill>
              <a:srgbClr val="B85A28"/>
            </a:solidFill>
            <a:prstDash val="solid"/>
          </a:ln>
        </p:spPr>
      </p:sp>
      <p:sp>
        <p:nvSpPr>
          <p:cNvPr id="603" name="Shape 598"/>
          <p:cNvSpPr/>
          <p:nvPr/>
        </p:nvSpPr>
        <p:spPr>
          <a:xfrm>
            <a:off x="1013888" y="3270354"/>
            <a:ext cx="13763" cy="13763"/>
          </a:xfrm>
          <a:prstGeom prst="rect">
            <a:avLst/>
          </a:prstGeom>
          <a:solidFill>
            <a:srgbClr val="B85A28"/>
          </a:solidFill>
          <a:ln w="12700">
            <a:solidFill>
              <a:srgbClr val="B85A28"/>
            </a:solidFill>
            <a:prstDash val="solid"/>
          </a:ln>
        </p:spPr>
      </p:sp>
      <p:sp>
        <p:nvSpPr>
          <p:cNvPr id="604" name="Shape 599"/>
          <p:cNvSpPr/>
          <p:nvPr/>
        </p:nvSpPr>
        <p:spPr>
          <a:xfrm>
            <a:off x="1056227" y="3270354"/>
            <a:ext cx="13763" cy="13763"/>
          </a:xfrm>
          <a:prstGeom prst="rect">
            <a:avLst/>
          </a:prstGeom>
          <a:solidFill>
            <a:srgbClr val="B85A28"/>
          </a:solidFill>
          <a:ln w="12700">
            <a:solidFill>
              <a:srgbClr val="B85A28"/>
            </a:solidFill>
            <a:prstDash val="solid"/>
          </a:ln>
        </p:spPr>
      </p:sp>
      <p:sp>
        <p:nvSpPr>
          <p:cNvPr id="605" name="Shape 600"/>
          <p:cNvSpPr/>
          <p:nvPr/>
        </p:nvSpPr>
        <p:spPr>
          <a:xfrm>
            <a:off x="1098565" y="3270354"/>
            <a:ext cx="13763" cy="13763"/>
          </a:xfrm>
          <a:prstGeom prst="rect">
            <a:avLst/>
          </a:prstGeom>
          <a:solidFill>
            <a:srgbClr val="B85A28"/>
          </a:solidFill>
          <a:ln w="12700">
            <a:solidFill>
              <a:srgbClr val="B85A28"/>
            </a:solidFill>
            <a:prstDash val="solid"/>
          </a:ln>
        </p:spPr>
      </p:sp>
      <p:sp>
        <p:nvSpPr>
          <p:cNvPr id="606" name="Shape 601"/>
          <p:cNvSpPr/>
          <p:nvPr/>
        </p:nvSpPr>
        <p:spPr>
          <a:xfrm>
            <a:off x="1140903" y="3270354"/>
            <a:ext cx="13763" cy="13763"/>
          </a:xfrm>
          <a:prstGeom prst="rect">
            <a:avLst/>
          </a:prstGeom>
          <a:solidFill>
            <a:srgbClr val="B85A28"/>
          </a:solidFill>
          <a:ln w="12700">
            <a:solidFill>
              <a:srgbClr val="B85A28"/>
            </a:solidFill>
            <a:prstDash val="solid"/>
          </a:ln>
        </p:spPr>
      </p:sp>
      <p:sp>
        <p:nvSpPr>
          <p:cNvPr id="607" name="Shape 602"/>
          <p:cNvSpPr/>
          <p:nvPr/>
        </p:nvSpPr>
        <p:spPr>
          <a:xfrm>
            <a:off x="1183241" y="3270354"/>
            <a:ext cx="13763" cy="13763"/>
          </a:xfrm>
          <a:prstGeom prst="rect">
            <a:avLst/>
          </a:prstGeom>
          <a:solidFill>
            <a:srgbClr val="B85A28"/>
          </a:solidFill>
          <a:ln w="12700">
            <a:solidFill>
              <a:srgbClr val="B85A28"/>
            </a:solidFill>
            <a:prstDash val="solid"/>
          </a:ln>
        </p:spPr>
      </p:sp>
      <p:sp>
        <p:nvSpPr>
          <p:cNvPr id="608" name="Shape 603"/>
          <p:cNvSpPr/>
          <p:nvPr/>
        </p:nvSpPr>
        <p:spPr>
          <a:xfrm>
            <a:off x="1225580" y="3270354"/>
            <a:ext cx="13763" cy="13763"/>
          </a:xfrm>
          <a:prstGeom prst="rect">
            <a:avLst/>
          </a:prstGeom>
          <a:solidFill>
            <a:srgbClr val="B85A28"/>
          </a:solidFill>
          <a:ln w="12700">
            <a:solidFill>
              <a:srgbClr val="B85A28"/>
            </a:solidFill>
            <a:prstDash val="solid"/>
          </a:ln>
        </p:spPr>
      </p:sp>
      <p:sp>
        <p:nvSpPr>
          <p:cNvPr id="609" name="Shape 604"/>
          <p:cNvSpPr/>
          <p:nvPr/>
        </p:nvSpPr>
        <p:spPr>
          <a:xfrm>
            <a:off x="1267918" y="3270354"/>
            <a:ext cx="13763" cy="13763"/>
          </a:xfrm>
          <a:prstGeom prst="rect">
            <a:avLst/>
          </a:prstGeom>
          <a:solidFill>
            <a:srgbClr val="B85A28"/>
          </a:solidFill>
          <a:ln w="12700">
            <a:solidFill>
              <a:srgbClr val="B85A28"/>
            </a:solidFill>
            <a:prstDash val="solid"/>
          </a:ln>
        </p:spPr>
      </p:sp>
      <p:sp>
        <p:nvSpPr>
          <p:cNvPr id="610" name="Shape 605"/>
          <p:cNvSpPr/>
          <p:nvPr/>
        </p:nvSpPr>
        <p:spPr>
          <a:xfrm>
            <a:off x="1310256" y="3270354"/>
            <a:ext cx="13763" cy="13763"/>
          </a:xfrm>
          <a:prstGeom prst="rect">
            <a:avLst/>
          </a:prstGeom>
          <a:solidFill>
            <a:srgbClr val="B85A28"/>
          </a:solidFill>
          <a:ln w="12700">
            <a:solidFill>
              <a:srgbClr val="B85A28"/>
            </a:solidFill>
            <a:prstDash val="solid"/>
          </a:ln>
        </p:spPr>
      </p:sp>
      <p:sp>
        <p:nvSpPr>
          <p:cNvPr id="611" name="Shape 606"/>
          <p:cNvSpPr/>
          <p:nvPr/>
        </p:nvSpPr>
        <p:spPr>
          <a:xfrm>
            <a:off x="1352595" y="3270354"/>
            <a:ext cx="13763" cy="13763"/>
          </a:xfrm>
          <a:prstGeom prst="rect">
            <a:avLst/>
          </a:prstGeom>
          <a:solidFill>
            <a:srgbClr val="B85A28"/>
          </a:solidFill>
          <a:ln w="12700">
            <a:solidFill>
              <a:srgbClr val="B85A28"/>
            </a:solidFill>
            <a:prstDash val="solid"/>
          </a:ln>
        </p:spPr>
      </p:sp>
      <p:sp>
        <p:nvSpPr>
          <p:cNvPr id="612" name="Shape 607"/>
          <p:cNvSpPr/>
          <p:nvPr/>
        </p:nvSpPr>
        <p:spPr>
          <a:xfrm>
            <a:off x="1394933" y="3270354"/>
            <a:ext cx="13763" cy="13763"/>
          </a:xfrm>
          <a:prstGeom prst="rect">
            <a:avLst/>
          </a:prstGeom>
          <a:solidFill>
            <a:srgbClr val="B85A28"/>
          </a:solidFill>
          <a:ln w="12700">
            <a:solidFill>
              <a:srgbClr val="B85A28"/>
            </a:solidFill>
            <a:prstDash val="solid"/>
          </a:ln>
        </p:spPr>
      </p:sp>
      <p:sp>
        <p:nvSpPr>
          <p:cNvPr id="613" name="Shape 608"/>
          <p:cNvSpPr/>
          <p:nvPr/>
        </p:nvSpPr>
        <p:spPr>
          <a:xfrm>
            <a:off x="1437271" y="3270354"/>
            <a:ext cx="13763" cy="13763"/>
          </a:xfrm>
          <a:prstGeom prst="rect">
            <a:avLst/>
          </a:prstGeom>
          <a:solidFill>
            <a:srgbClr val="B85A28"/>
          </a:solidFill>
          <a:ln w="12700">
            <a:solidFill>
              <a:srgbClr val="B85A28"/>
            </a:solidFill>
            <a:prstDash val="solid"/>
          </a:ln>
        </p:spPr>
      </p:sp>
      <p:sp>
        <p:nvSpPr>
          <p:cNvPr id="614" name="Shape 609"/>
          <p:cNvSpPr/>
          <p:nvPr/>
        </p:nvSpPr>
        <p:spPr>
          <a:xfrm>
            <a:off x="1479609" y="3270354"/>
            <a:ext cx="13763" cy="13763"/>
          </a:xfrm>
          <a:prstGeom prst="rect">
            <a:avLst/>
          </a:prstGeom>
          <a:solidFill>
            <a:srgbClr val="B85A28"/>
          </a:solidFill>
          <a:ln w="12700">
            <a:solidFill>
              <a:srgbClr val="B85A28"/>
            </a:solidFill>
            <a:prstDash val="solid"/>
          </a:ln>
        </p:spPr>
      </p:sp>
      <p:sp>
        <p:nvSpPr>
          <p:cNvPr id="615" name="Shape 610"/>
          <p:cNvSpPr/>
          <p:nvPr/>
        </p:nvSpPr>
        <p:spPr>
          <a:xfrm>
            <a:off x="1521948" y="3270354"/>
            <a:ext cx="13763" cy="13763"/>
          </a:xfrm>
          <a:prstGeom prst="rect">
            <a:avLst/>
          </a:prstGeom>
          <a:solidFill>
            <a:srgbClr val="B85A28"/>
          </a:solidFill>
          <a:ln w="12700">
            <a:solidFill>
              <a:srgbClr val="B85A28"/>
            </a:solidFill>
            <a:prstDash val="solid"/>
          </a:ln>
        </p:spPr>
      </p:sp>
      <p:sp>
        <p:nvSpPr>
          <p:cNvPr id="616" name="Shape 611"/>
          <p:cNvSpPr/>
          <p:nvPr/>
        </p:nvSpPr>
        <p:spPr>
          <a:xfrm>
            <a:off x="1564286" y="3270354"/>
            <a:ext cx="13763" cy="13763"/>
          </a:xfrm>
          <a:prstGeom prst="rect">
            <a:avLst/>
          </a:prstGeom>
          <a:solidFill>
            <a:srgbClr val="B85A28"/>
          </a:solidFill>
          <a:ln w="12700">
            <a:solidFill>
              <a:srgbClr val="B85A28"/>
            </a:solidFill>
            <a:prstDash val="solid"/>
          </a:ln>
        </p:spPr>
      </p:sp>
      <p:sp>
        <p:nvSpPr>
          <p:cNvPr id="617" name="Shape 612"/>
          <p:cNvSpPr/>
          <p:nvPr/>
        </p:nvSpPr>
        <p:spPr>
          <a:xfrm>
            <a:off x="1606624" y="3270354"/>
            <a:ext cx="13763" cy="13763"/>
          </a:xfrm>
          <a:prstGeom prst="rect">
            <a:avLst/>
          </a:prstGeom>
          <a:solidFill>
            <a:srgbClr val="B85A28"/>
          </a:solidFill>
          <a:ln w="12700">
            <a:solidFill>
              <a:srgbClr val="B85A28"/>
            </a:solidFill>
            <a:prstDash val="solid"/>
          </a:ln>
        </p:spPr>
      </p:sp>
      <p:sp>
        <p:nvSpPr>
          <p:cNvPr id="618" name="Shape 613"/>
          <p:cNvSpPr/>
          <p:nvPr/>
        </p:nvSpPr>
        <p:spPr>
          <a:xfrm>
            <a:off x="1648963" y="3270354"/>
            <a:ext cx="13763" cy="13763"/>
          </a:xfrm>
          <a:prstGeom prst="rect">
            <a:avLst/>
          </a:prstGeom>
          <a:solidFill>
            <a:srgbClr val="B85A28"/>
          </a:solidFill>
          <a:ln w="12700">
            <a:solidFill>
              <a:srgbClr val="B85A28"/>
            </a:solidFill>
            <a:prstDash val="solid"/>
          </a:ln>
        </p:spPr>
      </p:sp>
      <p:sp>
        <p:nvSpPr>
          <p:cNvPr id="619" name="Shape 614"/>
          <p:cNvSpPr/>
          <p:nvPr/>
        </p:nvSpPr>
        <p:spPr>
          <a:xfrm>
            <a:off x="1691301" y="3270354"/>
            <a:ext cx="13763" cy="13763"/>
          </a:xfrm>
          <a:prstGeom prst="rect">
            <a:avLst/>
          </a:prstGeom>
          <a:solidFill>
            <a:srgbClr val="B85A28"/>
          </a:solidFill>
          <a:ln w="12700">
            <a:solidFill>
              <a:srgbClr val="B85A28"/>
            </a:solidFill>
            <a:prstDash val="solid"/>
          </a:ln>
        </p:spPr>
      </p:sp>
      <p:sp>
        <p:nvSpPr>
          <p:cNvPr id="620" name="Shape 615"/>
          <p:cNvSpPr/>
          <p:nvPr/>
        </p:nvSpPr>
        <p:spPr>
          <a:xfrm>
            <a:off x="1733639" y="3270354"/>
            <a:ext cx="13763" cy="13763"/>
          </a:xfrm>
          <a:prstGeom prst="rect">
            <a:avLst/>
          </a:prstGeom>
          <a:solidFill>
            <a:srgbClr val="B85A28"/>
          </a:solidFill>
          <a:ln w="12700">
            <a:solidFill>
              <a:srgbClr val="B85A28"/>
            </a:solidFill>
            <a:prstDash val="solid"/>
          </a:ln>
        </p:spPr>
      </p:sp>
      <p:sp>
        <p:nvSpPr>
          <p:cNvPr id="621" name="Shape 616"/>
          <p:cNvSpPr/>
          <p:nvPr/>
        </p:nvSpPr>
        <p:spPr>
          <a:xfrm>
            <a:off x="1775978" y="3270354"/>
            <a:ext cx="13763" cy="13763"/>
          </a:xfrm>
          <a:prstGeom prst="rect">
            <a:avLst/>
          </a:prstGeom>
          <a:solidFill>
            <a:srgbClr val="B85A28"/>
          </a:solidFill>
          <a:ln w="12700">
            <a:solidFill>
              <a:srgbClr val="B85A28"/>
            </a:solidFill>
            <a:prstDash val="solid"/>
          </a:ln>
        </p:spPr>
      </p:sp>
      <p:sp>
        <p:nvSpPr>
          <p:cNvPr id="622" name="Shape 617"/>
          <p:cNvSpPr/>
          <p:nvPr/>
        </p:nvSpPr>
        <p:spPr>
          <a:xfrm>
            <a:off x="1818316" y="3270354"/>
            <a:ext cx="13763" cy="13763"/>
          </a:xfrm>
          <a:prstGeom prst="rect">
            <a:avLst/>
          </a:prstGeom>
          <a:solidFill>
            <a:srgbClr val="B85A28"/>
          </a:solidFill>
          <a:ln w="12700">
            <a:solidFill>
              <a:srgbClr val="B85A28"/>
            </a:solidFill>
            <a:prstDash val="solid"/>
          </a:ln>
        </p:spPr>
      </p:sp>
      <p:sp>
        <p:nvSpPr>
          <p:cNvPr id="623" name="Shape 618"/>
          <p:cNvSpPr/>
          <p:nvPr/>
        </p:nvSpPr>
        <p:spPr>
          <a:xfrm>
            <a:off x="1860654" y="3270354"/>
            <a:ext cx="13763" cy="13763"/>
          </a:xfrm>
          <a:prstGeom prst="rect">
            <a:avLst/>
          </a:prstGeom>
          <a:solidFill>
            <a:srgbClr val="B85A28"/>
          </a:solidFill>
          <a:ln w="12700">
            <a:solidFill>
              <a:srgbClr val="B85A28"/>
            </a:solidFill>
            <a:prstDash val="solid"/>
          </a:ln>
        </p:spPr>
      </p:sp>
      <p:sp>
        <p:nvSpPr>
          <p:cNvPr id="624" name="Shape 619"/>
          <p:cNvSpPr/>
          <p:nvPr/>
        </p:nvSpPr>
        <p:spPr>
          <a:xfrm>
            <a:off x="1902992" y="3270354"/>
            <a:ext cx="13763" cy="13763"/>
          </a:xfrm>
          <a:prstGeom prst="rect">
            <a:avLst/>
          </a:prstGeom>
          <a:solidFill>
            <a:srgbClr val="B85A28"/>
          </a:solidFill>
          <a:ln w="12700">
            <a:solidFill>
              <a:srgbClr val="B85A28"/>
            </a:solidFill>
            <a:prstDash val="solid"/>
          </a:ln>
        </p:spPr>
      </p:sp>
      <p:sp>
        <p:nvSpPr>
          <p:cNvPr id="625" name="Shape 620"/>
          <p:cNvSpPr/>
          <p:nvPr/>
        </p:nvSpPr>
        <p:spPr>
          <a:xfrm>
            <a:off x="1945331" y="3270354"/>
            <a:ext cx="13763" cy="13763"/>
          </a:xfrm>
          <a:prstGeom prst="rect">
            <a:avLst/>
          </a:prstGeom>
          <a:solidFill>
            <a:srgbClr val="B85A28"/>
          </a:solidFill>
          <a:ln w="12700">
            <a:solidFill>
              <a:srgbClr val="B85A28"/>
            </a:solidFill>
            <a:prstDash val="solid"/>
          </a:ln>
        </p:spPr>
      </p:sp>
      <p:sp>
        <p:nvSpPr>
          <p:cNvPr id="626" name="Shape 621"/>
          <p:cNvSpPr/>
          <p:nvPr/>
        </p:nvSpPr>
        <p:spPr>
          <a:xfrm>
            <a:off x="1987669" y="3270354"/>
            <a:ext cx="13763" cy="13763"/>
          </a:xfrm>
          <a:prstGeom prst="rect">
            <a:avLst/>
          </a:prstGeom>
          <a:solidFill>
            <a:srgbClr val="2B7BB0"/>
          </a:solidFill>
          <a:ln w="12700">
            <a:solidFill>
              <a:srgbClr val="2B7BB0"/>
            </a:solidFill>
            <a:prstDash val="solid"/>
          </a:ln>
        </p:spPr>
      </p:sp>
      <p:sp>
        <p:nvSpPr>
          <p:cNvPr id="627" name="Shape 622"/>
          <p:cNvSpPr/>
          <p:nvPr/>
        </p:nvSpPr>
        <p:spPr>
          <a:xfrm>
            <a:off x="2030007" y="3270354"/>
            <a:ext cx="13763" cy="13763"/>
          </a:xfrm>
          <a:prstGeom prst="rect">
            <a:avLst/>
          </a:prstGeom>
          <a:solidFill>
            <a:srgbClr val="2B7BB0"/>
          </a:solidFill>
          <a:ln w="12700">
            <a:solidFill>
              <a:srgbClr val="2B7BB0"/>
            </a:solidFill>
            <a:prstDash val="solid"/>
          </a:ln>
        </p:spPr>
      </p:sp>
      <p:sp>
        <p:nvSpPr>
          <p:cNvPr id="628" name="Shape 623"/>
          <p:cNvSpPr/>
          <p:nvPr/>
        </p:nvSpPr>
        <p:spPr>
          <a:xfrm>
            <a:off x="2072346" y="3270354"/>
            <a:ext cx="13763" cy="13763"/>
          </a:xfrm>
          <a:prstGeom prst="rect">
            <a:avLst/>
          </a:prstGeom>
          <a:solidFill>
            <a:srgbClr val="2B7BB0"/>
          </a:solidFill>
          <a:ln w="12700">
            <a:solidFill>
              <a:srgbClr val="2B7BB0"/>
            </a:solidFill>
            <a:prstDash val="solid"/>
          </a:ln>
        </p:spPr>
      </p:sp>
      <p:sp>
        <p:nvSpPr>
          <p:cNvPr id="629" name="Shape 624"/>
          <p:cNvSpPr/>
          <p:nvPr/>
        </p:nvSpPr>
        <p:spPr>
          <a:xfrm>
            <a:off x="2114684" y="3270354"/>
            <a:ext cx="13763" cy="13763"/>
          </a:xfrm>
          <a:prstGeom prst="rect">
            <a:avLst/>
          </a:prstGeom>
          <a:solidFill>
            <a:srgbClr val="2B7BB0"/>
          </a:solidFill>
          <a:ln w="12700">
            <a:solidFill>
              <a:srgbClr val="2B7BB0"/>
            </a:solidFill>
            <a:prstDash val="solid"/>
          </a:ln>
        </p:spPr>
      </p:sp>
      <p:sp>
        <p:nvSpPr>
          <p:cNvPr id="630" name="Shape 625"/>
          <p:cNvSpPr/>
          <p:nvPr/>
        </p:nvSpPr>
        <p:spPr>
          <a:xfrm>
            <a:off x="971550" y="3312692"/>
            <a:ext cx="13763" cy="13763"/>
          </a:xfrm>
          <a:prstGeom prst="rect">
            <a:avLst/>
          </a:prstGeom>
          <a:solidFill>
            <a:srgbClr val="2B7BB0"/>
          </a:solidFill>
          <a:ln w="12700">
            <a:solidFill>
              <a:srgbClr val="2B7BB0"/>
            </a:solidFill>
            <a:prstDash val="solid"/>
          </a:ln>
        </p:spPr>
      </p:sp>
      <p:sp>
        <p:nvSpPr>
          <p:cNvPr id="631" name="Shape 626"/>
          <p:cNvSpPr/>
          <p:nvPr/>
        </p:nvSpPr>
        <p:spPr>
          <a:xfrm>
            <a:off x="1013888" y="3312692"/>
            <a:ext cx="13763" cy="13763"/>
          </a:xfrm>
          <a:prstGeom prst="rect">
            <a:avLst/>
          </a:prstGeom>
          <a:solidFill>
            <a:srgbClr val="2B7BB0"/>
          </a:solidFill>
          <a:ln w="12700">
            <a:solidFill>
              <a:srgbClr val="2B7BB0"/>
            </a:solidFill>
            <a:prstDash val="solid"/>
          </a:ln>
        </p:spPr>
      </p:sp>
      <p:sp>
        <p:nvSpPr>
          <p:cNvPr id="632" name="Shape 627"/>
          <p:cNvSpPr/>
          <p:nvPr/>
        </p:nvSpPr>
        <p:spPr>
          <a:xfrm>
            <a:off x="1056227" y="3312692"/>
            <a:ext cx="13763" cy="13763"/>
          </a:xfrm>
          <a:prstGeom prst="rect">
            <a:avLst/>
          </a:prstGeom>
          <a:solidFill>
            <a:srgbClr val="2B7BB0"/>
          </a:solidFill>
          <a:ln w="12700">
            <a:solidFill>
              <a:srgbClr val="2B7BB0"/>
            </a:solidFill>
            <a:prstDash val="solid"/>
          </a:ln>
        </p:spPr>
      </p:sp>
      <p:sp>
        <p:nvSpPr>
          <p:cNvPr id="633" name="Shape 628"/>
          <p:cNvSpPr/>
          <p:nvPr/>
        </p:nvSpPr>
        <p:spPr>
          <a:xfrm>
            <a:off x="1098565" y="3312692"/>
            <a:ext cx="13763" cy="13763"/>
          </a:xfrm>
          <a:prstGeom prst="rect">
            <a:avLst/>
          </a:prstGeom>
          <a:solidFill>
            <a:srgbClr val="2B7BB0"/>
          </a:solidFill>
          <a:ln w="12700">
            <a:solidFill>
              <a:srgbClr val="2B7BB0"/>
            </a:solidFill>
            <a:prstDash val="solid"/>
          </a:ln>
        </p:spPr>
      </p:sp>
      <p:sp>
        <p:nvSpPr>
          <p:cNvPr id="634" name="Shape 629"/>
          <p:cNvSpPr/>
          <p:nvPr/>
        </p:nvSpPr>
        <p:spPr>
          <a:xfrm>
            <a:off x="1140903" y="3312692"/>
            <a:ext cx="13763" cy="13763"/>
          </a:xfrm>
          <a:prstGeom prst="rect">
            <a:avLst/>
          </a:prstGeom>
          <a:solidFill>
            <a:srgbClr val="2B7BB0"/>
          </a:solidFill>
          <a:ln w="12700">
            <a:solidFill>
              <a:srgbClr val="2B7BB0"/>
            </a:solidFill>
            <a:prstDash val="solid"/>
          </a:ln>
        </p:spPr>
      </p:sp>
      <p:sp>
        <p:nvSpPr>
          <p:cNvPr id="635" name="Shape 630"/>
          <p:cNvSpPr/>
          <p:nvPr/>
        </p:nvSpPr>
        <p:spPr>
          <a:xfrm>
            <a:off x="1183241" y="3312692"/>
            <a:ext cx="13763" cy="13763"/>
          </a:xfrm>
          <a:prstGeom prst="rect">
            <a:avLst/>
          </a:prstGeom>
          <a:solidFill>
            <a:srgbClr val="2B7BB0"/>
          </a:solidFill>
          <a:ln w="12700">
            <a:solidFill>
              <a:srgbClr val="2B7BB0"/>
            </a:solidFill>
            <a:prstDash val="solid"/>
          </a:ln>
        </p:spPr>
      </p:sp>
      <p:sp>
        <p:nvSpPr>
          <p:cNvPr id="636" name="Shape 631"/>
          <p:cNvSpPr/>
          <p:nvPr/>
        </p:nvSpPr>
        <p:spPr>
          <a:xfrm>
            <a:off x="1225580" y="3312692"/>
            <a:ext cx="13763" cy="13763"/>
          </a:xfrm>
          <a:prstGeom prst="rect">
            <a:avLst/>
          </a:prstGeom>
          <a:solidFill>
            <a:srgbClr val="2B7BB0"/>
          </a:solidFill>
          <a:ln w="12700">
            <a:solidFill>
              <a:srgbClr val="2B7BB0"/>
            </a:solidFill>
            <a:prstDash val="solid"/>
          </a:ln>
        </p:spPr>
      </p:sp>
      <p:sp>
        <p:nvSpPr>
          <p:cNvPr id="637" name="Shape 632"/>
          <p:cNvSpPr/>
          <p:nvPr/>
        </p:nvSpPr>
        <p:spPr>
          <a:xfrm>
            <a:off x="1267918" y="3312692"/>
            <a:ext cx="13763" cy="13763"/>
          </a:xfrm>
          <a:prstGeom prst="rect">
            <a:avLst/>
          </a:prstGeom>
          <a:solidFill>
            <a:srgbClr val="2B7BB0"/>
          </a:solidFill>
          <a:ln w="12700">
            <a:solidFill>
              <a:srgbClr val="2B7BB0"/>
            </a:solidFill>
            <a:prstDash val="solid"/>
          </a:ln>
        </p:spPr>
      </p:sp>
      <p:sp>
        <p:nvSpPr>
          <p:cNvPr id="638" name="Shape 633"/>
          <p:cNvSpPr/>
          <p:nvPr/>
        </p:nvSpPr>
        <p:spPr>
          <a:xfrm>
            <a:off x="1310256" y="3312692"/>
            <a:ext cx="13763" cy="13763"/>
          </a:xfrm>
          <a:prstGeom prst="rect">
            <a:avLst/>
          </a:prstGeom>
          <a:solidFill>
            <a:srgbClr val="2B7BB0"/>
          </a:solidFill>
          <a:ln w="12700">
            <a:solidFill>
              <a:srgbClr val="2B7BB0"/>
            </a:solidFill>
            <a:prstDash val="solid"/>
          </a:ln>
        </p:spPr>
      </p:sp>
      <p:sp>
        <p:nvSpPr>
          <p:cNvPr id="639" name="Shape 634"/>
          <p:cNvSpPr/>
          <p:nvPr/>
        </p:nvSpPr>
        <p:spPr>
          <a:xfrm>
            <a:off x="1352595" y="3312692"/>
            <a:ext cx="13763" cy="13763"/>
          </a:xfrm>
          <a:prstGeom prst="rect">
            <a:avLst/>
          </a:prstGeom>
          <a:solidFill>
            <a:srgbClr val="2B7BB0"/>
          </a:solidFill>
          <a:ln w="12700">
            <a:solidFill>
              <a:srgbClr val="2B7BB0"/>
            </a:solidFill>
            <a:prstDash val="solid"/>
          </a:ln>
        </p:spPr>
      </p:sp>
      <p:sp>
        <p:nvSpPr>
          <p:cNvPr id="640" name="Shape 635"/>
          <p:cNvSpPr/>
          <p:nvPr/>
        </p:nvSpPr>
        <p:spPr>
          <a:xfrm>
            <a:off x="1394933" y="3312692"/>
            <a:ext cx="13763" cy="13763"/>
          </a:xfrm>
          <a:prstGeom prst="rect">
            <a:avLst/>
          </a:prstGeom>
          <a:solidFill>
            <a:srgbClr val="2B7BB0"/>
          </a:solidFill>
          <a:ln w="12700">
            <a:solidFill>
              <a:srgbClr val="2B7BB0"/>
            </a:solidFill>
            <a:prstDash val="solid"/>
          </a:ln>
        </p:spPr>
      </p:sp>
      <p:sp>
        <p:nvSpPr>
          <p:cNvPr id="641" name="Shape 636"/>
          <p:cNvSpPr/>
          <p:nvPr/>
        </p:nvSpPr>
        <p:spPr>
          <a:xfrm>
            <a:off x="1437271" y="3312692"/>
            <a:ext cx="13763" cy="13763"/>
          </a:xfrm>
          <a:prstGeom prst="rect">
            <a:avLst/>
          </a:prstGeom>
          <a:solidFill>
            <a:srgbClr val="2B7BB0"/>
          </a:solidFill>
          <a:ln w="12700">
            <a:solidFill>
              <a:srgbClr val="2B7BB0"/>
            </a:solidFill>
            <a:prstDash val="solid"/>
          </a:ln>
        </p:spPr>
      </p:sp>
      <p:sp>
        <p:nvSpPr>
          <p:cNvPr id="642" name="Shape 637"/>
          <p:cNvSpPr/>
          <p:nvPr/>
        </p:nvSpPr>
        <p:spPr>
          <a:xfrm>
            <a:off x="1479609" y="3312692"/>
            <a:ext cx="13763" cy="13763"/>
          </a:xfrm>
          <a:prstGeom prst="rect">
            <a:avLst/>
          </a:prstGeom>
          <a:solidFill>
            <a:srgbClr val="2B7BB0"/>
          </a:solidFill>
          <a:ln w="12700">
            <a:solidFill>
              <a:srgbClr val="2B7BB0"/>
            </a:solidFill>
            <a:prstDash val="solid"/>
          </a:ln>
        </p:spPr>
      </p:sp>
      <p:sp>
        <p:nvSpPr>
          <p:cNvPr id="643" name="Shape 638"/>
          <p:cNvSpPr/>
          <p:nvPr/>
        </p:nvSpPr>
        <p:spPr>
          <a:xfrm>
            <a:off x="1521948" y="3312692"/>
            <a:ext cx="13763" cy="13763"/>
          </a:xfrm>
          <a:prstGeom prst="rect">
            <a:avLst/>
          </a:prstGeom>
          <a:solidFill>
            <a:srgbClr val="2B7BB0"/>
          </a:solidFill>
          <a:ln w="12700">
            <a:solidFill>
              <a:srgbClr val="2B7BB0"/>
            </a:solidFill>
            <a:prstDash val="solid"/>
          </a:ln>
        </p:spPr>
      </p:sp>
      <p:sp>
        <p:nvSpPr>
          <p:cNvPr id="644" name="Shape 639"/>
          <p:cNvSpPr/>
          <p:nvPr/>
        </p:nvSpPr>
        <p:spPr>
          <a:xfrm>
            <a:off x="1564286" y="3312692"/>
            <a:ext cx="13763" cy="13763"/>
          </a:xfrm>
          <a:prstGeom prst="rect">
            <a:avLst/>
          </a:prstGeom>
          <a:solidFill>
            <a:srgbClr val="2B7BB0"/>
          </a:solidFill>
          <a:ln w="12700">
            <a:solidFill>
              <a:srgbClr val="2B7BB0"/>
            </a:solidFill>
            <a:prstDash val="solid"/>
          </a:ln>
        </p:spPr>
      </p:sp>
      <p:sp>
        <p:nvSpPr>
          <p:cNvPr id="645" name="Shape 640"/>
          <p:cNvSpPr/>
          <p:nvPr/>
        </p:nvSpPr>
        <p:spPr>
          <a:xfrm>
            <a:off x="1606624" y="3312692"/>
            <a:ext cx="13763" cy="13763"/>
          </a:xfrm>
          <a:prstGeom prst="rect">
            <a:avLst/>
          </a:prstGeom>
          <a:solidFill>
            <a:srgbClr val="2B7BB0"/>
          </a:solidFill>
          <a:ln w="12700">
            <a:solidFill>
              <a:srgbClr val="2B7BB0"/>
            </a:solidFill>
            <a:prstDash val="solid"/>
          </a:ln>
        </p:spPr>
      </p:sp>
      <p:sp>
        <p:nvSpPr>
          <p:cNvPr id="646" name="Shape 641"/>
          <p:cNvSpPr/>
          <p:nvPr/>
        </p:nvSpPr>
        <p:spPr>
          <a:xfrm>
            <a:off x="1648963" y="3312692"/>
            <a:ext cx="13763" cy="13763"/>
          </a:xfrm>
          <a:prstGeom prst="rect">
            <a:avLst/>
          </a:prstGeom>
          <a:solidFill>
            <a:srgbClr val="2B7BB0"/>
          </a:solidFill>
          <a:ln w="12700">
            <a:solidFill>
              <a:srgbClr val="2B7BB0"/>
            </a:solidFill>
            <a:prstDash val="solid"/>
          </a:ln>
        </p:spPr>
      </p:sp>
      <p:sp>
        <p:nvSpPr>
          <p:cNvPr id="647" name="Shape 642"/>
          <p:cNvSpPr/>
          <p:nvPr/>
        </p:nvSpPr>
        <p:spPr>
          <a:xfrm>
            <a:off x="1691301" y="3312692"/>
            <a:ext cx="13763" cy="13763"/>
          </a:xfrm>
          <a:prstGeom prst="rect">
            <a:avLst/>
          </a:prstGeom>
          <a:solidFill>
            <a:srgbClr val="2B7BB0"/>
          </a:solidFill>
          <a:ln w="12700">
            <a:solidFill>
              <a:srgbClr val="2B7BB0"/>
            </a:solidFill>
            <a:prstDash val="solid"/>
          </a:ln>
        </p:spPr>
      </p:sp>
      <p:sp>
        <p:nvSpPr>
          <p:cNvPr id="648" name="Shape 643"/>
          <p:cNvSpPr/>
          <p:nvPr/>
        </p:nvSpPr>
        <p:spPr>
          <a:xfrm>
            <a:off x="1733639" y="3312692"/>
            <a:ext cx="13763" cy="13763"/>
          </a:xfrm>
          <a:prstGeom prst="rect">
            <a:avLst/>
          </a:prstGeom>
          <a:solidFill>
            <a:srgbClr val="2B7BB0"/>
          </a:solidFill>
          <a:ln w="12700">
            <a:solidFill>
              <a:srgbClr val="2B7BB0"/>
            </a:solidFill>
            <a:prstDash val="solid"/>
          </a:ln>
        </p:spPr>
      </p:sp>
      <p:sp>
        <p:nvSpPr>
          <p:cNvPr id="649" name="Shape 644"/>
          <p:cNvSpPr/>
          <p:nvPr/>
        </p:nvSpPr>
        <p:spPr>
          <a:xfrm>
            <a:off x="1775978" y="3312692"/>
            <a:ext cx="13763" cy="13763"/>
          </a:xfrm>
          <a:prstGeom prst="rect">
            <a:avLst/>
          </a:prstGeom>
          <a:solidFill>
            <a:srgbClr val="2B7BB0"/>
          </a:solidFill>
          <a:ln w="12700">
            <a:solidFill>
              <a:srgbClr val="2B7BB0"/>
            </a:solidFill>
            <a:prstDash val="solid"/>
          </a:ln>
        </p:spPr>
      </p:sp>
      <p:sp>
        <p:nvSpPr>
          <p:cNvPr id="650" name="Shape 645"/>
          <p:cNvSpPr/>
          <p:nvPr/>
        </p:nvSpPr>
        <p:spPr>
          <a:xfrm>
            <a:off x="1818316" y="3312692"/>
            <a:ext cx="13763" cy="13763"/>
          </a:xfrm>
          <a:prstGeom prst="rect">
            <a:avLst/>
          </a:prstGeom>
          <a:solidFill>
            <a:srgbClr val="2B7BB0"/>
          </a:solidFill>
          <a:ln w="12700">
            <a:solidFill>
              <a:srgbClr val="2B7BB0"/>
            </a:solidFill>
            <a:prstDash val="solid"/>
          </a:ln>
        </p:spPr>
      </p:sp>
      <p:sp>
        <p:nvSpPr>
          <p:cNvPr id="651" name="Shape 646"/>
          <p:cNvSpPr/>
          <p:nvPr/>
        </p:nvSpPr>
        <p:spPr>
          <a:xfrm>
            <a:off x="1860654" y="3312692"/>
            <a:ext cx="13763" cy="13763"/>
          </a:xfrm>
          <a:prstGeom prst="rect">
            <a:avLst/>
          </a:prstGeom>
          <a:solidFill>
            <a:srgbClr val="2B7BB0"/>
          </a:solidFill>
          <a:ln w="12700">
            <a:solidFill>
              <a:srgbClr val="2B7BB0"/>
            </a:solidFill>
            <a:prstDash val="solid"/>
          </a:ln>
        </p:spPr>
      </p:sp>
      <p:sp>
        <p:nvSpPr>
          <p:cNvPr id="652" name="Shape 647"/>
          <p:cNvSpPr/>
          <p:nvPr/>
        </p:nvSpPr>
        <p:spPr>
          <a:xfrm>
            <a:off x="1902992" y="3312692"/>
            <a:ext cx="13763" cy="13763"/>
          </a:xfrm>
          <a:prstGeom prst="rect">
            <a:avLst/>
          </a:prstGeom>
          <a:solidFill>
            <a:srgbClr val="2B7BB0"/>
          </a:solidFill>
          <a:ln w="12700">
            <a:solidFill>
              <a:srgbClr val="2B7BB0"/>
            </a:solidFill>
            <a:prstDash val="solid"/>
          </a:ln>
        </p:spPr>
      </p:sp>
      <p:sp>
        <p:nvSpPr>
          <p:cNvPr id="653" name="Shape 648"/>
          <p:cNvSpPr/>
          <p:nvPr/>
        </p:nvSpPr>
        <p:spPr>
          <a:xfrm>
            <a:off x="1945331" y="3312692"/>
            <a:ext cx="13763" cy="13763"/>
          </a:xfrm>
          <a:prstGeom prst="rect">
            <a:avLst/>
          </a:prstGeom>
          <a:solidFill>
            <a:srgbClr val="2B7BB0"/>
          </a:solidFill>
          <a:ln w="12700">
            <a:solidFill>
              <a:srgbClr val="2B7BB0"/>
            </a:solidFill>
            <a:prstDash val="solid"/>
          </a:ln>
        </p:spPr>
      </p:sp>
      <p:sp>
        <p:nvSpPr>
          <p:cNvPr id="654" name="Shape 649"/>
          <p:cNvSpPr/>
          <p:nvPr/>
        </p:nvSpPr>
        <p:spPr>
          <a:xfrm>
            <a:off x="1987669" y="3312692"/>
            <a:ext cx="13763" cy="13763"/>
          </a:xfrm>
          <a:prstGeom prst="rect">
            <a:avLst/>
          </a:prstGeom>
          <a:solidFill>
            <a:srgbClr val="2B7BB0"/>
          </a:solidFill>
          <a:ln w="12700">
            <a:solidFill>
              <a:srgbClr val="2B7BB0"/>
            </a:solidFill>
            <a:prstDash val="solid"/>
          </a:ln>
        </p:spPr>
      </p:sp>
      <p:sp>
        <p:nvSpPr>
          <p:cNvPr id="655" name="Shape 650"/>
          <p:cNvSpPr/>
          <p:nvPr/>
        </p:nvSpPr>
        <p:spPr>
          <a:xfrm>
            <a:off x="2030007" y="3312692"/>
            <a:ext cx="13763" cy="13763"/>
          </a:xfrm>
          <a:prstGeom prst="rect">
            <a:avLst/>
          </a:prstGeom>
          <a:solidFill>
            <a:srgbClr val="2B7BB0"/>
          </a:solidFill>
          <a:ln w="12700">
            <a:solidFill>
              <a:srgbClr val="2B7BB0"/>
            </a:solidFill>
            <a:prstDash val="solid"/>
          </a:ln>
        </p:spPr>
      </p:sp>
      <p:sp>
        <p:nvSpPr>
          <p:cNvPr id="656" name="Shape 651"/>
          <p:cNvSpPr/>
          <p:nvPr/>
        </p:nvSpPr>
        <p:spPr>
          <a:xfrm>
            <a:off x="2072346" y="3312692"/>
            <a:ext cx="13763" cy="13763"/>
          </a:xfrm>
          <a:prstGeom prst="rect">
            <a:avLst/>
          </a:prstGeom>
          <a:solidFill>
            <a:srgbClr val="2B7BB0"/>
          </a:solidFill>
          <a:ln w="12700">
            <a:solidFill>
              <a:srgbClr val="2B7BB0"/>
            </a:solidFill>
            <a:prstDash val="solid"/>
          </a:ln>
        </p:spPr>
      </p:sp>
      <p:sp>
        <p:nvSpPr>
          <p:cNvPr id="657" name="Shape 652"/>
          <p:cNvSpPr/>
          <p:nvPr/>
        </p:nvSpPr>
        <p:spPr>
          <a:xfrm>
            <a:off x="2114684" y="3312692"/>
            <a:ext cx="13763" cy="13763"/>
          </a:xfrm>
          <a:prstGeom prst="rect">
            <a:avLst/>
          </a:prstGeom>
          <a:solidFill>
            <a:srgbClr val="2B7BB0"/>
          </a:solidFill>
          <a:ln w="12700">
            <a:solidFill>
              <a:srgbClr val="2B7BB0"/>
            </a:solidFill>
            <a:prstDash val="solid"/>
          </a:ln>
        </p:spPr>
      </p:sp>
      <p:sp>
        <p:nvSpPr>
          <p:cNvPr id="658" name="Shape 653"/>
          <p:cNvSpPr/>
          <p:nvPr/>
        </p:nvSpPr>
        <p:spPr>
          <a:xfrm>
            <a:off x="971550" y="3355031"/>
            <a:ext cx="13763" cy="13763"/>
          </a:xfrm>
          <a:prstGeom prst="rect">
            <a:avLst/>
          </a:prstGeom>
          <a:solidFill>
            <a:srgbClr val="2B7BB0"/>
          </a:solidFill>
          <a:ln w="12700">
            <a:solidFill>
              <a:srgbClr val="2B7BB0"/>
            </a:solidFill>
            <a:prstDash val="solid"/>
          </a:ln>
        </p:spPr>
      </p:sp>
      <p:sp>
        <p:nvSpPr>
          <p:cNvPr id="659" name="Shape 654"/>
          <p:cNvSpPr/>
          <p:nvPr/>
        </p:nvSpPr>
        <p:spPr>
          <a:xfrm>
            <a:off x="1013888" y="3355031"/>
            <a:ext cx="13763" cy="13763"/>
          </a:xfrm>
          <a:prstGeom prst="rect">
            <a:avLst/>
          </a:prstGeom>
          <a:solidFill>
            <a:srgbClr val="A9B2A0"/>
          </a:solidFill>
          <a:ln w="12700">
            <a:solidFill>
              <a:srgbClr val="A9B2A0"/>
            </a:solidFill>
            <a:prstDash val="solid"/>
          </a:ln>
        </p:spPr>
      </p:sp>
      <p:sp>
        <p:nvSpPr>
          <p:cNvPr id="660" name="Shape 655"/>
          <p:cNvSpPr/>
          <p:nvPr/>
        </p:nvSpPr>
        <p:spPr>
          <a:xfrm>
            <a:off x="1056227" y="3355031"/>
            <a:ext cx="13763" cy="13763"/>
          </a:xfrm>
          <a:prstGeom prst="rect">
            <a:avLst/>
          </a:prstGeom>
          <a:solidFill>
            <a:srgbClr val="A9B2A0"/>
          </a:solidFill>
          <a:ln w="12700">
            <a:solidFill>
              <a:srgbClr val="A9B2A0"/>
            </a:solidFill>
            <a:prstDash val="solid"/>
          </a:ln>
        </p:spPr>
      </p:sp>
      <p:sp>
        <p:nvSpPr>
          <p:cNvPr id="661" name="Shape 656"/>
          <p:cNvSpPr/>
          <p:nvPr/>
        </p:nvSpPr>
        <p:spPr>
          <a:xfrm>
            <a:off x="1098565" y="3355031"/>
            <a:ext cx="13763" cy="13763"/>
          </a:xfrm>
          <a:prstGeom prst="rect">
            <a:avLst/>
          </a:prstGeom>
          <a:solidFill>
            <a:srgbClr val="A9B2A0"/>
          </a:solidFill>
          <a:ln w="12700">
            <a:solidFill>
              <a:srgbClr val="A9B2A0"/>
            </a:solidFill>
            <a:prstDash val="solid"/>
          </a:ln>
        </p:spPr>
      </p:sp>
      <p:sp>
        <p:nvSpPr>
          <p:cNvPr id="662" name="Shape 657"/>
          <p:cNvSpPr/>
          <p:nvPr/>
        </p:nvSpPr>
        <p:spPr>
          <a:xfrm>
            <a:off x="1140903" y="3355031"/>
            <a:ext cx="13763" cy="13763"/>
          </a:xfrm>
          <a:prstGeom prst="rect">
            <a:avLst/>
          </a:prstGeom>
          <a:solidFill>
            <a:srgbClr val="A9B2A0"/>
          </a:solidFill>
          <a:ln w="12700">
            <a:solidFill>
              <a:srgbClr val="A9B2A0"/>
            </a:solidFill>
            <a:prstDash val="solid"/>
          </a:ln>
        </p:spPr>
      </p:sp>
      <p:sp>
        <p:nvSpPr>
          <p:cNvPr id="663" name="Shape 658"/>
          <p:cNvSpPr/>
          <p:nvPr/>
        </p:nvSpPr>
        <p:spPr>
          <a:xfrm>
            <a:off x="1183241" y="3355031"/>
            <a:ext cx="13763" cy="13763"/>
          </a:xfrm>
          <a:prstGeom prst="rect">
            <a:avLst/>
          </a:prstGeom>
          <a:solidFill>
            <a:srgbClr val="A9B2A0"/>
          </a:solidFill>
          <a:ln w="12700">
            <a:solidFill>
              <a:srgbClr val="A9B2A0"/>
            </a:solidFill>
            <a:prstDash val="solid"/>
          </a:ln>
        </p:spPr>
      </p:sp>
      <p:sp>
        <p:nvSpPr>
          <p:cNvPr id="664" name="Shape 659"/>
          <p:cNvSpPr/>
          <p:nvPr/>
        </p:nvSpPr>
        <p:spPr>
          <a:xfrm>
            <a:off x="1225580" y="3355031"/>
            <a:ext cx="13763" cy="13763"/>
          </a:xfrm>
          <a:prstGeom prst="rect">
            <a:avLst/>
          </a:prstGeom>
          <a:solidFill>
            <a:srgbClr val="A9B2A0"/>
          </a:solidFill>
          <a:ln w="12700">
            <a:solidFill>
              <a:srgbClr val="A9B2A0"/>
            </a:solidFill>
            <a:prstDash val="solid"/>
          </a:ln>
        </p:spPr>
      </p:sp>
      <p:sp>
        <p:nvSpPr>
          <p:cNvPr id="665" name="Shape 660"/>
          <p:cNvSpPr/>
          <p:nvPr/>
        </p:nvSpPr>
        <p:spPr>
          <a:xfrm>
            <a:off x="1267918" y="3355031"/>
            <a:ext cx="13763" cy="13763"/>
          </a:xfrm>
          <a:prstGeom prst="rect">
            <a:avLst/>
          </a:prstGeom>
          <a:solidFill>
            <a:srgbClr val="5F6B57"/>
          </a:solidFill>
          <a:ln w="12700">
            <a:solidFill>
              <a:srgbClr val="5F6B57"/>
            </a:solidFill>
            <a:prstDash val="solid"/>
          </a:ln>
        </p:spPr>
      </p:sp>
      <p:sp>
        <p:nvSpPr>
          <p:cNvPr id="666" name="Shape 661"/>
          <p:cNvSpPr/>
          <p:nvPr/>
        </p:nvSpPr>
        <p:spPr>
          <a:xfrm>
            <a:off x="1310256" y="3355031"/>
            <a:ext cx="13763" cy="13763"/>
          </a:xfrm>
          <a:prstGeom prst="rect">
            <a:avLst/>
          </a:prstGeom>
          <a:solidFill>
            <a:srgbClr val="5F6B57"/>
          </a:solidFill>
          <a:ln w="12700">
            <a:solidFill>
              <a:srgbClr val="5F6B57"/>
            </a:solidFill>
            <a:prstDash val="solid"/>
          </a:ln>
        </p:spPr>
      </p:sp>
      <p:sp>
        <p:nvSpPr>
          <p:cNvPr id="667" name="Shape 662"/>
          <p:cNvSpPr/>
          <p:nvPr/>
        </p:nvSpPr>
        <p:spPr>
          <a:xfrm>
            <a:off x="1352595" y="3355031"/>
            <a:ext cx="13763" cy="13763"/>
          </a:xfrm>
          <a:prstGeom prst="rect">
            <a:avLst/>
          </a:prstGeom>
          <a:solidFill>
            <a:srgbClr val="5F6B57"/>
          </a:solidFill>
          <a:ln w="12700">
            <a:solidFill>
              <a:srgbClr val="5F6B57"/>
            </a:solidFill>
            <a:prstDash val="solid"/>
          </a:ln>
        </p:spPr>
      </p:sp>
      <p:sp>
        <p:nvSpPr>
          <p:cNvPr id="668" name="Shape 663"/>
          <p:cNvSpPr/>
          <p:nvPr/>
        </p:nvSpPr>
        <p:spPr>
          <a:xfrm>
            <a:off x="1394933" y="3355031"/>
            <a:ext cx="13763" cy="13763"/>
          </a:xfrm>
          <a:prstGeom prst="rect">
            <a:avLst/>
          </a:prstGeom>
          <a:solidFill>
            <a:srgbClr val="5F6B57"/>
          </a:solidFill>
          <a:ln w="12700">
            <a:solidFill>
              <a:srgbClr val="5F6B57"/>
            </a:solidFill>
            <a:prstDash val="solid"/>
          </a:ln>
        </p:spPr>
      </p:sp>
      <p:sp>
        <p:nvSpPr>
          <p:cNvPr id="669" name="Shape 664"/>
          <p:cNvSpPr/>
          <p:nvPr/>
        </p:nvSpPr>
        <p:spPr>
          <a:xfrm>
            <a:off x="1437271" y="3355031"/>
            <a:ext cx="13763" cy="13763"/>
          </a:xfrm>
          <a:prstGeom prst="rect">
            <a:avLst/>
          </a:prstGeom>
          <a:solidFill>
            <a:srgbClr val="5F6B57"/>
          </a:solidFill>
          <a:ln w="12700">
            <a:solidFill>
              <a:srgbClr val="5F6B57"/>
            </a:solidFill>
            <a:prstDash val="solid"/>
          </a:ln>
        </p:spPr>
      </p:sp>
      <p:sp>
        <p:nvSpPr>
          <p:cNvPr id="670" name="Shape 665"/>
          <p:cNvSpPr/>
          <p:nvPr/>
        </p:nvSpPr>
        <p:spPr>
          <a:xfrm>
            <a:off x="1479609" y="3355031"/>
            <a:ext cx="13763" cy="13763"/>
          </a:xfrm>
          <a:prstGeom prst="rect">
            <a:avLst/>
          </a:prstGeom>
          <a:solidFill>
            <a:srgbClr val="5F6B57"/>
          </a:solidFill>
          <a:ln w="12700">
            <a:solidFill>
              <a:srgbClr val="5F6B57"/>
            </a:solidFill>
            <a:prstDash val="solid"/>
          </a:ln>
        </p:spPr>
      </p:sp>
      <p:sp>
        <p:nvSpPr>
          <p:cNvPr id="671" name="Shape 666"/>
          <p:cNvSpPr/>
          <p:nvPr/>
        </p:nvSpPr>
        <p:spPr>
          <a:xfrm>
            <a:off x="1521948" y="3355031"/>
            <a:ext cx="13763" cy="13763"/>
          </a:xfrm>
          <a:prstGeom prst="rect">
            <a:avLst/>
          </a:prstGeom>
          <a:solidFill>
            <a:srgbClr val="5F6B57"/>
          </a:solidFill>
          <a:ln w="12700">
            <a:solidFill>
              <a:srgbClr val="5F6B57"/>
            </a:solidFill>
            <a:prstDash val="solid"/>
          </a:ln>
        </p:spPr>
      </p:sp>
      <p:sp>
        <p:nvSpPr>
          <p:cNvPr id="672" name="Shape 667"/>
          <p:cNvSpPr/>
          <p:nvPr/>
        </p:nvSpPr>
        <p:spPr>
          <a:xfrm>
            <a:off x="1564286" y="3355031"/>
            <a:ext cx="13763" cy="13763"/>
          </a:xfrm>
          <a:prstGeom prst="rect">
            <a:avLst/>
          </a:prstGeom>
          <a:solidFill>
            <a:srgbClr val="5F6B57"/>
          </a:solidFill>
          <a:ln w="12700">
            <a:solidFill>
              <a:srgbClr val="5F6B57"/>
            </a:solidFill>
            <a:prstDash val="solid"/>
          </a:ln>
        </p:spPr>
      </p:sp>
      <p:sp>
        <p:nvSpPr>
          <p:cNvPr id="673" name="Shape 668"/>
          <p:cNvSpPr/>
          <p:nvPr/>
        </p:nvSpPr>
        <p:spPr>
          <a:xfrm>
            <a:off x="1606624" y="3355031"/>
            <a:ext cx="13763" cy="13763"/>
          </a:xfrm>
          <a:prstGeom prst="rect">
            <a:avLst/>
          </a:prstGeom>
          <a:solidFill>
            <a:srgbClr val="5F6B57"/>
          </a:solidFill>
          <a:ln w="12700">
            <a:solidFill>
              <a:srgbClr val="5F6B57"/>
            </a:solidFill>
            <a:prstDash val="solid"/>
          </a:ln>
        </p:spPr>
      </p:sp>
      <p:sp>
        <p:nvSpPr>
          <p:cNvPr id="674" name="Shape 669"/>
          <p:cNvSpPr/>
          <p:nvPr/>
        </p:nvSpPr>
        <p:spPr>
          <a:xfrm>
            <a:off x="1648963" y="3355031"/>
            <a:ext cx="13763" cy="13763"/>
          </a:xfrm>
          <a:prstGeom prst="rect">
            <a:avLst/>
          </a:prstGeom>
          <a:solidFill>
            <a:srgbClr val="5F6B57"/>
          </a:solidFill>
          <a:ln w="12700">
            <a:solidFill>
              <a:srgbClr val="5F6B57"/>
            </a:solidFill>
            <a:prstDash val="solid"/>
          </a:ln>
        </p:spPr>
      </p:sp>
      <p:sp>
        <p:nvSpPr>
          <p:cNvPr id="675" name="Shape 670"/>
          <p:cNvSpPr/>
          <p:nvPr/>
        </p:nvSpPr>
        <p:spPr>
          <a:xfrm>
            <a:off x="1691301" y="3355031"/>
            <a:ext cx="13763" cy="13763"/>
          </a:xfrm>
          <a:prstGeom prst="rect">
            <a:avLst/>
          </a:prstGeom>
          <a:solidFill>
            <a:srgbClr val="5F6B57"/>
          </a:solidFill>
          <a:ln w="12700">
            <a:solidFill>
              <a:srgbClr val="5F6B57"/>
            </a:solidFill>
            <a:prstDash val="solid"/>
          </a:ln>
        </p:spPr>
      </p:sp>
      <p:sp>
        <p:nvSpPr>
          <p:cNvPr id="676" name="Shape 671"/>
          <p:cNvSpPr/>
          <p:nvPr/>
        </p:nvSpPr>
        <p:spPr>
          <a:xfrm>
            <a:off x="1733639" y="3355031"/>
            <a:ext cx="13763" cy="13763"/>
          </a:xfrm>
          <a:prstGeom prst="rect">
            <a:avLst/>
          </a:prstGeom>
          <a:solidFill>
            <a:srgbClr val="5F6B57"/>
          </a:solidFill>
          <a:ln w="12700">
            <a:solidFill>
              <a:srgbClr val="5F6B57"/>
            </a:solidFill>
            <a:prstDash val="solid"/>
          </a:ln>
        </p:spPr>
      </p:sp>
      <p:sp>
        <p:nvSpPr>
          <p:cNvPr id="677" name="Shape 672"/>
          <p:cNvSpPr/>
          <p:nvPr/>
        </p:nvSpPr>
        <p:spPr>
          <a:xfrm>
            <a:off x="1775978" y="3355031"/>
            <a:ext cx="13763" cy="13763"/>
          </a:xfrm>
          <a:prstGeom prst="rect">
            <a:avLst/>
          </a:prstGeom>
          <a:solidFill>
            <a:srgbClr val="5F6B57"/>
          </a:solidFill>
          <a:ln w="12700">
            <a:solidFill>
              <a:srgbClr val="5F6B57"/>
            </a:solidFill>
            <a:prstDash val="solid"/>
          </a:ln>
        </p:spPr>
      </p:sp>
      <p:sp>
        <p:nvSpPr>
          <p:cNvPr id="678" name="Shape 673"/>
          <p:cNvSpPr/>
          <p:nvPr/>
        </p:nvSpPr>
        <p:spPr>
          <a:xfrm>
            <a:off x="1818316" y="3355031"/>
            <a:ext cx="13763" cy="13763"/>
          </a:xfrm>
          <a:prstGeom prst="rect">
            <a:avLst/>
          </a:prstGeom>
          <a:solidFill>
            <a:srgbClr val="5F6B57"/>
          </a:solidFill>
          <a:ln w="12700">
            <a:solidFill>
              <a:srgbClr val="5F6B57"/>
            </a:solidFill>
            <a:prstDash val="solid"/>
          </a:ln>
        </p:spPr>
      </p:sp>
      <p:sp>
        <p:nvSpPr>
          <p:cNvPr id="679" name="Shape 674"/>
          <p:cNvSpPr/>
          <p:nvPr/>
        </p:nvSpPr>
        <p:spPr>
          <a:xfrm>
            <a:off x="1860654" y="3355031"/>
            <a:ext cx="13763" cy="13763"/>
          </a:xfrm>
          <a:prstGeom prst="rect">
            <a:avLst/>
          </a:prstGeom>
          <a:solidFill>
            <a:srgbClr val="5F6B57"/>
          </a:solidFill>
          <a:ln w="12700">
            <a:solidFill>
              <a:srgbClr val="5F6B57"/>
            </a:solidFill>
            <a:prstDash val="solid"/>
          </a:ln>
        </p:spPr>
      </p:sp>
      <p:sp>
        <p:nvSpPr>
          <p:cNvPr id="680" name="Shape 675"/>
          <p:cNvSpPr/>
          <p:nvPr/>
        </p:nvSpPr>
        <p:spPr>
          <a:xfrm>
            <a:off x="1902992" y="3355031"/>
            <a:ext cx="13763" cy="13763"/>
          </a:xfrm>
          <a:prstGeom prst="rect">
            <a:avLst/>
          </a:prstGeom>
          <a:solidFill>
            <a:srgbClr val="5F6B57"/>
          </a:solidFill>
          <a:ln w="12700">
            <a:solidFill>
              <a:srgbClr val="5F6B57"/>
            </a:solidFill>
            <a:prstDash val="solid"/>
          </a:ln>
        </p:spPr>
      </p:sp>
      <p:sp>
        <p:nvSpPr>
          <p:cNvPr id="681" name="Shape 676"/>
          <p:cNvSpPr/>
          <p:nvPr/>
        </p:nvSpPr>
        <p:spPr>
          <a:xfrm>
            <a:off x="1945331" y="3355031"/>
            <a:ext cx="13763" cy="13763"/>
          </a:xfrm>
          <a:prstGeom prst="rect">
            <a:avLst/>
          </a:prstGeom>
          <a:solidFill>
            <a:srgbClr val="5F6B57"/>
          </a:solidFill>
          <a:ln w="12700">
            <a:solidFill>
              <a:srgbClr val="5F6B57"/>
            </a:solidFill>
            <a:prstDash val="solid"/>
          </a:ln>
        </p:spPr>
      </p:sp>
      <p:sp>
        <p:nvSpPr>
          <p:cNvPr id="682" name="Shape 677"/>
          <p:cNvSpPr/>
          <p:nvPr/>
        </p:nvSpPr>
        <p:spPr>
          <a:xfrm>
            <a:off x="1987669" y="3355031"/>
            <a:ext cx="13763" cy="13763"/>
          </a:xfrm>
          <a:prstGeom prst="rect">
            <a:avLst/>
          </a:prstGeom>
          <a:solidFill>
            <a:srgbClr val="5F6B57"/>
          </a:solidFill>
          <a:ln w="12700">
            <a:solidFill>
              <a:srgbClr val="5F6B57"/>
            </a:solidFill>
            <a:prstDash val="solid"/>
          </a:ln>
        </p:spPr>
      </p:sp>
      <p:sp>
        <p:nvSpPr>
          <p:cNvPr id="683" name="Shape 678"/>
          <p:cNvSpPr/>
          <p:nvPr/>
        </p:nvSpPr>
        <p:spPr>
          <a:xfrm>
            <a:off x="2030007" y="3355031"/>
            <a:ext cx="13763" cy="13763"/>
          </a:xfrm>
          <a:prstGeom prst="rect">
            <a:avLst/>
          </a:prstGeom>
          <a:solidFill>
            <a:srgbClr val="5F6B57"/>
          </a:solidFill>
          <a:ln w="12700">
            <a:solidFill>
              <a:srgbClr val="5F6B57"/>
            </a:solidFill>
            <a:prstDash val="solid"/>
          </a:ln>
        </p:spPr>
      </p:sp>
      <p:sp>
        <p:nvSpPr>
          <p:cNvPr id="684" name="Shape 679"/>
          <p:cNvSpPr/>
          <p:nvPr/>
        </p:nvSpPr>
        <p:spPr>
          <a:xfrm>
            <a:off x="2072346" y="3355031"/>
            <a:ext cx="13763" cy="13763"/>
          </a:xfrm>
          <a:prstGeom prst="rect">
            <a:avLst/>
          </a:prstGeom>
          <a:solidFill>
            <a:srgbClr val="5F6B57"/>
          </a:solidFill>
          <a:ln w="12700">
            <a:solidFill>
              <a:srgbClr val="5F6B57"/>
            </a:solidFill>
            <a:prstDash val="solid"/>
          </a:ln>
        </p:spPr>
      </p:sp>
      <p:sp>
        <p:nvSpPr>
          <p:cNvPr id="685" name="Shape 680"/>
          <p:cNvSpPr/>
          <p:nvPr/>
        </p:nvSpPr>
        <p:spPr>
          <a:xfrm>
            <a:off x="2114684" y="3355031"/>
            <a:ext cx="13763" cy="13763"/>
          </a:xfrm>
          <a:prstGeom prst="rect">
            <a:avLst/>
          </a:prstGeom>
          <a:solidFill>
            <a:srgbClr val="5F6B57"/>
          </a:solidFill>
          <a:ln w="12700">
            <a:solidFill>
              <a:srgbClr val="5F6B57"/>
            </a:solidFill>
            <a:prstDash val="solid"/>
          </a:ln>
        </p:spPr>
      </p:sp>
      <p:sp>
        <p:nvSpPr>
          <p:cNvPr id="686" name="Shape 681"/>
          <p:cNvSpPr/>
          <p:nvPr/>
        </p:nvSpPr>
        <p:spPr>
          <a:xfrm>
            <a:off x="971550" y="3397369"/>
            <a:ext cx="13763" cy="13763"/>
          </a:xfrm>
          <a:prstGeom prst="rect">
            <a:avLst/>
          </a:prstGeom>
          <a:solidFill>
            <a:srgbClr val="5F6B57"/>
          </a:solidFill>
          <a:ln w="12700">
            <a:solidFill>
              <a:srgbClr val="5F6B57"/>
            </a:solidFill>
            <a:prstDash val="solid"/>
          </a:ln>
        </p:spPr>
      </p:sp>
      <p:sp>
        <p:nvSpPr>
          <p:cNvPr id="687" name="Shape 682"/>
          <p:cNvSpPr/>
          <p:nvPr/>
        </p:nvSpPr>
        <p:spPr>
          <a:xfrm>
            <a:off x="1013888" y="3397369"/>
            <a:ext cx="13763" cy="13763"/>
          </a:xfrm>
          <a:prstGeom prst="rect">
            <a:avLst/>
          </a:prstGeom>
          <a:solidFill>
            <a:srgbClr val="5F6B57"/>
          </a:solidFill>
          <a:ln w="12700">
            <a:solidFill>
              <a:srgbClr val="5F6B57"/>
            </a:solidFill>
            <a:prstDash val="solid"/>
          </a:ln>
        </p:spPr>
      </p:sp>
      <p:sp>
        <p:nvSpPr>
          <p:cNvPr id="688" name="Shape 683"/>
          <p:cNvSpPr/>
          <p:nvPr/>
        </p:nvSpPr>
        <p:spPr>
          <a:xfrm>
            <a:off x="1056227" y="3397369"/>
            <a:ext cx="13763" cy="13763"/>
          </a:xfrm>
          <a:prstGeom prst="rect">
            <a:avLst/>
          </a:prstGeom>
          <a:solidFill>
            <a:srgbClr val="5F6B57"/>
          </a:solidFill>
          <a:ln w="12700">
            <a:solidFill>
              <a:srgbClr val="5F6B57"/>
            </a:solidFill>
            <a:prstDash val="solid"/>
          </a:ln>
        </p:spPr>
      </p:sp>
      <p:sp>
        <p:nvSpPr>
          <p:cNvPr id="689" name="Shape 684"/>
          <p:cNvSpPr/>
          <p:nvPr/>
        </p:nvSpPr>
        <p:spPr>
          <a:xfrm>
            <a:off x="1098565" y="3397369"/>
            <a:ext cx="13763" cy="13763"/>
          </a:xfrm>
          <a:prstGeom prst="rect">
            <a:avLst/>
          </a:prstGeom>
          <a:solidFill>
            <a:srgbClr val="5F6B57"/>
          </a:solidFill>
          <a:ln w="12700">
            <a:solidFill>
              <a:srgbClr val="5F6B57"/>
            </a:solidFill>
            <a:prstDash val="solid"/>
          </a:ln>
        </p:spPr>
      </p:sp>
      <p:sp>
        <p:nvSpPr>
          <p:cNvPr id="690" name="Shape 685"/>
          <p:cNvSpPr/>
          <p:nvPr/>
        </p:nvSpPr>
        <p:spPr>
          <a:xfrm>
            <a:off x="1140903" y="3397369"/>
            <a:ext cx="13763" cy="13763"/>
          </a:xfrm>
          <a:prstGeom prst="rect">
            <a:avLst/>
          </a:prstGeom>
          <a:solidFill>
            <a:srgbClr val="5F6B57"/>
          </a:solidFill>
          <a:ln w="12700">
            <a:solidFill>
              <a:srgbClr val="5F6B57"/>
            </a:solidFill>
            <a:prstDash val="solid"/>
          </a:ln>
        </p:spPr>
      </p:sp>
      <p:sp>
        <p:nvSpPr>
          <p:cNvPr id="691" name="Shape 686"/>
          <p:cNvSpPr/>
          <p:nvPr/>
        </p:nvSpPr>
        <p:spPr>
          <a:xfrm>
            <a:off x="1183241" y="3397369"/>
            <a:ext cx="13763" cy="13763"/>
          </a:xfrm>
          <a:prstGeom prst="rect">
            <a:avLst/>
          </a:prstGeom>
          <a:solidFill>
            <a:srgbClr val="5F6B57"/>
          </a:solidFill>
          <a:ln w="12700">
            <a:solidFill>
              <a:srgbClr val="5F6B57"/>
            </a:solidFill>
            <a:prstDash val="solid"/>
          </a:ln>
        </p:spPr>
      </p:sp>
      <p:sp>
        <p:nvSpPr>
          <p:cNvPr id="692" name="Shape 687"/>
          <p:cNvSpPr/>
          <p:nvPr/>
        </p:nvSpPr>
        <p:spPr>
          <a:xfrm>
            <a:off x="1225580" y="3397369"/>
            <a:ext cx="13763" cy="13763"/>
          </a:xfrm>
          <a:prstGeom prst="rect">
            <a:avLst/>
          </a:prstGeom>
          <a:solidFill>
            <a:srgbClr val="5F6B57"/>
          </a:solidFill>
          <a:ln w="12700">
            <a:solidFill>
              <a:srgbClr val="5F6B57"/>
            </a:solidFill>
            <a:prstDash val="solid"/>
          </a:ln>
        </p:spPr>
      </p:sp>
      <p:sp>
        <p:nvSpPr>
          <p:cNvPr id="693" name="Shape 688"/>
          <p:cNvSpPr/>
          <p:nvPr/>
        </p:nvSpPr>
        <p:spPr>
          <a:xfrm>
            <a:off x="1267918" y="3397369"/>
            <a:ext cx="13763" cy="13763"/>
          </a:xfrm>
          <a:prstGeom prst="rect">
            <a:avLst/>
          </a:prstGeom>
          <a:solidFill>
            <a:srgbClr val="5F6B57"/>
          </a:solidFill>
          <a:ln w="12700">
            <a:solidFill>
              <a:srgbClr val="5F6B57"/>
            </a:solidFill>
            <a:prstDash val="solid"/>
          </a:ln>
        </p:spPr>
      </p:sp>
      <p:sp>
        <p:nvSpPr>
          <p:cNvPr id="694" name="Shape 689"/>
          <p:cNvSpPr/>
          <p:nvPr/>
        </p:nvSpPr>
        <p:spPr>
          <a:xfrm>
            <a:off x="1310256" y="3397369"/>
            <a:ext cx="13763" cy="13763"/>
          </a:xfrm>
          <a:prstGeom prst="rect">
            <a:avLst/>
          </a:prstGeom>
          <a:solidFill>
            <a:srgbClr val="5F6B57"/>
          </a:solidFill>
          <a:ln w="12700">
            <a:solidFill>
              <a:srgbClr val="5F6B57"/>
            </a:solidFill>
            <a:prstDash val="solid"/>
          </a:ln>
        </p:spPr>
      </p:sp>
      <p:sp>
        <p:nvSpPr>
          <p:cNvPr id="695" name="Shape 690"/>
          <p:cNvSpPr/>
          <p:nvPr/>
        </p:nvSpPr>
        <p:spPr>
          <a:xfrm>
            <a:off x="1352595" y="3397369"/>
            <a:ext cx="13763" cy="13763"/>
          </a:xfrm>
          <a:prstGeom prst="rect">
            <a:avLst/>
          </a:prstGeom>
          <a:solidFill>
            <a:srgbClr val="5F6B57"/>
          </a:solidFill>
          <a:ln w="12700">
            <a:solidFill>
              <a:srgbClr val="5F6B57"/>
            </a:solidFill>
            <a:prstDash val="solid"/>
          </a:ln>
        </p:spPr>
      </p:sp>
      <p:sp>
        <p:nvSpPr>
          <p:cNvPr id="696" name="Shape 691"/>
          <p:cNvSpPr/>
          <p:nvPr/>
        </p:nvSpPr>
        <p:spPr>
          <a:xfrm>
            <a:off x="1394933" y="3397369"/>
            <a:ext cx="13763" cy="13763"/>
          </a:xfrm>
          <a:prstGeom prst="rect">
            <a:avLst/>
          </a:prstGeom>
          <a:solidFill>
            <a:srgbClr val="5F6B57"/>
          </a:solidFill>
          <a:ln w="12700">
            <a:solidFill>
              <a:srgbClr val="5F6B57"/>
            </a:solidFill>
            <a:prstDash val="solid"/>
          </a:ln>
        </p:spPr>
      </p:sp>
      <p:sp>
        <p:nvSpPr>
          <p:cNvPr id="697" name="Shape 692"/>
          <p:cNvSpPr/>
          <p:nvPr/>
        </p:nvSpPr>
        <p:spPr>
          <a:xfrm>
            <a:off x="1437271" y="3397369"/>
            <a:ext cx="13763" cy="13763"/>
          </a:xfrm>
          <a:prstGeom prst="rect">
            <a:avLst/>
          </a:prstGeom>
          <a:solidFill>
            <a:srgbClr val="5F6B57"/>
          </a:solidFill>
          <a:ln w="12700">
            <a:solidFill>
              <a:srgbClr val="5F6B57"/>
            </a:solidFill>
            <a:prstDash val="solid"/>
          </a:ln>
        </p:spPr>
      </p:sp>
      <p:sp>
        <p:nvSpPr>
          <p:cNvPr id="698" name="Shape 693"/>
          <p:cNvSpPr/>
          <p:nvPr/>
        </p:nvSpPr>
        <p:spPr>
          <a:xfrm>
            <a:off x="1479609" y="3397369"/>
            <a:ext cx="13763" cy="13763"/>
          </a:xfrm>
          <a:prstGeom prst="rect">
            <a:avLst/>
          </a:prstGeom>
          <a:solidFill>
            <a:srgbClr val="5F6B57"/>
          </a:solidFill>
          <a:ln w="12700">
            <a:solidFill>
              <a:srgbClr val="5F6B57"/>
            </a:solidFill>
            <a:prstDash val="solid"/>
          </a:ln>
        </p:spPr>
      </p:sp>
      <p:sp>
        <p:nvSpPr>
          <p:cNvPr id="699" name="Shape 694"/>
          <p:cNvSpPr/>
          <p:nvPr/>
        </p:nvSpPr>
        <p:spPr>
          <a:xfrm>
            <a:off x="1521948" y="3397369"/>
            <a:ext cx="13763" cy="13763"/>
          </a:xfrm>
          <a:prstGeom prst="rect">
            <a:avLst/>
          </a:prstGeom>
          <a:solidFill>
            <a:srgbClr val="5F6B57"/>
          </a:solidFill>
          <a:ln w="12700">
            <a:solidFill>
              <a:srgbClr val="5F6B57"/>
            </a:solidFill>
            <a:prstDash val="solid"/>
          </a:ln>
        </p:spPr>
      </p:sp>
      <p:sp>
        <p:nvSpPr>
          <p:cNvPr id="700" name="Shape 695"/>
          <p:cNvSpPr/>
          <p:nvPr/>
        </p:nvSpPr>
        <p:spPr>
          <a:xfrm>
            <a:off x="1564286" y="3397369"/>
            <a:ext cx="13763" cy="13763"/>
          </a:xfrm>
          <a:prstGeom prst="rect">
            <a:avLst/>
          </a:prstGeom>
          <a:solidFill>
            <a:srgbClr val="5F6B57"/>
          </a:solidFill>
          <a:ln w="12700">
            <a:solidFill>
              <a:srgbClr val="5F6B57"/>
            </a:solidFill>
            <a:prstDash val="solid"/>
          </a:ln>
        </p:spPr>
      </p:sp>
      <p:sp>
        <p:nvSpPr>
          <p:cNvPr id="701" name="Shape 696"/>
          <p:cNvSpPr/>
          <p:nvPr/>
        </p:nvSpPr>
        <p:spPr>
          <a:xfrm>
            <a:off x="1606624" y="3397369"/>
            <a:ext cx="13763" cy="13763"/>
          </a:xfrm>
          <a:prstGeom prst="rect">
            <a:avLst/>
          </a:prstGeom>
          <a:solidFill>
            <a:srgbClr val="5F6B57"/>
          </a:solidFill>
          <a:ln w="12700">
            <a:solidFill>
              <a:srgbClr val="5F6B57"/>
            </a:solidFill>
            <a:prstDash val="solid"/>
          </a:ln>
        </p:spPr>
      </p:sp>
      <p:sp>
        <p:nvSpPr>
          <p:cNvPr id="702" name="Shape 697"/>
          <p:cNvSpPr/>
          <p:nvPr/>
        </p:nvSpPr>
        <p:spPr>
          <a:xfrm>
            <a:off x="1648963" y="3397369"/>
            <a:ext cx="13763" cy="13763"/>
          </a:xfrm>
          <a:prstGeom prst="rect">
            <a:avLst/>
          </a:prstGeom>
          <a:solidFill>
            <a:srgbClr val="5F6B57"/>
          </a:solidFill>
          <a:ln w="12700">
            <a:solidFill>
              <a:srgbClr val="5F6B57"/>
            </a:solidFill>
            <a:prstDash val="solid"/>
          </a:ln>
        </p:spPr>
      </p:sp>
      <p:sp>
        <p:nvSpPr>
          <p:cNvPr id="703" name="Shape 698"/>
          <p:cNvSpPr/>
          <p:nvPr/>
        </p:nvSpPr>
        <p:spPr>
          <a:xfrm>
            <a:off x="1691301" y="3397369"/>
            <a:ext cx="13763" cy="13763"/>
          </a:xfrm>
          <a:prstGeom prst="rect">
            <a:avLst/>
          </a:prstGeom>
          <a:solidFill>
            <a:srgbClr val="5F6B57"/>
          </a:solidFill>
          <a:ln w="12700">
            <a:solidFill>
              <a:srgbClr val="5F6B57"/>
            </a:solidFill>
            <a:prstDash val="solid"/>
          </a:ln>
        </p:spPr>
      </p:sp>
      <p:sp>
        <p:nvSpPr>
          <p:cNvPr id="704" name="Shape 699"/>
          <p:cNvSpPr/>
          <p:nvPr/>
        </p:nvSpPr>
        <p:spPr>
          <a:xfrm>
            <a:off x="1733639" y="3397369"/>
            <a:ext cx="13763" cy="13763"/>
          </a:xfrm>
          <a:prstGeom prst="rect">
            <a:avLst/>
          </a:prstGeom>
          <a:solidFill>
            <a:srgbClr val="5F6B57"/>
          </a:solidFill>
          <a:ln w="12700">
            <a:solidFill>
              <a:srgbClr val="5F6B57"/>
            </a:solidFill>
            <a:prstDash val="solid"/>
          </a:ln>
        </p:spPr>
      </p:sp>
      <p:sp>
        <p:nvSpPr>
          <p:cNvPr id="705" name="Shape 700"/>
          <p:cNvSpPr/>
          <p:nvPr/>
        </p:nvSpPr>
        <p:spPr>
          <a:xfrm>
            <a:off x="1775978" y="3397369"/>
            <a:ext cx="13763" cy="13763"/>
          </a:xfrm>
          <a:prstGeom prst="rect">
            <a:avLst/>
          </a:prstGeom>
          <a:solidFill>
            <a:srgbClr val="5F6B57"/>
          </a:solidFill>
          <a:ln w="12700">
            <a:solidFill>
              <a:srgbClr val="5F6B57"/>
            </a:solidFill>
            <a:prstDash val="solid"/>
          </a:ln>
        </p:spPr>
      </p:sp>
      <p:sp>
        <p:nvSpPr>
          <p:cNvPr id="706" name="Shape 701"/>
          <p:cNvSpPr/>
          <p:nvPr/>
        </p:nvSpPr>
        <p:spPr>
          <a:xfrm>
            <a:off x="1818316" y="3397369"/>
            <a:ext cx="13763" cy="13763"/>
          </a:xfrm>
          <a:prstGeom prst="rect">
            <a:avLst/>
          </a:prstGeom>
          <a:solidFill>
            <a:srgbClr val="5F6B57"/>
          </a:solidFill>
          <a:ln w="12700">
            <a:solidFill>
              <a:srgbClr val="5F6B57"/>
            </a:solidFill>
            <a:prstDash val="solid"/>
          </a:ln>
        </p:spPr>
      </p:sp>
      <p:sp>
        <p:nvSpPr>
          <p:cNvPr id="707" name="Shape 702"/>
          <p:cNvSpPr/>
          <p:nvPr/>
        </p:nvSpPr>
        <p:spPr>
          <a:xfrm>
            <a:off x="1860654" y="3397369"/>
            <a:ext cx="13763" cy="13763"/>
          </a:xfrm>
          <a:prstGeom prst="rect">
            <a:avLst/>
          </a:prstGeom>
          <a:solidFill>
            <a:srgbClr val="5F6B57"/>
          </a:solidFill>
          <a:ln w="12700">
            <a:solidFill>
              <a:srgbClr val="5F6B57"/>
            </a:solidFill>
            <a:prstDash val="solid"/>
          </a:ln>
        </p:spPr>
      </p:sp>
      <p:sp>
        <p:nvSpPr>
          <p:cNvPr id="708" name="Shape 703"/>
          <p:cNvSpPr/>
          <p:nvPr/>
        </p:nvSpPr>
        <p:spPr>
          <a:xfrm>
            <a:off x="1902992" y="3397369"/>
            <a:ext cx="13763" cy="13763"/>
          </a:xfrm>
          <a:prstGeom prst="rect">
            <a:avLst/>
          </a:prstGeom>
          <a:solidFill>
            <a:srgbClr val="5F6B57"/>
          </a:solidFill>
          <a:ln w="12700">
            <a:solidFill>
              <a:srgbClr val="5F6B57"/>
            </a:solidFill>
            <a:prstDash val="solid"/>
          </a:ln>
        </p:spPr>
      </p:sp>
      <p:sp>
        <p:nvSpPr>
          <p:cNvPr id="709" name="Shape 704"/>
          <p:cNvSpPr/>
          <p:nvPr/>
        </p:nvSpPr>
        <p:spPr>
          <a:xfrm>
            <a:off x="1945331" y="3397369"/>
            <a:ext cx="13763" cy="13763"/>
          </a:xfrm>
          <a:prstGeom prst="rect">
            <a:avLst/>
          </a:prstGeom>
          <a:solidFill>
            <a:srgbClr val="5F6B57"/>
          </a:solidFill>
          <a:ln w="12700">
            <a:solidFill>
              <a:srgbClr val="5F6B57"/>
            </a:solidFill>
            <a:prstDash val="solid"/>
          </a:ln>
        </p:spPr>
      </p:sp>
      <p:sp>
        <p:nvSpPr>
          <p:cNvPr id="710" name="Shape 705"/>
          <p:cNvSpPr/>
          <p:nvPr/>
        </p:nvSpPr>
        <p:spPr>
          <a:xfrm>
            <a:off x="1987669" y="3397369"/>
            <a:ext cx="13763" cy="13763"/>
          </a:xfrm>
          <a:prstGeom prst="rect">
            <a:avLst/>
          </a:prstGeom>
          <a:solidFill>
            <a:srgbClr val="5F6B57"/>
          </a:solidFill>
          <a:ln w="12700">
            <a:solidFill>
              <a:srgbClr val="5F6B57"/>
            </a:solidFill>
            <a:prstDash val="solid"/>
          </a:ln>
        </p:spPr>
      </p:sp>
      <p:sp>
        <p:nvSpPr>
          <p:cNvPr id="711" name="Shape 706"/>
          <p:cNvSpPr/>
          <p:nvPr/>
        </p:nvSpPr>
        <p:spPr>
          <a:xfrm>
            <a:off x="2030007" y="3397369"/>
            <a:ext cx="13763" cy="13763"/>
          </a:xfrm>
          <a:prstGeom prst="rect">
            <a:avLst/>
          </a:prstGeom>
          <a:solidFill>
            <a:srgbClr val="5F6B57"/>
          </a:solidFill>
          <a:ln w="12700">
            <a:solidFill>
              <a:srgbClr val="5F6B57"/>
            </a:solidFill>
            <a:prstDash val="solid"/>
          </a:ln>
        </p:spPr>
      </p:sp>
      <p:sp>
        <p:nvSpPr>
          <p:cNvPr id="712" name="Shape 707"/>
          <p:cNvSpPr/>
          <p:nvPr/>
        </p:nvSpPr>
        <p:spPr>
          <a:xfrm>
            <a:off x="2072346" y="3397369"/>
            <a:ext cx="13763" cy="13763"/>
          </a:xfrm>
          <a:prstGeom prst="rect">
            <a:avLst/>
          </a:prstGeom>
          <a:solidFill>
            <a:srgbClr val="5F6B57"/>
          </a:solidFill>
          <a:ln w="12700">
            <a:solidFill>
              <a:srgbClr val="5F6B57"/>
            </a:solidFill>
            <a:prstDash val="solid"/>
          </a:ln>
        </p:spPr>
      </p:sp>
      <p:sp>
        <p:nvSpPr>
          <p:cNvPr id="713" name="Shape 708"/>
          <p:cNvSpPr/>
          <p:nvPr/>
        </p:nvSpPr>
        <p:spPr>
          <a:xfrm>
            <a:off x="2114684" y="3397369"/>
            <a:ext cx="13763" cy="13763"/>
          </a:xfrm>
          <a:prstGeom prst="rect">
            <a:avLst/>
          </a:prstGeom>
          <a:solidFill>
            <a:srgbClr val="5F6B57"/>
          </a:solidFill>
          <a:ln w="12700">
            <a:solidFill>
              <a:srgbClr val="5F6B57"/>
            </a:solidFill>
            <a:prstDash val="solid"/>
          </a:ln>
        </p:spPr>
      </p:sp>
      <p:sp>
        <p:nvSpPr>
          <p:cNvPr id="714" name="Shape 709"/>
          <p:cNvSpPr/>
          <p:nvPr/>
        </p:nvSpPr>
        <p:spPr>
          <a:xfrm>
            <a:off x="971550" y="3439707"/>
            <a:ext cx="13763" cy="13763"/>
          </a:xfrm>
          <a:prstGeom prst="rect">
            <a:avLst/>
          </a:prstGeom>
          <a:solidFill>
            <a:srgbClr val="5F6B57"/>
          </a:solidFill>
          <a:ln w="12700">
            <a:solidFill>
              <a:srgbClr val="5F6B57"/>
            </a:solidFill>
            <a:prstDash val="solid"/>
          </a:ln>
        </p:spPr>
      </p:sp>
      <p:sp>
        <p:nvSpPr>
          <p:cNvPr id="715" name="Shape 710"/>
          <p:cNvSpPr/>
          <p:nvPr/>
        </p:nvSpPr>
        <p:spPr>
          <a:xfrm>
            <a:off x="1013888" y="3439707"/>
            <a:ext cx="13763" cy="13763"/>
          </a:xfrm>
          <a:prstGeom prst="rect">
            <a:avLst/>
          </a:prstGeom>
          <a:solidFill>
            <a:srgbClr val="5F6B57"/>
          </a:solidFill>
          <a:ln w="12700">
            <a:solidFill>
              <a:srgbClr val="5F6B57"/>
            </a:solidFill>
            <a:prstDash val="solid"/>
          </a:ln>
        </p:spPr>
      </p:sp>
      <p:sp>
        <p:nvSpPr>
          <p:cNvPr id="716" name="Shape 711"/>
          <p:cNvSpPr/>
          <p:nvPr/>
        </p:nvSpPr>
        <p:spPr>
          <a:xfrm>
            <a:off x="1056227" y="3439707"/>
            <a:ext cx="13763" cy="13763"/>
          </a:xfrm>
          <a:prstGeom prst="rect">
            <a:avLst/>
          </a:prstGeom>
          <a:solidFill>
            <a:srgbClr val="5F6B57"/>
          </a:solidFill>
          <a:ln w="12700">
            <a:solidFill>
              <a:srgbClr val="5F6B57"/>
            </a:solidFill>
            <a:prstDash val="solid"/>
          </a:ln>
        </p:spPr>
      </p:sp>
      <p:sp>
        <p:nvSpPr>
          <p:cNvPr id="717" name="Shape 712"/>
          <p:cNvSpPr/>
          <p:nvPr/>
        </p:nvSpPr>
        <p:spPr>
          <a:xfrm>
            <a:off x="1098565" y="3439707"/>
            <a:ext cx="13763" cy="13763"/>
          </a:xfrm>
          <a:prstGeom prst="rect">
            <a:avLst/>
          </a:prstGeom>
          <a:solidFill>
            <a:srgbClr val="5F6B57"/>
          </a:solidFill>
          <a:ln w="12700">
            <a:solidFill>
              <a:srgbClr val="5F6B57"/>
            </a:solidFill>
            <a:prstDash val="solid"/>
          </a:ln>
        </p:spPr>
      </p:sp>
      <p:sp>
        <p:nvSpPr>
          <p:cNvPr id="718" name="Shape 713"/>
          <p:cNvSpPr/>
          <p:nvPr/>
        </p:nvSpPr>
        <p:spPr>
          <a:xfrm>
            <a:off x="1140903" y="3439707"/>
            <a:ext cx="13763" cy="13763"/>
          </a:xfrm>
          <a:prstGeom prst="rect">
            <a:avLst/>
          </a:prstGeom>
          <a:solidFill>
            <a:srgbClr val="5F6B57"/>
          </a:solidFill>
          <a:ln w="12700">
            <a:solidFill>
              <a:srgbClr val="5F6B57"/>
            </a:solidFill>
            <a:prstDash val="solid"/>
          </a:ln>
        </p:spPr>
      </p:sp>
      <p:sp>
        <p:nvSpPr>
          <p:cNvPr id="719" name="Shape 714"/>
          <p:cNvSpPr/>
          <p:nvPr/>
        </p:nvSpPr>
        <p:spPr>
          <a:xfrm>
            <a:off x="1183241" y="3439707"/>
            <a:ext cx="13763" cy="13763"/>
          </a:xfrm>
          <a:prstGeom prst="rect">
            <a:avLst/>
          </a:prstGeom>
          <a:solidFill>
            <a:srgbClr val="5F6B57"/>
          </a:solidFill>
          <a:ln w="12700">
            <a:solidFill>
              <a:srgbClr val="5F6B57"/>
            </a:solidFill>
            <a:prstDash val="solid"/>
          </a:ln>
        </p:spPr>
      </p:sp>
      <p:sp>
        <p:nvSpPr>
          <p:cNvPr id="720" name="Shape 715"/>
          <p:cNvSpPr/>
          <p:nvPr/>
        </p:nvSpPr>
        <p:spPr>
          <a:xfrm>
            <a:off x="1225580" y="3439707"/>
            <a:ext cx="13763" cy="13763"/>
          </a:xfrm>
          <a:prstGeom prst="rect">
            <a:avLst/>
          </a:prstGeom>
          <a:solidFill>
            <a:srgbClr val="5F6B57"/>
          </a:solidFill>
          <a:ln w="12700">
            <a:solidFill>
              <a:srgbClr val="5F6B57"/>
            </a:solidFill>
            <a:prstDash val="solid"/>
          </a:ln>
        </p:spPr>
      </p:sp>
      <p:sp>
        <p:nvSpPr>
          <p:cNvPr id="721" name="Shape 716"/>
          <p:cNvSpPr/>
          <p:nvPr/>
        </p:nvSpPr>
        <p:spPr>
          <a:xfrm>
            <a:off x="1267918" y="3439707"/>
            <a:ext cx="13763" cy="13763"/>
          </a:xfrm>
          <a:prstGeom prst="rect">
            <a:avLst/>
          </a:prstGeom>
          <a:solidFill>
            <a:srgbClr val="5F6B57"/>
          </a:solidFill>
          <a:ln w="12700">
            <a:solidFill>
              <a:srgbClr val="5F6B57"/>
            </a:solidFill>
            <a:prstDash val="solid"/>
          </a:ln>
        </p:spPr>
      </p:sp>
      <p:sp>
        <p:nvSpPr>
          <p:cNvPr id="722" name="Shape 717"/>
          <p:cNvSpPr/>
          <p:nvPr/>
        </p:nvSpPr>
        <p:spPr>
          <a:xfrm>
            <a:off x="1310256" y="3439707"/>
            <a:ext cx="13763" cy="13763"/>
          </a:xfrm>
          <a:prstGeom prst="rect">
            <a:avLst/>
          </a:prstGeom>
          <a:solidFill>
            <a:srgbClr val="5F6B57"/>
          </a:solidFill>
          <a:ln w="12700">
            <a:solidFill>
              <a:srgbClr val="5F6B57"/>
            </a:solidFill>
            <a:prstDash val="solid"/>
          </a:ln>
        </p:spPr>
      </p:sp>
      <p:sp>
        <p:nvSpPr>
          <p:cNvPr id="723" name="Shape 718"/>
          <p:cNvSpPr/>
          <p:nvPr/>
        </p:nvSpPr>
        <p:spPr>
          <a:xfrm>
            <a:off x="1352595" y="3439707"/>
            <a:ext cx="13763" cy="13763"/>
          </a:xfrm>
          <a:prstGeom prst="rect">
            <a:avLst/>
          </a:prstGeom>
          <a:solidFill>
            <a:srgbClr val="5F6B57"/>
          </a:solidFill>
          <a:ln w="12700">
            <a:solidFill>
              <a:srgbClr val="5F6B57"/>
            </a:solidFill>
            <a:prstDash val="solid"/>
          </a:ln>
        </p:spPr>
      </p:sp>
      <p:sp>
        <p:nvSpPr>
          <p:cNvPr id="724" name="Shape 719"/>
          <p:cNvSpPr/>
          <p:nvPr/>
        </p:nvSpPr>
        <p:spPr>
          <a:xfrm>
            <a:off x="1394933" y="3439707"/>
            <a:ext cx="13763" cy="13763"/>
          </a:xfrm>
          <a:prstGeom prst="rect">
            <a:avLst/>
          </a:prstGeom>
          <a:solidFill>
            <a:srgbClr val="5F6B57"/>
          </a:solidFill>
          <a:ln w="12700">
            <a:solidFill>
              <a:srgbClr val="5F6B57"/>
            </a:solidFill>
            <a:prstDash val="solid"/>
          </a:ln>
        </p:spPr>
      </p:sp>
      <p:sp>
        <p:nvSpPr>
          <p:cNvPr id="725" name="Shape 720"/>
          <p:cNvSpPr/>
          <p:nvPr/>
        </p:nvSpPr>
        <p:spPr>
          <a:xfrm>
            <a:off x="1437271" y="3439707"/>
            <a:ext cx="13763" cy="13763"/>
          </a:xfrm>
          <a:prstGeom prst="rect">
            <a:avLst/>
          </a:prstGeom>
          <a:solidFill>
            <a:srgbClr val="5F6B57"/>
          </a:solidFill>
          <a:ln w="12700">
            <a:solidFill>
              <a:srgbClr val="5F6B57"/>
            </a:solidFill>
            <a:prstDash val="solid"/>
          </a:ln>
        </p:spPr>
      </p:sp>
      <p:sp>
        <p:nvSpPr>
          <p:cNvPr id="726" name="Shape 721"/>
          <p:cNvSpPr/>
          <p:nvPr/>
        </p:nvSpPr>
        <p:spPr>
          <a:xfrm>
            <a:off x="1479609" y="3439707"/>
            <a:ext cx="13763" cy="13763"/>
          </a:xfrm>
          <a:prstGeom prst="rect">
            <a:avLst/>
          </a:prstGeom>
          <a:solidFill>
            <a:srgbClr val="5F6B57"/>
          </a:solidFill>
          <a:ln w="12700">
            <a:solidFill>
              <a:srgbClr val="5F6B57"/>
            </a:solidFill>
            <a:prstDash val="solid"/>
          </a:ln>
        </p:spPr>
      </p:sp>
      <p:sp>
        <p:nvSpPr>
          <p:cNvPr id="727" name="Shape 722"/>
          <p:cNvSpPr/>
          <p:nvPr/>
        </p:nvSpPr>
        <p:spPr>
          <a:xfrm>
            <a:off x="1521948" y="3439707"/>
            <a:ext cx="13763" cy="13763"/>
          </a:xfrm>
          <a:prstGeom prst="rect">
            <a:avLst/>
          </a:prstGeom>
          <a:solidFill>
            <a:srgbClr val="5F6B57"/>
          </a:solidFill>
          <a:ln w="12700">
            <a:solidFill>
              <a:srgbClr val="5F6B57"/>
            </a:solidFill>
            <a:prstDash val="solid"/>
          </a:ln>
        </p:spPr>
      </p:sp>
      <p:sp>
        <p:nvSpPr>
          <p:cNvPr id="728" name="Shape 723"/>
          <p:cNvSpPr/>
          <p:nvPr/>
        </p:nvSpPr>
        <p:spPr>
          <a:xfrm>
            <a:off x="1564286" y="3439707"/>
            <a:ext cx="13763" cy="13763"/>
          </a:xfrm>
          <a:prstGeom prst="rect">
            <a:avLst/>
          </a:prstGeom>
          <a:solidFill>
            <a:srgbClr val="5F6B57"/>
          </a:solidFill>
          <a:ln w="12700">
            <a:solidFill>
              <a:srgbClr val="5F6B57"/>
            </a:solidFill>
            <a:prstDash val="solid"/>
          </a:ln>
        </p:spPr>
      </p:sp>
      <p:sp>
        <p:nvSpPr>
          <p:cNvPr id="729" name="Shape 724"/>
          <p:cNvSpPr/>
          <p:nvPr/>
        </p:nvSpPr>
        <p:spPr>
          <a:xfrm>
            <a:off x="1606624" y="3439707"/>
            <a:ext cx="13763" cy="13763"/>
          </a:xfrm>
          <a:prstGeom prst="rect">
            <a:avLst/>
          </a:prstGeom>
          <a:solidFill>
            <a:srgbClr val="5F6B57"/>
          </a:solidFill>
          <a:ln w="12700">
            <a:solidFill>
              <a:srgbClr val="5F6B57"/>
            </a:solidFill>
            <a:prstDash val="solid"/>
          </a:ln>
        </p:spPr>
      </p:sp>
      <p:sp>
        <p:nvSpPr>
          <p:cNvPr id="730" name="Shape 725"/>
          <p:cNvSpPr/>
          <p:nvPr/>
        </p:nvSpPr>
        <p:spPr>
          <a:xfrm>
            <a:off x="1648963" y="3439707"/>
            <a:ext cx="13763" cy="13763"/>
          </a:xfrm>
          <a:prstGeom prst="rect">
            <a:avLst/>
          </a:prstGeom>
          <a:solidFill>
            <a:srgbClr val="5F6B57"/>
          </a:solidFill>
          <a:ln w="12700">
            <a:solidFill>
              <a:srgbClr val="5F6B57"/>
            </a:solidFill>
            <a:prstDash val="solid"/>
          </a:ln>
        </p:spPr>
      </p:sp>
      <p:sp>
        <p:nvSpPr>
          <p:cNvPr id="731" name="Shape 726"/>
          <p:cNvSpPr/>
          <p:nvPr/>
        </p:nvSpPr>
        <p:spPr>
          <a:xfrm>
            <a:off x="1691301" y="3439707"/>
            <a:ext cx="13763" cy="13763"/>
          </a:xfrm>
          <a:prstGeom prst="rect">
            <a:avLst/>
          </a:prstGeom>
          <a:solidFill>
            <a:srgbClr val="5F6B57"/>
          </a:solidFill>
          <a:ln w="12700">
            <a:solidFill>
              <a:srgbClr val="5F6B57"/>
            </a:solidFill>
            <a:prstDash val="solid"/>
          </a:ln>
        </p:spPr>
      </p:sp>
      <p:sp>
        <p:nvSpPr>
          <p:cNvPr id="732" name="Shape 727"/>
          <p:cNvSpPr/>
          <p:nvPr/>
        </p:nvSpPr>
        <p:spPr>
          <a:xfrm>
            <a:off x="1733639" y="3439707"/>
            <a:ext cx="13763" cy="13763"/>
          </a:xfrm>
          <a:prstGeom prst="rect">
            <a:avLst/>
          </a:prstGeom>
          <a:solidFill>
            <a:srgbClr val="5F6B57"/>
          </a:solidFill>
          <a:ln w="12700">
            <a:solidFill>
              <a:srgbClr val="5F6B57"/>
            </a:solidFill>
            <a:prstDash val="solid"/>
          </a:ln>
        </p:spPr>
      </p:sp>
      <p:sp>
        <p:nvSpPr>
          <p:cNvPr id="733" name="Shape 728"/>
          <p:cNvSpPr/>
          <p:nvPr/>
        </p:nvSpPr>
        <p:spPr>
          <a:xfrm>
            <a:off x="1775978" y="3439707"/>
            <a:ext cx="13763" cy="13763"/>
          </a:xfrm>
          <a:prstGeom prst="rect">
            <a:avLst/>
          </a:prstGeom>
          <a:solidFill>
            <a:srgbClr val="5F6B57"/>
          </a:solidFill>
          <a:ln w="12700">
            <a:solidFill>
              <a:srgbClr val="5F6B57"/>
            </a:solidFill>
            <a:prstDash val="solid"/>
          </a:ln>
        </p:spPr>
      </p:sp>
      <p:sp>
        <p:nvSpPr>
          <p:cNvPr id="734" name="Shape 729"/>
          <p:cNvSpPr/>
          <p:nvPr/>
        </p:nvSpPr>
        <p:spPr>
          <a:xfrm>
            <a:off x="1818316" y="3439707"/>
            <a:ext cx="13763" cy="13763"/>
          </a:xfrm>
          <a:prstGeom prst="rect">
            <a:avLst/>
          </a:prstGeom>
          <a:solidFill>
            <a:srgbClr val="5F6B57"/>
          </a:solidFill>
          <a:ln w="12700">
            <a:solidFill>
              <a:srgbClr val="5F6B57"/>
            </a:solidFill>
            <a:prstDash val="solid"/>
          </a:ln>
        </p:spPr>
      </p:sp>
      <p:sp>
        <p:nvSpPr>
          <p:cNvPr id="735" name="Shape 730"/>
          <p:cNvSpPr/>
          <p:nvPr/>
        </p:nvSpPr>
        <p:spPr>
          <a:xfrm>
            <a:off x="1860654" y="3439707"/>
            <a:ext cx="13763" cy="13763"/>
          </a:xfrm>
          <a:prstGeom prst="rect">
            <a:avLst/>
          </a:prstGeom>
          <a:solidFill>
            <a:srgbClr val="5F6B57"/>
          </a:solidFill>
          <a:ln w="12700">
            <a:solidFill>
              <a:srgbClr val="5F6B57"/>
            </a:solidFill>
            <a:prstDash val="solid"/>
          </a:ln>
        </p:spPr>
      </p:sp>
      <p:sp>
        <p:nvSpPr>
          <p:cNvPr id="736" name="Shape 731"/>
          <p:cNvSpPr/>
          <p:nvPr/>
        </p:nvSpPr>
        <p:spPr>
          <a:xfrm>
            <a:off x="1902992" y="3439707"/>
            <a:ext cx="13763" cy="13763"/>
          </a:xfrm>
          <a:prstGeom prst="rect">
            <a:avLst/>
          </a:prstGeom>
          <a:solidFill>
            <a:srgbClr val="5F6B57"/>
          </a:solidFill>
          <a:ln w="12700">
            <a:solidFill>
              <a:srgbClr val="5F6B57"/>
            </a:solidFill>
            <a:prstDash val="solid"/>
          </a:ln>
        </p:spPr>
      </p:sp>
      <p:sp>
        <p:nvSpPr>
          <p:cNvPr id="737" name="Shape 732"/>
          <p:cNvSpPr/>
          <p:nvPr/>
        </p:nvSpPr>
        <p:spPr>
          <a:xfrm>
            <a:off x="1945331" y="3439707"/>
            <a:ext cx="13763" cy="13763"/>
          </a:xfrm>
          <a:prstGeom prst="rect">
            <a:avLst/>
          </a:prstGeom>
          <a:solidFill>
            <a:srgbClr val="5F6B57"/>
          </a:solidFill>
          <a:ln w="12700">
            <a:solidFill>
              <a:srgbClr val="5F6B57"/>
            </a:solidFill>
            <a:prstDash val="solid"/>
          </a:ln>
        </p:spPr>
      </p:sp>
      <p:sp>
        <p:nvSpPr>
          <p:cNvPr id="738" name="Shape 733"/>
          <p:cNvSpPr/>
          <p:nvPr/>
        </p:nvSpPr>
        <p:spPr>
          <a:xfrm>
            <a:off x="1987669" y="3439707"/>
            <a:ext cx="13763" cy="13763"/>
          </a:xfrm>
          <a:prstGeom prst="rect">
            <a:avLst/>
          </a:prstGeom>
          <a:solidFill>
            <a:srgbClr val="5F6B57"/>
          </a:solidFill>
          <a:ln w="12700">
            <a:solidFill>
              <a:srgbClr val="5F6B57"/>
            </a:solidFill>
            <a:prstDash val="solid"/>
          </a:ln>
        </p:spPr>
      </p:sp>
      <p:sp>
        <p:nvSpPr>
          <p:cNvPr id="739" name="Shape 734"/>
          <p:cNvSpPr/>
          <p:nvPr/>
        </p:nvSpPr>
        <p:spPr>
          <a:xfrm>
            <a:off x="2030007" y="3439707"/>
            <a:ext cx="13763" cy="13763"/>
          </a:xfrm>
          <a:prstGeom prst="rect">
            <a:avLst/>
          </a:prstGeom>
          <a:solidFill>
            <a:srgbClr val="5F6B57"/>
          </a:solidFill>
          <a:ln w="12700">
            <a:solidFill>
              <a:srgbClr val="5F6B57"/>
            </a:solidFill>
            <a:prstDash val="solid"/>
          </a:ln>
        </p:spPr>
      </p:sp>
      <p:sp>
        <p:nvSpPr>
          <p:cNvPr id="740" name="Shape 735"/>
          <p:cNvSpPr/>
          <p:nvPr/>
        </p:nvSpPr>
        <p:spPr>
          <a:xfrm>
            <a:off x="2072346" y="3439707"/>
            <a:ext cx="13763" cy="13763"/>
          </a:xfrm>
          <a:prstGeom prst="rect">
            <a:avLst/>
          </a:prstGeom>
          <a:solidFill>
            <a:srgbClr val="5F6B57"/>
          </a:solidFill>
          <a:ln w="12700">
            <a:solidFill>
              <a:srgbClr val="5F6B57"/>
            </a:solidFill>
            <a:prstDash val="solid"/>
          </a:ln>
        </p:spPr>
      </p:sp>
      <p:sp>
        <p:nvSpPr>
          <p:cNvPr id="741" name="Shape 736"/>
          <p:cNvSpPr/>
          <p:nvPr/>
        </p:nvSpPr>
        <p:spPr>
          <a:xfrm>
            <a:off x="2114684" y="3439707"/>
            <a:ext cx="13763" cy="13763"/>
          </a:xfrm>
          <a:prstGeom prst="rect">
            <a:avLst/>
          </a:prstGeom>
          <a:solidFill>
            <a:srgbClr val="5F6B57"/>
          </a:solidFill>
          <a:ln w="12700">
            <a:solidFill>
              <a:srgbClr val="5F6B57"/>
            </a:solidFill>
            <a:prstDash val="solid"/>
          </a:ln>
        </p:spPr>
      </p:sp>
      <p:sp>
        <p:nvSpPr>
          <p:cNvPr id="742" name="Shape 737"/>
          <p:cNvSpPr/>
          <p:nvPr/>
        </p:nvSpPr>
        <p:spPr>
          <a:xfrm>
            <a:off x="971550" y="3482046"/>
            <a:ext cx="13763" cy="13763"/>
          </a:xfrm>
          <a:prstGeom prst="rect">
            <a:avLst/>
          </a:prstGeom>
          <a:solidFill>
            <a:srgbClr val="5F6B57"/>
          </a:solidFill>
          <a:ln w="12700">
            <a:solidFill>
              <a:srgbClr val="5F6B57"/>
            </a:solidFill>
            <a:prstDash val="solid"/>
          </a:ln>
        </p:spPr>
      </p:sp>
      <p:sp>
        <p:nvSpPr>
          <p:cNvPr id="743" name="Shape 738"/>
          <p:cNvSpPr/>
          <p:nvPr/>
        </p:nvSpPr>
        <p:spPr>
          <a:xfrm>
            <a:off x="1013888" y="3482046"/>
            <a:ext cx="13763" cy="13763"/>
          </a:xfrm>
          <a:prstGeom prst="rect">
            <a:avLst/>
          </a:prstGeom>
          <a:solidFill>
            <a:srgbClr val="5F6B57"/>
          </a:solidFill>
          <a:ln w="12700">
            <a:solidFill>
              <a:srgbClr val="5F6B57"/>
            </a:solidFill>
            <a:prstDash val="solid"/>
          </a:ln>
        </p:spPr>
      </p:sp>
      <p:sp>
        <p:nvSpPr>
          <p:cNvPr id="744" name="Shape 739"/>
          <p:cNvSpPr/>
          <p:nvPr/>
        </p:nvSpPr>
        <p:spPr>
          <a:xfrm>
            <a:off x="1056227" y="3482046"/>
            <a:ext cx="13763" cy="13763"/>
          </a:xfrm>
          <a:prstGeom prst="rect">
            <a:avLst/>
          </a:prstGeom>
          <a:solidFill>
            <a:srgbClr val="5F6B57"/>
          </a:solidFill>
          <a:ln w="12700">
            <a:solidFill>
              <a:srgbClr val="5F6B57"/>
            </a:solidFill>
            <a:prstDash val="solid"/>
          </a:ln>
        </p:spPr>
      </p:sp>
      <p:sp>
        <p:nvSpPr>
          <p:cNvPr id="745" name="Shape 740"/>
          <p:cNvSpPr/>
          <p:nvPr/>
        </p:nvSpPr>
        <p:spPr>
          <a:xfrm>
            <a:off x="1098565" y="3482046"/>
            <a:ext cx="13763" cy="13763"/>
          </a:xfrm>
          <a:prstGeom prst="rect">
            <a:avLst/>
          </a:prstGeom>
          <a:solidFill>
            <a:srgbClr val="5F6B57"/>
          </a:solidFill>
          <a:ln w="12700">
            <a:solidFill>
              <a:srgbClr val="5F6B57"/>
            </a:solidFill>
            <a:prstDash val="solid"/>
          </a:ln>
        </p:spPr>
      </p:sp>
      <p:sp>
        <p:nvSpPr>
          <p:cNvPr id="746" name="Shape 741"/>
          <p:cNvSpPr/>
          <p:nvPr/>
        </p:nvSpPr>
        <p:spPr>
          <a:xfrm>
            <a:off x="1140903" y="3482046"/>
            <a:ext cx="13763" cy="13763"/>
          </a:xfrm>
          <a:prstGeom prst="rect">
            <a:avLst/>
          </a:prstGeom>
          <a:solidFill>
            <a:srgbClr val="5F6B57"/>
          </a:solidFill>
          <a:ln w="12700">
            <a:solidFill>
              <a:srgbClr val="5F6B57"/>
            </a:solidFill>
            <a:prstDash val="solid"/>
          </a:ln>
        </p:spPr>
      </p:sp>
      <p:sp>
        <p:nvSpPr>
          <p:cNvPr id="747" name="Shape 742"/>
          <p:cNvSpPr/>
          <p:nvPr/>
        </p:nvSpPr>
        <p:spPr>
          <a:xfrm>
            <a:off x="1183241" y="3482046"/>
            <a:ext cx="13763" cy="13763"/>
          </a:xfrm>
          <a:prstGeom prst="rect">
            <a:avLst/>
          </a:prstGeom>
          <a:solidFill>
            <a:srgbClr val="5F6B57"/>
          </a:solidFill>
          <a:ln w="12700">
            <a:solidFill>
              <a:srgbClr val="5F6B57"/>
            </a:solidFill>
            <a:prstDash val="solid"/>
          </a:ln>
        </p:spPr>
      </p:sp>
      <p:sp>
        <p:nvSpPr>
          <p:cNvPr id="748" name="Shape 743"/>
          <p:cNvSpPr/>
          <p:nvPr/>
        </p:nvSpPr>
        <p:spPr>
          <a:xfrm>
            <a:off x="1225580" y="3482046"/>
            <a:ext cx="13763" cy="13763"/>
          </a:xfrm>
          <a:prstGeom prst="rect">
            <a:avLst/>
          </a:prstGeom>
          <a:solidFill>
            <a:srgbClr val="5F6B57"/>
          </a:solidFill>
          <a:ln w="12700">
            <a:solidFill>
              <a:srgbClr val="5F6B57"/>
            </a:solidFill>
            <a:prstDash val="solid"/>
          </a:ln>
        </p:spPr>
      </p:sp>
      <p:sp>
        <p:nvSpPr>
          <p:cNvPr id="749" name="Shape 744"/>
          <p:cNvSpPr/>
          <p:nvPr/>
        </p:nvSpPr>
        <p:spPr>
          <a:xfrm>
            <a:off x="1267918" y="3482046"/>
            <a:ext cx="13763" cy="13763"/>
          </a:xfrm>
          <a:prstGeom prst="rect">
            <a:avLst/>
          </a:prstGeom>
          <a:solidFill>
            <a:srgbClr val="5F6B57"/>
          </a:solidFill>
          <a:ln w="12700">
            <a:solidFill>
              <a:srgbClr val="5F6B57"/>
            </a:solidFill>
            <a:prstDash val="solid"/>
          </a:ln>
        </p:spPr>
      </p:sp>
      <p:sp>
        <p:nvSpPr>
          <p:cNvPr id="750" name="Shape 745"/>
          <p:cNvSpPr/>
          <p:nvPr/>
        </p:nvSpPr>
        <p:spPr>
          <a:xfrm>
            <a:off x="1310256" y="3482046"/>
            <a:ext cx="13763" cy="13763"/>
          </a:xfrm>
          <a:prstGeom prst="rect">
            <a:avLst/>
          </a:prstGeom>
          <a:solidFill>
            <a:srgbClr val="5F6B57"/>
          </a:solidFill>
          <a:ln w="12700">
            <a:solidFill>
              <a:srgbClr val="5F6B57"/>
            </a:solidFill>
            <a:prstDash val="solid"/>
          </a:ln>
        </p:spPr>
      </p:sp>
      <p:sp>
        <p:nvSpPr>
          <p:cNvPr id="751" name="Shape 746"/>
          <p:cNvSpPr/>
          <p:nvPr/>
        </p:nvSpPr>
        <p:spPr>
          <a:xfrm>
            <a:off x="1352595" y="3482046"/>
            <a:ext cx="13763" cy="13763"/>
          </a:xfrm>
          <a:prstGeom prst="rect">
            <a:avLst/>
          </a:prstGeom>
          <a:solidFill>
            <a:srgbClr val="5F6B57"/>
          </a:solidFill>
          <a:ln w="12700">
            <a:solidFill>
              <a:srgbClr val="5F6B57"/>
            </a:solidFill>
            <a:prstDash val="solid"/>
          </a:ln>
        </p:spPr>
      </p:sp>
      <p:sp>
        <p:nvSpPr>
          <p:cNvPr id="752" name="Shape 747"/>
          <p:cNvSpPr/>
          <p:nvPr/>
        </p:nvSpPr>
        <p:spPr>
          <a:xfrm>
            <a:off x="1394933" y="3482046"/>
            <a:ext cx="13763" cy="13763"/>
          </a:xfrm>
          <a:prstGeom prst="rect">
            <a:avLst/>
          </a:prstGeom>
          <a:solidFill>
            <a:srgbClr val="5F6B57"/>
          </a:solidFill>
          <a:ln w="12700">
            <a:solidFill>
              <a:srgbClr val="5F6B57"/>
            </a:solidFill>
            <a:prstDash val="solid"/>
          </a:ln>
        </p:spPr>
      </p:sp>
      <p:sp>
        <p:nvSpPr>
          <p:cNvPr id="753" name="Shape 748"/>
          <p:cNvSpPr/>
          <p:nvPr/>
        </p:nvSpPr>
        <p:spPr>
          <a:xfrm>
            <a:off x="1437271" y="3482046"/>
            <a:ext cx="13763" cy="13763"/>
          </a:xfrm>
          <a:prstGeom prst="rect">
            <a:avLst/>
          </a:prstGeom>
          <a:solidFill>
            <a:srgbClr val="5F6B57"/>
          </a:solidFill>
          <a:ln w="12700">
            <a:solidFill>
              <a:srgbClr val="5F6B57"/>
            </a:solidFill>
            <a:prstDash val="solid"/>
          </a:ln>
        </p:spPr>
      </p:sp>
      <p:sp>
        <p:nvSpPr>
          <p:cNvPr id="754" name="Shape 749"/>
          <p:cNvSpPr/>
          <p:nvPr/>
        </p:nvSpPr>
        <p:spPr>
          <a:xfrm>
            <a:off x="1479609" y="3482046"/>
            <a:ext cx="13763" cy="13763"/>
          </a:xfrm>
          <a:prstGeom prst="rect">
            <a:avLst/>
          </a:prstGeom>
          <a:solidFill>
            <a:srgbClr val="5F6B57"/>
          </a:solidFill>
          <a:ln w="12700">
            <a:solidFill>
              <a:srgbClr val="5F6B57"/>
            </a:solidFill>
            <a:prstDash val="solid"/>
          </a:ln>
        </p:spPr>
      </p:sp>
      <p:sp>
        <p:nvSpPr>
          <p:cNvPr id="755" name="Shape 750"/>
          <p:cNvSpPr/>
          <p:nvPr/>
        </p:nvSpPr>
        <p:spPr>
          <a:xfrm>
            <a:off x="1521948" y="3482046"/>
            <a:ext cx="13763" cy="13763"/>
          </a:xfrm>
          <a:prstGeom prst="rect">
            <a:avLst/>
          </a:prstGeom>
          <a:solidFill>
            <a:srgbClr val="5F6B57"/>
          </a:solidFill>
          <a:ln w="12700">
            <a:solidFill>
              <a:srgbClr val="5F6B57"/>
            </a:solidFill>
            <a:prstDash val="solid"/>
          </a:ln>
        </p:spPr>
      </p:sp>
      <p:sp>
        <p:nvSpPr>
          <p:cNvPr id="756" name="Shape 751"/>
          <p:cNvSpPr/>
          <p:nvPr/>
        </p:nvSpPr>
        <p:spPr>
          <a:xfrm>
            <a:off x="1564286" y="3482046"/>
            <a:ext cx="13763" cy="13763"/>
          </a:xfrm>
          <a:prstGeom prst="rect">
            <a:avLst/>
          </a:prstGeom>
          <a:solidFill>
            <a:srgbClr val="5F6B57"/>
          </a:solidFill>
          <a:ln w="12700">
            <a:solidFill>
              <a:srgbClr val="5F6B57"/>
            </a:solidFill>
            <a:prstDash val="solid"/>
          </a:ln>
        </p:spPr>
      </p:sp>
      <p:sp>
        <p:nvSpPr>
          <p:cNvPr id="757" name="Shape 752"/>
          <p:cNvSpPr/>
          <p:nvPr/>
        </p:nvSpPr>
        <p:spPr>
          <a:xfrm>
            <a:off x="1606624" y="3482046"/>
            <a:ext cx="13763" cy="13763"/>
          </a:xfrm>
          <a:prstGeom prst="rect">
            <a:avLst/>
          </a:prstGeom>
          <a:solidFill>
            <a:srgbClr val="5F6B57"/>
          </a:solidFill>
          <a:ln w="12700">
            <a:solidFill>
              <a:srgbClr val="5F6B57"/>
            </a:solidFill>
            <a:prstDash val="solid"/>
          </a:ln>
        </p:spPr>
      </p:sp>
      <p:sp>
        <p:nvSpPr>
          <p:cNvPr id="758" name="Shape 753"/>
          <p:cNvSpPr/>
          <p:nvPr/>
        </p:nvSpPr>
        <p:spPr>
          <a:xfrm>
            <a:off x="1648963" y="3482046"/>
            <a:ext cx="13763" cy="13763"/>
          </a:xfrm>
          <a:prstGeom prst="rect">
            <a:avLst/>
          </a:prstGeom>
          <a:solidFill>
            <a:srgbClr val="5F6B57"/>
          </a:solidFill>
          <a:ln w="12700">
            <a:solidFill>
              <a:srgbClr val="5F6B57"/>
            </a:solidFill>
            <a:prstDash val="solid"/>
          </a:ln>
        </p:spPr>
      </p:sp>
      <p:sp>
        <p:nvSpPr>
          <p:cNvPr id="759" name="Shape 754"/>
          <p:cNvSpPr/>
          <p:nvPr/>
        </p:nvSpPr>
        <p:spPr>
          <a:xfrm>
            <a:off x="1691301" y="3482046"/>
            <a:ext cx="13763" cy="13763"/>
          </a:xfrm>
          <a:prstGeom prst="rect">
            <a:avLst/>
          </a:prstGeom>
          <a:solidFill>
            <a:srgbClr val="5F6B57"/>
          </a:solidFill>
          <a:ln w="12700">
            <a:solidFill>
              <a:srgbClr val="5F6B57"/>
            </a:solidFill>
            <a:prstDash val="solid"/>
          </a:ln>
        </p:spPr>
      </p:sp>
      <p:sp>
        <p:nvSpPr>
          <p:cNvPr id="760" name="Shape 755"/>
          <p:cNvSpPr/>
          <p:nvPr/>
        </p:nvSpPr>
        <p:spPr>
          <a:xfrm>
            <a:off x="1733639" y="3482046"/>
            <a:ext cx="13763" cy="13763"/>
          </a:xfrm>
          <a:prstGeom prst="rect">
            <a:avLst/>
          </a:prstGeom>
          <a:solidFill>
            <a:srgbClr val="5F6B57"/>
          </a:solidFill>
          <a:ln w="12700">
            <a:solidFill>
              <a:srgbClr val="5F6B57"/>
            </a:solidFill>
            <a:prstDash val="solid"/>
          </a:ln>
        </p:spPr>
      </p:sp>
      <p:sp>
        <p:nvSpPr>
          <p:cNvPr id="761" name="Shape 756"/>
          <p:cNvSpPr/>
          <p:nvPr/>
        </p:nvSpPr>
        <p:spPr>
          <a:xfrm>
            <a:off x="1775978" y="3482046"/>
            <a:ext cx="13763" cy="13763"/>
          </a:xfrm>
          <a:prstGeom prst="rect">
            <a:avLst/>
          </a:prstGeom>
          <a:solidFill>
            <a:srgbClr val="5F6B57"/>
          </a:solidFill>
          <a:ln w="12700">
            <a:solidFill>
              <a:srgbClr val="5F6B57"/>
            </a:solidFill>
            <a:prstDash val="solid"/>
          </a:ln>
        </p:spPr>
      </p:sp>
      <p:sp>
        <p:nvSpPr>
          <p:cNvPr id="762" name="Shape 757"/>
          <p:cNvSpPr/>
          <p:nvPr/>
        </p:nvSpPr>
        <p:spPr>
          <a:xfrm>
            <a:off x="1818316" y="3482046"/>
            <a:ext cx="13763" cy="13763"/>
          </a:xfrm>
          <a:prstGeom prst="rect">
            <a:avLst/>
          </a:prstGeom>
          <a:solidFill>
            <a:srgbClr val="5F6B57"/>
          </a:solidFill>
          <a:ln w="12700">
            <a:solidFill>
              <a:srgbClr val="5F6B57"/>
            </a:solidFill>
            <a:prstDash val="solid"/>
          </a:ln>
        </p:spPr>
      </p:sp>
      <p:sp>
        <p:nvSpPr>
          <p:cNvPr id="763" name="Shape 758"/>
          <p:cNvSpPr/>
          <p:nvPr/>
        </p:nvSpPr>
        <p:spPr>
          <a:xfrm>
            <a:off x="1860654" y="3482046"/>
            <a:ext cx="13763" cy="13763"/>
          </a:xfrm>
          <a:prstGeom prst="rect">
            <a:avLst/>
          </a:prstGeom>
          <a:solidFill>
            <a:srgbClr val="5F6B57"/>
          </a:solidFill>
          <a:ln w="12700">
            <a:solidFill>
              <a:srgbClr val="5F6B57"/>
            </a:solidFill>
            <a:prstDash val="solid"/>
          </a:ln>
        </p:spPr>
      </p:sp>
      <p:sp>
        <p:nvSpPr>
          <p:cNvPr id="764" name="Shape 759"/>
          <p:cNvSpPr/>
          <p:nvPr/>
        </p:nvSpPr>
        <p:spPr>
          <a:xfrm>
            <a:off x="1902992" y="3482046"/>
            <a:ext cx="13763" cy="13763"/>
          </a:xfrm>
          <a:prstGeom prst="rect">
            <a:avLst/>
          </a:prstGeom>
          <a:solidFill>
            <a:srgbClr val="5F6B57"/>
          </a:solidFill>
          <a:ln w="12700">
            <a:solidFill>
              <a:srgbClr val="5F6B57"/>
            </a:solidFill>
            <a:prstDash val="solid"/>
          </a:ln>
        </p:spPr>
      </p:sp>
      <p:sp>
        <p:nvSpPr>
          <p:cNvPr id="765" name="Shape 760"/>
          <p:cNvSpPr/>
          <p:nvPr/>
        </p:nvSpPr>
        <p:spPr>
          <a:xfrm>
            <a:off x="1945331" y="3482046"/>
            <a:ext cx="13763" cy="13763"/>
          </a:xfrm>
          <a:prstGeom prst="rect">
            <a:avLst/>
          </a:prstGeom>
          <a:solidFill>
            <a:srgbClr val="5F6B57"/>
          </a:solidFill>
          <a:ln w="12700">
            <a:solidFill>
              <a:srgbClr val="5F6B57"/>
            </a:solidFill>
            <a:prstDash val="solid"/>
          </a:ln>
        </p:spPr>
      </p:sp>
      <p:sp>
        <p:nvSpPr>
          <p:cNvPr id="766" name="Shape 761"/>
          <p:cNvSpPr/>
          <p:nvPr/>
        </p:nvSpPr>
        <p:spPr>
          <a:xfrm>
            <a:off x="1987669" y="3482046"/>
            <a:ext cx="13763" cy="13763"/>
          </a:xfrm>
          <a:prstGeom prst="rect">
            <a:avLst/>
          </a:prstGeom>
          <a:solidFill>
            <a:srgbClr val="5F6B57"/>
          </a:solidFill>
          <a:ln w="12700">
            <a:solidFill>
              <a:srgbClr val="5F6B57"/>
            </a:solidFill>
            <a:prstDash val="solid"/>
          </a:ln>
        </p:spPr>
      </p:sp>
      <p:sp>
        <p:nvSpPr>
          <p:cNvPr id="767" name="Shape 762"/>
          <p:cNvSpPr/>
          <p:nvPr/>
        </p:nvSpPr>
        <p:spPr>
          <a:xfrm>
            <a:off x="2030007" y="3482046"/>
            <a:ext cx="13763" cy="13763"/>
          </a:xfrm>
          <a:prstGeom prst="rect">
            <a:avLst/>
          </a:prstGeom>
          <a:solidFill>
            <a:srgbClr val="5F6B57"/>
          </a:solidFill>
          <a:ln w="12700">
            <a:solidFill>
              <a:srgbClr val="5F6B57"/>
            </a:solidFill>
            <a:prstDash val="solid"/>
          </a:ln>
        </p:spPr>
      </p:sp>
      <p:sp>
        <p:nvSpPr>
          <p:cNvPr id="768" name="Shape 763"/>
          <p:cNvSpPr/>
          <p:nvPr/>
        </p:nvSpPr>
        <p:spPr>
          <a:xfrm>
            <a:off x="2072346" y="3482046"/>
            <a:ext cx="13763" cy="13763"/>
          </a:xfrm>
          <a:prstGeom prst="rect">
            <a:avLst/>
          </a:prstGeom>
          <a:solidFill>
            <a:srgbClr val="5F6B57"/>
          </a:solidFill>
          <a:ln w="12700">
            <a:solidFill>
              <a:srgbClr val="5F6B57"/>
            </a:solidFill>
            <a:prstDash val="solid"/>
          </a:ln>
        </p:spPr>
      </p:sp>
      <p:sp>
        <p:nvSpPr>
          <p:cNvPr id="769" name="Shape 764"/>
          <p:cNvSpPr/>
          <p:nvPr/>
        </p:nvSpPr>
        <p:spPr>
          <a:xfrm>
            <a:off x="2114684" y="3482046"/>
            <a:ext cx="13763" cy="13763"/>
          </a:xfrm>
          <a:prstGeom prst="rect">
            <a:avLst/>
          </a:prstGeom>
          <a:solidFill>
            <a:srgbClr val="5F6B57"/>
          </a:solidFill>
          <a:ln w="12700">
            <a:solidFill>
              <a:srgbClr val="5F6B57"/>
            </a:solidFill>
            <a:prstDash val="solid"/>
          </a:ln>
        </p:spPr>
      </p:sp>
      <p:sp>
        <p:nvSpPr>
          <p:cNvPr id="770" name="Shape 765"/>
          <p:cNvSpPr/>
          <p:nvPr/>
        </p:nvSpPr>
        <p:spPr>
          <a:xfrm>
            <a:off x="971550" y="3524384"/>
            <a:ext cx="13763" cy="13763"/>
          </a:xfrm>
          <a:prstGeom prst="rect">
            <a:avLst/>
          </a:prstGeom>
          <a:solidFill>
            <a:srgbClr val="5F6B57"/>
          </a:solidFill>
          <a:ln w="12700">
            <a:solidFill>
              <a:srgbClr val="5F6B57"/>
            </a:solidFill>
            <a:prstDash val="solid"/>
          </a:ln>
        </p:spPr>
      </p:sp>
      <p:sp>
        <p:nvSpPr>
          <p:cNvPr id="771" name="Shape 766"/>
          <p:cNvSpPr/>
          <p:nvPr/>
        </p:nvSpPr>
        <p:spPr>
          <a:xfrm>
            <a:off x="1013888" y="3524384"/>
            <a:ext cx="13763" cy="13763"/>
          </a:xfrm>
          <a:prstGeom prst="rect">
            <a:avLst/>
          </a:prstGeom>
          <a:solidFill>
            <a:srgbClr val="5F6B57"/>
          </a:solidFill>
          <a:ln w="12700">
            <a:solidFill>
              <a:srgbClr val="5F6B57"/>
            </a:solidFill>
            <a:prstDash val="solid"/>
          </a:ln>
        </p:spPr>
      </p:sp>
      <p:sp>
        <p:nvSpPr>
          <p:cNvPr id="772" name="Shape 767"/>
          <p:cNvSpPr/>
          <p:nvPr/>
        </p:nvSpPr>
        <p:spPr>
          <a:xfrm>
            <a:off x="1056227" y="3524384"/>
            <a:ext cx="13763" cy="13763"/>
          </a:xfrm>
          <a:prstGeom prst="rect">
            <a:avLst/>
          </a:prstGeom>
          <a:solidFill>
            <a:srgbClr val="5F6B57"/>
          </a:solidFill>
          <a:ln w="12700">
            <a:solidFill>
              <a:srgbClr val="5F6B57"/>
            </a:solidFill>
            <a:prstDash val="solid"/>
          </a:ln>
        </p:spPr>
      </p:sp>
      <p:sp>
        <p:nvSpPr>
          <p:cNvPr id="773" name="Shape 768"/>
          <p:cNvSpPr/>
          <p:nvPr/>
        </p:nvSpPr>
        <p:spPr>
          <a:xfrm>
            <a:off x="1098565" y="3524384"/>
            <a:ext cx="13763" cy="13763"/>
          </a:xfrm>
          <a:prstGeom prst="rect">
            <a:avLst/>
          </a:prstGeom>
          <a:solidFill>
            <a:srgbClr val="5F6B57"/>
          </a:solidFill>
          <a:ln w="12700">
            <a:solidFill>
              <a:srgbClr val="5F6B57"/>
            </a:solidFill>
            <a:prstDash val="solid"/>
          </a:ln>
        </p:spPr>
      </p:sp>
      <p:sp>
        <p:nvSpPr>
          <p:cNvPr id="774" name="Shape 769"/>
          <p:cNvSpPr/>
          <p:nvPr/>
        </p:nvSpPr>
        <p:spPr>
          <a:xfrm>
            <a:off x="1140903" y="3524384"/>
            <a:ext cx="13763" cy="13763"/>
          </a:xfrm>
          <a:prstGeom prst="rect">
            <a:avLst/>
          </a:prstGeom>
          <a:solidFill>
            <a:srgbClr val="5F6B57"/>
          </a:solidFill>
          <a:ln w="12700">
            <a:solidFill>
              <a:srgbClr val="5F6B57"/>
            </a:solidFill>
            <a:prstDash val="solid"/>
          </a:ln>
        </p:spPr>
      </p:sp>
      <p:sp>
        <p:nvSpPr>
          <p:cNvPr id="775" name="Shape 770"/>
          <p:cNvSpPr/>
          <p:nvPr/>
        </p:nvSpPr>
        <p:spPr>
          <a:xfrm>
            <a:off x="1183241" y="3524384"/>
            <a:ext cx="13763" cy="13763"/>
          </a:xfrm>
          <a:prstGeom prst="rect">
            <a:avLst/>
          </a:prstGeom>
          <a:solidFill>
            <a:srgbClr val="5F6B57"/>
          </a:solidFill>
          <a:ln w="12700">
            <a:solidFill>
              <a:srgbClr val="5F6B57"/>
            </a:solidFill>
            <a:prstDash val="solid"/>
          </a:ln>
        </p:spPr>
      </p:sp>
      <p:sp>
        <p:nvSpPr>
          <p:cNvPr id="776" name="Shape 771"/>
          <p:cNvSpPr/>
          <p:nvPr/>
        </p:nvSpPr>
        <p:spPr>
          <a:xfrm>
            <a:off x="1225580" y="3524384"/>
            <a:ext cx="13763" cy="13763"/>
          </a:xfrm>
          <a:prstGeom prst="rect">
            <a:avLst/>
          </a:prstGeom>
          <a:solidFill>
            <a:srgbClr val="5F6B57"/>
          </a:solidFill>
          <a:ln w="12700">
            <a:solidFill>
              <a:srgbClr val="5F6B57"/>
            </a:solidFill>
            <a:prstDash val="solid"/>
          </a:ln>
        </p:spPr>
      </p:sp>
      <p:sp>
        <p:nvSpPr>
          <p:cNvPr id="777" name="Shape 772"/>
          <p:cNvSpPr/>
          <p:nvPr/>
        </p:nvSpPr>
        <p:spPr>
          <a:xfrm>
            <a:off x="1267918" y="3524384"/>
            <a:ext cx="13763" cy="13763"/>
          </a:xfrm>
          <a:prstGeom prst="rect">
            <a:avLst/>
          </a:prstGeom>
          <a:solidFill>
            <a:srgbClr val="5F6B57"/>
          </a:solidFill>
          <a:ln w="12700">
            <a:solidFill>
              <a:srgbClr val="5F6B57"/>
            </a:solidFill>
            <a:prstDash val="solid"/>
          </a:ln>
        </p:spPr>
      </p:sp>
      <p:sp>
        <p:nvSpPr>
          <p:cNvPr id="778" name="Shape 773"/>
          <p:cNvSpPr/>
          <p:nvPr/>
        </p:nvSpPr>
        <p:spPr>
          <a:xfrm>
            <a:off x="1310256" y="3524384"/>
            <a:ext cx="13763" cy="13763"/>
          </a:xfrm>
          <a:prstGeom prst="rect">
            <a:avLst/>
          </a:prstGeom>
          <a:solidFill>
            <a:srgbClr val="5F6B57"/>
          </a:solidFill>
          <a:ln w="12700">
            <a:solidFill>
              <a:srgbClr val="5F6B57"/>
            </a:solidFill>
            <a:prstDash val="solid"/>
          </a:ln>
        </p:spPr>
      </p:sp>
      <p:sp>
        <p:nvSpPr>
          <p:cNvPr id="779" name="Shape 774"/>
          <p:cNvSpPr/>
          <p:nvPr/>
        </p:nvSpPr>
        <p:spPr>
          <a:xfrm>
            <a:off x="1352595" y="3524384"/>
            <a:ext cx="13763" cy="13763"/>
          </a:xfrm>
          <a:prstGeom prst="rect">
            <a:avLst/>
          </a:prstGeom>
          <a:solidFill>
            <a:srgbClr val="5F6B57"/>
          </a:solidFill>
          <a:ln w="12700">
            <a:solidFill>
              <a:srgbClr val="5F6B57"/>
            </a:solidFill>
            <a:prstDash val="solid"/>
          </a:ln>
        </p:spPr>
      </p:sp>
      <p:sp>
        <p:nvSpPr>
          <p:cNvPr id="780" name="Shape 775"/>
          <p:cNvSpPr/>
          <p:nvPr/>
        </p:nvSpPr>
        <p:spPr>
          <a:xfrm>
            <a:off x="1394933" y="3524384"/>
            <a:ext cx="13763" cy="13763"/>
          </a:xfrm>
          <a:prstGeom prst="rect">
            <a:avLst/>
          </a:prstGeom>
          <a:solidFill>
            <a:srgbClr val="5F6B57"/>
          </a:solidFill>
          <a:ln w="12700">
            <a:solidFill>
              <a:srgbClr val="5F6B57"/>
            </a:solidFill>
            <a:prstDash val="solid"/>
          </a:ln>
        </p:spPr>
      </p:sp>
      <p:sp>
        <p:nvSpPr>
          <p:cNvPr id="781" name="Shape 776"/>
          <p:cNvSpPr/>
          <p:nvPr/>
        </p:nvSpPr>
        <p:spPr>
          <a:xfrm>
            <a:off x="1437271" y="3524384"/>
            <a:ext cx="13763" cy="13763"/>
          </a:xfrm>
          <a:prstGeom prst="rect">
            <a:avLst/>
          </a:prstGeom>
          <a:solidFill>
            <a:srgbClr val="5F6B57"/>
          </a:solidFill>
          <a:ln w="12700">
            <a:solidFill>
              <a:srgbClr val="5F6B57"/>
            </a:solidFill>
            <a:prstDash val="solid"/>
          </a:ln>
        </p:spPr>
      </p:sp>
      <p:sp>
        <p:nvSpPr>
          <p:cNvPr id="782" name="Shape 777"/>
          <p:cNvSpPr/>
          <p:nvPr/>
        </p:nvSpPr>
        <p:spPr>
          <a:xfrm>
            <a:off x="1479609" y="3524384"/>
            <a:ext cx="13763" cy="13763"/>
          </a:xfrm>
          <a:prstGeom prst="rect">
            <a:avLst/>
          </a:prstGeom>
          <a:solidFill>
            <a:srgbClr val="5F6B57"/>
          </a:solidFill>
          <a:ln w="12700">
            <a:solidFill>
              <a:srgbClr val="5F6B57"/>
            </a:solidFill>
            <a:prstDash val="solid"/>
          </a:ln>
        </p:spPr>
      </p:sp>
      <p:sp>
        <p:nvSpPr>
          <p:cNvPr id="783" name="Shape 778"/>
          <p:cNvSpPr/>
          <p:nvPr/>
        </p:nvSpPr>
        <p:spPr>
          <a:xfrm>
            <a:off x="1521948" y="3524384"/>
            <a:ext cx="13763" cy="13763"/>
          </a:xfrm>
          <a:prstGeom prst="rect">
            <a:avLst/>
          </a:prstGeom>
          <a:solidFill>
            <a:srgbClr val="5F6B57"/>
          </a:solidFill>
          <a:ln w="12700">
            <a:solidFill>
              <a:srgbClr val="5F6B57"/>
            </a:solidFill>
            <a:prstDash val="solid"/>
          </a:ln>
        </p:spPr>
      </p:sp>
      <p:sp>
        <p:nvSpPr>
          <p:cNvPr id="784" name="Shape 779"/>
          <p:cNvSpPr/>
          <p:nvPr/>
        </p:nvSpPr>
        <p:spPr>
          <a:xfrm>
            <a:off x="1564286" y="3524384"/>
            <a:ext cx="13763" cy="13763"/>
          </a:xfrm>
          <a:prstGeom prst="rect">
            <a:avLst/>
          </a:prstGeom>
          <a:solidFill>
            <a:srgbClr val="5F6B57"/>
          </a:solidFill>
          <a:ln w="12700">
            <a:solidFill>
              <a:srgbClr val="5F6B57"/>
            </a:solidFill>
            <a:prstDash val="solid"/>
          </a:ln>
        </p:spPr>
      </p:sp>
      <p:sp>
        <p:nvSpPr>
          <p:cNvPr id="785" name="Shape 780"/>
          <p:cNvSpPr/>
          <p:nvPr/>
        </p:nvSpPr>
        <p:spPr>
          <a:xfrm>
            <a:off x="1606624" y="3524384"/>
            <a:ext cx="13763" cy="13763"/>
          </a:xfrm>
          <a:prstGeom prst="rect">
            <a:avLst/>
          </a:prstGeom>
          <a:solidFill>
            <a:srgbClr val="5F6B57"/>
          </a:solidFill>
          <a:ln w="12700">
            <a:solidFill>
              <a:srgbClr val="5F6B57"/>
            </a:solidFill>
            <a:prstDash val="solid"/>
          </a:ln>
        </p:spPr>
      </p:sp>
      <p:sp>
        <p:nvSpPr>
          <p:cNvPr id="786" name="Shape 781"/>
          <p:cNvSpPr/>
          <p:nvPr/>
        </p:nvSpPr>
        <p:spPr>
          <a:xfrm>
            <a:off x="1648963" y="3524384"/>
            <a:ext cx="13763" cy="13763"/>
          </a:xfrm>
          <a:prstGeom prst="rect">
            <a:avLst/>
          </a:prstGeom>
          <a:solidFill>
            <a:srgbClr val="5F6B57"/>
          </a:solidFill>
          <a:ln w="12700">
            <a:solidFill>
              <a:srgbClr val="5F6B57"/>
            </a:solidFill>
            <a:prstDash val="solid"/>
          </a:ln>
        </p:spPr>
      </p:sp>
      <p:sp>
        <p:nvSpPr>
          <p:cNvPr id="787" name="Shape 782"/>
          <p:cNvSpPr/>
          <p:nvPr/>
        </p:nvSpPr>
        <p:spPr>
          <a:xfrm>
            <a:off x="1691301" y="3524384"/>
            <a:ext cx="13763" cy="13763"/>
          </a:xfrm>
          <a:prstGeom prst="rect">
            <a:avLst/>
          </a:prstGeom>
          <a:solidFill>
            <a:srgbClr val="5F6B57"/>
          </a:solidFill>
          <a:ln w="12700">
            <a:solidFill>
              <a:srgbClr val="5F6B57"/>
            </a:solidFill>
            <a:prstDash val="solid"/>
          </a:ln>
        </p:spPr>
      </p:sp>
      <p:sp>
        <p:nvSpPr>
          <p:cNvPr id="788" name="Shape 783"/>
          <p:cNvSpPr/>
          <p:nvPr/>
        </p:nvSpPr>
        <p:spPr>
          <a:xfrm>
            <a:off x="1733639" y="3524384"/>
            <a:ext cx="13763" cy="13763"/>
          </a:xfrm>
          <a:prstGeom prst="rect">
            <a:avLst/>
          </a:prstGeom>
          <a:solidFill>
            <a:srgbClr val="5F6B57"/>
          </a:solidFill>
          <a:ln w="12700">
            <a:solidFill>
              <a:srgbClr val="5F6B57"/>
            </a:solidFill>
            <a:prstDash val="solid"/>
          </a:ln>
        </p:spPr>
      </p:sp>
      <p:sp>
        <p:nvSpPr>
          <p:cNvPr id="789" name="Shape 784"/>
          <p:cNvSpPr/>
          <p:nvPr/>
        </p:nvSpPr>
        <p:spPr>
          <a:xfrm>
            <a:off x="1775978" y="3524384"/>
            <a:ext cx="13763" cy="13763"/>
          </a:xfrm>
          <a:prstGeom prst="rect">
            <a:avLst/>
          </a:prstGeom>
          <a:solidFill>
            <a:srgbClr val="5F6B57"/>
          </a:solidFill>
          <a:ln w="12700">
            <a:solidFill>
              <a:srgbClr val="5F6B57"/>
            </a:solidFill>
            <a:prstDash val="solid"/>
          </a:ln>
        </p:spPr>
      </p:sp>
      <p:sp>
        <p:nvSpPr>
          <p:cNvPr id="790" name="Shape 785"/>
          <p:cNvSpPr/>
          <p:nvPr/>
        </p:nvSpPr>
        <p:spPr>
          <a:xfrm>
            <a:off x="1818316" y="3524384"/>
            <a:ext cx="13763" cy="13763"/>
          </a:xfrm>
          <a:prstGeom prst="rect">
            <a:avLst/>
          </a:prstGeom>
          <a:solidFill>
            <a:srgbClr val="5F6B57"/>
          </a:solidFill>
          <a:ln w="12700">
            <a:solidFill>
              <a:srgbClr val="5F6B57"/>
            </a:solidFill>
            <a:prstDash val="solid"/>
          </a:ln>
        </p:spPr>
      </p:sp>
      <p:sp>
        <p:nvSpPr>
          <p:cNvPr id="791" name="Shape 786"/>
          <p:cNvSpPr/>
          <p:nvPr/>
        </p:nvSpPr>
        <p:spPr>
          <a:xfrm>
            <a:off x="1860654" y="3524384"/>
            <a:ext cx="13763" cy="13763"/>
          </a:xfrm>
          <a:prstGeom prst="rect">
            <a:avLst/>
          </a:prstGeom>
          <a:solidFill>
            <a:srgbClr val="5F6B57"/>
          </a:solidFill>
          <a:ln w="12700">
            <a:solidFill>
              <a:srgbClr val="5F6B57"/>
            </a:solidFill>
            <a:prstDash val="solid"/>
          </a:ln>
        </p:spPr>
      </p:sp>
      <p:sp>
        <p:nvSpPr>
          <p:cNvPr id="792" name="Shape 787"/>
          <p:cNvSpPr/>
          <p:nvPr/>
        </p:nvSpPr>
        <p:spPr>
          <a:xfrm>
            <a:off x="1902992" y="3524384"/>
            <a:ext cx="13763" cy="13763"/>
          </a:xfrm>
          <a:prstGeom prst="rect">
            <a:avLst/>
          </a:prstGeom>
          <a:solidFill>
            <a:srgbClr val="5F6B57"/>
          </a:solidFill>
          <a:ln w="12700">
            <a:solidFill>
              <a:srgbClr val="5F6B57"/>
            </a:solidFill>
            <a:prstDash val="solid"/>
          </a:ln>
        </p:spPr>
      </p:sp>
      <p:sp>
        <p:nvSpPr>
          <p:cNvPr id="793" name="Shape 788"/>
          <p:cNvSpPr/>
          <p:nvPr/>
        </p:nvSpPr>
        <p:spPr>
          <a:xfrm>
            <a:off x="1945331" y="3524384"/>
            <a:ext cx="13763" cy="13763"/>
          </a:xfrm>
          <a:prstGeom prst="rect">
            <a:avLst/>
          </a:prstGeom>
          <a:solidFill>
            <a:srgbClr val="5F6B57"/>
          </a:solidFill>
          <a:ln w="12700">
            <a:solidFill>
              <a:srgbClr val="5F6B57"/>
            </a:solidFill>
            <a:prstDash val="solid"/>
          </a:ln>
        </p:spPr>
      </p:sp>
      <p:sp>
        <p:nvSpPr>
          <p:cNvPr id="794" name="Shape 789"/>
          <p:cNvSpPr/>
          <p:nvPr/>
        </p:nvSpPr>
        <p:spPr>
          <a:xfrm>
            <a:off x="1987669" y="3524384"/>
            <a:ext cx="13763" cy="13763"/>
          </a:xfrm>
          <a:prstGeom prst="rect">
            <a:avLst/>
          </a:prstGeom>
          <a:solidFill>
            <a:srgbClr val="5F6B57"/>
          </a:solidFill>
          <a:ln w="12700">
            <a:solidFill>
              <a:srgbClr val="5F6B57"/>
            </a:solidFill>
            <a:prstDash val="solid"/>
          </a:ln>
        </p:spPr>
      </p:sp>
      <p:sp>
        <p:nvSpPr>
          <p:cNvPr id="795" name="Shape 790"/>
          <p:cNvSpPr/>
          <p:nvPr/>
        </p:nvSpPr>
        <p:spPr>
          <a:xfrm>
            <a:off x="2030007" y="3524384"/>
            <a:ext cx="13763" cy="13763"/>
          </a:xfrm>
          <a:prstGeom prst="rect">
            <a:avLst/>
          </a:prstGeom>
          <a:solidFill>
            <a:srgbClr val="5F6B57"/>
          </a:solidFill>
          <a:ln w="12700">
            <a:solidFill>
              <a:srgbClr val="5F6B57"/>
            </a:solidFill>
            <a:prstDash val="solid"/>
          </a:ln>
        </p:spPr>
      </p:sp>
      <p:sp>
        <p:nvSpPr>
          <p:cNvPr id="796" name="Shape 791"/>
          <p:cNvSpPr/>
          <p:nvPr/>
        </p:nvSpPr>
        <p:spPr>
          <a:xfrm>
            <a:off x="2072346" y="3524384"/>
            <a:ext cx="13763" cy="13763"/>
          </a:xfrm>
          <a:prstGeom prst="rect">
            <a:avLst/>
          </a:prstGeom>
          <a:solidFill>
            <a:srgbClr val="5F6B57"/>
          </a:solidFill>
          <a:ln w="12700">
            <a:solidFill>
              <a:srgbClr val="5F6B57"/>
            </a:solidFill>
            <a:prstDash val="solid"/>
          </a:ln>
        </p:spPr>
      </p:sp>
      <p:sp>
        <p:nvSpPr>
          <p:cNvPr id="797" name="Shape 792"/>
          <p:cNvSpPr/>
          <p:nvPr/>
        </p:nvSpPr>
        <p:spPr>
          <a:xfrm>
            <a:off x="2114684" y="3524384"/>
            <a:ext cx="13763" cy="13763"/>
          </a:xfrm>
          <a:prstGeom prst="rect">
            <a:avLst/>
          </a:prstGeom>
          <a:solidFill>
            <a:srgbClr val="5F6B57"/>
          </a:solidFill>
          <a:ln w="12700">
            <a:solidFill>
              <a:srgbClr val="5F6B57"/>
            </a:solidFill>
            <a:prstDash val="solid"/>
          </a:ln>
        </p:spPr>
      </p:sp>
      <p:sp>
        <p:nvSpPr>
          <p:cNvPr id="798" name="Shape 793"/>
          <p:cNvSpPr/>
          <p:nvPr/>
        </p:nvSpPr>
        <p:spPr>
          <a:xfrm>
            <a:off x="971550" y="3566722"/>
            <a:ext cx="13763" cy="13763"/>
          </a:xfrm>
          <a:prstGeom prst="rect">
            <a:avLst/>
          </a:prstGeom>
          <a:solidFill>
            <a:srgbClr val="5F6B57"/>
          </a:solidFill>
          <a:ln w="12700">
            <a:solidFill>
              <a:srgbClr val="5F6B57"/>
            </a:solidFill>
            <a:prstDash val="solid"/>
          </a:ln>
        </p:spPr>
      </p:sp>
      <p:sp>
        <p:nvSpPr>
          <p:cNvPr id="799" name="Shape 794"/>
          <p:cNvSpPr/>
          <p:nvPr/>
        </p:nvSpPr>
        <p:spPr>
          <a:xfrm>
            <a:off x="1013888" y="3566722"/>
            <a:ext cx="13763" cy="13763"/>
          </a:xfrm>
          <a:prstGeom prst="rect">
            <a:avLst/>
          </a:prstGeom>
          <a:solidFill>
            <a:srgbClr val="5F6B57"/>
          </a:solidFill>
          <a:ln w="12700">
            <a:solidFill>
              <a:srgbClr val="5F6B57"/>
            </a:solidFill>
            <a:prstDash val="solid"/>
          </a:ln>
        </p:spPr>
      </p:sp>
      <p:sp>
        <p:nvSpPr>
          <p:cNvPr id="800" name="Shape 795"/>
          <p:cNvSpPr/>
          <p:nvPr/>
        </p:nvSpPr>
        <p:spPr>
          <a:xfrm>
            <a:off x="1056227" y="3566722"/>
            <a:ext cx="13763" cy="13763"/>
          </a:xfrm>
          <a:prstGeom prst="rect">
            <a:avLst/>
          </a:prstGeom>
          <a:solidFill>
            <a:srgbClr val="5F6B57"/>
          </a:solidFill>
          <a:ln w="12700">
            <a:solidFill>
              <a:srgbClr val="5F6B57"/>
            </a:solidFill>
            <a:prstDash val="solid"/>
          </a:ln>
        </p:spPr>
      </p:sp>
      <p:sp>
        <p:nvSpPr>
          <p:cNvPr id="801" name="Shape 796"/>
          <p:cNvSpPr/>
          <p:nvPr/>
        </p:nvSpPr>
        <p:spPr>
          <a:xfrm>
            <a:off x="1098565" y="3566722"/>
            <a:ext cx="13763" cy="13763"/>
          </a:xfrm>
          <a:prstGeom prst="rect">
            <a:avLst/>
          </a:prstGeom>
          <a:solidFill>
            <a:srgbClr val="5F6B57"/>
          </a:solidFill>
          <a:ln w="12700">
            <a:solidFill>
              <a:srgbClr val="5F6B57"/>
            </a:solidFill>
            <a:prstDash val="solid"/>
          </a:ln>
        </p:spPr>
      </p:sp>
      <p:sp>
        <p:nvSpPr>
          <p:cNvPr id="802" name="Shape 797"/>
          <p:cNvSpPr/>
          <p:nvPr/>
        </p:nvSpPr>
        <p:spPr>
          <a:xfrm>
            <a:off x="1140903" y="3566722"/>
            <a:ext cx="13763" cy="13763"/>
          </a:xfrm>
          <a:prstGeom prst="rect">
            <a:avLst/>
          </a:prstGeom>
          <a:solidFill>
            <a:srgbClr val="5F6B57"/>
          </a:solidFill>
          <a:ln w="12700">
            <a:solidFill>
              <a:srgbClr val="5F6B57"/>
            </a:solidFill>
            <a:prstDash val="solid"/>
          </a:ln>
        </p:spPr>
      </p:sp>
      <p:sp>
        <p:nvSpPr>
          <p:cNvPr id="803" name="Shape 798"/>
          <p:cNvSpPr/>
          <p:nvPr/>
        </p:nvSpPr>
        <p:spPr>
          <a:xfrm>
            <a:off x="1183241" y="3566722"/>
            <a:ext cx="13763" cy="13763"/>
          </a:xfrm>
          <a:prstGeom prst="rect">
            <a:avLst/>
          </a:prstGeom>
          <a:solidFill>
            <a:srgbClr val="5F6B57"/>
          </a:solidFill>
          <a:ln w="12700">
            <a:solidFill>
              <a:srgbClr val="5F6B57"/>
            </a:solidFill>
            <a:prstDash val="solid"/>
          </a:ln>
        </p:spPr>
      </p:sp>
      <p:sp>
        <p:nvSpPr>
          <p:cNvPr id="804" name="Shape 799"/>
          <p:cNvSpPr/>
          <p:nvPr/>
        </p:nvSpPr>
        <p:spPr>
          <a:xfrm>
            <a:off x="1225580" y="3566722"/>
            <a:ext cx="13763" cy="13763"/>
          </a:xfrm>
          <a:prstGeom prst="rect">
            <a:avLst/>
          </a:prstGeom>
          <a:solidFill>
            <a:srgbClr val="5F6B57"/>
          </a:solidFill>
          <a:ln w="12700">
            <a:solidFill>
              <a:srgbClr val="5F6B57"/>
            </a:solidFill>
            <a:prstDash val="solid"/>
          </a:ln>
        </p:spPr>
      </p:sp>
      <p:sp>
        <p:nvSpPr>
          <p:cNvPr id="805" name="Shape 800"/>
          <p:cNvSpPr/>
          <p:nvPr/>
        </p:nvSpPr>
        <p:spPr>
          <a:xfrm>
            <a:off x="1267918" y="3566722"/>
            <a:ext cx="13763" cy="13763"/>
          </a:xfrm>
          <a:prstGeom prst="rect">
            <a:avLst/>
          </a:prstGeom>
          <a:solidFill>
            <a:srgbClr val="5F6B57"/>
          </a:solidFill>
          <a:ln w="12700">
            <a:solidFill>
              <a:srgbClr val="5F6B57"/>
            </a:solidFill>
            <a:prstDash val="solid"/>
          </a:ln>
        </p:spPr>
      </p:sp>
      <p:sp>
        <p:nvSpPr>
          <p:cNvPr id="806" name="Shape 801"/>
          <p:cNvSpPr/>
          <p:nvPr/>
        </p:nvSpPr>
        <p:spPr>
          <a:xfrm>
            <a:off x="1310256" y="3566722"/>
            <a:ext cx="13763" cy="13763"/>
          </a:xfrm>
          <a:prstGeom prst="rect">
            <a:avLst/>
          </a:prstGeom>
          <a:solidFill>
            <a:srgbClr val="5F6B57"/>
          </a:solidFill>
          <a:ln w="12700">
            <a:solidFill>
              <a:srgbClr val="5F6B57"/>
            </a:solidFill>
            <a:prstDash val="solid"/>
          </a:ln>
        </p:spPr>
      </p:sp>
      <p:sp>
        <p:nvSpPr>
          <p:cNvPr id="807" name="Shape 802"/>
          <p:cNvSpPr/>
          <p:nvPr/>
        </p:nvSpPr>
        <p:spPr>
          <a:xfrm>
            <a:off x="1352595" y="3566722"/>
            <a:ext cx="13763" cy="13763"/>
          </a:xfrm>
          <a:prstGeom prst="rect">
            <a:avLst/>
          </a:prstGeom>
          <a:solidFill>
            <a:srgbClr val="A9B2A0"/>
          </a:solidFill>
          <a:ln w="12700">
            <a:solidFill>
              <a:srgbClr val="A9B2A0"/>
            </a:solidFill>
            <a:prstDash val="solid"/>
          </a:ln>
        </p:spPr>
      </p:sp>
      <p:sp>
        <p:nvSpPr>
          <p:cNvPr id="808" name="Shape 803"/>
          <p:cNvSpPr/>
          <p:nvPr/>
        </p:nvSpPr>
        <p:spPr>
          <a:xfrm>
            <a:off x="1394933" y="3566722"/>
            <a:ext cx="13763" cy="13763"/>
          </a:xfrm>
          <a:prstGeom prst="rect">
            <a:avLst/>
          </a:prstGeom>
          <a:solidFill>
            <a:srgbClr val="A9B2A0"/>
          </a:solidFill>
          <a:ln w="12700">
            <a:solidFill>
              <a:srgbClr val="A9B2A0"/>
            </a:solidFill>
            <a:prstDash val="solid"/>
          </a:ln>
        </p:spPr>
      </p:sp>
      <p:sp>
        <p:nvSpPr>
          <p:cNvPr id="809" name="Shape 804"/>
          <p:cNvSpPr/>
          <p:nvPr/>
        </p:nvSpPr>
        <p:spPr>
          <a:xfrm>
            <a:off x="1437271" y="3566722"/>
            <a:ext cx="13763" cy="13763"/>
          </a:xfrm>
          <a:prstGeom prst="rect">
            <a:avLst/>
          </a:prstGeom>
          <a:solidFill>
            <a:srgbClr val="A9B2A0"/>
          </a:solidFill>
          <a:ln w="12700">
            <a:solidFill>
              <a:srgbClr val="A9B2A0"/>
            </a:solidFill>
            <a:prstDash val="solid"/>
          </a:ln>
        </p:spPr>
      </p:sp>
      <p:sp>
        <p:nvSpPr>
          <p:cNvPr id="810" name="Shape 805"/>
          <p:cNvSpPr/>
          <p:nvPr/>
        </p:nvSpPr>
        <p:spPr>
          <a:xfrm>
            <a:off x="1479609" y="3566722"/>
            <a:ext cx="13763" cy="13763"/>
          </a:xfrm>
          <a:prstGeom prst="rect">
            <a:avLst/>
          </a:prstGeom>
          <a:solidFill>
            <a:srgbClr val="A9B2A0"/>
          </a:solidFill>
          <a:ln w="12700">
            <a:solidFill>
              <a:srgbClr val="A9B2A0"/>
            </a:solidFill>
            <a:prstDash val="solid"/>
          </a:ln>
        </p:spPr>
      </p:sp>
      <p:sp>
        <p:nvSpPr>
          <p:cNvPr id="811" name="Shape 806"/>
          <p:cNvSpPr/>
          <p:nvPr/>
        </p:nvSpPr>
        <p:spPr>
          <a:xfrm>
            <a:off x="1521948" y="3566722"/>
            <a:ext cx="13763" cy="13763"/>
          </a:xfrm>
          <a:prstGeom prst="rect">
            <a:avLst/>
          </a:prstGeom>
          <a:solidFill>
            <a:srgbClr val="A9B2A0"/>
          </a:solidFill>
          <a:ln w="12700">
            <a:solidFill>
              <a:srgbClr val="A9B2A0"/>
            </a:solidFill>
            <a:prstDash val="solid"/>
          </a:ln>
        </p:spPr>
      </p:sp>
      <p:sp>
        <p:nvSpPr>
          <p:cNvPr id="812" name="Shape 807"/>
          <p:cNvSpPr/>
          <p:nvPr/>
        </p:nvSpPr>
        <p:spPr>
          <a:xfrm>
            <a:off x="1564286" y="3566722"/>
            <a:ext cx="13763" cy="13763"/>
          </a:xfrm>
          <a:prstGeom prst="rect">
            <a:avLst/>
          </a:prstGeom>
          <a:solidFill>
            <a:srgbClr val="A9B2A0"/>
          </a:solidFill>
          <a:ln w="12700">
            <a:solidFill>
              <a:srgbClr val="A9B2A0"/>
            </a:solidFill>
            <a:prstDash val="solid"/>
          </a:ln>
        </p:spPr>
      </p:sp>
      <p:sp>
        <p:nvSpPr>
          <p:cNvPr id="813" name="Shape 808"/>
          <p:cNvSpPr/>
          <p:nvPr/>
        </p:nvSpPr>
        <p:spPr>
          <a:xfrm>
            <a:off x="1606624" y="3566722"/>
            <a:ext cx="13763" cy="13763"/>
          </a:xfrm>
          <a:prstGeom prst="rect">
            <a:avLst/>
          </a:prstGeom>
          <a:solidFill>
            <a:srgbClr val="A9B2A0"/>
          </a:solidFill>
          <a:ln w="12700">
            <a:solidFill>
              <a:srgbClr val="A9B2A0"/>
            </a:solidFill>
            <a:prstDash val="solid"/>
          </a:ln>
        </p:spPr>
      </p:sp>
      <p:sp>
        <p:nvSpPr>
          <p:cNvPr id="814" name="Shape 809"/>
          <p:cNvSpPr/>
          <p:nvPr/>
        </p:nvSpPr>
        <p:spPr>
          <a:xfrm>
            <a:off x="1648963" y="3566722"/>
            <a:ext cx="13763" cy="13763"/>
          </a:xfrm>
          <a:prstGeom prst="rect">
            <a:avLst/>
          </a:prstGeom>
          <a:solidFill>
            <a:srgbClr val="A9B2A0"/>
          </a:solidFill>
          <a:ln w="12700">
            <a:solidFill>
              <a:srgbClr val="A9B2A0"/>
            </a:solidFill>
            <a:prstDash val="solid"/>
          </a:ln>
        </p:spPr>
      </p:sp>
      <p:sp>
        <p:nvSpPr>
          <p:cNvPr id="815" name="Shape 810"/>
          <p:cNvSpPr/>
          <p:nvPr/>
        </p:nvSpPr>
        <p:spPr>
          <a:xfrm>
            <a:off x="1691301" y="3566722"/>
            <a:ext cx="13763" cy="13763"/>
          </a:xfrm>
          <a:prstGeom prst="rect">
            <a:avLst/>
          </a:prstGeom>
          <a:solidFill>
            <a:srgbClr val="A9B2A0"/>
          </a:solidFill>
          <a:ln w="12700">
            <a:solidFill>
              <a:srgbClr val="A9B2A0"/>
            </a:solidFill>
            <a:prstDash val="solid"/>
          </a:ln>
        </p:spPr>
      </p:sp>
      <p:sp>
        <p:nvSpPr>
          <p:cNvPr id="816" name="Shape 811"/>
          <p:cNvSpPr/>
          <p:nvPr/>
        </p:nvSpPr>
        <p:spPr>
          <a:xfrm>
            <a:off x="1733639" y="3566722"/>
            <a:ext cx="13763" cy="13763"/>
          </a:xfrm>
          <a:prstGeom prst="rect">
            <a:avLst/>
          </a:prstGeom>
          <a:solidFill>
            <a:srgbClr val="A9B2A0"/>
          </a:solidFill>
          <a:ln w="12700">
            <a:solidFill>
              <a:srgbClr val="A9B2A0"/>
            </a:solidFill>
            <a:prstDash val="solid"/>
          </a:ln>
        </p:spPr>
      </p:sp>
      <p:sp>
        <p:nvSpPr>
          <p:cNvPr id="817" name="Shape 812"/>
          <p:cNvSpPr/>
          <p:nvPr/>
        </p:nvSpPr>
        <p:spPr>
          <a:xfrm>
            <a:off x="1775978" y="3566722"/>
            <a:ext cx="13763" cy="13763"/>
          </a:xfrm>
          <a:prstGeom prst="rect">
            <a:avLst/>
          </a:prstGeom>
          <a:solidFill>
            <a:srgbClr val="A9B2A0"/>
          </a:solidFill>
          <a:ln w="12700">
            <a:solidFill>
              <a:srgbClr val="A9B2A0"/>
            </a:solidFill>
            <a:prstDash val="solid"/>
          </a:ln>
        </p:spPr>
      </p:sp>
      <p:sp>
        <p:nvSpPr>
          <p:cNvPr id="818" name="Shape 813"/>
          <p:cNvSpPr/>
          <p:nvPr/>
        </p:nvSpPr>
        <p:spPr>
          <a:xfrm>
            <a:off x="1818316" y="3566722"/>
            <a:ext cx="13763" cy="13763"/>
          </a:xfrm>
          <a:prstGeom prst="rect">
            <a:avLst/>
          </a:prstGeom>
          <a:solidFill>
            <a:srgbClr val="A9B2A0"/>
          </a:solidFill>
          <a:ln w="12700">
            <a:solidFill>
              <a:srgbClr val="A9B2A0"/>
            </a:solidFill>
            <a:prstDash val="solid"/>
          </a:ln>
        </p:spPr>
      </p:sp>
      <p:sp>
        <p:nvSpPr>
          <p:cNvPr id="819" name="Shape 814"/>
          <p:cNvSpPr/>
          <p:nvPr/>
        </p:nvSpPr>
        <p:spPr>
          <a:xfrm>
            <a:off x="1860654" y="3566722"/>
            <a:ext cx="13763" cy="13763"/>
          </a:xfrm>
          <a:prstGeom prst="rect">
            <a:avLst/>
          </a:prstGeom>
          <a:solidFill>
            <a:srgbClr val="A9B2A0"/>
          </a:solidFill>
          <a:ln w="12700">
            <a:solidFill>
              <a:srgbClr val="A9B2A0"/>
            </a:solidFill>
            <a:prstDash val="solid"/>
          </a:ln>
        </p:spPr>
      </p:sp>
      <p:sp>
        <p:nvSpPr>
          <p:cNvPr id="820" name="Shape 815"/>
          <p:cNvSpPr/>
          <p:nvPr/>
        </p:nvSpPr>
        <p:spPr>
          <a:xfrm>
            <a:off x="1902992" y="3566722"/>
            <a:ext cx="13763" cy="13763"/>
          </a:xfrm>
          <a:prstGeom prst="rect">
            <a:avLst/>
          </a:prstGeom>
          <a:solidFill>
            <a:srgbClr val="A9B2A0"/>
          </a:solidFill>
          <a:ln w="12700">
            <a:solidFill>
              <a:srgbClr val="A9B2A0"/>
            </a:solidFill>
            <a:prstDash val="solid"/>
          </a:ln>
        </p:spPr>
      </p:sp>
      <p:sp>
        <p:nvSpPr>
          <p:cNvPr id="821" name="Shape 816"/>
          <p:cNvSpPr/>
          <p:nvPr/>
        </p:nvSpPr>
        <p:spPr>
          <a:xfrm>
            <a:off x="1945331" y="3566722"/>
            <a:ext cx="13763" cy="13763"/>
          </a:xfrm>
          <a:prstGeom prst="rect">
            <a:avLst/>
          </a:prstGeom>
          <a:solidFill>
            <a:srgbClr val="A9B2A0"/>
          </a:solidFill>
          <a:ln w="12700">
            <a:solidFill>
              <a:srgbClr val="A9B2A0"/>
            </a:solidFill>
            <a:prstDash val="solid"/>
          </a:ln>
        </p:spPr>
      </p:sp>
      <p:sp>
        <p:nvSpPr>
          <p:cNvPr id="822" name="Shape 817"/>
          <p:cNvSpPr/>
          <p:nvPr/>
        </p:nvSpPr>
        <p:spPr>
          <a:xfrm>
            <a:off x="1987669" y="3566722"/>
            <a:ext cx="13763" cy="13763"/>
          </a:xfrm>
          <a:prstGeom prst="rect">
            <a:avLst/>
          </a:prstGeom>
          <a:solidFill>
            <a:srgbClr val="A9B2A0"/>
          </a:solidFill>
          <a:ln w="12700">
            <a:solidFill>
              <a:srgbClr val="A9B2A0"/>
            </a:solidFill>
            <a:prstDash val="solid"/>
          </a:ln>
        </p:spPr>
      </p:sp>
      <p:sp>
        <p:nvSpPr>
          <p:cNvPr id="823" name="Shape 818"/>
          <p:cNvSpPr/>
          <p:nvPr/>
        </p:nvSpPr>
        <p:spPr>
          <a:xfrm>
            <a:off x="2030007" y="3566722"/>
            <a:ext cx="13763" cy="13763"/>
          </a:xfrm>
          <a:prstGeom prst="rect">
            <a:avLst/>
          </a:prstGeom>
          <a:solidFill>
            <a:srgbClr val="A9B2A0"/>
          </a:solidFill>
          <a:ln w="12700">
            <a:solidFill>
              <a:srgbClr val="A9B2A0"/>
            </a:solidFill>
            <a:prstDash val="solid"/>
          </a:ln>
        </p:spPr>
      </p:sp>
      <p:sp>
        <p:nvSpPr>
          <p:cNvPr id="824" name="Shape 819"/>
          <p:cNvSpPr/>
          <p:nvPr/>
        </p:nvSpPr>
        <p:spPr>
          <a:xfrm>
            <a:off x="2072346" y="3566722"/>
            <a:ext cx="13763" cy="13763"/>
          </a:xfrm>
          <a:prstGeom prst="rect">
            <a:avLst/>
          </a:prstGeom>
          <a:solidFill>
            <a:srgbClr val="A9B2A0"/>
          </a:solidFill>
          <a:ln w="12700">
            <a:solidFill>
              <a:srgbClr val="A9B2A0"/>
            </a:solidFill>
            <a:prstDash val="solid"/>
          </a:ln>
        </p:spPr>
      </p:sp>
      <p:sp>
        <p:nvSpPr>
          <p:cNvPr id="825" name="Shape 820"/>
          <p:cNvSpPr/>
          <p:nvPr/>
        </p:nvSpPr>
        <p:spPr>
          <a:xfrm>
            <a:off x="2114684" y="3566722"/>
            <a:ext cx="13763" cy="13763"/>
          </a:xfrm>
          <a:prstGeom prst="rect">
            <a:avLst/>
          </a:prstGeom>
          <a:solidFill>
            <a:srgbClr val="A9B2A0"/>
          </a:solidFill>
          <a:ln w="12700">
            <a:solidFill>
              <a:srgbClr val="A9B2A0"/>
            </a:solidFill>
            <a:prstDash val="solid"/>
          </a:ln>
        </p:spPr>
      </p:sp>
      <p:sp>
        <p:nvSpPr>
          <p:cNvPr id="826" name="Shape 821"/>
          <p:cNvSpPr/>
          <p:nvPr/>
        </p:nvSpPr>
        <p:spPr>
          <a:xfrm>
            <a:off x="971550" y="3609060"/>
            <a:ext cx="13763" cy="13763"/>
          </a:xfrm>
          <a:prstGeom prst="rect">
            <a:avLst/>
          </a:prstGeom>
          <a:solidFill>
            <a:srgbClr val="A9B2A0"/>
          </a:solidFill>
          <a:ln w="12700">
            <a:solidFill>
              <a:srgbClr val="A9B2A0"/>
            </a:solidFill>
            <a:prstDash val="solid"/>
          </a:ln>
        </p:spPr>
      </p:sp>
      <p:sp>
        <p:nvSpPr>
          <p:cNvPr id="827" name="Shape 822"/>
          <p:cNvSpPr/>
          <p:nvPr/>
        </p:nvSpPr>
        <p:spPr>
          <a:xfrm>
            <a:off x="1013888" y="3609060"/>
            <a:ext cx="13763" cy="13763"/>
          </a:xfrm>
          <a:prstGeom prst="rect">
            <a:avLst/>
          </a:prstGeom>
          <a:solidFill>
            <a:srgbClr val="A9B2A0"/>
          </a:solidFill>
          <a:ln w="12700">
            <a:solidFill>
              <a:srgbClr val="A9B2A0"/>
            </a:solidFill>
            <a:prstDash val="solid"/>
          </a:ln>
        </p:spPr>
      </p:sp>
      <p:sp>
        <p:nvSpPr>
          <p:cNvPr id="828" name="Shape 823"/>
          <p:cNvSpPr/>
          <p:nvPr/>
        </p:nvSpPr>
        <p:spPr>
          <a:xfrm>
            <a:off x="1056227" y="3609060"/>
            <a:ext cx="13763" cy="13763"/>
          </a:xfrm>
          <a:prstGeom prst="rect">
            <a:avLst/>
          </a:prstGeom>
          <a:solidFill>
            <a:srgbClr val="A9B2A0"/>
          </a:solidFill>
          <a:ln w="12700">
            <a:solidFill>
              <a:srgbClr val="A9B2A0"/>
            </a:solidFill>
            <a:prstDash val="solid"/>
          </a:ln>
        </p:spPr>
      </p:sp>
      <p:sp>
        <p:nvSpPr>
          <p:cNvPr id="829" name="Shape 824"/>
          <p:cNvSpPr/>
          <p:nvPr/>
        </p:nvSpPr>
        <p:spPr>
          <a:xfrm>
            <a:off x="1098565" y="3609060"/>
            <a:ext cx="13763" cy="13763"/>
          </a:xfrm>
          <a:prstGeom prst="rect">
            <a:avLst/>
          </a:prstGeom>
          <a:solidFill>
            <a:srgbClr val="A9B2A0"/>
          </a:solidFill>
          <a:ln w="12700">
            <a:solidFill>
              <a:srgbClr val="A9B2A0"/>
            </a:solidFill>
            <a:prstDash val="solid"/>
          </a:ln>
        </p:spPr>
      </p:sp>
      <p:sp>
        <p:nvSpPr>
          <p:cNvPr id="830" name="Shape 825"/>
          <p:cNvSpPr/>
          <p:nvPr/>
        </p:nvSpPr>
        <p:spPr>
          <a:xfrm>
            <a:off x="1140903" y="3609060"/>
            <a:ext cx="13763" cy="13763"/>
          </a:xfrm>
          <a:prstGeom prst="rect">
            <a:avLst/>
          </a:prstGeom>
          <a:solidFill>
            <a:srgbClr val="A9B2A0"/>
          </a:solidFill>
          <a:ln w="12700">
            <a:solidFill>
              <a:srgbClr val="A9B2A0"/>
            </a:solidFill>
            <a:prstDash val="solid"/>
          </a:ln>
        </p:spPr>
      </p:sp>
      <p:sp>
        <p:nvSpPr>
          <p:cNvPr id="831" name="Shape 826"/>
          <p:cNvSpPr/>
          <p:nvPr/>
        </p:nvSpPr>
        <p:spPr>
          <a:xfrm>
            <a:off x="1183241" y="3609060"/>
            <a:ext cx="13763" cy="13763"/>
          </a:xfrm>
          <a:prstGeom prst="rect">
            <a:avLst/>
          </a:prstGeom>
          <a:solidFill>
            <a:srgbClr val="A9B2A0"/>
          </a:solidFill>
          <a:ln w="12700">
            <a:solidFill>
              <a:srgbClr val="A9B2A0"/>
            </a:solidFill>
            <a:prstDash val="solid"/>
          </a:ln>
        </p:spPr>
      </p:sp>
      <p:sp>
        <p:nvSpPr>
          <p:cNvPr id="832" name="Shape 827"/>
          <p:cNvSpPr/>
          <p:nvPr/>
        </p:nvSpPr>
        <p:spPr>
          <a:xfrm>
            <a:off x="1225580" y="3609060"/>
            <a:ext cx="13763" cy="13763"/>
          </a:xfrm>
          <a:prstGeom prst="rect">
            <a:avLst/>
          </a:prstGeom>
          <a:solidFill>
            <a:srgbClr val="A9B2A0"/>
          </a:solidFill>
          <a:ln w="12700">
            <a:solidFill>
              <a:srgbClr val="A9B2A0"/>
            </a:solidFill>
            <a:prstDash val="solid"/>
          </a:ln>
        </p:spPr>
      </p:sp>
      <p:sp>
        <p:nvSpPr>
          <p:cNvPr id="833" name="Shape 828"/>
          <p:cNvSpPr/>
          <p:nvPr/>
        </p:nvSpPr>
        <p:spPr>
          <a:xfrm>
            <a:off x="1267918" y="3609060"/>
            <a:ext cx="13763" cy="13763"/>
          </a:xfrm>
          <a:prstGeom prst="rect">
            <a:avLst/>
          </a:prstGeom>
          <a:solidFill>
            <a:srgbClr val="A9B2A0"/>
          </a:solidFill>
          <a:ln w="12700">
            <a:solidFill>
              <a:srgbClr val="A9B2A0"/>
            </a:solidFill>
            <a:prstDash val="solid"/>
          </a:ln>
        </p:spPr>
      </p:sp>
      <p:sp>
        <p:nvSpPr>
          <p:cNvPr id="834" name="Shape 829"/>
          <p:cNvSpPr/>
          <p:nvPr/>
        </p:nvSpPr>
        <p:spPr>
          <a:xfrm>
            <a:off x="1310256" y="3609060"/>
            <a:ext cx="13763" cy="13763"/>
          </a:xfrm>
          <a:prstGeom prst="rect">
            <a:avLst/>
          </a:prstGeom>
          <a:solidFill>
            <a:srgbClr val="A9B2A0"/>
          </a:solidFill>
          <a:ln w="12700">
            <a:solidFill>
              <a:srgbClr val="A9B2A0"/>
            </a:solidFill>
            <a:prstDash val="solid"/>
          </a:ln>
        </p:spPr>
      </p:sp>
      <p:sp>
        <p:nvSpPr>
          <p:cNvPr id="835" name="Shape 830"/>
          <p:cNvSpPr/>
          <p:nvPr/>
        </p:nvSpPr>
        <p:spPr>
          <a:xfrm>
            <a:off x="1352595" y="3609060"/>
            <a:ext cx="13763" cy="13763"/>
          </a:xfrm>
          <a:prstGeom prst="rect">
            <a:avLst/>
          </a:prstGeom>
          <a:solidFill>
            <a:srgbClr val="A9B2A0"/>
          </a:solidFill>
          <a:ln w="12700">
            <a:solidFill>
              <a:srgbClr val="A9B2A0"/>
            </a:solidFill>
            <a:prstDash val="solid"/>
          </a:ln>
        </p:spPr>
      </p:sp>
      <p:sp>
        <p:nvSpPr>
          <p:cNvPr id="836" name="Shape 831"/>
          <p:cNvSpPr/>
          <p:nvPr/>
        </p:nvSpPr>
        <p:spPr>
          <a:xfrm>
            <a:off x="1394933" y="3609060"/>
            <a:ext cx="13763" cy="13763"/>
          </a:xfrm>
          <a:prstGeom prst="rect">
            <a:avLst/>
          </a:prstGeom>
          <a:solidFill>
            <a:srgbClr val="A9B2A0"/>
          </a:solidFill>
          <a:ln w="12700">
            <a:solidFill>
              <a:srgbClr val="A9B2A0"/>
            </a:solidFill>
            <a:prstDash val="solid"/>
          </a:ln>
        </p:spPr>
      </p:sp>
      <p:sp>
        <p:nvSpPr>
          <p:cNvPr id="837" name="Shape 832"/>
          <p:cNvSpPr/>
          <p:nvPr/>
        </p:nvSpPr>
        <p:spPr>
          <a:xfrm>
            <a:off x="1437271" y="3609060"/>
            <a:ext cx="13763" cy="13763"/>
          </a:xfrm>
          <a:prstGeom prst="rect">
            <a:avLst/>
          </a:prstGeom>
          <a:solidFill>
            <a:srgbClr val="A9B2A0"/>
          </a:solidFill>
          <a:ln w="12700">
            <a:solidFill>
              <a:srgbClr val="A9B2A0"/>
            </a:solidFill>
            <a:prstDash val="solid"/>
          </a:ln>
        </p:spPr>
      </p:sp>
      <p:sp>
        <p:nvSpPr>
          <p:cNvPr id="838" name="Shape 833"/>
          <p:cNvSpPr/>
          <p:nvPr/>
        </p:nvSpPr>
        <p:spPr>
          <a:xfrm>
            <a:off x="1479609" y="3609060"/>
            <a:ext cx="13763" cy="13763"/>
          </a:xfrm>
          <a:prstGeom prst="rect">
            <a:avLst/>
          </a:prstGeom>
          <a:solidFill>
            <a:srgbClr val="A9B2A0"/>
          </a:solidFill>
          <a:ln w="12700">
            <a:solidFill>
              <a:srgbClr val="A9B2A0"/>
            </a:solidFill>
            <a:prstDash val="solid"/>
          </a:ln>
        </p:spPr>
      </p:sp>
      <p:sp>
        <p:nvSpPr>
          <p:cNvPr id="839" name="Shape 834"/>
          <p:cNvSpPr/>
          <p:nvPr/>
        </p:nvSpPr>
        <p:spPr>
          <a:xfrm>
            <a:off x="1521948" y="3609060"/>
            <a:ext cx="13763" cy="13763"/>
          </a:xfrm>
          <a:prstGeom prst="rect">
            <a:avLst/>
          </a:prstGeom>
          <a:solidFill>
            <a:srgbClr val="A9B2A0"/>
          </a:solidFill>
          <a:ln w="12700">
            <a:solidFill>
              <a:srgbClr val="A9B2A0"/>
            </a:solidFill>
            <a:prstDash val="solid"/>
          </a:ln>
        </p:spPr>
      </p:sp>
      <p:sp>
        <p:nvSpPr>
          <p:cNvPr id="840" name="Shape 835"/>
          <p:cNvSpPr/>
          <p:nvPr/>
        </p:nvSpPr>
        <p:spPr>
          <a:xfrm>
            <a:off x="1564286" y="3609060"/>
            <a:ext cx="13763" cy="13763"/>
          </a:xfrm>
          <a:prstGeom prst="rect">
            <a:avLst/>
          </a:prstGeom>
          <a:solidFill>
            <a:srgbClr val="A9B2A0"/>
          </a:solidFill>
          <a:ln w="12700">
            <a:solidFill>
              <a:srgbClr val="A9B2A0"/>
            </a:solidFill>
            <a:prstDash val="solid"/>
          </a:ln>
        </p:spPr>
      </p:sp>
      <p:sp>
        <p:nvSpPr>
          <p:cNvPr id="841" name="Shape 836"/>
          <p:cNvSpPr/>
          <p:nvPr/>
        </p:nvSpPr>
        <p:spPr>
          <a:xfrm>
            <a:off x="1606624" y="3609060"/>
            <a:ext cx="13763" cy="13763"/>
          </a:xfrm>
          <a:prstGeom prst="rect">
            <a:avLst/>
          </a:prstGeom>
          <a:solidFill>
            <a:srgbClr val="A9B2A0"/>
          </a:solidFill>
          <a:ln w="12700">
            <a:solidFill>
              <a:srgbClr val="A9B2A0"/>
            </a:solidFill>
            <a:prstDash val="solid"/>
          </a:ln>
        </p:spPr>
      </p:sp>
      <p:sp>
        <p:nvSpPr>
          <p:cNvPr id="842" name="Shape 837"/>
          <p:cNvSpPr/>
          <p:nvPr/>
        </p:nvSpPr>
        <p:spPr>
          <a:xfrm>
            <a:off x="1648963" y="3609060"/>
            <a:ext cx="13763" cy="13763"/>
          </a:xfrm>
          <a:prstGeom prst="rect">
            <a:avLst/>
          </a:prstGeom>
          <a:solidFill>
            <a:srgbClr val="A9B2A0"/>
          </a:solidFill>
          <a:ln w="12700">
            <a:solidFill>
              <a:srgbClr val="A9B2A0"/>
            </a:solidFill>
            <a:prstDash val="solid"/>
          </a:ln>
        </p:spPr>
      </p:sp>
      <p:sp>
        <p:nvSpPr>
          <p:cNvPr id="843" name="Shape 838"/>
          <p:cNvSpPr/>
          <p:nvPr/>
        </p:nvSpPr>
        <p:spPr>
          <a:xfrm>
            <a:off x="1691301" y="3609060"/>
            <a:ext cx="13763" cy="13763"/>
          </a:xfrm>
          <a:prstGeom prst="rect">
            <a:avLst/>
          </a:prstGeom>
          <a:solidFill>
            <a:srgbClr val="A9B2A0"/>
          </a:solidFill>
          <a:ln w="12700">
            <a:solidFill>
              <a:srgbClr val="A9B2A0"/>
            </a:solidFill>
            <a:prstDash val="solid"/>
          </a:ln>
        </p:spPr>
      </p:sp>
      <p:sp>
        <p:nvSpPr>
          <p:cNvPr id="844" name="Shape 839"/>
          <p:cNvSpPr/>
          <p:nvPr/>
        </p:nvSpPr>
        <p:spPr>
          <a:xfrm>
            <a:off x="1733639" y="3609060"/>
            <a:ext cx="13763" cy="13763"/>
          </a:xfrm>
          <a:prstGeom prst="rect">
            <a:avLst/>
          </a:prstGeom>
          <a:solidFill>
            <a:srgbClr val="C9CFC3"/>
          </a:solidFill>
          <a:ln w="12700">
            <a:solidFill>
              <a:srgbClr val="C9CFC3"/>
            </a:solidFill>
            <a:prstDash val="solid"/>
          </a:ln>
        </p:spPr>
      </p:sp>
      <p:sp>
        <p:nvSpPr>
          <p:cNvPr id="845" name="Shape 840"/>
          <p:cNvSpPr/>
          <p:nvPr/>
        </p:nvSpPr>
        <p:spPr>
          <a:xfrm>
            <a:off x="1775978" y="3609060"/>
            <a:ext cx="13763" cy="13763"/>
          </a:xfrm>
          <a:prstGeom prst="rect">
            <a:avLst/>
          </a:prstGeom>
          <a:solidFill>
            <a:srgbClr val="C9CFC3"/>
          </a:solidFill>
          <a:ln w="12700">
            <a:solidFill>
              <a:srgbClr val="C9CFC3"/>
            </a:solidFill>
            <a:prstDash val="solid"/>
          </a:ln>
        </p:spPr>
      </p:sp>
      <p:sp>
        <p:nvSpPr>
          <p:cNvPr id="846" name="Shape 841"/>
          <p:cNvSpPr/>
          <p:nvPr/>
        </p:nvSpPr>
        <p:spPr>
          <a:xfrm>
            <a:off x="1818316" y="3609060"/>
            <a:ext cx="13763" cy="13763"/>
          </a:xfrm>
          <a:prstGeom prst="rect">
            <a:avLst/>
          </a:prstGeom>
          <a:solidFill>
            <a:srgbClr val="C9CFC3"/>
          </a:solidFill>
          <a:ln w="12700">
            <a:solidFill>
              <a:srgbClr val="C9CFC3"/>
            </a:solidFill>
            <a:prstDash val="solid"/>
          </a:ln>
        </p:spPr>
      </p:sp>
      <p:sp>
        <p:nvSpPr>
          <p:cNvPr id="847" name="Shape 842"/>
          <p:cNvSpPr/>
          <p:nvPr/>
        </p:nvSpPr>
        <p:spPr>
          <a:xfrm>
            <a:off x="1860654" y="3609060"/>
            <a:ext cx="13763" cy="13763"/>
          </a:xfrm>
          <a:prstGeom prst="rect">
            <a:avLst/>
          </a:prstGeom>
          <a:solidFill>
            <a:srgbClr val="C9CFC3"/>
          </a:solidFill>
          <a:ln w="12700">
            <a:solidFill>
              <a:srgbClr val="C9CFC3"/>
            </a:solidFill>
            <a:prstDash val="solid"/>
          </a:ln>
        </p:spPr>
      </p:sp>
      <p:sp>
        <p:nvSpPr>
          <p:cNvPr id="848" name="Shape 843"/>
          <p:cNvSpPr/>
          <p:nvPr/>
        </p:nvSpPr>
        <p:spPr>
          <a:xfrm>
            <a:off x="1902992" y="3609060"/>
            <a:ext cx="13763" cy="13763"/>
          </a:xfrm>
          <a:prstGeom prst="rect">
            <a:avLst/>
          </a:prstGeom>
          <a:solidFill>
            <a:srgbClr val="C9CFC3"/>
          </a:solidFill>
          <a:ln w="12700">
            <a:solidFill>
              <a:srgbClr val="C9CFC3"/>
            </a:solidFill>
            <a:prstDash val="solid"/>
          </a:ln>
        </p:spPr>
      </p:sp>
      <p:sp>
        <p:nvSpPr>
          <p:cNvPr id="849" name="Shape 844"/>
          <p:cNvSpPr/>
          <p:nvPr/>
        </p:nvSpPr>
        <p:spPr>
          <a:xfrm>
            <a:off x="1945331" y="3609060"/>
            <a:ext cx="13763" cy="13763"/>
          </a:xfrm>
          <a:prstGeom prst="rect">
            <a:avLst/>
          </a:prstGeom>
          <a:solidFill>
            <a:srgbClr val="C9CFC3"/>
          </a:solidFill>
          <a:ln w="12700">
            <a:solidFill>
              <a:srgbClr val="C9CFC3"/>
            </a:solidFill>
            <a:prstDash val="solid"/>
          </a:ln>
        </p:spPr>
      </p:sp>
      <p:sp>
        <p:nvSpPr>
          <p:cNvPr id="850" name="Shape 845"/>
          <p:cNvSpPr/>
          <p:nvPr/>
        </p:nvSpPr>
        <p:spPr>
          <a:xfrm>
            <a:off x="1987669" y="3609060"/>
            <a:ext cx="13763" cy="13763"/>
          </a:xfrm>
          <a:prstGeom prst="rect">
            <a:avLst/>
          </a:prstGeom>
          <a:solidFill>
            <a:srgbClr val="C9CFC3"/>
          </a:solidFill>
          <a:ln w="12700">
            <a:solidFill>
              <a:srgbClr val="C9CFC3"/>
            </a:solidFill>
            <a:prstDash val="solid"/>
          </a:ln>
        </p:spPr>
      </p:sp>
      <p:sp>
        <p:nvSpPr>
          <p:cNvPr id="851" name="Shape 846"/>
          <p:cNvSpPr/>
          <p:nvPr/>
        </p:nvSpPr>
        <p:spPr>
          <a:xfrm>
            <a:off x="2030007" y="3609060"/>
            <a:ext cx="13763" cy="13763"/>
          </a:xfrm>
          <a:prstGeom prst="rect">
            <a:avLst/>
          </a:prstGeom>
          <a:solidFill>
            <a:srgbClr val="C9CFC3"/>
          </a:solidFill>
          <a:ln w="12700">
            <a:solidFill>
              <a:srgbClr val="C9CFC3"/>
            </a:solidFill>
            <a:prstDash val="solid"/>
          </a:ln>
        </p:spPr>
      </p:sp>
      <p:sp>
        <p:nvSpPr>
          <p:cNvPr id="852" name="Shape 847"/>
          <p:cNvSpPr/>
          <p:nvPr/>
        </p:nvSpPr>
        <p:spPr>
          <a:xfrm>
            <a:off x="2072346" y="3609060"/>
            <a:ext cx="13763" cy="13763"/>
          </a:xfrm>
          <a:prstGeom prst="rect">
            <a:avLst/>
          </a:prstGeom>
          <a:solidFill>
            <a:srgbClr val="C9CFC3"/>
          </a:solidFill>
          <a:ln w="12700">
            <a:solidFill>
              <a:srgbClr val="C9CFC3"/>
            </a:solidFill>
            <a:prstDash val="solid"/>
          </a:ln>
        </p:spPr>
      </p:sp>
      <p:sp>
        <p:nvSpPr>
          <p:cNvPr id="853" name="Shape 848"/>
          <p:cNvSpPr/>
          <p:nvPr/>
        </p:nvSpPr>
        <p:spPr>
          <a:xfrm>
            <a:off x="2114684" y="3609060"/>
            <a:ext cx="13763" cy="13763"/>
          </a:xfrm>
          <a:prstGeom prst="rect">
            <a:avLst/>
          </a:prstGeom>
          <a:solidFill>
            <a:srgbClr val="C9CFC3"/>
          </a:solidFill>
          <a:ln w="12700">
            <a:solidFill>
              <a:srgbClr val="C9CFC3"/>
            </a:solidFill>
            <a:prstDash val="solid"/>
          </a:ln>
        </p:spPr>
      </p:sp>
      <p:sp>
        <p:nvSpPr>
          <p:cNvPr id="854" name="Shape 849"/>
          <p:cNvSpPr/>
          <p:nvPr/>
        </p:nvSpPr>
        <p:spPr>
          <a:xfrm>
            <a:off x="971550" y="3651399"/>
            <a:ext cx="13763" cy="13763"/>
          </a:xfrm>
          <a:prstGeom prst="rect">
            <a:avLst/>
          </a:prstGeom>
          <a:solidFill>
            <a:srgbClr val="C9CFC3"/>
          </a:solidFill>
          <a:ln w="12700">
            <a:solidFill>
              <a:srgbClr val="C9CFC3"/>
            </a:solidFill>
            <a:prstDash val="solid"/>
          </a:ln>
        </p:spPr>
      </p:sp>
      <p:sp>
        <p:nvSpPr>
          <p:cNvPr id="855" name="Shape 850"/>
          <p:cNvSpPr/>
          <p:nvPr/>
        </p:nvSpPr>
        <p:spPr>
          <a:xfrm>
            <a:off x="1013888" y="3651399"/>
            <a:ext cx="13763" cy="13763"/>
          </a:xfrm>
          <a:prstGeom prst="rect">
            <a:avLst/>
          </a:prstGeom>
          <a:solidFill>
            <a:srgbClr val="C9CFC3"/>
          </a:solidFill>
          <a:ln w="12700">
            <a:solidFill>
              <a:srgbClr val="C9CFC3"/>
            </a:solidFill>
            <a:prstDash val="solid"/>
          </a:ln>
        </p:spPr>
      </p:sp>
      <p:sp>
        <p:nvSpPr>
          <p:cNvPr id="856" name="Shape 851"/>
          <p:cNvSpPr/>
          <p:nvPr/>
        </p:nvSpPr>
        <p:spPr>
          <a:xfrm>
            <a:off x="1056227" y="3651399"/>
            <a:ext cx="13763" cy="13763"/>
          </a:xfrm>
          <a:prstGeom prst="rect">
            <a:avLst/>
          </a:prstGeom>
          <a:solidFill>
            <a:srgbClr val="C9CFC3"/>
          </a:solidFill>
          <a:ln w="12700">
            <a:solidFill>
              <a:srgbClr val="C9CFC3"/>
            </a:solidFill>
            <a:prstDash val="solid"/>
          </a:ln>
        </p:spPr>
      </p:sp>
      <p:sp>
        <p:nvSpPr>
          <p:cNvPr id="857" name="Shape 852"/>
          <p:cNvSpPr/>
          <p:nvPr/>
        </p:nvSpPr>
        <p:spPr>
          <a:xfrm>
            <a:off x="1098565" y="3651399"/>
            <a:ext cx="13763" cy="13763"/>
          </a:xfrm>
          <a:prstGeom prst="rect">
            <a:avLst/>
          </a:prstGeom>
          <a:solidFill>
            <a:srgbClr val="C9CFC3"/>
          </a:solidFill>
          <a:ln w="12700">
            <a:solidFill>
              <a:srgbClr val="C9CFC3"/>
            </a:solidFill>
            <a:prstDash val="solid"/>
          </a:ln>
        </p:spPr>
      </p:sp>
      <p:sp>
        <p:nvSpPr>
          <p:cNvPr id="858" name="Shape 853"/>
          <p:cNvSpPr/>
          <p:nvPr/>
        </p:nvSpPr>
        <p:spPr>
          <a:xfrm>
            <a:off x="1140903" y="3651399"/>
            <a:ext cx="13763" cy="13763"/>
          </a:xfrm>
          <a:prstGeom prst="rect">
            <a:avLst/>
          </a:prstGeom>
          <a:solidFill>
            <a:srgbClr val="C9CFC3"/>
          </a:solidFill>
          <a:ln w="12700">
            <a:solidFill>
              <a:srgbClr val="C9CFC3"/>
            </a:solidFill>
            <a:prstDash val="solid"/>
          </a:ln>
        </p:spPr>
      </p:sp>
      <p:sp>
        <p:nvSpPr>
          <p:cNvPr id="859" name="Shape 854"/>
          <p:cNvSpPr/>
          <p:nvPr/>
        </p:nvSpPr>
        <p:spPr>
          <a:xfrm>
            <a:off x="1183241" y="3651399"/>
            <a:ext cx="13763" cy="13763"/>
          </a:xfrm>
          <a:prstGeom prst="rect">
            <a:avLst/>
          </a:prstGeom>
          <a:solidFill>
            <a:srgbClr val="C9CFC3"/>
          </a:solidFill>
          <a:ln w="12700">
            <a:solidFill>
              <a:srgbClr val="C9CFC3"/>
            </a:solidFill>
            <a:prstDash val="solid"/>
          </a:ln>
        </p:spPr>
      </p:sp>
      <p:sp>
        <p:nvSpPr>
          <p:cNvPr id="860" name="Shape 855"/>
          <p:cNvSpPr/>
          <p:nvPr/>
        </p:nvSpPr>
        <p:spPr>
          <a:xfrm>
            <a:off x="1225580" y="3651399"/>
            <a:ext cx="13763" cy="13763"/>
          </a:xfrm>
          <a:prstGeom prst="rect">
            <a:avLst/>
          </a:prstGeom>
          <a:solidFill>
            <a:srgbClr val="C9CFC3"/>
          </a:solidFill>
          <a:ln w="12700">
            <a:solidFill>
              <a:srgbClr val="C9CFC3"/>
            </a:solidFill>
            <a:prstDash val="solid"/>
          </a:ln>
        </p:spPr>
      </p:sp>
      <p:sp>
        <p:nvSpPr>
          <p:cNvPr id="861" name="Text 856"/>
          <p:cNvSpPr txBox="1"/>
          <p:nvPr/>
        </p:nvSpPr>
        <p:spPr>
          <a:xfrm>
            <a:off x="2309422" y="2381250"/>
            <a:ext cx="2006808" cy="171450"/>
          </a:xfrm>
          <a:prstGeom prst="rect">
            <a:avLst/>
          </a:prstGeom>
          <a:noFill/>
          <a:ln/>
        </p:spPr>
        <p:txBody>
          <a:bodyPr wrap="square" lIns="0" tIns="0" rIns="0" bIns="0" rtlCol="0" anchor="ctr"/>
          <a:lstStyle/>
          <a:p>
            <a:pPr algn="l"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CAN BE WON BACK · 655</a:t>
            </a:r>
            <a:endParaRPr lang="en-US" sz="800" dirty="0"/>
          </a:p>
        </p:txBody>
      </p:sp>
      <p:sp>
        <p:nvSpPr>
          <p:cNvPr id="862" name="Shape 857"/>
          <p:cNvSpPr/>
          <p:nvPr/>
        </p:nvSpPr>
        <p:spPr>
          <a:xfrm>
            <a:off x="2309422" y="2609850"/>
            <a:ext cx="114300" cy="114300"/>
          </a:xfrm>
          <a:prstGeom prst="roundRect">
            <a:avLst>
              <a:gd name="adj" fmla="val 16667"/>
            </a:avLst>
          </a:prstGeom>
          <a:solidFill>
            <a:srgbClr val="C9CFC3"/>
          </a:solidFill>
          <a:ln w="12700">
            <a:solidFill>
              <a:srgbClr val="C9CFC3"/>
            </a:solidFill>
            <a:prstDash val="solid"/>
          </a:ln>
        </p:spPr>
      </p:sp>
      <p:sp>
        <p:nvSpPr>
          <p:cNvPr id="863" name="Text 858"/>
          <p:cNvSpPr txBox="1"/>
          <p:nvPr/>
        </p:nvSpPr>
        <p:spPr>
          <a:xfrm>
            <a:off x="2480872" y="2571750"/>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Other</a:t>
            </a:r>
            <a:endParaRPr lang="en-US" sz="900" dirty="0"/>
          </a:p>
        </p:txBody>
      </p:sp>
      <p:sp>
        <p:nvSpPr>
          <p:cNvPr id="864" name="Text 859"/>
          <p:cNvSpPr txBox="1"/>
          <p:nvPr/>
        </p:nvSpPr>
        <p:spPr>
          <a:xfrm>
            <a:off x="4030480" y="2571750"/>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380</a:t>
            </a:r>
            <a:endParaRPr lang="en-US" sz="900" dirty="0"/>
          </a:p>
        </p:txBody>
      </p:sp>
      <p:sp>
        <p:nvSpPr>
          <p:cNvPr id="865" name="Shape 860"/>
          <p:cNvSpPr/>
          <p:nvPr/>
        </p:nvSpPr>
        <p:spPr>
          <a:xfrm>
            <a:off x="2309422" y="2828925"/>
            <a:ext cx="114300" cy="114300"/>
          </a:xfrm>
          <a:prstGeom prst="roundRect">
            <a:avLst>
              <a:gd name="adj" fmla="val 16667"/>
            </a:avLst>
          </a:prstGeom>
          <a:solidFill>
            <a:srgbClr val="D9A21B"/>
          </a:solidFill>
          <a:ln w="12700">
            <a:solidFill>
              <a:srgbClr val="D9A21B"/>
            </a:solidFill>
            <a:prstDash val="solid"/>
          </a:ln>
        </p:spPr>
      </p:sp>
      <p:sp>
        <p:nvSpPr>
          <p:cNvPr id="866" name="Text 861"/>
          <p:cNvSpPr txBox="1"/>
          <p:nvPr/>
        </p:nvSpPr>
        <p:spPr>
          <a:xfrm>
            <a:off x="2480872" y="2790825"/>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Just asking</a:t>
            </a:r>
            <a:endParaRPr lang="en-US" sz="900" dirty="0"/>
          </a:p>
        </p:txBody>
      </p:sp>
      <p:sp>
        <p:nvSpPr>
          <p:cNvPr id="867" name="Text 862"/>
          <p:cNvSpPr txBox="1"/>
          <p:nvPr/>
        </p:nvSpPr>
        <p:spPr>
          <a:xfrm>
            <a:off x="4030480" y="2790825"/>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191</a:t>
            </a:r>
            <a:endParaRPr lang="en-US" sz="900" dirty="0"/>
          </a:p>
        </p:txBody>
      </p:sp>
      <p:sp>
        <p:nvSpPr>
          <p:cNvPr id="868" name="Shape 863"/>
          <p:cNvSpPr/>
          <p:nvPr/>
        </p:nvSpPr>
        <p:spPr>
          <a:xfrm>
            <a:off x="2309422" y="3048000"/>
            <a:ext cx="114300" cy="114300"/>
          </a:xfrm>
          <a:prstGeom prst="roundRect">
            <a:avLst>
              <a:gd name="adj" fmla="val 16667"/>
            </a:avLst>
          </a:prstGeom>
          <a:solidFill>
            <a:srgbClr val="B85A28"/>
          </a:solidFill>
          <a:ln w="12700">
            <a:solidFill>
              <a:srgbClr val="B85A28"/>
            </a:solidFill>
            <a:prstDash val="solid"/>
          </a:ln>
        </p:spPr>
      </p:sp>
      <p:sp>
        <p:nvSpPr>
          <p:cNvPr id="869" name="Text 864"/>
          <p:cNvSpPr txBox="1"/>
          <p:nvPr/>
        </p:nvSpPr>
        <p:spPr>
          <a:xfrm>
            <a:off x="2480872" y="3009900"/>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Stock &amp; delivery</a:t>
            </a:r>
            <a:endParaRPr lang="en-US" sz="900" dirty="0"/>
          </a:p>
        </p:txBody>
      </p:sp>
      <p:sp>
        <p:nvSpPr>
          <p:cNvPr id="870" name="Text 865"/>
          <p:cNvSpPr txBox="1"/>
          <p:nvPr/>
        </p:nvSpPr>
        <p:spPr>
          <a:xfrm>
            <a:off x="4030480" y="3009900"/>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41</a:t>
            </a:r>
            <a:endParaRPr lang="en-US" sz="900" dirty="0"/>
          </a:p>
        </p:txBody>
      </p:sp>
      <p:sp>
        <p:nvSpPr>
          <p:cNvPr id="871" name="Shape 866"/>
          <p:cNvSpPr/>
          <p:nvPr/>
        </p:nvSpPr>
        <p:spPr>
          <a:xfrm>
            <a:off x="2309422" y="3267075"/>
            <a:ext cx="114300" cy="114300"/>
          </a:xfrm>
          <a:prstGeom prst="roundRect">
            <a:avLst>
              <a:gd name="adj" fmla="val 16667"/>
            </a:avLst>
          </a:prstGeom>
          <a:solidFill>
            <a:srgbClr val="2B7BB0"/>
          </a:solidFill>
          <a:ln w="12700">
            <a:solidFill>
              <a:srgbClr val="2B7BB0"/>
            </a:solidFill>
            <a:prstDash val="solid"/>
          </a:ln>
        </p:spPr>
      </p:sp>
      <p:sp>
        <p:nvSpPr>
          <p:cNvPr id="872" name="Text 867"/>
          <p:cNvSpPr txBox="1"/>
          <p:nvPr/>
        </p:nvSpPr>
        <p:spPr>
          <a:xfrm>
            <a:off x="2480872" y="3228975"/>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Price</a:t>
            </a:r>
            <a:endParaRPr lang="en-US" sz="900" dirty="0"/>
          </a:p>
        </p:txBody>
      </p:sp>
      <p:sp>
        <p:nvSpPr>
          <p:cNvPr id="873" name="Text 868"/>
          <p:cNvSpPr txBox="1"/>
          <p:nvPr/>
        </p:nvSpPr>
        <p:spPr>
          <a:xfrm>
            <a:off x="4030480" y="3228975"/>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33</a:t>
            </a:r>
            <a:endParaRPr lang="en-US" sz="900" dirty="0"/>
          </a:p>
        </p:txBody>
      </p:sp>
      <p:sp>
        <p:nvSpPr>
          <p:cNvPr id="874" name="Shape 869"/>
          <p:cNvSpPr/>
          <p:nvPr/>
        </p:nvSpPr>
        <p:spPr>
          <a:xfrm>
            <a:off x="2309422" y="3486150"/>
            <a:ext cx="114300" cy="114300"/>
          </a:xfrm>
          <a:prstGeom prst="roundRect">
            <a:avLst>
              <a:gd name="adj" fmla="val 16667"/>
            </a:avLst>
          </a:prstGeom>
          <a:solidFill>
            <a:srgbClr val="A9B2A0"/>
          </a:solidFill>
          <a:ln w="12700">
            <a:solidFill>
              <a:srgbClr val="A9B2A0"/>
            </a:solidFill>
            <a:prstDash val="solid"/>
          </a:ln>
        </p:spPr>
      </p:sp>
      <p:sp>
        <p:nvSpPr>
          <p:cNvPr id="875" name="Text 870"/>
          <p:cNvSpPr txBox="1"/>
          <p:nvPr/>
        </p:nvSpPr>
        <p:spPr>
          <a:xfrm>
            <a:off x="2480872" y="3448050"/>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Not a fit</a:t>
            </a:r>
            <a:endParaRPr lang="en-US" sz="900" dirty="0"/>
          </a:p>
        </p:txBody>
      </p:sp>
      <p:sp>
        <p:nvSpPr>
          <p:cNvPr id="876" name="Text 871"/>
          <p:cNvSpPr txBox="1"/>
          <p:nvPr/>
        </p:nvSpPr>
        <p:spPr>
          <a:xfrm>
            <a:off x="4030480" y="3448050"/>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6</a:t>
            </a:r>
            <a:endParaRPr lang="en-US" sz="900" dirty="0"/>
          </a:p>
        </p:txBody>
      </p:sp>
      <p:sp>
        <p:nvSpPr>
          <p:cNvPr id="877" name="Shape 872"/>
          <p:cNvSpPr/>
          <p:nvPr/>
        </p:nvSpPr>
        <p:spPr>
          <a:xfrm>
            <a:off x="2309422" y="3705225"/>
            <a:ext cx="114300" cy="114300"/>
          </a:xfrm>
          <a:prstGeom prst="roundRect">
            <a:avLst>
              <a:gd name="adj" fmla="val 16667"/>
            </a:avLst>
          </a:prstGeom>
          <a:solidFill>
            <a:srgbClr val="5F6B57"/>
          </a:solidFill>
          <a:ln w="12700">
            <a:solidFill>
              <a:srgbClr val="5F6B57"/>
            </a:solidFill>
            <a:prstDash val="solid"/>
          </a:ln>
        </p:spPr>
      </p:sp>
      <p:sp>
        <p:nvSpPr>
          <p:cNvPr id="878" name="Text 873"/>
          <p:cNvSpPr txBox="1"/>
          <p:nvPr/>
        </p:nvSpPr>
        <p:spPr>
          <a:xfrm>
            <a:off x="2480872" y="3667125"/>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Locked in elsewhere</a:t>
            </a:r>
            <a:endParaRPr lang="en-US" sz="900" dirty="0"/>
          </a:p>
        </p:txBody>
      </p:sp>
      <p:sp>
        <p:nvSpPr>
          <p:cNvPr id="879" name="Text 874"/>
          <p:cNvSpPr txBox="1"/>
          <p:nvPr/>
        </p:nvSpPr>
        <p:spPr>
          <a:xfrm>
            <a:off x="4030480" y="3667125"/>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4</a:t>
            </a:r>
            <a:endParaRPr lang="en-US" sz="900" dirty="0"/>
          </a:p>
        </p:txBody>
      </p:sp>
      <p:sp>
        <p:nvSpPr>
          <p:cNvPr id="880" name="Text 875"/>
          <p:cNvSpPr txBox="1"/>
          <p:nvPr/>
        </p:nvSpPr>
        <p:spPr>
          <a:xfrm>
            <a:off x="2309422" y="3886200"/>
            <a:ext cx="2006808" cy="171450"/>
          </a:xfrm>
          <a:prstGeom prst="rect">
            <a:avLst/>
          </a:prstGeom>
          <a:noFill/>
          <a:ln/>
        </p:spPr>
        <p:txBody>
          <a:bodyPr wrap="square" lIns="0" tIns="0" rIns="0" bIns="0" rtlCol="0" anchor="ctr"/>
          <a:lstStyle/>
          <a:p>
            <a:pPr algn="l"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CLOSED FOR NOW · 192</a:t>
            </a:r>
            <a:endParaRPr lang="en-US" sz="800" dirty="0"/>
          </a:p>
        </p:txBody>
      </p:sp>
      <p:sp>
        <p:nvSpPr>
          <p:cNvPr id="881" name="Shape 876"/>
          <p:cNvSpPr/>
          <p:nvPr/>
        </p:nvSpPr>
        <p:spPr>
          <a:xfrm>
            <a:off x="2309422" y="4114800"/>
            <a:ext cx="114300" cy="114300"/>
          </a:xfrm>
          <a:prstGeom prst="roundRect">
            <a:avLst>
              <a:gd name="adj" fmla="val 16667"/>
            </a:avLst>
          </a:prstGeom>
          <a:solidFill>
            <a:srgbClr val="5F6B57"/>
          </a:solidFill>
          <a:ln w="12700">
            <a:solidFill>
              <a:srgbClr val="5F6B57"/>
            </a:solidFill>
            <a:prstDash val="solid"/>
          </a:ln>
        </p:spPr>
      </p:sp>
      <p:sp>
        <p:nvSpPr>
          <p:cNvPr id="882" name="Text 877"/>
          <p:cNvSpPr txBox="1"/>
          <p:nvPr/>
        </p:nvSpPr>
        <p:spPr>
          <a:xfrm>
            <a:off x="2480872" y="4076700"/>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Locked in elsewhere</a:t>
            </a:r>
            <a:endParaRPr lang="en-US" sz="900" dirty="0"/>
          </a:p>
        </p:txBody>
      </p:sp>
      <p:sp>
        <p:nvSpPr>
          <p:cNvPr id="883" name="Text 878"/>
          <p:cNvSpPr txBox="1"/>
          <p:nvPr/>
        </p:nvSpPr>
        <p:spPr>
          <a:xfrm>
            <a:off x="4030480" y="4076700"/>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138</a:t>
            </a:r>
            <a:endParaRPr lang="en-US" sz="900" dirty="0"/>
          </a:p>
        </p:txBody>
      </p:sp>
      <p:sp>
        <p:nvSpPr>
          <p:cNvPr id="884" name="Shape 879"/>
          <p:cNvSpPr/>
          <p:nvPr/>
        </p:nvSpPr>
        <p:spPr>
          <a:xfrm>
            <a:off x="2309422" y="4333875"/>
            <a:ext cx="114300" cy="114300"/>
          </a:xfrm>
          <a:prstGeom prst="roundRect">
            <a:avLst>
              <a:gd name="adj" fmla="val 16667"/>
            </a:avLst>
          </a:prstGeom>
          <a:solidFill>
            <a:srgbClr val="A9B2A0"/>
          </a:solidFill>
          <a:ln w="12700">
            <a:solidFill>
              <a:srgbClr val="A9B2A0"/>
            </a:solidFill>
            <a:prstDash val="solid"/>
          </a:ln>
        </p:spPr>
      </p:sp>
      <p:sp>
        <p:nvSpPr>
          <p:cNvPr id="885" name="Text 880"/>
          <p:cNvSpPr txBox="1"/>
          <p:nvPr/>
        </p:nvSpPr>
        <p:spPr>
          <a:xfrm>
            <a:off x="2480872" y="4295775"/>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Not a fit</a:t>
            </a:r>
            <a:endParaRPr lang="en-US" sz="900" dirty="0"/>
          </a:p>
        </p:txBody>
      </p:sp>
      <p:sp>
        <p:nvSpPr>
          <p:cNvPr id="886" name="Text 881"/>
          <p:cNvSpPr txBox="1"/>
          <p:nvPr/>
        </p:nvSpPr>
        <p:spPr>
          <a:xfrm>
            <a:off x="4030480" y="4295775"/>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37</a:t>
            </a:r>
            <a:endParaRPr lang="en-US" sz="900" dirty="0"/>
          </a:p>
        </p:txBody>
      </p:sp>
      <p:sp>
        <p:nvSpPr>
          <p:cNvPr id="887" name="Shape 882"/>
          <p:cNvSpPr/>
          <p:nvPr/>
        </p:nvSpPr>
        <p:spPr>
          <a:xfrm>
            <a:off x="2309422" y="4552950"/>
            <a:ext cx="114300" cy="114300"/>
          </a:xfrm>
          <a:prstGeom prst="roundRect">
            <a:avLst>
              <a:gd name="adj" fmla="val 16667"/>
            </a:avLst>
          </a:prstGeom>
          <a:solidFill>
            <a:srgbClr val="C9CFC3"/>
          </a:solidFill>
          <a:ln w="12700">
            <a:solidFill>
              <a:srgbClr val="C9CFC3"/>
            </a:solidFill>
            <a:prstDash val="solid"/>
          </a:ln>
        </p:spPr>
      </p:sp>
      <p:sp>
        <p:nvSpPr>
          <p:cNvPr id="888" name="Text 883"/>
          <p:cNvSpPr txBox="1"/>
          <p:nvPr/>
        </p:nvSpPr>
        <p:spPr>
          <a:xfrm>
            <a:off x="2480872" y="4514850"/>
            <a:ext cx="1530558" cy="190500"/>
          </a:xfrm>
          <a:prstGeom prst="rect">
            <a:avLst/>
          </a:prstGeom>
          <a:noFill/>
          <a:ln/>
        </p:spPr>
        <p:txBody>
          <a:bodyPr wrap="square" lIns="0" tIns="0" rIns="0" bIns="0" rtlCol="0" anchor="ctr"/>
          <a:lstStyle/>
          <a:p>
            <a:pPr algn="l"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Other</a:t>
            </a:r>
            <a:endParaRPr lang="en-US" sz="900" dirty="0"/>
          </a:p>
        </p:txBody>
      </p:sp>
      <p:sp>
        <p:nvSpPr>
          <p:cNvPr id="889" name="Text 884"/>
          <p:cNvSpPr txBox="1"/>
          <p:nvPr/>
        </p:nvSpPr>
        <p:spPr>
          <a:xfrm>
            <a:off x="4030480" y="4514850"/>
            <a:ext cx="285750" cy="190500"/>
          </a:xfrm>
          <a:prstGeom prst="rect">
            <a:avLst/>
          </a:prstGeom>
          <a:noFill/>
          <a:ln/>
        </p:spPr>
        <p:txBody>
          <a:bodyPr wrap="square" lIns="0" tIns="0" rIns="0" bIns="0" rtlCol="0" anchor="ctr"/>
          <a:lstStyle/>
          <a:p>
            <a:pPr algn="r" indent="0" marL="0">
              <a:lnSpc>
                <a:spcPct val="95000"/>
              </a:lnSpc>
              <a:buNone/>
            </a:pPr>
            <a:r>
              <a:rPr lang="en-US" sz="900" b="1" dirty="0">
                <a:solidFill>
                  <a:srgbClr val="2B2F28"/>
                </a:solidFill>
                <a:latin typeface="Plus Jakarta Sans" pitchFamily="34" charset="0"/>
                <a:ea typeface="Plus Jakarta Sans" pitchFamily="34" charset="-122"/>
                <a:cs typeface="Plus Jakarta Sans" pitchFamily="34" charset="-120"/>
              </a:rPr>
              <a:t>17</a:t>
            </a:r>
            <a:endParaRPr lang="en-US" sz="900" dirty="0"/>
          </a:p>
        </p:txBody>
      </p:sp>
      <p:sp>
        <p:nvSpPr>
          <p:cNvPr id="890" name="Shape 885"/>
          <p:cNvSpPr/>
          <p:nvPr/>
        </p:nvSpPr>
        <p:spPr>
          <a:xfrm>
            <a:off x="4678180" y="1714500"/>
            <a:ext cx="2945567" cy="2171700"/>
          </a:xfrm>
          <a:prstGeom prst="roundRect">
            <a:avLst>
              <a:gd name="adj" fmla="val 5053"/>
            </a:avLst>
          </a:prstGeom>
          <a:solidFill>
            <a:srgbClr val="FFFFFF"/>
          </a:solidFill>
          <a:ln w="12700">
            <a:solidFill>
              <a:srgbClr val="FFFFFF"/>
            </a:solidFill>
            <a:prstDash val="solid"/>
          </a:ln>
        </p:spPr>
      </p:sp>
      <p:sp>
        <p:nvSpPr>
          <p:cNvPr id="891" name="Text 886"/>
          <p:cNvSpPr txBox="1"/>
          <p:nvPr/>
        </p:nvSpPr>
        <p:spPr>
          <a:xfrm>
            <a:off x="4868680" y="1866900"/>
            <a:ext cx="2564567"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Contact outcome</a:t>
            </a:r>
            <a:endParaRPr lang="en-US" sz="1300" dirty="0"/>
          </a:p>
        </p:txBody>
      </p:sp>
      <p:sp>
        <p:nvSpPr>
          <p:cNvPr id="892" name="Text 887"/>
          <p:cNvSpPr txBox="1"/>
          <p:nvPr/>
        </p:nvSpPr>
        <p:spPr>
          <a:xfrm>
            <a:off x="4868680" y="2095500"/>
            <a:ext cx="2564567"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Reasons by whether we actually talked</a:t>
            </a:r>
            <a:endParaRPr lang="en-US" sz="950" dirty="0"/>
          </a:p>
        </p:txBody>
      </p:sp>
      <p:sp>
        <p:nvSpPr>
          <p:cNvPr id="893" name="Shape 888"/>
          <p:cNvSpPr/>
          <p:nvPr/>
        </p:nvSpPr>
        <p:spPr>
          <a:xfrm>
            <a:off x="4887730" y="2409825"/>
            <a:ext cx="104775" cy="104775"/>
          </a:xfrm>
          <a:prstGeom prst="roundRect">
            <a:avLst>
              <a:gd name="adj" fmla="val 18182"/>
            </a:avLst>
          </a:prstGeom>
          <a:solidFill>
            <a:srgbClr val="D9A21B"/>
          </a:solidFill>
          <a:ln w="12700">
            <a:solidFill>
              <a:srgbClr val="D9A21B"/>
            </a:solidFill>
            <a:prstDash val="solid"/>
          </a:ln>
        </p:spPr>
      </p:sp>
      <p:sp>
        <p:nvSpPr>
          <p:cNvPr id="894" name="Text 889"/>
          <p:cNvSpPr txBox="1"/>
          <p:nvPr/>
        </p:nvSpPr>
        <p:spPr>
          <a:xfrm>
            <a:off x="5040130" y="2381250"/>
            <a:ext cx="808101"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Just asking</a:t>
            </a:r>
            <a:endParaRPr lang="en-US" sz="860" dirty="0"/>
          </a:p>
        </p:txBody>
      </p:sp>
      <p:sp>
        <p:nvSpPr>
          <p:cNvPr id="895" name="Shape 890"/>
          <p:cNvSpPr/>
          <p:nvPr/>
        </p:nvSpPr>
        <p:spPr>
          <a:xfrm>
            <a:off x="5848231" y="2409825"/>
            <a:ext cx="104775" cy="104775"/>
          </a:xfrm>
          <a:prstGeom prst="roundRect">
            <a:avLst>
              <a:gd name="adj" fmla="val 18182"/>
            </a:avLst>
          </a:prstGeom>
          <a:solidFill>
            <a:srgbClr val="5F6B57"/>
          </a:solidFill>
          <a:ln w="12700">
            <a:solidFill>
              <a:srgbClr val="5F6B57"/>
            </a:solidFill>
            <a:prstDash val="solid"/>
          </a:ln>
        </p:spPr>
      </p:sp>
      <p:sp>
        <p:nvSpPr>
          <p:cNvPr id="896" name="Text 891"/>
          <p:cNvSpPr txBox="1"/>
          <p:nvPr/>
        </p:nvSpPr>
        <p:spPr>
          <a:xfrm>
            <a:off x="6000631" y="2381250"/>
            <a:ext cx="1298829"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Locked in elsewhere</a:t>
            </a:r>
            <a:endParaRPr lang="en-US" sz="860" dirty="0"/>
          </a:p>
        </p:txBody>
      </p:sp>
      <p:sp>
        <p:nvSpPr>
          <p:cNvPr id="897" name="Shape 892"/>
          <p:cNvSpPr/>
          <p:nvPr/>
        </p:nvSpPr>
        <p:spPr>
          <a:xfrm>
            <a:off x="4887730" y="2581275"/>
            <a:ext cx="104775" cy="104775"/>
          </a:xfrm>
          <a:prstGeom prst="roundRect">
            <a:avLst>
              <a:gd name="adj" fmla="val 18182"/>
            </a:avLst>
          </a:prstGeom>
          <a:solidFill>
            <a:srgbClr val="2B7BB0"/>
          </a:solidFill>
          <a:ln w="12700">
            <a:solidFill>
              <a:srgbClr val="2B7BB0"/>
            </a:solidFill>
            <a:prstDash val="solid"/>
          </a:ln>
        </p:spPr>
      </p:sp>
      <p:sp>
        <p:nvSpPr>
          <p:cNvPr id="898" name="Text 893"/>
          <p:cNvSpPr txBox="1"/>
          <p:nvPr/>
        </p:nvSpPr>
        <p:spPr>
          <a:xfrm>
            <a:off x="5040130" y="2552700"/>
            <a:ext cx="930783"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Other reasons</a:t>
            </a:r>
            <a:endParaRPr lang="en-US" sz="860" dirty="0"/>
          </a:p>
        </p:txBody>
      </p:sp>
      <p:sp>
        <p:nvSpPr>
          <p:cNvPr id="899" name="Shape 894"/>
          <p:cNvSpPr/>
          <p:nvPr/>
        </p:nvSpPr>
        <p:spPr>
          <a:xfrm>
            <a:off x="4967735" y="3392135"/>
            <a:ext cx="261068" cy="74965"/>
          </a:xfrm>
          <a:prstGeom prst="roundRect">
            <a:avLst>
              <a:gd name="adj" fmla="val 38118"/>
            </a:avLst>
          </a:prstGeom>
          <a:solidFill>
            <a:srgbClr val="D9A21B"/>
          </a:solidFill>
          <a:ln w="12700">
            <a:solidFill>
              <a:srgbClr val="D9A21B"/>
            </a:solidFill>
            <a:prstDash val="solid"/>
          </a:ln>
        </p:spPr>
      </p:sp>
      <p:sp>
        <p:nvSpPr>
          <p:cNvPr id="900" name="Shape 895"/>
          <p:cNvSpPr/>
          <p:nvPr/>
        </p:nvSpPr>
        <p:spPr>
          <a:xfrm>
            <a:off x="4967735" y="3237794"/>
            <a:ext cx="261068" cy="135290"/>
          </a:xfrm>
          <a:prstGeom prst="roundRect">
            <a:avLst>
              <a:gd name="adj" fmla="val 21121"/>
            </a:avLst>
          </a:prstGeom>
          <a:solidFill>
            <a:srgbClr val="5F6B57"/>
          </a:solidFill>
          <a:ln w="12700">
            <a:solidFill>
              <a:srgbClr val="5F6B57"/>
            </a:solidFill>
            <a:prstDash val="solid"/>
          </a:ln>
        </p:spPr>
      </p:sp>
      <p:sp>
        <p:nvSpPr>
          <p:cNvPr id="901" name="Text 896"/>
          <p:cNvSpPr txBox="1"/>
          <p:nvPr/>
        </p:nvSpPr>
        <p:spPr>
          <a:xfrm>
            <a:off x="4967735" y="3237794"/>
            <a:ext cx="261068" cy="154340"/>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140</a:t>
            </a:r>
            <a:endParaRPr lang="en-US" sz="800" dirty="0"/>
          </a:p>
        </p:txBody>
      </p:sp>
      <p:sp>
        <p:nvSpPr>
          <p:cNvPr id="902" name="Shape 897"/>
          <p:cNvSpPr/>
          <p:nvPr/>
        </p:nvSpPr>
        <p:spPr>
          <a:xfrm>
            <a:off x="4967735" y="2990850"/>
            <a:ext cx="261068" cy="227894"/>
          </a:xfrm>
          <a:prstGeom prst="roundRect">
            <a:avLst>
              <a:gd name="adj" fmla="val 12539"/>
            </a:avLst>
          </a:prstGeom>
          <a:solidFill>
            <a:srgbClr val="2B7BB0"/>
          </a:solidFill>
          <a:ln w="12700">
            <a:solidFill>
              <a:srgbClr val="2B7BB0"/>
            </a:solidFill>
            <a:prstDash val="solid"/>
          </a:ln>
        </p:spPr>
      </p:sp>
      <p:sp>
        <p:nvSpPr>
          <p:cNvPr id="903" name="Text 898"/>
          <p:cNvSpPr txBox="1"/>
          <p:nvPr/>
        </p:nvSpPr>
        <p:spPr>
          <a:xfrm>
            <a:off x="4967735" y="2990850"/>
            <a:ext cx="261068" cy="246944"/>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224</a:t>
            </a:r>
            <a:endParaRPr lang="en-US" sz="800" dirty="0"/>
          </a:p>
        </p:txBody>
      </p:sp>
      <p:sp>
        <p:nvSpPr>
          <p:cNvPr id="904" name="Text 899"/>
          <p:cNvSpPr txBox="1"/>
          <p:nvPr/>
        </p:nvSpPr>
        <p:spPr>
          <a:xfrm>
            <a:off x="4717269" y="281940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432</a:t>
            </a:r>
            <a:endParaRPr lang="en-US" sz="860" dirty="0"/>
          </a:p>
        </p:txBody>
      </p:sp>
      <p:sp>
        <p:nvSpPr>
          <p:cNvPr id="905" name="Text 900"/>
          <p:cNvSpPr txBox="1"/>
          <p:nvPr/>
        </p:nvSpPr>
        <p:spPr>
          <a:xfrm>
            <a:off x="4897255" y="3514725"/>
            <a:ext cx="402028"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Call</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conne…</a:t>
            </a:r>
            <a:endParaRPr lang="en-US" sz="830" dirty="0"/>
          </a:p>
        </p:txBody>
      </p:sp>
      <p:sp>
        <p:nvSpPr>
          <p:cNvPr id="906" name="Shape 901"/>
          <p:cNvSpPr/>
          <p:nvPr/>
        </p:nvSpPr>
        <p:spPr>
          <a:xfrm>
            <a:off x="5388813" y="3407569"/>
            <a:ext cx="261068" cy="59531"/>
          </a:xfrm>
          <a:prstGeom prst="roundRect">
            <a:avLst>
              <a:gd name="adj" fmla="val 48000"/>
            </a:avLst>
          </a:prstGeom>
          <a:solidFill>
            <a:srgbClr val="D9A21B"/>
          </a:solidFill>
          <a:ln w="12700">
            <a:solidFill>
              <a:srgbClr val="D9A21B"/>
            </a:solidFill>
            <a:prstDash val="solid"/>
          </a:ln>
        </p:spPr>
      </p:sp>
      <p:sp>
        <p:nvSpPr>
          <p:cNvPr id="907" name="Shape 902"/>
          <p:cNvSpPr/>
          <p:nvPr/>
        </p:nvSpPr>
        <p:spPr>
          <a:xfrm>
            <a:off x="5388813" y="3388519"/>
            <a:ext cx="261068" cy="14288"/>
          </a:xfrm>
          <a:prstGeom prst="rect">
            <a:avLst/>
          </a:prstGeom>
          <a:solidFill>
            <a:srgbClr val="5F6B57"/>
          </a:solidFill>
          <a:ln w="12700">
            <a:solidFill>
              <a:srgbClr val="5F6B57"/>
            </a:solidFill>
            <a:prstDash val="solid"/>
          </a:ln>
        </p:spPr>
      </p:sp>
      <p:sp>
        <p:nvSpPr>
          <p:cNvPr id="908" name="Shape 903"/>
          <p:cNvSpPr/>
          <p:nvPr/>
        </p:nvSpPr>
        <p:spPr>
          <a:xfrm>
            <a:off x="5388813" y="3166930"/>
            <a:ext cx="261068" cy="202539"/>
          </a:xfrm>
          <a:prstGeom prst="roundRect">
            <a:avLst>
              <a:gd name="adj" fmla="val 14108"/>
            </a:avLst>
          </a:prstGeom>
          <a:solidFill>
            <a:srgbClr val="2B7BB0"/>
          </a:solidFill>
          <a:ln w="12700">
            <a:solidFill>
              <a:srgbClr val="2B7BB0"/>
            </a:solidFill>
            <a:prstDash val="solid"/>
          </a:ln>
        </p:spPr>
      </p:sp>
      <p:sp>
        <p:nvSpPr>
          <p:cNvPr id="909" name="Text 904"/>
          <p:cNvSpPr txBox="1"/>
          <p:nvPr/>
        </p:nvSpPr>
        <p:spPr>
          <a:xfrm>
            <a:off x="5388813" y="3166930"/>
            <a:ext cx="261068" cy="221589"/>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201</a:t>
            </a:r>
            <a:endParaRPr lang="en-US" sz="800" dirty="0"/>
          </a:p>
        </p:txBody>
      </p:sp>
      <p:sp>
        <p:nvSpPr>
          <p:cNvPr id="910" name="Text 905"/>
          <p:cNvSpPr txBox="1"/>
          <p:nvPr/>
        </p:nvSpPr>
        <p:spPr>
          <a:xfrm>
            <a:off x="5138347" y="299548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256</a:t>
            </a:r>
            <a:endParaRPr lang="en-US" sz="860" dirty="0"/>
          </a:p>
        </p:txBody>
      </p:sp>
      <p:sp>
        <p:nvSpPr>
          <p:cNvPr id="911" name="Text 906"/>
          <p:cNvSpPr txBox="1"/>
          <p:nvPr/>
        </p:nvSpPr>
        <p:spPr>
          <a:xfrm>
            <a:off x="5318333" y="3514725"/>
            <a:ext cx="402028"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On-si…</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visit</a:t>
            </a:r>
            <a:endParaRPr lang="en-US" sz="830" dirty="0"/>
          </a:p>
        </p:txBody>
      </p:sp>
      <p:sp>
        <p:nvSpPr>
          <p:cNvPr id="912" name="Shape 907"/>
          <p:cNvSpPr/>
          <p:nvPr/>
        </p:nvSpPr>
        <p:spPr>
          <a:xfrm>
            <a:off x="5809891" y="3408671"/>
            <a:ext cx="261068" cy="58429"/>
          </a:xfrm>
          <a:prstGeom prst="roundRect">
            <a:avLst>
              <a:gd name="adj" fmla="val 48906"/>
            </a:avLst>
          </a:prstGeom>
          <a:solidFill>
            <a:srgbClr val="D9A21B"/>
          </a:solidFill>
          <a:ln w="12700">
            <a:solidFill>
              <a:srgbClr val="D9A21B"/>
            </a:solidFill>
            <a:prstDash val="solid"/>
          </a:ln>
        </p:spPr>
      </p:sp>
      <p:sp>
        <p:nvSpPr>
          <p:cNvPr id="913" name="Shape 908"/>
          <p:cNvSpPr/>
          <p:nvPr/>
        </p:nvSpPr>
        <p:spPr>
          <a:xfrm>
            <a:off x="5809891" y="3389621"/>
            <a:ext cx="261068" cy="14288"/>
          </a:xfrm>
          <a:prstGeom prst="rect">
            <a:avLst/>
          </a:prstGeom>
          <a:solidFill>
            <a:srgbClr val="5F6B57"/>
          </a:solidFill>
          <a:ln w="12700">
            <a:solidFill>
              <a:srgbClr val="5F6B57"/>
            </a:solidFill>
            <a:prstDash val="solid"/>
          </a:ln>
        </p:spPr>
      </p:sp>
      <p:sp>
        <p:nvSpPr>
          <p:cNvPr id="914" name="Shape 909"/>
          <p:cNvSpPr/>
          <p:nvPr/>
        </p:nvSpPr>
        <p:spPr>
          <a:xfrm>
            <a:off x="5809891" y="3324578"/>
            <a:ext cx="261068" cy="45993"/>
          </a:xfrm>
          <a:prstGeom prst="roundRect">
            <a:avLst>
              <a:gd name="adj" fmla="val 50000"/>
            </a:avLst>
          </a:prstGeom>
          <a:solidFill>
            <a:srgbClr val="2B7BB0"/>
          </a:solidFill>
          <a:ln w="12700">
            <a:solidFill>
              <a:srgbClr val="2B7BB0"/>
            </a:solidFill>
            <a:prstDash val="solid"/>
          </a:ln>
        </p:spPr>
      </p:sp>
      <p:sp>
        <p:nvSpPr>
          <p:cNvPr id="915" name="Text 910"/>
          <p:cNvSpPr txBox="1"/>
          <p:nvPr/>
        </p:nvSpPr>
        <p:spPr>
          <a:xfrm>
            <a:off x="5559425" y="3153128"/>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113</a:t>
            </a:r>
            <a:endParaRPr lang="en-US" sz="860" dirty="0"/>
          </a:p>
        </p:txBody>
      </p:sp>
      <p:sp>
        <p:nvSpPr>
          <p:cNvPr id="916" name="Text 911"/>
          <p:cNvSpPr txBox="1"/>
          <p:nvPr/>
        </p:nvSpPr>
        <p:spPr>
          <a:xfrm>
            <a:off x="5739411" y="3514725"/>
            <a:ext cx="402028"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Whats…</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 text</a:t>
            </a:r>
            <a:endParaRPr lang="en-US" sz="830" dirty="0"/>
          </a:p>
        </p:txBody>
      </p:sp>
      <p:sp>
        <p:nvSpPr>
          <p:cNvPr id="917" name="Shape 912"/>
          <p:cNvSpPr/>
          <p:nvPr/>
        </p:nvSpPr>
        <p:spPr>
          <a:xfrm>
            <a:off x="6230969" y="3448050"/>
            <a:ext cx="261068" cy="19050"/>
          </a:xfrm>
          <a:prstGeom prst="rect">
            <a:avLst/>
          </a:prstGeom>
          <a:solidFill>
            <a:srgbClr val="D9A21B"/>
          </a:solidFill>
          <a:ln w="12700">
            <a:solidFill>
              <a:srgbClr val="D9A21B"/>
            </a:solidFill>
            <a:prstDash val="solid"/>
          </a:ln>
        </p:spPr>
      </p:sp>
      <p:sp>
        <p:nvSpPr>
          <p:cNvPr id="918" name="Shape 913"/>
          <p:cNvSpPr/>
          <p:nvPr/>
        </p:nvSpPr>
        <p:spPr>
          <a:xfrm>
            <a:off x="6230969" y="3429000"/>
            <a:ext cx="261068" cy="14288"/>
          </a:xfrm>
          <a:prstGeom prst="rect">
            <a:avLst/>
          </a:prstGeom>
          <a:solidFill>
            <a:srgbClr val="2B7BB0"/>
          </a:solidFill>
          <a:ln w="12700">
            <a:solidFill>
              <a:srgbClr val="2B7BB0"/>
            </a:solidFill>
            <a:prstDash val="solid"/>
          </a:ln>
        </p:spPr>
      </p:sp>
      <p:sp>
        <p:nvSpPr>
          <p:cNvPr id="919" name="Text 914"/>
          <p:cNvSpPr txBox="1"/>
          <p:nvPr/>
        </p:nvSpPr>
        <p:spPr>
          <a:xfrm>
            <a:off x="5980503" y="325755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20</a:t>
            </a:r>
            <a:endParaRPr lang="en-US" sz="860" dirty="0"/>
          </a:p>
        </p:txBody>
      </p:sp>
      <p:sp>
        <p:nvSpPr>
          <p:cNvPr id="920" name="Text 915"/>
          <p:cNvSpPr txBox="1"/>
          <p:nvPr/>
        </p:nvSpPr>
        <p:spPr>
          <a:xfrm>
            <a:off x="6160489" y="3514725"/>
            <a:ext cx="402028"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Call</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didn't</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conne…</a:t>
            </a:r>
            <a:endParaRPr lang="en-US" sz="830" dirty="0"/>
          </a:p>
        </p:txBody>
      </p:sp>
      <p:sp>
        <p:nvSpPr>
          <p:cNvPr id="921" name="Shape 916"/>
          <p:cNvSpPr/>
          <p:nvPr/>
        </p:nvSpPr>
        <p:spPr>
          <a:xfrm>
            <a:off x="6652047" y="3448050"/>
            <a:ext cx="261068" cy="19050"/>
          </a:xfrm>
          <a:prstGeom prst="rect">
            <a:avLst/>
          </a:prstGeom>
          <a:solidFill>
            <a:srgbClr val="2B7BB0"/>
          </a:solidFill>
          <a:ln w="12700">
            <a:solidFill>
              <a:srgbClr val="2B7BB0"/>
            </a:solidFill>
            <a:prstDash val="solid"/>
          </a:ln>
        </p:spPr>
      </p:sp>
      <p:sp>
        <p:nvSpPr>
          <p:cNvPr id="922" name="Text 917"/>
          <p:cNvSpPr txBox="1"/>
          <p:nvPr/>
        </p:nvSpPr>
        <p:spPr>
          <a:xfrm>
            <a:off x="6401581" y="327660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17</a:t>
            </a:r>
            <a:endParaRPr lang="en-US" sz="860" dirty="0"/>
          </a:p>
        </p:txBody>
      </p:sp>
      <p:sp>
        <p:nvSpPr>
          <p:cNvPr id="923" name="Text 918"/>
          <p:cNvSpPr txBox="1"/>
          <p:nvPr/>
        </p:nvSpPr>
        <p:spPr>
          <a:xfrm>
            <a:off x="6581567" y="3514725"/>
            <a:ext cx="402028"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Not</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recor…</a:t>
            </a:r>
            <a:endParaRPr lang="en-US" sz="830" dirty="0"/>
          </a:p>
        </p:txBody>
      </p:sp>
      <p:sp>
        <p:nvSpPr>
          <p:cNvPr id="924" name="Shape 919"/>
          <p:cNvSpPr/>
          <p:nvPr/>
        </p:nvSpPr>
        <p:spPr>
          <a:xfrm>
            <a:off x="7073124" y="3448050"/>
            <a:ext cx="261068" cy="19050"/>
          </a:xfrm>
          <a:prstGeom prst="rect">
            <a:avLst/>
          </a:prstGeom>
          <a:solidFill>
            <a:srgbClr val="D9A21B"/>
          </a:solidFill>
          <a:ln w="12700">
            <a:solidFill>
              <a:srgbClr val="D9A21B"/>
            </a:solidFill>
            <a:prstDash val="solid"/>
          </a:ln>
        </p:spPr>
      </p:sp>
      <p:sp>
        <p:nvSpPr>
          <p:cNvPr id="925" name="Shape 920"/>
          <p:cNvSpPr/>
          <p:nvPr/>
        </p:nvSpPr>
        <p:spPr>
          <a:xfrm>
            <a:off x="7073124" y="3429000"/>
            <a:ext cx="261068" cy="14288"/>
          </a:xfrm>
          <a:prstGeom prst="rect">
            <a:avLst/>
          </a:prstGeom>
          <a:solidFill>
            <a:srgbClr val="2B7BB0"/>
          </a:solidFill>
          <a:ln w="12700">
            <a:solidFill>
              <a:srgbClr val="2B7BB0"/>
            </a:solidFill>
            <a:prstDash val="solid"/>
          </a:ln>
        </p:spPr>
      </p:sp>
      <p:sp>
        <p:nvSpPr>
          <p:cNvPr id="926" name="Text 921"/>
          <p:cNvSpPr txBox="1"/>
          <p:nvPr/>
        </p:nvSpPr>
        <p:spPr>
          <a:xfrm>
            <a:off x="6822659" y="3257550"/>
            <a:ext cx="762000" cy="152400"/>
          </a:xfrm>
          <a:prstGeom prst="rect">
            <a:avLst/>
          </a:prstGeom>
          <a:noFill/>
          <a:ln/>
        </p:spPr>
        <p:txBody>
          <a:bodyPr wrap="square" lIns="0" tIns="0" rIns="0" bIns="0" rtlCol="0" anchor="ctr"/>
          <a:lstStyle/>
          <a:p>
            <a:pPr algn="ctr" indent="0" marL="0">
              <a:lnSpc>
                <a:spcPct val="95000"/>
              </a:lnSpc>
              <a:buNone/>
            </a:pPr>
            <a:r>
              <a:rPr lang="en-US" sz="860" b="1" dirty="0">
                <a:solidFill>
                  <a:srgbClr val="2B2F28"/>
                </a:solidFill>
                <a:latin typeface="Plus Jakarta Sans" pitchFamily="34" charset="0"/>
                <a:ea typeface="Plus Jakarta Sans" pitchFamily="34" charset="-122"/>
                <a:cs typeface="Plus Jakarta Sans" pitchFamily="34" charset="-120"/>
              </a:rPr>
              <a:t>9</a:t>
            </a:r>
            <a:endParaRPr lang="en-US" sz="860" dirty="0"/>
          </a:p>
        </p:txBody>
      </p:sp>
      <p:sp>
        <p:nvSpPr>
          <p:cNvPr id="927" name="Text 922"/>
          <p:cNvSpPr txBox="1"/>
          <p:nvPr/>
        </p:nvSpPr>
        <p:spPr>
          <a:xfrm>
            <a:off x="7002645" y="3514725"/>
            <a:ext cx="402028" cy="238125"/>
          </a:xfrm>
          <a:prstGeom prst="rect">
            <a:avLst/>
          </a:prstGeom>
          <a:noFill/>
          <a:ln/>
        </p:spPr>
        <p:txBody>
          <a:bodyPr wrap="square" lIns="0" tIns="0" rIns="0" bIns="0" rtlCol="0" anchor="t"/>
          <a:lstStyle/>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Social</a:t>
            </a:r>
            <a:endParaRPr lang="en-US" sz="830" dirty="0"/>
          </a:p>
          <a:p>
            <a:pPr algn="ctr" indent="0" marL="0">
              <a:lnSpc>
                <a:spcPct val="95000"/>
              </a:lnSpc>
              <a:buNone/>
            </a:pPr>
            <a:r>
              <a:rPr lang="en-US" sz="830" dirty="0">
                <a:solidFill>
                  <a:srgbClr val="2B2F28"/>
                </a:solidFill>
                <a:latin typeface="Plus Jakarta Sans" pitchFamily="34" charset="0"/>
                <a:ea typeface="Plus Jakarta Sans" pitchFamily="34" charset="-122"/>
                <a:cs typeface="Plus Jakarta Sans" pitchFamily="34" charset="-120"/>
              </a:rPr>
              <a:t>Media</a:t>
            </a:r>
            <a:endParaRPr lang="en-US" sz="830" dirty="0"/>
          </a:p>
        </p:txBody>
      </p:sp>
      <p:sp>
        <p:nvSpPr>
          <p:cNvPr id="928" name="Shape 923"/>
          <p:cNvSpPr/>
          <p:nvPr/>
        </p:nvSpPr>
        <p:spPr>
          <a:xfrm>
            <a:off x="4887730" y="3467100"/>
            <a:ext cx="2526467" cy="0"/>
          </a:xfrm>
          <a:prstGeom prst="line">
            <a:avLst/>
          </a:prstGeom>
          <a:noFill/>
          <a:ln w="9525">
            <a:solidFill>
              <a:srgbClr val="B9C2B0"/>
            </a:solidFill>
            <a:prstDash val="solid"/>
          </a:ln>
        </p:spPr>
      </p:sp>
      <p:sp>
        <p:nvSpPr>
          <p:cNvPr id="929" name="Shape 924"/>
          <p:cNvSpPr/>
          <p:nvPr/>
        </p:nvSpPr>
        <p:spPr>
          <a:xfrm>
            <a:off x="7776148" y="1714500"/>
            <a:ext cx="3272852" cy="2171700"/>
          </a:xfrm>
          <a:prstGeom prst="roundRect">
            <a:avLst>
              <a:gd name="adj" fmla="val 5053"/>
            </a:avLst>
          </a:prstGeom>
          <a:solidFill>
            <a:srgbClr val="FFFFFF"/>
          </a:solidFill>
          <a:ln w="12700">
            <a:solidFill>
              <a:srgbClr val="FFFFFF"/>
            </a:solidFill>
            <a:prstDash val="solid"/>
          </a:ln>
        </p:spPr>
      </p:sp>
      <p:sp>
        <p:nvSpPr>
          <p:cNvPr id="930" name="Text 925"/>
          <p:cNvSpPr txBox="1"/>
          <p:nvPr/>
        </p:nvSpPr>
        <p:spPr>
          <a:xfrm>
            <a:off x="7966648" y="1866900"/>
            <a:ext cx="2891852"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What the notes say</a:t>
            </a:r>
            <a:endParaRPr lang="en-US" sz="1300" dirty="0"/>
          </a:p>
        </p:txBody>
      </p:sp>
      <p:sp>
        <p:nvSpPr>
          <p:cNvPr id="931" name="Text 926"/>
          <p:cNvSpPr txBox="1"/>
          <p:nvPr/>
        </p:nvSpPr>
        <p:spPr>
          <a:xfrm>
            <a:off x="7966648" y="2095500"/>
            <a:ext cx="2891852"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Signals read from the discussion notes</a:t>
            </a:r>
            <a:endParaRPr lang="en-US" sz="950" dirty="0"/>
          </a:p>
        </p:txBody>
      </p:sp>
      <p:sp>
        <p:nvSpPr>
          <p:cNvPr id="932" name="Shape 927"/>
          <p:cNvSpPr/>
          <p:nvPr/>
        </p:nvSpPr>
        <p:spPr>
          <a:xfrm>
            <a:off x="7985698" y="2409825"/>
            <a:ext cx="104775" cy="104775"/>
          </a:xfrm>
          <a:prstGeom prst="roundRect">
            <a:avLst>
              <a:gd name="adj" fmla="val 18182"/>
            </a:avLst>
          </a:prstGeom>
          <a:solidFill>
            <a:srgbClr val="8E9C84"/>
          </a:solidFill>
          <a:ln w="12700">
            <a:solidFill>
              <a:srgbClr val="8E9C84"/>
            </a:solidFill>
            <a:prstDash val="solid"/>
          </a:ln>
        </p:spPr>
      </p:sp>
      <p:sp>
        <p:nvSpPr>
          <p:cNvPr id="933" name="Text 928"/>
          <p:cNvSpPr txBox="1"/>
          <p:nvPr/>
        </p:nvSpPr>
        <p:spPr>
          <a:xfrm>
            <a:off x="8138098" y="2381250"/>
            <a:ext cx="992124"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Not interested</a:t>
            </a:r>
            <a:endParaRPr lang="en-US" sz="860" dirty="0"/>
          </a:p>
        </p:txBody>
      </p:sp>
      <p:sp>
        <p:nvSpPr>
          <p:cNvPr id="934" name="Shape 929"/>
          <p:cNvSpPr/>
          <p:nvPr/>
        </p:nvSpPr>
        <p:spPr>
          <a:xfrm>
            <a:off x="9130222" y="2409825"/>
            <a:ext cx="104775" cy="104775"/>
          </a:xfrm>
          <a:prstGeom prst="roundRect">
            <a:avLst>
              <a:gd name="adj" fmla="val 18182"/>
            </a:avLst>
          </a:prstGeom>
          <a:solidFill>
            <a:srgbClr val="D9A21B"/>
          </a:solidFill>
          <a:ln w="12700">
            <a:solidFill>
              <a:srgbClr val="D9A21B"/>
            </a:solidFill>
            <a:prstDash val="solid"/>
          </a:ln>
        </p:spPr>
      </p:sp>
      <p:sp>
        <p:nvSpPr>
          <p:cNvPr id="935" name="Text 930"/>
          <p:cNvSpPr txBox="1"/>
          <p:nvPr/>
        </p:nvSpPr>
        <p:spPr>
          <a:xfrm>
            <a:off x="9282622" y="2381250"/>
            <a:ext cx="1482852" cy="161925"/>
          </a:xfrm>
          <a:prstGeom prst="rect">
            <a:avLst/>
          </a:prstGeom>
          <a:noFill/>
          <a:ln/>
        </p:spPr>
        <p:txBody>
          <a:bodyPr wrap="square" lIns="0" tIns="0" rIns="0" bIns="0" rtlCol="0" anchor="ctr"/>
          <a:lstStyle/>
          <a:p>
            <a:pPr algn="l" indent="0" marL="0">
              <a:lnSpc>
                <a:spcPct val="95000"/>
              </a:lnSpc>
              <a:buNone/>
            </a:pPr>
            <a:r>
              <a:rPr lang="en-US" sz="860" dirty="0">
                <a:solidFill>
                  <a:srgbClr val="535353"/>
                </a:solidFill>
                <a:latin typeface="Plus Jakarta Sans" pitchFamily="34" charset="0"/>
                <a:ea typeface="Plus Jakarta Sans" pitchFamily="34" charset="-122"/>
                <a:cs typeface="Plus Jakarta Sans" pitchFamily="34" charset="-120"/>
              </a:rPr>
              <a:t>Considering / prospect</a:t>
            </a:r>
            <a:endParaRPr lang="en-US" sz="860" dirty="0"/>
          </a:p>
        </p:txBody>
      </p:sp>
      <p:sp>
        <p:nvSpPr>
          <p:cNvPr id="936" name="Text 931"/>
          <p:cNvSpPr txBox="1"/>
          <p:nvPr/>
        </p:nvSpPr>
        <p:spPr>
          <a:xfrm>
            <a:off x="7985698" y="2628900"/>
            <a:ext cx="2558477" cy="9144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Asked about prices or discounts</a:t>
            </a:r>
            <a:endParaRPr lang="en-US" sz="940" dirty="0"/>
          </a:p>
        </p:txBody>
      </p:sp>
      <p:sp>
        <p:nvSpPr>
          <p:cNvPr id="937" name="Text 932"/>
          <p:cNvSpPr txBox="1"/>
          <p:nvPr/>
        </p:nvSpPr>
        <p:spPr>
          <a:xfrm>
            <a:off x="10601325" y="2628900"/>
            <a:ext cx="238125" cy="9144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191</a:t>
            </a:r>
            <a:endParaRPr lang="en-US" sz="940" dirty="0"/>
          </a:p>
        </p:txBody>
      </p:sp>
      <p:sp>
        <p:nvSpPr>
          <p:cNvPr id="938" name="Shape 933"/>
          <p:cNvSpPr/>
          <p:nvPr/>
        </p:nvSpPr>
        <p:spPr>
          <a:xfrm>
            <a:off x="7985698" y="2739390"/>
            <a:ext cx="2853752" cy="76200"/>
          </a:xfrm>
          <a:prstGeom prst="roundRect">
            <a:avLst>
              <a:gd name="adj" fmla="val 37500"/>
            </a:avLst>
          </a:prstGeom>
          <a:solidFill>
            <a:srgbClr val="E9EDE5"/>
          </a:solidFill>
          <a:ln w="12700">
            <a:solidFill>
              <a:srgbClr val="E9EDE5"/>
            </a:solidFill>
            <a:prstDash val="solid"/>
          </a:ln>
        </p:spPr>
      </p:sp>
      <p:sp>
        <p:nvSpPr>
          <p:cNvPr id="939" name="Shape 934"/>
          <p:cNvSpPr/>
          <p:nvPr/>
        </p:nvSpPr>
        <p:spPr>
          <a:xfrm>
            <a:off x="7985698" y="2739390"/>
            <a:ext cx="533771" cy="76200"/>
          </a:xfrm>
          <a:prstGeom prst="roundRect">
            <a:avLst>
              <a:gd name="adj" fmla="val 37500"/>
            </a:avLst>
          </a:prstGeom>
          <a:solidFill>
            <a:srgbClr val="8E9C84"/>
          </a:solidFill>
          <a:ln w="12700">
            <a:solidFill>
              <a:srgbClr val="8E9C84"/>
            </a:solidFill>
            <a:prstDash val="solid"/>
          </a:ln>
        </p:spPr>
      </p:sp>
      <p:sp>
        <p:nvSpPr>
          <p:cNvPr id="940" name="Text 935"/>
          <p:cNvSpPr txBox="1"/>
          <p:nvPr/>
        </p:nvSpPr>
        <p:spPr>
          <a:xfrm>
            <a:off x="7985698" y="2739390"/>
            <a:ext cx="533771" cy="76200"/>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37</a:t>
            </a:r>
            <a:endParaRPr lang="en-US" sz="800" dirty="0"/>
          </a:p>
        </p:txBody>
      </p:sp>
      <p:sp>
        <p:nvSpPr>
          <p:cNvPr id="941" name="Shape 936"/>
          <p:cNvSpPr/>
          <p:nvPr/>
        </p:nvSpPr>
        <p:spPr>
          <a:xfrm>
            <a:off x="8538519" y="2739390"/>
            <a:ext cx="2281881" cy="76200"/>
          </a:xfrm>
          <a:prstGeom prst="roundRect">
            <a:avLst>
              <a:gd name="adj" fmla="val 37500"/>
            </a:avLst>
          </a:prstGeom>
          <a:solidFill>
            <a:srgbClr val="D9A21B"/>
          </a:solidFill>
          <a:ln w="12700">
            <a:solidFill>
              <a:srgbClr val="D9A21B"/>
            </a:solidFill>
            <a:prstDash val="solid"/>
          </a:ln>
        </p:spPr>
      </p:sp>
      <p:sp>
        <p:nvSpPr>
          <p:cNvPr id="942" name="Text 937"/>
          <p:cNvSpPr txBox="1"/>
          <p:nvPr/>
        </p:nvSpPr>
        <p:spPr>
          <a:xfrm>
            <a:off x="8538519" y="2739390"/>
            <a:ext cx="2281881" cy="762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154</a:t>
            </a:r>
            <a:endParaRPr lang="en-US" sz="800" dirty="0"/>
          </a:p>
        </p:txBody>
      </p:sp>
      <p:sp>
        <p:nvSpPr>
          <p:cNvPr id="943" name="Text 938"/>
          <p:cNvSpPr txBox="1"/>
          <p:nvPr/>
        </p:nvSpPr>
        <p:spPr>
          <a:xfrm>
            <a:off x="7985698" y="2853690"/>
            <a:ext cx="2625152" cy="9144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Member of a KUD / BUMDES / agent</a:t>
            </a:r>
            <a:endParaRPr lang="en-US" sz="940" dirty="0"/>
          </a:p>
        </p:txBody>
      </p:sp>
      <p:sp>
        <p:nvSpPr>
          <p:cNvPr id="944" name="Text 939"/>
          <p:cNvSpPr txBox="1"/>
          <p:nvPr/>
        </p:nvSpPr>
        <p:spPr>
          <a:xfrm>
            <a:off x="10668000" y="2853690"/>
            <a:ext cx="171450" cy="9144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56</a:t>
            </a:r>
            <a:endParaRPr lang="en-US" sz="940" dirty="0"/>
          </a:p>
        </p:txBody>
      </p:sp>
      <p:sp>
        <p:nvSpPr>
          <p:cNvPr id="945" name="Shape 940"/>
          <p:cNvSpPr/>
          <p:nvPr/>
        </p:nvSpPr>
        <p:spPr>
          <a:xfrm>
            <a:off x="7985698" y="2964180"/>
            <a:ext cx="2853752" cy="76200"/>
          </a:xfrm>
          <a:prstGeom prst="roundRect">
            <a:avLst>
              <a:gd name="adj" fmla="val 37500"/>
            </a:avLst>
          </a:prstGeom>
          <a:solidFill>
            <a:srgbClr val="E9EDE5"/>
          </a:solidFill>
          <a:ln w="12700">
            <a:solidFill>
              <a:srgbClr val="E9EDE5"/>
            </a:solidFill>
            <a:prstDash val="solid"/>
          </a:ln>
        </p:spPr>
      </p:sp>
      <p:sp>
        <p:nvSpPr>
          <p:cNvPr id="946" name="Shape 941"/>
          <p:cNvSpPr/>
          <p:nvPr/>
        </p:nvSpPr>
        <p:spPr>
          <a:xfrm>
            <a:off x="7985698" y="2964180"/>
            <a:ext cx="713065" cy="76200"/>
          </a:xfrm>
          <a:prstGeom prst="roundRect">
            <a:avLst>
              <a:gd name="adj" fmla="val 37500"/>
            </a:avLst>
          </a:prstGeom>
          <a:solidFill>
            <a:srgbClr val="8E9C84"/>
          </a:solidFill>
          <a:ln w="12700">
            <a:solidFill>
              <a:srgbClr val="8E9C84"/>
            </a:solidFill>
            <a:prstDash val="solid"/>
          </a:ln>
        </p:spPr>
      </p:sp>
      <p:sp>
        <p:nvSpPr>
          <p:cNvPr id="947" name="Text 942"/>
          <p:cNvSpPr txBox="1"/>
          <p:nvPr/>
        </p:nvSpPr>
        <p:spPr>
          <a:xfrm>
            <a:off x="7985698" y="2964180"/>
            <a:ext cx="713065" cy="76200"/>
          </a:xfrm>
          <a:prstGeom prst="rect">
            <a:avLst/>
          </a:prstGeom>
          <a:noFill/>
          <a:ln/>
        </p:spPr>
        <p:txBody>
          <a:bodyPr wrap="square" lIns="0" tIns="0" rIns="0" bIns="0" rtlCol="0" anchor="ctr"/>
          <a:lstStyle/>
          <a:p>
            <a:pPr algn="ctr" indent="0" marL="0">
              <a:lnSpc>
                <a:spcPct val="95000"/>
              </a:lnSpc>
              <a:buNone/>
            </a:pPr>
            <a:r>
              <a:rPr lang="en-US" sz="800" b="1" dirty="0">
                <a:solidFill>
                  <a:srgbClr val="FFFFFF"/>
                </a:solidFill>
                <a:latin typeface="Plus Jakarta Sans" pitchFamily="34" charset="0"/>
                <a:ea typeface="Plus Jakarta Sans" pitchFamily="34" charset="-122"/>
                <a:cs typeface="Plus Jakarta Sans" pitchFamily="34" charset="-120"/>
              </a:rPr>
              <a:t>49</a:t>
            </a:r>
            <a:endParaRPr lang="en-US" sz="800" dirty="0"/>
          </a:p>
        </p:txBody>
      </p:sp>
      <p:sp>
        <p:nvSpPr>
          <p:cNvPr id="948" name="Shape 943"/>
          <p:cNvSpPr/>
          <p:nvPr/>
        </p:nvSpPr>
        <p:spPr>
          <a:xfrm>
            <a:off x="8717812" y="2964180"/>
            <a:ext cx="85538" cy="76200"/>
          </a:xfrm>
          <a:prstGeom prst="roundRect">
            <a:avLst>
              <a:gd name="adj" fmla="val 37500"/>
            </a:avLst>
          </a:prstGeom>
          <a:solidFill>
            <a:srgbClr val="D9A21B"/>
          </a:solidFill>
          <a:ln w="12700">
            <a:solidFill>
              <a:srgbClr val="D9A21B"/>
            </a:solidFill>
            <a:prstDash val="solid"/>
          </a:ln>
        </p:spPr>
      </p:sp>
      <p:sp>
        <p:nvSpPr>
          <p:cNvPr id="949" name="Text 944"/>
          <p:cNvSpPr txBox="1"/>
          <p:nvPr/>
        </p:nvSpPr>
        <p:spPr>
          <a:xfrm>
            <a:off x="7985698" y="3078480"/>
            <a:ext cx="2625152" cy="9144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Asked about the warehouse, delivery or…</a:t>
            </a:r>
            <a:endParaRPr lang="en-US" sz="940" dirty="0"/>
          </a:p>
        </p:txBody>
      </p:sp>
      <p:sp>
        <p:nvSpPr>
          <p:cNvPr id="950" name="Text 945"/>
          <p:cNvSpPr txBox="1"/>
          <p:nvPr/>
        </p:nvSpPr>
        <p:spPr>
          <a:xfrm>
            <a:off x="10668000" y="3078480"/>
            <a:ext cx="171450" cy="9144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38</a:t>
            </a:r>
            <a:endParaRPr lang="en-US" sz="940" dirty="0"/>
          </a:p>
        </p:txBody>
      </p:sp>
      <p:sp>
        <p:nvSpPr>
          <p:cNvPr id="951" name="Shape 946"/>
          <p:cNvSpPr/>
          <p:nvPr/>
        </p:nvSpPr>
        <p:spPr>
          <a:xfrm>
            <a:off x="7985698" y="3188970"/>
            <a:ext cx="2853752" cy="76200"/>
          </a:xfrm>
          <a:prstGeom prst="roundRect">
            <a:avLst>
              <a:gd name="adj" fmla="val 37500"/>
            </a:avLst>
          </a:prstGeom>
          <a:solidFill>
            <a:srgbClr val="E9EDE5"/>
          </a:solidFill>
          <a:ln w="12700">
            <a:solidFill>
              <a:srgbClr val="E9EDE5"/>
            </a:solidFill>
            <a:prstDash val="solid"/>
          </a:ln>
        </p:spPr>
      </p:sp>
      <p:sp>
        <p:nvSpPr>
          <p:cNvPr id="952" name="Shape 947"/>
          <p:cNvSpPr/>
          <p:nvPr/>
        </p:nvSpPr>
        <p:spPr>
          <a:xfrm>
            <a:off x="7985698" y="3188970"/>
            <a:ext cx="85538" cy="76200"/>
          </a:xfrm>
          <a:prstGeom prst="roundRect">
            <a:avLst>
              <a:gd name="adj" fmla="val 37500"/>
            </a:avLst>
          </a:prstGeom>
          <a:solidFill>
            <a:srgbClr val="8E9C84"/>
          </a:solidFill>
          <a:ln w="12700">
            <a:solidFill>
              <a:srgbClr val="8E9C84"/>
            </a:solidFill>
            <a:prstDash val="solid"/>
          </a:ln>
        </p:spPr>
      </p:sp>
      <p:sp>
        <p:nvSpPr>
          <p:cNvPr id="953" name="Shape 948"/>
          <p:cNvSpPr/>
          <p:nvPr/>
        </p:nvSpPr>
        <p:spPr>
          <a:xfrm>
            <a:off x="8090285" y="3188970"/>
            <a:ext cx="444124" cy="76200"/>
          </a:xfrm>
          <a:prstGeom prst="roundRect">
            <a:avLst>
              <a:gd name="adj" fmla="val 37500"/>
            </a:avLst>
          </a:prstGeom>
          <a:solidFill>
            <a:srgbClr val="D9A21B"/>
          </a:solidFill>
          <a:ln w="12700">
            <a:solidFill>
              <a:srgbClr val="D9A21B"/>
            </a:solidFill>
            <a:prstDash val="solid"/>
          </a:ln>
        </p:spPr>
      </p:sp>
      <p:sp>
        <p:nvSpPr>
          <p:cNvPr id="954" name="Text 949"/>
          <p:cNvSpPr txBox="1"/>
          <p:nvPr/>
        </p:nvSpPr>
        <p:spPr>
          <a:xfrm>
            <a:off x="8090285" y="3188970"/>
            <a:ext cx="444124" cy="762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31</a:t>
            </a:r>
            <a:endParaRPr lang="en-US" sz="800" dirty="0"/>
          </a:p>
        </p:txBody>
      </p:sp>
      <p:sp>
        <p:nvSpPr>
          <p:cNvPr id="955" name="Text 950"/>
          <p:cNvSpPr txBox="1"/>
          <p:nvPr/>
        </p:nvSpPr>
        <p:spPr>
          <a:xfrm>
            <a:off x="7985698" y="3303270"/>
            <a:ext cx="2625152" cy="9144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Wanted product was out of stock, or…</a:t>
            </a:r>
            <a:endParaRPr lang="en-US" sz="940" dirty="0"/>
          </a:p>
        </p:txBody>
      </p:sp>
      <p:sp>
        <p:nvSpPr>
          <p:cNvPr id="956" name="Text 951"/>
          <p:cNvSpPr txBox="1"/>
          <p:nvPr/>
        </p:nvSpPr>
        <p:spPr>
          <a:xfrm>
            <a:off x="10668000" y="3303270"/>
            <a:ext cx="171450" cy="9144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34</a:t>
            </a:r>
            <a:endParaRPr lang="en-US" sz="940" dirty="0"/>
          </a:p>
        </p:txBody>
      </p:sp>
      <p:sp>
        <p:nvSpPr>
          <p:cNvPr id="957" name="Shape 952"/>
          <p:cNvSpPr/>
          <p:nvPr/>
        </p:nvSpPr>
        <p:spPr>
          <a:xfrm>
            <a:off x="7985698" y="3413760"/>
            <a:ext cx="2853752" cy="76200"/>
          </a:xfrm>
          <a:prstGeom prst="roundRect">
            <a:avLst>
              <a:gd name="adj" fmla="val 37500"/>
            </a:avLst>
          </a:prstGeom>
          <a:solidFill>
            <a:srgbClr val="E9EDE5"/>
          </a:solidFill>
          <a:ln w="12700">
            <a:solidFill>
              <a:srgbClr val="E9EDE5"/>
            </a:solidFill>
            <a:prstDash val="solid"/>
          </a:ln>
        </p:spPr>
      </p:sp>
      <p:sp>
        <p:nvSpPr>
          <p:cNvPr id="958" name="Shape 953"/>
          <p:cNvSpPr/>
          <p:nvPr/>
        </p:nvSpPr>
        <p:spPr>
          <a:xfrm>
            <a:off x="7985698" y="3413760"/>
            <a:ext cx="100479" cy="76200"/>
          </a:xfrm>
          <a:prstGeom prst="roundRect">
            <a:avLst>
              <a:gd name="adj" fmla="val 37500"/>
            </a:avLst>
          </a:prstGeom>
          <a:solidFill>
            <a:srgbClr val="8E9C84"/>
          </a:solidFill>
          <a:ln w="12700">
            <a:solidFill>
              <a:srgbClr val="8E9C84"/>
            </a:solidFill>
            <a:prstDash val="solid"/>
          </a:ln>
        </p:spPr>
      </p:sp>
      <p:sp>
        <p:nvSpPr>
          <p:cNvPr id="959" name="Shape 954"/>
          <p:cNvSpPr/>
          <p:nvPr/>
        </p:nvSpPr>
        <p:spPr>
          <a:xfrm>
            <a:off x="8105226" y="3413760"/>
            <a:ext cx="369419" cy="76200"/>
          </a:xfrm>
          <a:prstGeom prst="roundRect">
            <a:avLst>
              <a:gd name="adj" fmla="val 37500"/>
            </a:avLst>
          </a:prstGeom>
          <a:solidFill>
            <a:srgbClr val="D9A21B"/>
          </a:solidFill>
          <a:ln w="12700">
            <a:solidFill>
              <a:srgbClr val="D9A21B"/>
            </a:solidFill>
            <a:prstDash val="solid"/>
          </a:ln>
        </p:spPr>
      </p:sp>
      <p:sp>
        <p:nvSpPr>
          <p:cNvPr id="960" name="Text 955"/>
          <p:cNvSpPr txBox="1"/>
          <p:nvPr/>
        </p:nvSpPr>
        <p:spPr>
          <a:xfrm>
            <a:off x="8105226" y="3413760"/>
            <a:ext cx="369419" cy="76200"/>
          </a:xfrm>
          <a:prstGeom prst="rect">
            <a:avLst/>
          </a:prstGeom>
          <a:noFill/>
          <a:ln/>
        </p:spPr>
        <p:txBody>
          <a:bodyPr wrap="square" lIns="0" tIns="0" rIns="0" bIns="0" rtlCol="0" anchor="ctr"/>
          <a:lstStyle/>
          <a:p>
            <a:pPr algn="ctr" indent="0" marL="0">
              <a:lnSpc>
                <a:spcPct val="95000"/>
              </a:lnSpc>
              <a:buNone/>
            </a:pPr>
            <a:r>
              <a:rPr lang="en-US" sz="800" b="1" dirty="0">
                <a:solidFill>
                  <a:srgbClr val="2B2F28"/>
                </a:solidFill>
                <a:latin typeface="Plus Jakarta Sans" pitchFamily="34" charset="0"/>
                <a:ea typeface="Plus Jakarta Sans" pitchFamily="34" charset="-122"/>
                <a:cs typeface="Plus Jakarta Sans" pitchFamily="34" charset="-120"/>
              </a:rPr>
              <a:t>26</a:t>
            </a:r>
            <a:endParaRPr lang="en-US" sz="800" dirty="0"/>
          </a:p>
        </p:txBody>
      </p:sp>
      <p:sp>
        <p:nvSpPr>
          <p:cNvPr id="961" name="Text 956"/>
          <p:cNvSpPr txBox="1"/>
          <p:nvPr/>
        </p:nvSpPr>
        <p:spPr>
          <a:xfrm>
            <a:off x="7985698" y="3528060"/>
            <a:ext cx="2625152" cy="91440"/>
          </a:xfrm>
          <a:prstGeom prst="rect">
            <a:avLst/>
          </a:prstGeom>
          <a:noFill/>
          <a:ln/>
        </p:spPr>
        <p:txBody>
          <a:bodyPr wrap="square" lIns="0" tIns="0" rIns="0" bIns="0" rtlCol="0" anchor="b"/>
          <a:lstStyle/>
          <a:p>
            <a:pPr algn="l" indent="0" marL="0">
              <a:lnSpc>
                <a:spcPct val="95000"/>
              </a:lnSpc>
              <a:buNone/>
            </a:pPr>
            <a:r>
              <a:rPr lang="en-US" sz="940" dirty="0">
                <a:solidFill>
                  <a:srgbClr val="2B2F28"/>
                </a:solidFill>
                <a:latin typeface="Plus Jakarta Sans" pitchFamily="34" charset="0"/>
                <a:ea typeface="Plus Jakarta Sans" pitchFamily="34" charset="-122"/>
                <a:cs typeface="Plus Jakarta Sans" pitchFamily="34" charset="-120"/>
              </a:rPr>
              <a:t>Buys on credit (cicilan) from current…</a:t>
            </a:r>
            <a:endParaRPr lang="en-US" sz="940" dirty="0"/>
          </a:p>
        </p:txBody>
      </p:sp>
      <p:sp>
        <p:nvSpPr>
          <p:cNvPr id="962" name="Text 957"/>
          <p:cNvSpPr txBox="1"/>
          <p:nvPr/>
        </p:nvSpPr>
        <p:spPr>
          <a:xfrm>
            <a:off x="10668000" y="3528060"/>
            <a:ext cx="171450" cy="91440"/>
          </a:xfrm>
          <a:prstGeom prst="rect">
            <a:avLst/>
          </a:prstGeom>
          <a:noFill/>
          <a:ln/>
        </p:spPr>
        <p:txBody>
          <a:bodyPr wrap="square" lIns="0" tIns="0" rIns="0" bIns="0" rtlCol="0" anchor="b"/>
          <a:lstStyle/>
          <a:p>
            <a:pPr algn="r" indent="0" marL="0">
              <a:lnSpc>
                <a:spcPct val="95000"/>
              </a:lnSpc>
              <a:buNone/>
            </a:pPr>
            <a:r>
              <a:rPr lang="en-US" sz="940" b="1" dirty="0">
                <a:solidFill>
                  <a:srgbClr val="2B2F28"/>
                </a:solidFill>
                <a:latin typeface="Plus Jakarta Sans" pitchFamily="34" charset="0"/>
                <a:ea typeface="Plus Jakarta Sans" pitchFamily="34" charset="-122"/>
                <a:cs typeface="Plus Jakarta Sans" pitchFamily="34" charset="-120"/>
              </a:rPr>
              <a:t>17</a:t>
            </a:r>
            <a:endParaRPr lang="en-US" sz="940" dirty="0"/>
          </a:p>
        </p:txBody>
      </p:sp>
      <p:sp>
        <p:nvSpPr>
          <p:cNvPr id="963" name="Shape 958"/>
          <p:cNvSpPr/>
          <p:nvPr/>
        </p:nvSpPr>
        <p:spPr>
          <a:xfrm>
            <a:off x="7985698" y="3638550"/>
            <a:ext cx="2853752" cy="76200"/>
          </a:xfrm>
          <a:prstGeom prst="roundRect">
            <a:avLst>
              <a:gd name="adj" fmla="val 37500"/>
            </a:avLst>
          </a:prstGeom>
          <a:solidFill>
            <a:srgbClr val="E9EDE5"/>
          </a:solidFill>
          <a:ln w="12700">
            <a:solidFill>
              <a:srgbClr val="E9EDE5"/>
            </a:solidFill>
            <a:prstDash val="solid"/>
          </a:ln>
        </p:spPr>
      </p:sp>
      <p:sp>
        <p:nvSpPr>
          <p:cNvPr id="964" name="Shape 959"/>
          <p:cNvSpPr/>
          <p:nvPr/>
        </p:nvSpPr>
        <p:spPr>
          <a:xfrm>
            <a:off x="7985698" y="3638550"/>
            <a:ext cx="130361" cy="76200"/>
          </a:xfrm>
          <a:prstGeom prst="roundRect">
            <a:avLst>
              <a:gd name="adj" fmla="val 37500"/>
            </a:avLst>
          </a:prstGeom>
          <a:solidFill>
            <a:srgbClr val="8E9C84"/>
          </a:solidFill>
          <a:ln w="12700">
            <a:solidFill>
              <a:srgbClr val="8E9C84"/>
            </a:solidFill>
            <a:prstDash val="solid"/>
          </a:ln>
        </p:spPr>
      </p:sp>
      <p:sp>
        <p:nvSpPr>
          <p:cNvPr id="965" name="Shape 960"/>
          <p:cNvSpPr/>
          <p:nvPr/>
        </p:nvSpPr>
        <p:spPr>
          <a:xfrm>
            <a:off x="8135109" y="3638550"/>
            <a:ext cx="85538" cy="76200"/>
          </a:xfrm>
          <a:prstGeom prst="roundRect">
            <a:avLst>
              <a:gd name="adj" fmla="val 37500"/>
            </a:avLst>
          </a:prstGeom>
          <a:solidFill>
            <a:srgbClr val="D9A21B"/>
          </a:solidFill>
          <a:ln w="12700">
            <a:solidFill>
              <a:srgbClr val="D9A21B"/>
            </a:solidFill>
            <a:prstDash val="solid"/>
          </a:ln>
        </p:spPr>
      </p:sp>
      <p:sp>
        <p:nvSpPr>
          <p:cNvPr id="966" name="Shape 961"/>
          <p:cNvSpPr/>
          <p:nvPr/>
        </p:nvSpPr>
        <p:spPr>
          <a:xfrm>
            <a:off x="762000" y="4019550"/>
            <a:ext cx="10287000" cy="2095500"/>
          </a:xfrm>
          <a:prstGeom prst="roundRect">
            <a:avLst>
              <a:gd name="adj" fmla="val 5236"/>
            </a:avLst>
          </a:prstGeom>
          <a:solidFill>
            <a:srgbClr val="FFFFFF"/>
          </a:solidFill>
          <a:ln w="12700">
            <a:solidFill>
              <a:srgbClr val="FFFFFF"/>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914400" y="4191000"/>
          <a:ext cx="9982200" cy="914400"/>
        </p:xfrm>
        <a:graphic>
          <a:graphicData uri="http://schemas.openxmlformats.org/drawingml/2006/table">
            <a:tbl>
              <a:tblPr/>
              <a:tblGrid>
                <a:gridCol w="1541966"/>
                <a:gridCol w="1136185"/>
                <a:gridCol w="2272371"/>
                <a:gridCol w="3733180"/>
                <a:gridCol w="1298498"/>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Reason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Leads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Status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What to do</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When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Other</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397 (380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Check, 380 still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Re-read the notes and pick a specific reason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This week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Just asking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191 (149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Recoverable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Send the price list and warehouse location on WhatsApp, then call to ask what they need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Within 48 hours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Locked in elsewhere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142 (4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Closed for now, 4 still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Offer payment terms or a KUD / agent partnership; drop from this season's cold-call lists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Next season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Not a fit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43 (6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Closed, 6 still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Remove from call lists (no land, wrong number, too small)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Stock &amp; delivery</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41 (38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Recoverable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Call back the day the product is in stock; offer warehouse pickup</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When stock lands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b="1" dirty="0">
                          <a:solidFill>
                            <a:srgbClr val="274E13"/>
                          </a:solidFill>
                          <a:latin typeface="Plus Jakarta Sans" pitchFamily="34" charset="0"/>
                          <a:ea typeface="Plus Jakarta Sans" pitchFamily="34" charset="-122"/>
                          <a:cs typeface="Plus Jakarta Sans" pitchFamily="34" charset="-120"/>
                        </a:rPr>
                        <a:t>Price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33 (11 warm)</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Recoverable</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Quote bulk or bundle prices and the landed cost including delivery</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This week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15</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CRM 1 JUL – 30 SEP · TEAM PERFORMANCE · FUNNEL AND PIC SCORECARD</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Only 2 of 590 interested leads ordered; Simon Sutrado Simanjuntak converts 2 of 79; Aisyah Haifa 0 of 6</a:t>
            </a:r>
            <a:endParaRPr lang="en-US" sz="2300" dirty="0"/>
          </a:p>
        </p:txBody>
      </p:sp>
      <p:sp>
        <p:nvSpPr>
          <p:cNvPr id="11" name="Shape 6"/>
          <p:cNvSpPr/>
          <p:nvPr/>
        </p:nvSpPr>
        <p:spPr>
          <a:xfrm>
            <a:off x="762000" y="1714500"/>
            <a:ext cx="3665706" cy="3714750"/>
          </a:xfrm>
          <a:prstGeom prst="roundRect">
            <a:avLst>
              <a:gd name="adj" fmla="val 2993"/>
            </a:avLst>
          </a:prstGeom>
          <a:solidFill>
            <a:srgbClr val="FFFFFF"/>
          </a:solidFill>
          <a:ln w="12700">
            <a:solidFill>
              <a:srgbClr val="FFFFFF"/>
            </a:solidFill>
            <a:prstDash val="solid"/>
          </a:ln>
        </p:spPr>
      </p:sp>
      <p:sp>
        <p:nvSpPr>
          <p:cNvPr id="12" name="Text 7"/>
          <p:cNvSpPr txBox="1"/>
          <p:nvPr/>
        </p:nvSpPr>
        <p:spPr>
          <a:xfrm>
            <a:off x="952500" y="1866900"/>
            <a:ext cx="3284706"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CRM funnel</a:t>
            </a:r>
            <a:endParaRPr lang="en-US" sz="1300" dirty="0"/>
          </a:p>
        </p:txBody>
      </p:sp>
      <p:sp>
        <p:nvSpPr>
          <p:cNvPr id="13" name="Text 8"/>
          <p:cNvSpPr txBox="1"/>
          <p:nvPr/>
        </p:nvSpPr>
        <p:spPr>
          <a:xfrm>
            <a:off x="952500" y="2095500"/>
            <a:ext cx="3284706"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Engagements at each step; step conversion at the right</a:t>
            </a:r>
            <a:endParaRPr lang="en-US" sz="950" dirty="0"/>
          </a:p>
        </p:txBody>
      </p:sp>
      <p:sp>
        <p:nvSpPr>
          <p:cNvPr id="14" name="Shape 9"/>
          <p:cNvSpPr/>
          <p:nvPr/>
        </p:nvSpPr>
        <p:spPr>
          <a:xfrm>
            <a:off x="971550" y="2526506"/>
            <a:ext cx="2579856" cy="438150"/>
          </a:xfrm>
          <a:prstGeom prst="roundRect">
            <a:avLst>
              <a:gd name="adj" fmla="val 10870"/>
            </a:avLst>
          </a:prstGeom>
          <a:solidFill>
            <a:srgbClr val="274E13"/>
          </a:solidFill>
          <a:ln w="12700">
            <a:solidFill>
              <a:srgbClr val="274E13"/>
            </a:solidFill>
            <a:prstDash val="solid"/>
          </a:ln>
        </p:spPr>
      </p:sp>
      <p:sp>
        <p:nvSpPr>
          <p:cNvPr id="15" name="Text 10"/>
          <p:cNvSpPr txBox="1"/>
          <p:nvPr/>
        </p:nvSpPr>
        <p:spPr>
          <a:xfrm>
            <a:off x="971550" y="2526506"/>
            <a:ext cx="2579856" cy="438150"/>
          </a:xfrm>
          <a:prstGeom prst="rect">
            <a:avLst/>
          </a:prstGeom>
          <a:noFill/>
          <a:ln/>
        </p:spPr>
        <p:txBody>
          <a:bodyPr wrap="square" lIns="0" tIns="0" rIns="0" bIns="0" rtlCol="0" anchor="ctr"/>
          <a:lstStyle/>
          <a:p>
            <a:pPr algn="ctr" indent="0" marL="0">
              <a:lnSpc>
                <a:spcPct val="95000"/>
              </a:lnSpc>
              <a:buNone/>
            </a:pPr>
            <a:r>
              <a:rPr lang="en-US" sz="980" b="1" dirty="0">
                <a:solidFill>
                  <a:srgbClr val="FFFFFF"/>
                </a:solidFill>
                <a:latin typeface="Plus Jakarta Sans" pitchFamily="34" charset="0"/>
                <a:ea typeface="Plus Jakarta Sans" pitchFamily="34" charset="-122"/>
                <a:cs typeface="Plus Jakarta Sans" pitchFamily="34" charset="-120"/>
              </a:rPr>
              <a:t>Engagements logged: 849</a:t>
            </a:r>
            <a:endParaRPr lang="en-US" sz="980" dirty="0"/>
          </a:p>
        </p:txBody>
      </p:sp>
      <p:sp>
        <p:nvSpPr>
          <p:cNvPr id="16" name="Text 11"/>
          <p:cNvSpPr txBox="1"/>
          <p:nvPr/>
        </p:nvSpPr>
        <p:spPr>
          <a:xfrm>
            <a:off x="3627606" y="2526506"/>
            <a:ext cx="590550" cy="438150"/>
          </a:xfrm>
          <a:prstGeom prst="rect">
            <a:avLst/>
          </a:prstGeom>
          <a:noFill/>
          <a:ln/>
        </p:spPr>
        <p:txBody>
          <a:bodyPr wrap="square" lIns="0" tIns="0" rIns="0" bIns="0" rtlCol="0" anchor="ctr"/>
          <a:lstStyle/>
          <a:p>
            <a:pPr algn="l" indent="0" marL="0">
              <a:lnSpc>
                <a:spcPct val="95000"/>
              </a:lnSpc>
              <a:buNone/>
            </a:pPr>
            <a:endParaRPr lang="en-US" sz="980" dirty="0"/>
          </a:p>
        </p:txBody>
      </p:sp>
      <p:sp>
        <p:nvSpPr>
          <p:cNvPr id="17" name="Shape 12"/>
          <p:cNvSpPr/>
          <p:nvPr/>
        </p:nvSpPr>
        <p:spPr>
          <a:xfrm>
            <a:off x="1096137" y="3255169"/>
            <a:ext cx="2330683" cy="438150"/>
          </a:xfrm>
          <a:prstGeom prst="roundRect">
            <a:avLst>
              <a:gd name="adj" fmla="val 10870"/>
            </a:avLst>
          </a:prstGeom>
          <a:solidFill>
            <a:srgbClr val="3F6B2B"/>
          </a:solidFill>
          <a:ln w="12700">
            <a:solidFill>
              <a:srgbClr val="3F6B2B"/>
            </a:solidFill>
            <a:prstDash val="solid"/>
          </a:ln>
        </p:spPr>
      </p:sp>
      <p:sp>
        <p:nvSpPr>
          <p:cNvPr id="18" name="Text 13"/>
          <p:cNvSpPr txBox="1"/>
          <p:nvPr/>
        </p:nvSpPr>
        <p:spPr>
          <a:xfrm>
            <a:off x="1096137" y="3255169"/>
            <a:ext cx="2330683" cy="438150"/>
          </a:xfrm>
          <a:prstGeom prst="rect">
            <a:avLst/>
          </a:prstGeom>
          <a:noFill/>
          <a:ln/>
        </p:spPr>
        <p:txBody>
          <a:bodyPr wrap="square" lIns="0" tIns="0" rIns="0" bIns="0" rtlCol="0" anchor="ctr"/>
          <a:lstStyle/>
          <a:p>
            <a:pPr algn="ctr" indent="0" marL="0">
              <a:lnSpc>
                <a:spcPct val="95000"/>
              </a:lnSpc>
              <a:buNone/>
            </a:pPr>
            <a:r>
              <a:rPr lang="en-US" sz="980" b="1" dirty="0">
                <a:solidFill>
                  <a:srgbClr val="FFFFFF"/>
                </a:solidFill>
                <a:latin typeface="Plus Jakarta Sans" pitchFamily="34" charset="0"/>
                <a:ea typeface="Plus Jakarta Sans" pitchFamily="34" charset="-122"/>
                <a:cs typeface="Plus Jakarta Sans" pitchFamily="34" charset="-120"/>
              </a:rPr>
              <a:t>Reached the lead: 767</a:t>
            </a:r>
            <a:endParaRPr lang="en-US" sz="980" dirty="0"/>
          </a:p>
        </p:txBody>
      </p:sp>
      <p:sp>
        <p:nvSpPr>
          <p:cNvPr id="19" name="Text 14"/>
          <p:cNvSpPr txBox="1"/>
          <p:nvPr/>
        </p:nvSpPr>
        <p:spPr>
          <a:xfrm>
            <a:off x="3627606" y="3255169"/>
            <a:ext cx="590550" cy="438150"/>
          </a:xfrm>
          <a:prstGeom prst="rect">
            <a:avLst/>
          </a:prstGeom>
          <a:noFill/>
          <a:ln/>
        </p:spPr>
        <p:txBody>
          <a:bodyPr wrap="square" lIns="0" tIns="0" rIns="0" bIns="0" rtlCol="0" anchor="ctr"/>
          <a:lstStyle/>
          <a:p>
            <a:pPr algn="l" indent="0" marL="0">
              <a:lnSpc>
                <a:spcPct val="95000"/>
              </a:lnSpc>
              <a:buNone/>
            </a:pPr>
            <a:r>
              <a:rPr lang="en-US" sz="980" b="1" dirty="0">
                <a:solidFill>
                  <a:srgbClr val="7A8373"/>
                </a:solidFill>
                <a:latin typeface="Plus Jakarta Sans" pitchFamily="34" charset="0"/>
                <a:ea typeface="Plus Jakarta Sans" pitchFamily="34" charset="-122"/>
                <a:cs typeface="Plus Jakarta Sans" pitchFamily="34" charset="-120"/>
              </a:rPr>
              <a:t>90%</a:t>
            </a:r>
            <a:endParaRPr lang="en-US" sz="980" dirty="0"/>
          </a:p>
        </p:txBody>
      </p:sp>
      <p:sp>
        <p:nvSpPr>
          <p:cNvPr id="20" name="Shape 15"/>
          <p:cNvSpPr/>
          <p:nvPr/>
        </p:nvSpPr>
        <p:spPr>
          <a:xfrm>
            <a:off x="1365062" y="3983831"/>
            <a:ext cx="1792833" cy="438150"/>
          </a:xfrm>
          <a:prstGeom prst="roundRect">
            <a:avLst>
              <a:gd name="adj" fmla="val 10870"/>
            </a:avLst>
          </a:prstGeom>
          <a:solidFill>
            <a:srgbClr val="5E8C47"/>
          </a:solidFill>
          <a:ln w="12700">
            <a:solidFill>
              <a:srgbClr val="5E8C47"/>
            </a:solidFill>
            <a:prstDash val="solid"/>
          </a:ln>
        </p:spPr>
      </p:sp>
      <p:sp>
        <p:nvSpPr>
          <p:cNvPr id="21" name="Text 16"/>
          <p:cNvSpPr txBox="1"/>
          <p:nvPr/>
        </p:nvSpPr>
        <p:spPr>
          <a:xfrm>
            <a:off x="1365062" y="3983831"/>
            <a:ext cx="1792833" cy="438150"/>
          </a:xfrm>
          <a:prstGeom prst="rect">
            <a:avLst/>
          </a:prstGeom>
          <a:noFill/>
          <a:ln/>
        </p:spPr>
        <p:txBody>
          <a:bodyPr wrap="square" lIns="0" tIns="0" rIns="0" bIns="0" rtlCol="0" anchor="ctr"/>
          <a:lstStyle/>
          <a:p>
            <a:pPr algn="ctr" indent="0" marL="0">
              <a:lnSpc>
                <a:spcPct val="95000"/>
              </a:lnSpc>
              <a:buNone/>
            </a:pPr>
            <a:r>
              <a:rPr lang="en-US" sz="980" b="1" dirty="0">
                <a:solidFill>
                  <a:srgbClr val="FFFFFF"/>
                </a:solidFill>
                <a:latin typeface="Plus Jakarta Sans" pitchFamily="34" charset="0"/>
                <a:ea typeface="Plus Jakarta Sans" pitchFamily="34" charset="-122"/>
                <a:cs typeface="Plus Jakarta Sans" pitchFamily="34" charset="-120"/>
              </a:rPr>
              <a:t>Showed interest: 590</a:t>
            </a:r>
            <a:endParaRPr lang="en-US" sz="980" dirty="0"/>
          </a:p>
        </p:txBody>
      </p:sp>
      <p:sp>
        <p:nvSpPr>
          <p:cNvPr id="22" name="Text 17"/>
          <p:cNvSpPr txBox="1"/>
          <p:nvPr/>
        </p:nvSpPr>
        <p:spPr>
          <a:xfrm>
            <a:off x="3627606" y="3983831"/>
            <a:ext cx="590550" cy="438150"/>
          </a:xfrm>
          <a:prstGeom prst="rect">
            <a:avLst/>
          </a:prstGeom>
          <a:noFill/>
          <a:ln/>
        </p:spPr>
        <p:txBody>
          <a:bodyPr wrap="square" lIns="0" tIns="0" rIns="0" bIns="0" rtlCol="0" anchor="ctr"/>
          <a:lstStyle/>
          <a:p>
            <a:pPr algn="l" indent="0" marL="0">
              <a:lnSpc>
                <a:spcPct val="95000"/>
              </a:lnSpc>
              <a:buNone/>
            </a:pPr>
            <a:r>
              <a:rPr lang="en-US" sz="980" b="1" dirty="0">
                <a:solidFill>
                  <a:srgbClr val="7A8373"/>
                </a:solidFill>
                <a:latin typeface="Plus Jakarta Sans" pitchFamily="34" charset="0"/>
                <a:ea typeface="Plus Jakarta Sans" pitchFamily="34" charset="-122"/>
                <a:cs typeface="Plus Jakarta Sans" pitchFamily="34" charset="-120"/>
              </a:rPr>
              <a:t>77%</a:t>
            </a:r>
            <a:endParaRPr lang="en-US" sz="980" dirty="0"/>
          </a:p>
        </p:txBody>
      </p:sp>
      <p:sp>
        <p:nvSpPr>
          <p:cNvPr id="23" name="Shape 18"/>
          <p:cNvSpPr/>
          <p:nvPr/>
        </p:nvSpPr>
        <p:spPr>
          <a:xfrm>
            <a:off x="2132485" y="4712494"/>
            <a:ext cx="257986" cy="438150"/>
          </a:xfrm>
          <a:prstGeom prst="roundRect">
            <a:avLst>
              <a:gd name="adj" fmla="val 18460"/>
            </a:avLst>
          </a:prstGeom>
          <a:solidFill>
            <a:srgbClr val="86AD6C"/>
          </a:solidFill>
          <a:ln w="12700">
            <a:solidFill>
              <a:srgbClr val="86AD6C"/>
            </a:solidFill>
            <a:prstDash val="solid"/>
          </a:ln>
        </p:spPr>
      </p:sp>
      <p:sp>
        <p:nvSpPr>
          <p:cNvPr id="24" name="Text 19"/>
          <p:cNvSpPr txBox="1"/>
          <p:nvPr/>
        </p:nvSpPr>
        <p:spPr>
          <a:xfrm>
            <a:off x="971550" y="4712494"/>
            <a:ext cx="1103785" cy="438150"/>
          </a:xfrm>
          <a:prstGeom prst="rect">
            <a:avLst/>
          </a:prstGeom>
          <a:noFill/>
          <a:ln/>
        </p:spPr>
        <p:txBody>
          <a:bodyPr wrap="square" lIns="0" tIns="0" rIns="0" bIns="0" rtlCol="0" anchor="ctr"/>
          <a:lstStyle/>
          <a:p>
            <a:pPr algn="r" indent="0" marL="0">
              <a:lnSpc>
                <a:spcPct val="95000"/>
              </a:lnSpc>
              <a:buNone/>
            </a:pPr>
            <a:r>
              <a:rPr lang="en-US" sz="900" dirty="0">
                <a:solidFill>
                  <a:srgbClr val="2B2F28"/>
                </a:solidFill>
                <a:latin typeface="Plus Jakarta Sans" pitchFamily="34" charset="0"/>
                <a:ea typeface="Plus Jakarta Sans" pitchFamily="34" charset="-122"/>
                <a:cs typeface="Plus Jakarta Sans" pitchFamily="34" charset="-120"/>
              </a:rPr>
              <a:t>Ordered</a:t>
            </a:r>
            <a:endParaRPr lang="en-US" sz="900" dirty="0"/>
          </a:p>
        </p:txBody>
      </p:sp>
      <p:sp>
        <p:nvSpPr>
          <p:cNvPr id="25" name="Text 20"/>
          <p:cNvSpPr txBox="1"/>
          <p:nvPr/>
        </p:nvSpPr>
        <p:spPr>
          <a:xfrm>
            <a:off x="2132485" y="4712494"/>
            <a:ext cx="257986" cy="438150"/>
          </a:xfrm>
          <a:prstGeom prst="rect">
            <a:avLst/>
          </a:prstGeom>
          <a:noFill/>
          <a:ln/>
        </p:spPr>
        <p:txBody>
          <a:bodyPr wrap="square" lIns="0" tIns="0" rIns="0" bIns="0" rtlCol="0" anchor="ctr"/>
          <a:lstStyle/>
          <a:p>
            <a:pPr algn="ctr" indent="0" marL="0">
              <a:lnSpc>
                <a:spcPct val="95000"/>
              </a:lnSpc>
              <a:buNone/>
            </a:pPr>
            <a:r>
              <a:rPr lang="en-US" sz="980" b="1" dirty="0">
                <a:solidFill>
                  <a:srgbClr val="2B2F28"/>
                </a:solidFill>
                <a:latin typeface="Plus Jakarta Sans" pitchFamily="34" charset="0"/>
                <a:ea typeface="Plus Jakarta Sans" pitchFamily="34" charset="-122"/>
                <a:cs typeface="Plus Jakarta Sans" pitchFamily="34" charset="-120"/>
              </a:rPr>
              <a:t>2</a:t>
            </a:r>
            <a:endParaRPr lang="en-US" sz="980" dirty="0"/>
          </a:p>
        </p:txBody>
      </p:sp>
      <p:sp>
        <p:nvSpPr>
          <p:cNvPr id="26" name="Text 21"/>
          <p:cNvSpPr txBox="1"/>
          <p:nvPr/>
        </p:nvSpPr>
        <p:spPr>
          <a:xfrm>
            <a:off x="3627606" y="4712494"/>
            <a:ext cx="590550" cy="438150"/>
          </a:xfrm>
          <a:prstGeom prst="rect">
            <a:avLst/>
          </a:prstGeom>
          <a:noFill/>
          <a:ln/>
        </p:spPr>
        <p:txBody>
          <a:bodyPr wrap="square" lIns="0" tIns="0" rIns="0" bIns="0" rtlCol="0" anchor="ctr"/>
          <a:lstStyle/>
          <a:p>
            <a:pPr algn="l" indent="0" marL="0">
              <a:lnSpc>
                <a:spcPct val="95000"/>
              </a:lnSpc>
              <a:buNone/>
            </a:pPr>
            <a:r>
              <a:rPr lang="en-US" sz="980" b="1" dirty="0">
                <a:solidFill>
                  <a:srgbClr val="7A8373"/>
                </a:solidFill>
                <a:latin typeface="Plus Jakarta Sans" pitchFamily="34" charset="0"/>
                <a:ea typeface="Plus Jakarta Sans" pitchFamily="34" charset="-122"/>
                <a:cs typeface="Plus Jakarta Sans" pitchFamily="34" charset="-120"/>
              </a:rPr>
              <a:t>0%</a:t>
            </a:r>
            <a:endParaRPr lang="en-US" sz="980" dirty="0"/>
          </a:p>
        </p:txBody>
      </p:sp>
      <p:sp>
        <p:nvSpPr>
          <p:cNvPr id="27" name="Text 22"/>
          <p:cNvSpPr txBox="1"/>
          <p:nvPr/>
        </p:nvSpPr>
        <p:spPr>
          <a:xfrm>
            <a:off x="3627606" y="2362200"/>
            <a:ext cx="666750" cy="133350"/>
          </a:xfrm>
          <a:prstGeom prst="rect">
            <a:avLst/>
          </a:prstGeom>
          <a:noFill/>
          <a:ln/>
        </p:spPr>
        <p:txBody>
          <a:bodyPr wrap="square" lIns="0" tIns="0" rIns="0" bIns="0" rtlCol="0" anchor="ctr"/>
          <a:lstStyle/>
          <a:p>
            <a:pPr algn="l" indent="0" marL="0">
              <a:lnSpc>
                <a:spcPct val="95000"/>
              </a:lnSpc>
              <a:buNone/>
            </a:pPr>
            <a:r>
              <a:rPr lang="en-US" sz="800" b="1" dirty="0">
                <a:solidFill>
                  <a:srgbClr val="7A8373"/>
                </a:solidFill>
                <a:latin typeface="Plus Jakarta Sans" pitchFamily="34" charset="0"/>
                <a:ea typeface="Plus Jakarta Sans" pitchFamily="34" charset="-122"/>
                <a:cs typeface="Plus Jakarta Sans" pitchFamily="34" charset="-120"/>
              </a:rPr>
              <a:t>STEP</a:t>
            </a:r>
            <a:endParaRPr lang="en-US" sz="800" dirty="0"/>
          </a:p>
        </p:txBody>
      </p:sp>
      <p:sp>
        <p:nvSpPr>
          <p:cNvPr id="28" name="Shape 23"/>
          <p:cNvSpPr/>
          <p:nvPr/>
        </p:nvSpPr>
        <p:spPr>
          <a:xfrm>
            <a:off x="4580106" y="1714500"/>
            <a:ext cx="6468894" cy="3714750"/>
          </a:xfrm>
          <a:prstGeom prst="roundRect">
            <a:avLst>
              <a:gd name="adj" fmla="val 2954"/>
            </a:avLst>
          </a:prstGeom>
          <a:solidFill>
            <a:srgbClr val="FFFFFF"/>
          </a:solidFill>
          <a:ln w="12700">
            <a:solidFill>
              <a:srgbClr val="FFFFFF"/>
            </a:solidFill>
            <a:prstDash val="solid"/>
          </a:ln>
        </p:spPr>
      </p:sp>
      <p:sp>
        <p:nvSpPr>
          <p:cNvPr id="29" name="Text 24"/>
          <p:cNvSpPr txBox="1"/>
          <p:nvPr/>
        </p:nvSpPr>
        <p:spPr>
          <a:xfrm>
            <a:off x="4770606" y="1866900"/>
            <a:ext cx="6087894"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PIC scorecard</a:t>
            </a:r>
            <a:endParaRPr lang="en-US" sz="1300" dirty="0"/>
          </a:p>
        </p:txBody>
      </p:sp>
      <p:sp>
        <p:nvSpPr>
          <p:cNvPr id="30" name="Text 25"/>
          <p:cNvSpPr txBox="1"/>
          <p:nvPr/>
        </p:nvSpPr>
        <p:spPr>
          <a:xfrm>
            <a:off x="4770606" y="2095500"/>
            <a:ext cx="6087894"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CRM activity next to the orders each PIC closed; top 7 of 15</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732506" y="2381250"/>
          <a:ext cx="6164094" cy="914400"/>
        </p:xfrm>
        <a:graphic>
          <a:graphicData uri="http://schemas.openxmlformats.org/drawingml/2006/table">
            <a:tbl>
              <a:tblPr/>
              <a:tblGrid>
                <a:gridCol w="3045501"/>
                <a:gridCol w="779648"/>
                <a:gridCol w="682192"/>
                <a:gridCol w="1656752"/>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PIC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CRM eng.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Reached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r" indent="0" marL="0">
                        <a:buNone/>
                      </a:pPr>
                      <a:r>
                        <a:rPr lang="en-US" sz="900" b="1" dirty="0">
                          <a:solidFill>
                            <a:srgbClr val="FFFFFF"/>
                          </a:solidFill>
                          <a:latin typeface="Plus Jakarta Sans" pitchFamily="34" charset="0"/>
                          <a:ea typeface="Plus Jakarta Sans" pitchFamily="34" charset="-122"/>
                          <a:cs typeface="Plus Jakarta Sans" pitchFamily="34" charset="-120"/>
                        </a:rPr>
                        <a:t>Won · warm · lost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Deby Zea Efendi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244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100%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 50 · 194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Joko Prestiwo</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195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 195 · 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Rudi Nirwana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134</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88%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 134 · 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Simon Sutrado Simanjuntak</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79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81%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2 · 36 · 41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Sazali Wandana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41</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93%</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 39 · 2</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Edi Sutarsan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68%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 37 · 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Ghifari Kamil Ramadhan</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30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90%</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r" indent="0" marL="0">
                        <a:buNone/>
                      </a:pPr>
                      <a:r>
                        <a:rPr lang="en-US" sz="900" dirty="0">
                          <a:solidFill>
                            <a:srgbClr val="2B2F28"/>
                          </a:solidFill>
                          <a:latin typeface="Plus Jakarta Sans" pitchFamily="34" charset="0"/>
                          <a:ea typeface="Plus Jakarta Sans" pitchFamily="34" charset="-122"/>
                          <a:cs typeface="Plus Jakarta Sans" pitchFamily="34" charset="-120"/>
                        </a:rPr>
                        <a:t>0 · 24 · 6</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
        <p:nvSpPr>
          <p:cNvPr id="32" name="Shape 26"/>
          <p:cNvSpPr/>
          <p:nvPr/>
        </p:nvSpPr>
        <p:spPr>
          <a:xfrm>
            <a:off x="762000" y="5562600"/>
            <a:ext cx="10287000" cy="552450"/>
          </a:xfrm>
          <a:prstGeom prst="roundRect">
            <a:avLst>
              <a:gd name="adj" fmla="val 19862"/>
            </a:avLst>
          </a:prstGeom>
          <a:solidFill>
            <a:srgbClr val="FBEFC4"/>
          </a:solidFill>
          <a:ln w="12700">
            <a:solidFill>
              <a:srgbClr val="FBEFC4"/>
            </a:solidFill>
            <a:prstDash val="solid"/>
          </a:ln>
        </p:spPr>
      </p:sp>
      <p:sp>
        <p:nvSpPr>
          <p:cNvPr id="33" name="Text 27"/>
          <p:cNvSpPr txBox="1"/>
          <p:nvPr/>
        </p:nvSpPr>
        <p:spPr>
          <a:xfrm>
            <a:off x="933450" y="5648325"/>
            <a:ext cx="9944100" cy="381000"/>
          </a:xfrm>
          <a:prstGeom prst="rect">
            <a:avLst/>
          </a:prstGeom>
          <a:noFill/>
          <a:ln/>
        </p:spPr>
        <p:txBody>
          <a:bodyPr wrap="square" lIns="0" tIns="0" rIns="0" bIns="0" rtlCol="0" anchor="ctr">
            <a:normAutofit/>
          </a:bodyPr>
          <a:lstStyle/>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62 phone or WhatsApp engagements have no call result logged, so they are not counted as reached. Face-to-face visits count as reached.</a:t>
            </a:r>
            <a:endParaRPr lang="en-US" sz="1000" dirty="0"/>
          </a:p>
          <a:p>
            <a:pPr indent="0" marL="0">
              <a:spcAft>
                <a:spcPts val="300"/>
              </a:spcAft>
              <a:buNone/>
            </a:pPr>
            <a:r>
              <a:rPr lang="en-US" sz="1000" dirty="0">
                <a:solidFill>
                  <a:srgbClr val="5A4600"/>
                </a:solidFill>
                <a:latin typeface="Plus Jakarta Sans" pitchFamily="34" charset="0"/>
                <a:ea typeface="Plus Jakarta Sans" pitchFamily="34" charset="-122"/>
                <a:cs typeface="Plus Jakarta Sans" pitchFamily="34" charset="-120"/>
              </a:rPr>
              <a:t>20 of 591 calls didn't connect. Those leads never heard the offer; retry on WhatsApp before marking them.</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16</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CRM 1 JUL – 30 SEP · RECOVERABLE DEMAND</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588 leads are still in play, and 175 are already asking how to buy</a:t>
            </a:r>
            <a:endParaRPr lang="en-US" sz="2300" dirty="0"/>
          </a:p>
        </p:txBody>
      </p:sp>
      <p:sp>
        <p:nvSpPr>
          <p:cNvPr id="11" name="Shape 6"/>
          <p:cNvSpPr/>
          <p:nvPr/>
        </p:nvSpPr>
        <p:spPr>
          <a:xfrm>
            <a:off x="762000" y="1714500"/>
            <a:ext cx="2457450" cy="990600"/>
          </a:xfrm>
          <a:prstGeom prst="roundRect">
            <a:avLst>
              <a:gd name="adj" fmla="val 11077"/>
            </a:avLst>
          </a:prstGeom>
          <a:solidFill>
            <a:srgbClr val="4A653B"/>
          </a:solidFill>
          <a:ln w="12700">
            <a:solidFill>
              <a:srgbClr val="4A653B"/>
            </a:solidFill>
            <a:prstDash val="solid"/>
          </a:ln>
        </p:spPr>
      </p:sp>
      <p:sp>
        <p:nvSpPr>
          <p:cNvPr id="12" name="Text 7"/>
          <p:cNvSpPr txBox="1"/>
          <p:nvPr/>
        </p:nvSpPr>
        <p:spPr>
          <a:xfrm>
            <a:off x="914400" y="1828800"/>
            <a:ext cx="2152650" cy="457200"/>
          </a:xfrm>
          <a:prstGeom prst="rect">
            <a:avLst/>
          </a:prstGeom>
          <a:noFill/>
          <a:ln/>
        </p:spPr>
        <p:txBody>
          <a:bodyPr wrap="square" lIns="0" tIns="0" rIns="0" bIns="0" rtlCol="0" anchor="t"/>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588</a:t>
            </a:r>
            <a:pPr indent="0" marL="0">
              <a:buNone/>
            </a:pPr>
            <a:endParaRPr lang="en-US" sz="2800" dirty="0"/>
          </a:p>
        </p:txBody>
      </p:sp>
      <p:sp>
        <p:nvSpPr>
          <p:cNvPr id="13" name="Text 8"/>
          <p:cNvSpPr txBox="1"/>
          <p:nvPr/>
        </p:nvSpPr>
        <p:spPr>
          <a:xfrm>
            <a:off x="914400" y="2247900"/>
            <a:ext cx="2152650" cy="400050"/>
          </a:xfrm>
          <a:prstGeom prst="rect">
            <a:avLst/>
          </a:prstGeom>
          <a:noFill/>
          <a:ln/>
        </p:spPr>
        <p:txBody>
          <a:bodyPr wrap="square" lIns="0" tIns="0" rIns="0" bIns="0" rtlCol="0" anchor="t">
            <a:normAutofit/>
          </a:bodyPr>
          <a:lstStyle/>
          <a:p>
            <a:pPr indent="0" marL="0">
              <a:buNone/>
            </a:pPr>
            <a:r>
              <a:rPr lang="en-US" sz="950" dirty="0">
                <a:solidFill>
                  <a:srgbClr val="E4ECDD"/>
                </a:solidFill>
                <a:latin typeface="Plus Jakarta Sans" pitchFamily="34" charset="0"/>
                <a:ea typeface="Plus Jakarta Sans" pitchFamily="34" charset="-122"/>
                <a:cs typeface="Plus Jakarta Sans" pitchFamily="34" charset="-120"/>
              </a:rPr>
              <a:t>Considering or prospect</a:t>
            </a:r>
            <a:endParaRPr lang="en-US" sz="950" dirty="0"/>
          </a:p>
        </p:txBody>
      </p:sp>
      <p:sp>
        <p:nvSpPr>
          <p:cNvPr id="14" name="Shape 9"/>
          <p:cNvSpPr/>
          <p:nvPr/>
        </p:nvSpPr>
        <p:spPr>
          <a:xfrm>
            <a:off x="3371850" y="1714500"/>
            <a:ext cx="2457450" cy="990600"/>
          </a:xfrm>
          <a:prstGeom prst="roundRect">
            <a:avLst>
              <a:gd name="adj" fmla="val 11077"/>
            </a:avLst>
          </a:prstGeom>
          <a:solidFill>
            <a:srgbClr val="FFFFFF"/>
          </a:solidFill>
          <a:ln w="12700">
            <a:solidFill>
              <a:srgbClr val="FFFFFF"/>
            </a:solidFill>
            <a:prstDash val="solid"/>
          </a:ln>
        </p:spPr>
      </p:sp>
      <p:sp>
        <p:nvSpPr>
          <p:cNvPr id="15" name="Text 10"/>
          <p:cNvSpPr txBox="1"/>
          <p:nvPr/>
        </p:nvSpPr>
        <p:spPr>
          <a:xfrm>
            <a:off x="35242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175</a:t>
            </a:r>
            <a:pPr indent="0" marL="0">
              <a:buNone/>
            </a:pPr>
            <a:endParaRPr lang="en-US" sz="2800" dirty="0"/>
          </a:p>
        </p:txBody>
      </p:sp>
      <p:sp>
        <p:nvSpPr>
          <p:cNvPr id="16" name="Text 11"/>
          <p:cNvSpPr txBox="1"/>
          <p:nvPr/>
        </p:nvSpPr>
        <p:spPr>
          <a:xfrm>
            <a:off x="3524250" y="2247900"/>
            <a:ext cx="2152650" cy="4000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Asked about warehouse, delivery or price</a:t>
            </a:r>
            <a:endParaRPr lang="en-US" sz="950" dirty="0"/>
          </a:p>
        </p:txBody>
      </p:sp>
      <p:sp>
        <p:nvSpPr>
          <p:cNvPr id="17" name="Shape 12"/>
          <p:cNvSpPr/>
          <p:nvPr/>
        </p:nvSpPr>
        <p:spPr>
          <a:xfrm>
            <a:off x="5981700" y="1714500"/>
            <a:ext cx="2457450" cy="990600"/>
          </a:xfrm>
          <a:prstGeom prst="roundRect">
            <a:avLst>
              <a:gd name="adj" fmla="val 11077"/>
            </a:avLst>
          </a:prstGeom>
          <a:solidFill>
            <a:srgbClr val="FFFFFF"/>
          </a:solidFill>
          <a:ln w="12700">
            <a:solidFill>
              <a:srgbClr val="FFFFFF"/>
            </a:solidFill>
            <a:prstDash val="solid"/>
          </a:ln>
        </p:spPr>
      </p:sp>
      <p:sp>
        <p:nvSpPr>
          <p:cNvPr id="18" name="Text 13"/>
          <p:cNvSpPr txBox="1"/>
          <p:nvPr/>
        </p:nvSpPr>
        <p:spPr>
          <a:xfrm>
            <a:off x="613410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17</a:t>
            </a:r>
            <a:pPr indent="0" marL="0">
              <a:buNone/>
            </a:pPr>
            <a:endParaRPr lang="en-US" sz="2800" dirty="0"/>
          </a:p>
        </p:txBody>
      </p:sp>
      <p:sp>
        <p:nvSpPr>
          <p:cNvPr id="19" name="Text 14"/>
          <p:cNvSpPr txBox="1"/>
          <p:nvPr/>
        </p:nvSpPr>
        <p:spPr>
          <a:xfrm>
            <a:off x="6134100" y="2247900"/>
            <a:ext cx="2152650" cy="4000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Could not be reached by phone</a:t>
            </a:r>
            <a:endParaRPr lang="en-US" sz="950" dirty="0"/>
          </a:p>
        </p:txBody>
      </p:sp>
      <p:sp>
        <p:nvSpPr>
          <p:cNvPr id="20" name="Shape 15"/>
          <p:cNvSpPr/>
          <p:nvPr/>
        </p:nvSpPr>
        <p:spPr>
          <a:xfrm>
            <a:off x="8591550" y="1714500"/>
            <a:ext cx="2457450" cy="990600"/>
          </a:xfrm>
          <a:prstGeom prst="roundRect">
            <a:avLst>
              <a:gd name="adj" fmla="val 11077"/>
            </a:avLst>
          </a:prstGeom>
          <a:solidFill>
            <a:srgbClr val="FFFFFF"/>
          </a:solidFill>
          <a:ln w="12700">
            <a:solidFill>
              <a:srgbClr val="FFFFFF"/>
            </a:solidFill>
            <a:prstDash val="solid"/>
          </a:ln>
        </p:spPr>
      </p:sp>
      <p:sp>
        <p:nvSpPr>
          <p:cNvPr id="21" name="Text 16"/>
          <p:cNvSpPr txBox="1"/>
          <p:nvPr/>
        </p:nvSpPr>
        <p:spPr>
          <a:xfrm>
            <a:off x="8743950" y="1828800"/>
            <a:ext cx="2152650" cy="457200"/>
          </a:xfrm>
          <a:prstGeom prst="rect">
            <a:avLst/>
          </a:prstGeom>
          <a:noFill/>
          <a:ln/>
        </p:spPr>
        <p:txBody>
          <a:bodyPr wrap="square" lIns="0" tIns="0" rIns="0" bIns="0" rtlCol="0" anchor="t"/>
          <a:lstStyle/>
          <a:p>
            <a:pPr indent="0" marL="0">
              <a:buNone/>
            </a:pPr>
            <a:r>
              <a:rPr lang="en-US" sz="2800" b="1" dirty="0">
                <a:solidFill>
                  <a:srgbClr val="274E13"/>
                </a:solidFill>
                <a:latin typeface="Plus Jakarta Sans" pitchFamily="34" charset="0"/>
                <a:ea typeface="Plus Jakarta Sans" pitchFamily="34" charset="-122"/>
                <a:cs typeface="Plus Jakarta Sans" pitchFamily="34" charset="-120"/>
              </a:rPr>
              <a:t>53</a:t>
            </a:r>
            <a:pPr indent="0" marL="0">
              <a:buNone/>
            </a:pPr>
            <a:endParaRPr lang="en-US" sz="2800" dirty="0"/>
          </a:p>
        </p:txBody>
      </p:sp>
      <p:sp>
        <p:nvSpPr>
          <p:cNvPr id="22" name="Text 17"/>
          <p:cNvSpPr txBox="1"/>
          <p:nvPr/>
        </p:nvSpPr>
        <p:spPr>
          <a:xfrm>
            <a:off x="8743950" y="2247900"/>
            <a:ext cx="2152650" cy="40005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Stalled on stock or delivery time</a:t>
            </a:r>
            <a:endParaRPr lang="en-US" sz="950" dirty="0"/>
          </a:p>
        </p:txBody>
      </p:sp>
      <p:sp>
        <p:nvSpPr>
          <p:cNvPr id="23" name="Shape 18"/>
          <p:cNvSpPr/>
          <p:nvPr/>
        </p:nvSpPr>
        <p:spPr>
          <a:xfrm>
            <a:off x="762000" y="2838450"/>
            <a:ext cx="10287000" cy="3276600"/>
          </a:xfrm>
          <a:prstGeom prst="roundRect">
            <a:avLst>
              <a:gd name="adj" fmla="val 3349"/>
            </a:avLst>
          </a:prstGeom>
          <a:solidFill>
            <a:srgbClr val="FFFFFF"/>
          </a:solidFill>
          <a:ln w="12700">
            <a:solidFill>
              <a:srgbClr val="FFFFFF"/>
            </a:solidFill>
            <a:prstDash val="solid"/>
          </a:ln>
        </p:spPr>
      </p:sp>
      <p:sp>
        <p:nvSpPr>
          <p:cNvPr id="24" name="Text 19"/>
          <p:cNvSpPr txBox="1"/>
          <p:nvPr/>
        </p:nvSpPr>
        <p:spPr>
          <a:xfrm>
            <a:off x="952500" y="2990850"/>
            <a:ext cx="9906000" cy="256032"/>
          </a:xfrm>
          <a:prstGeom prst="rect">
            <a:avLst/>
          </a:prstGeom>
          <a:noFill/>
          <a:ln/>
        </p:spPr>
        <p:txBody>
          <a:bodyPr wrap="square" lIns="0" tIns="0" rIns="0" bIns="0" rtlCol="0" anchor="t"/>
          <a:lstStyle/>
          <a:p>
            <a:pPr indent="0" marL="0">
              <a:buNone/>
            </a:pPr>
            <a:r>
              <a:rPr lang="en-US" sz="1300" b="1" dirty="0">
                <a:solidFill>
                  <a:srgbClr val="274E13"/>
                </a:solidFill>
                <a:latin typeface="Plus Jakarta Sans" pitchFamily="34" charset="0"/>
                <a:ea typeface="Plus Jakarta Sans" pitchFamily="34" charset="-122"/>
                <a:cs typeface="Plus Jakarta Sans" pitchFamily="34" charset="-120"/>
              </a:rPr>
              <a:t>Leads still in play</a:t>
            </a:r>
            <a:endParaRPr lang="en-US" sz="1300" dirty="0"/>
          </a:p>
        </p:txBody>
      </p:sp>
      <p:sp>
        <p:nvSpPr>
          <p:cNvPr id="25" name="Text 20"/>
          <p:cNvSpPr txBox="1"/>
          <p:nvPr/>
        </p:nvSpPr>
        <p:spPr>
          <a:xfrm>
            <a:off x="952500" y="3219450"/>
            <a:ext cx="9906000" cy="228600"/>
          </a:xfrm>
          <a:prstGeom prst="rect">
            <a:avLst/>
          </a:prstGeom>
          <a:noFill/>
          <a:ln/>
        </p:spPr>
        <p:txBody>
          <a:bodyPr wrap="square" lIns="0" tIns="0" rIns="0" bIns="0" rtlCol="0" anchor="t">
            <a:normAutofit/>
          </a:bodyPr>
          <a:lstStyle/>
          <a:p>
            <a:pPr indent="0" marL="0">
              <a:buNone/>
            </a:pPr>
            <a:r>
              <a:rPr lang="en-US" sz="950" dirty="0">
                <a:solidFill>
                  <a:srgbClr val="7A8373"/>
                </a:solidFill>
                <a:latin typeface="Plus Jakarta Sans" pitchFamily="34" charset="0"/>
                <a:ea typeface="Plus Jakarta Sans" pitchFamily="34" charset="-122"/>
                <a:cs typeface="Plus Jakarta Sans" pitchFamily="34" charset="-120"/>
              </a:rPr>
              <a:t>6 of 588 shown. Names and phone numbers are left out; look leads up by ID in the CRM</a:t>
            </a:r>
            <a:endParaRPr lang="en-US" sz="9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914400" y="3505200"/>
          <a:ext cx="9982200" cy="914400"/>
        </p:xfrm>
        <a:graphic>
          <a:graphicData uri="http://schemas.openxmlformats.org/drawingml/2006/table">
            <a:tbl>
              <a:tblPr/>
              <a:tblGrid>
                <a:gridCol w="1029093"/>
                <a:gridCol w="1543639"/>
                <a:gridCol w="1543639"/>
                <a:gridCol w="1132002"/>
                <a:gridCol w="4733827"/>
              </a:tblGrid>
              <a:tr h="0">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ID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PIC</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Channel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Status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c>
                  <a:txBody>
                    <a:bodyPr/>
                    <a:lstStyle/>
                    <a:p>
                      <a:pPr algn="l" indent="0" marL="0">
                        <a:buNone/>
                      </a:pPr>
                      <a:r>
                        <a:rPr lang="en-US" sz="900" b="1" dirty="0">
                          <a:solidFill>
                            <a:srgbClr val="FFFFFF"/>
                          </a:solidFill>
                          <a:latin typeface="Plus Jakarta Sans" pitchFamily="34" charset="0"/>
                          <a:ea typeface="Plus Jakarta Sans" pitchFamily="34" charset="-122"/>
                          <a:cs typeface="Plus Jakarta Sans" pitchFamily="34" charset="-120"/>
                        </a:rPr>
                        <a:t>What they asked or said</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4A653B"/>
                    </a:solidFill>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SMEN-39969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Deby Zea Efendi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WhatsApp / text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Considering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Asked about the warehouse, delivery or minimum order; Asked about prices or discounts; Wanted product was out of stock, or delivery too slow</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SMEN-36758</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Deby Zea Efendi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WhatsApp / text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Prospect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Asked about the warehouse, delivery or minimum order; Wanted product was out of stock, or delivery too slow</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SMEN-36849</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Deby Zea Efendi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Phone call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Prospect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Asked about the warehouse, delivery or minimum order; Wanted product was out of stock, or delivery too slow</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SMEN-36885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Rudi Nirwana</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Phone call</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Considering</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Asked about the warehouse, delivery or minimum order; Asked about prices or discounts</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SMEN-36887</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Deby Zea Efendi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WhatsApp / text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Prospect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Asked about prices or discounts; Wanted product was out of stock, or delivery too slow</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r h="0">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SMEN-37265</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Deby Zea Efendi</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WhatsApp / text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c>
                  <a:txBody>
                    <a:bodyPr/>
                    <a:lstStyle/>
                    <a:p>
                      <a:pPr algn="l" indent="0" marL="0">
                        <a:buNone/>
                      </a:pPr>
                      <a:r>
                        <a:rPr lang="en-US" sz="900" b="1" dirty="0">
                          <a:solidFill>
                            <a:srgbClr val="6B4F00"/>
                          </a:solidFill>
                          <a:latin typeface="Plus Jakarta Sans" pitchFamily="34" charset="0"/>
                          <a:ea typeface="Plus Jakarta Sans" pitchFamily="34" charset="-122"/>
                          <a:cs typeface="Plus Jakarta Sans" pitchFamily="34" charset="-120"/>
                        </a:rPr>
                        <a:t>Prospect</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solidFill>
                      <a:srgbClr val="FBEFC4"/>
                    </a:solidFill>
                  </a:tcPr>
                </a:tc>
                <a:tc>
                  <a:txBody>
                    <a:bodyPr/>
                    <a:lstStyle/>
                    <a:p>
                      <a:pPr algn="l" indent="0" marL="0">
                        <a:buNone/>
                      </a:pPr>
                      <a:r>
                        <a:rPr lang="en-US" sz="900" dirty="0">
                          <a:solidFill>
                            <a:srgbClr val="2B2F28"/>
                          </a:solidFill>
                          <a:latin typeface="Plus Jakarta Sans" pitchFamily="34" charset="0"/>
                          <a:ea typeface="Plus Jakarta Sans" pitchFamily="34" charset="-122"/>
                          <a:cs typeface="Plus Jakarta Sans" pitchFamily="34" charset="-120"/>
                        </a:rPr>
                        <a:t>Asked about the warehouse, delivery or minimum order; Wanted product was out of stock, or delivery too slow</a:t>
                      </a:r>
                      <a:endParaRPr lang="en-US" sz="900" dirty="0">
                        <a:latin typeface="Plus Jakarta Sans" charset="0"/>
                        <a:ea typeface="Plus Jakarta Sans" charset="0"/>
                        <a:cs typeface="Plus Jakarta Sans" charset="0"/>
                      </a:endParaRPr>
                    </a:p>
                  </a:txBody>
                  <a:tcPr marL="36576" marR="36576" marT="36576" marB="36576" anchor="ctr">
                    <a:lnL w="6350" cap="flat" cmpd="sng" algn="ctr">
                      <a:solidFill>
                        <a:srgbClr val="DCE2D6"/>
                      </a:solidFill>
                      <a:prstDash val="solid"/>
                      <a:round/>
                      <a:headEnd type="none" w="med" len="med"/>
                      <a:tailEnd type="none" w="med" len="med"/>
                    </a:lnL>
                    <a:lnR w="6350" cap="flat" cmpd="sng" algn="ctr">
                      <a:solidFill>
                        <a:srgbClr val="DCE2D6"/>
                      </a:solidFill>
                      <a:prstDash val="solid"/>
                      <a:round/>
                      <a:headEnd type="none" w="med" len="med"/>
                      <a:tailEnd type="none" w="med" len="med"/>
                    </a:lnR>
                    <a:lnT w="6350" cap="flat" cmpd="sng" algn="ctr">
                      <a:solidFill>
                        <a:srgbClr val="DCE2D6"/>
                      </a:solidFill>
                      <a:prstDash val="solid"/>
                      <a:round/>
                      <a:headEnd type="none" w="med" len="med"/>
                      <a:tailEnd type="none" w="med" len="med"/>
                    </a:lnT>
                    <a:lnB w="6350" cap="flat" cmpd="sng" algn="ctr">
                      <a:solidFill>
                        <a:srgbClr val="DCE2D6"/>
                      </a:solidFill>
                      <a:prstDash val="solid"/>
                      <a:round/>
                      <a:headEnd type="none" w="med" len="med"/>
                      <a:tailEnd type="none" w="med" len="med"/>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61950" y="361950"/>
            <a:ext cx="11468100" cy="6134100"/>
          </a:xfrm>
          <a:prstGeom prst="rect">
            <a:avLst/>
          </a:prstGeom>
        </p:spPr>
      </p:pic>
      <p:sp>
        <p:nvSpPr>
          <p:cNvPr id="3" name="Shape 0"/>
          <p:cNvSpPr/>
          <p:nvPr/>
        </p:nvSpPr>
        <p:spPr>
          <a:xfrm>
            <a:off x="361950" y="6238875"/>
            <a:ext cx="10991850" cy="123825"/>
          </a:xfrm>
          <a:prstGeom prst="rect">
            <a:avLst/>
          </a:prstGeom>
          <a:solidFill>
            <a:srgbClr val="F5D347"/>
          </a:solidFill>
          <a:ln w="12700">
            <a:solidFill>
              <a:srgbClr val="F5D347"/>
            </a:solidFill>
            <a:prstDash val="solid"/>
          </a:ln>
        </p:spPr>
      </p:sp>
      <p:pic>
        <p:nvPicPr>
          <p:cNvPr id="4" name="Image 1" descr="preencoded.png">    </p:cNvPr>
          <p:cNvPicPr>
            <a:picLocks noChangeAspect="1"/>
          </p:cNvPicPr>
          <p:nvPr/>
        </p:nvPicPr>
        <p:blipFill>
          <a:blip r:embed="rId2"/>
          <a:stretch>
            <a:fillRect/>
          </a:stretch>
        </p:blipFill>
        <p:spPr>
          <a:xfrm>
            <a:off x="11315700" y="5772150"/>
            <a:ext cx="800100" cy="838200"/>
          </a:xfrm>
          <a:prstGeom prst="rect">
            <a:avLst/>
          </a:prstGeom>
        </p:spPr>
      </p:pic>
      <p:pic>
        <p:nvPicPr>
          <p:cNvPr id="5" name="Image 2" descr="preencoded.png">    </p:cNvPr>
          <p:cNvPicPr>
            <a:picLocks noChangeAspect="1"/>
          </p:cNvPicPr>
          <p:nvPr/>
        </p:nvPicPr>
        <p:blipFill>
          <a:blip r:embed="rId3"/>
          <a:stretch>
            <a:fillRect/>
          </a:stretch>
        </p:blipFill>
        <p:spPr>
          <a:xfrm>
            <a:off x="10972800" y="285750"/>
            <a:ext cx="895350" cy="895350"/>
          </a:xfrm>
          <a:prstGeom prst="rect">
            <a:avLst/>
          </a:prstGeom>
        </p:spPr>
      </p:pic>
      <p:sp>
        <p:nvSpPr>
          <p:cNvPr id="6" name="Text 1"/>
          <p:cNvSpPr txBox="1"/>
          <p:nvPr/>
        </p:nvSpPr>
        <p:spPr>
          <a:xfrm>
            <a:off x="381000" y="6572250"/>
            <a:ext cx="5429250" cy="201168"/>
          </a:xfrm>
          <a:prstGeom prst="rect">
            <a:avLst/>
          </a:prstGeom>
          <a:noFill/>
          <a:ln/>
        </p:spPr>
        <p:txBody>
          <a:bodyPr wrap="square" lIns="0" tIns="0" rIns="0" bIns="0" rtlCol="0" anchor="t"/>
          <a:lstStyle/>
          <a:p>
            <a:pPr indent="0" marL="0">
              <a:buNone/>
            </a:pPr>
            <a:r>
              <a:rPr lang="en-US" sz="900" dirty="0">
                <a:solidFill>
                  <a:srgbClr val="7A8373"/>
                </a:solidFill>
                <a:latin typeface="Plus Jakarta Sans" pitchFamily="34" charset="0"/>
                <a:ea typeface="Plus Jakarta Sans" pitchFamily="34" charset="-122"/>
                <a:cs typeface="Plus Jakarta Sans" pitchFamily="34" charset="-120"/>
              </a:rPr>
              <a:t>GMV incl. shipping, before discount · Sep vs Jul · data to 30 Sep 2026</a:t>
            </a:r>
            <a:endParaRPr lang="en-US" sz="900" dirty="0"/>
          </a:p>
        </p:txBody>
      </p:sp>
      <p:sp>
        <p:nvSpPr>
          <p:cNvPr id="7" name="Text 2"/>
          <p:cNvSpPr txBox="1"/>
          <p:nvPr/>
        </p:nvSpPr>
        <p:spPr>
          <a:xfrm>
            <a:off x="5905500" y="6572250"/>
            <a:ext cx="365760" cy="201168"/>
          </a:xfrm>
          <a:prstGeom prst="rect">
            <a:avLst/>
          </a:prstGeom>
          <a:noFill/>
          <a:ln/>
        </p:spPr>
        <p:txBody>
          <a:bodyPr wrap="square" lIns="0" tIns="0" rIns="0" bIns="0" rtlCol="0" anchor="t"/>
          <a:lstStyle/>
          <a:p>
            <a:pPr algn="ctr" indent="0" marL="0">
              <a:buNone/>
            </a:pPr>
            <a:r>
              <a:rPr lang="en-US" sz="900" b="1" dirty="0">
                <a:solidFill>
                  <a:srgbClr val="4A653B"/>
                </a:solidFill>
                <a:latin typeface="Plus Jakarta Sans" pitchFamily="34" charset="0"/>
                <a:ea typeface="Plus Jakarta Sans" pitchFamily="34" charset="-122"/>
                <a:cs typeface="Plus Jakarta Sans" pitchFamily="34" charset="-120"/>
              </a:rPr>
              <a:t>17</a:t>
            </a:r>
            <a:endParaRPr lang="en-US" sz="900" dirty="0"/>
          </a:p>
        </p:txBody>
      </p:sp>
      <p:sp>
        <p:nvSpPr>
          <p:cNvPr id="8" name="Text 3"/>
          <p:cNvSpPr txBox="1"/>
          <p:nvPr/>
        </p:nvSpPr>
        <p:spPr>
          <a:xfrm>
            <a:off x="6667500" y="6572250"/>
            <a:ext cx="5143500" cy="201168"/>
          </a:xfrm>
          <a:prstGeom prst="rect">
            <a:avLst/>
          </a:prstGeom>
          <a:noFill/>
          <a:ln/>
        </p:spPr>
        <p:txBody>
          <a:bodyPr wrap="square" lIns="0" tIns="0" rIns="0" bIns="0" rtlCol="0" anchor="t"/>
          <a:lstStyle/>
          <a:p>
            <a:pPr algn="r" indent="0" marL="0">
              <a:buNone/>
            </a:pPr>
            <a:r>
              <a:rPr lang="en-US" sz="900" dirty="0">
                <a:solidFill>
                  <a:srgbClr val="7A8373"/>
                </a:solidFill>
                <a:latin typeface="Plus Jakarta Sans" pitchFamily="34" charset="0"/>
                <a:ea typeface="Plus Jakarta Sans" pitchFamily="34" charset="-122"/>
                <a:cs typeface="Plus Jakarta Sans" pitchFamily="34" charset="-120"/>
              </a:rPr>
              <a:t>Do not use or distribute without permission from SawitPRO</a:t>
            </a:r>
            <a:endParaRPr lang="en-US" sz="900" dirty="0"/>
          </a:p>
        </p:txBody>
      </p:sp>
      <p:sp>
        <p:nvSpPr>
          <p:cNvPr id="9" name="Text 4"/>
          <p:cNvSpPr txBox="1"/>
          <p:nvPr/>
        </p:nvSpPr>
        <p:spPr>
          <a:xfrm>
            <a:off x="781050" y="609600"/>
            <a:ext cx="7315200" cy="228600"/>
          </a:xfrm>
          <a:prstGeom prst="rect">
            <a:avLst/>
          </a:prstGeom>
          <a:noFill/>
          <a:ln/>
        </p:spPr>
        <p:txBody>
          <a:bodyPr wrap="square" lIns="0" tIns="0" rIns="0" bIns="0" rtlCol="0" anchor="t"/>
          <a:lstStyle/>
          <a:p>
            <a:pPr indent="0" marL="0">
              <a:buNone/>
            </a:pPr>
            <a:r>
              <a:rPr lang="en-US" sz="1000" b="1" spc="200" kern="0" dirty="0">
                <a:solidFill>
                  <a:srgbClr val="D9A21B"/>
                </a:solidFill>
                <a:latin typeface="Plus Jakarta Sans" pitchFamily="34" charset="0"/>
                <a:ea typeface="Plus Jakarta Sans" pitchFamily="34" charset="-122"/>
                <a:cs typeface="Plus Jakarta Sans" pitchFamily="34" charset="-120"/>
              </a:rPr>
              <a:t>NEXT STEPS</a:t>
            </a:r>
            <a:endParaRPr lang="en-US" sz="1000" dirty="0"/>
          </a:p>
        </p:txBody>
      </p:sp>
      <p:sp>
        <p:nvSpPr>
          <p:cNvPr id="10" name="Text 5"/>
          <p:cNvSpPr txBox="1"/>
          <p:nvPr/>
        </p:nvSpPr>
        <p:spPr>
          <a:xfrm>
            <a:off x="762000" y="838200"/>
            <a:ext cx="9906000" cy="800100"/>
          </a:xfrm>
          <a:prstGeom prst="rect">
            <a:avLst/>
          </a:prstGeom>
          <a:noFill/>
          <a:ln/>
        </p:spPr>
        <p:txBody>
          <a:bodyPr wrap="square" lIns="0" tIns="0" rIns="0" bIns="0" rtlCol="0" anchor="t">
            <a:normAutofit/>
          </a:bodyPr>
          <a:lstStyle/>
          <a:p>
            <a:pPr indent="0" marL="0">
              <a:buNone/>
            </a:pPr>
            <a:r>
              <a:rPr lang="en-US" sz="2300" b="1" dirty="0">
                <a:solidFill>
                  <a:srgbClr val="4A653B"/>
                </a:solidFill>
                <a:latin typeface="Plus Jakarta Sans" pitchFamily="34" charset="0"/>
                <a:ea typeface="Plus Jakarta Sans" pitchFamily="34" charset="-122"/>
                <a:cs typeface="Plus Jakarta Sans" pitchFamily="34" charset="-120"/>
              </a:rPr>
              <a:t>6 draft actions to recover sales; owners and dates to be agreed</a:t>
            </a:r>
            <a:endParaRPr lang="en-US" sz="2300" dirty="0"/>
          </a:p>
        </p:txBody>
      </p:sp>
      <p:sp>
        <p:nvSpPr>
          <p:cNvPr id="11" name="Shape 6"/>
          <p:cNvSpPr/>
          <p:nvPr/>
        </p:nvSpPr>
        <p:spPr>
          <a:xfrm>
            <a:off x="762000" y="1714500"/>
            <a:ext cx="3340100" cy="1809750"/>
          </a:xfrm>
          <a:prstGeom prst="roundRect">
            <a:avLst>
              <a:gd name="adj" fmla="val 6063"/>
            </a:avLst>
          </a:prstGeom>
          <a:solidFill>
            <a:srgbClr val="FFFFFF"/>
          </a:solidFill>
          <a:ln w="12700">
            <a:solidFill>
              <a:srgbClr val="FFFFFF"/>
            </a:solidFill>
            <a:prstDash val="solid"/>
          </a:ln>
        </p:spPr>
      </p:sp>
      <p:sp>
        <p:nvSpPr>
          <p:cNvPr id="12" name="Text 7"/>
          <p:cNvSpPr txBox="1"/>
          <p:nvPr/>
        </p:nvSpPr>
        <p:spPr>
          <a:xfrm>
            <a:off x="933450" y="1847850"/>
            <a:ext cx="29972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1  </a:t>
            </a:r>
            <a:pPr indent="0" marL="0">
              <a:buNone/>
            </a:pPr>
            <a:r>
              <a:rPr lang="en-US" sz="1200" b="1" dirty="0">
                <a:solidFill>
                  <a:srgbClr val="274E13"/>
                </a:solidFill>
                <a:latin typeface="Plus Jakarta Sans" pitchFamily="34" charset="0"/>
                <a:ea typeface="Plus Jakarta Sans" pitchFamily="34" charset="-122"/>
                <a:cs typeface="Plus Jakarta Sans" pitchFamily="34" charset="-120"/>
              </a:rPr>
              <a:t>[DRAFT] Win back 3 accounts that stopped ordering</a:t>
            </a:r>
            <a:endParaRPr lang="en-US" sz="1200" dirty="0"/>
          </a:p>
        </p:txBody>
      </p:sp>
      <p:sp>
        <p:nvSpPr>
          <p:cNvPr id="13" name="Text 8"/>
          <p:cNvSpPr txBox="1"/>
          <p:nvPr/>
        </p:nvSpPr>
        <p:spPr>
          <a:xfrm>
            <a:off x="933450" y="2247900"/>
            <a:ext cx="2997200" cy="8763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Account A, Account B and Account C bought Rp1.68B in Jul–Aug and nothing in Sep. Ask what changed (price, supplier, season) and agree the next order; don't let a few accounts carry the month.</a:t>
            </a:r>
            <a:endParaRPr lang="en-US" sz="950" dirty="0"/>
          </a:p>
        </p:txBody>
      </p:sp>
      <p:sp>
        <p:nvSpPr>
          <p:cNvPr id="14" name="Text 9"/>
          <p:cNvSpPr txBox="1"/>
          <p:nvPr/>
        </p:nvSpPr>
        <p:spPr>
          <a:xfrm>
            <a:off x="933450" y="3200400"/>
            <a:ext cx="29972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15" name="Shape 10"/>
          <p:cNvSpPr/>
          <p:nvPr/>
        </p:nvSpPr>
        <p:spPr>
          <a:xfrm>
            <a:off x="4235450" y="1714500"/>
            <a:ext cx="3340100" cy="1809750"/>
          </a:xfrm>
          <a:prstGeom prst="roundRect">
            <a:avLst>
              <a:gd name="adj" fmla="val 6063"/>
            </a:avLst>
          </a:prstGeom>
          <a:solidFill>
            <a:srgbClr val="FFFFFF"/>
          </a:solidFill>
          <a:ln w="12700">
            <a:solidFill>
              <a:srgbClr val="FFFFFF"/>
            </a:solidFill>
            <a:prstDash val="solid"/>
          </a:ln>
        </p:spPr>
      </p:sp>
      <p:sp>
        <p:nvSpPr>
          <p:cNvPr id="16" name="Text 11"/>
          <p:cNvSpPr txBox="1"/>
          <p:nvPr/>
        </p:nvSpPr>
        <p:spPr>
          <a:xfrm>
            <a:off x="4406900" y="1847850"/>
            <a:ext cx="29972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2  </a:t>
            </a:r>
            <a:pPr indent="0" marL="0">
              <a:buNone/>
            </a:pPr>
            <a:r>
              <a:rPr lang="en-US" sz="1200" b="1" dirty="0">
                <a:solidFill>
                  <a:srgbClr val="274E13"/>
                </a:solidFill>
                <a:latin typeface="Plus Jakarta Sans" pitchFamily="34" charset="0"/>
                <a:ea typeface="Plus Jakarta Sans" pitchFamily="34" charset="-122"/>
                <a:cs typeface="Plus Jakarta Sans" pitchFamily="34" charset="-120"/>
              </a:rPr>
              <a:t>[DRAFT] Close out Rp569M of Sep orders</a:t>
            </a:r>
            <a:endParaRPr lang="en-US" sz="1200" dirty="0"/>
          </a:p>
        </p:txBody>
      </p:sp>
      <p:sp>
        <p:nvSpPr>
          <p:cNvPr id="17" name="Text 12"/>
          <p:cNvSpPr txBox="1"/>
          <p:nvPr/>
        </p:nvSpPr>
        <p:spPr>
          <a:xfrm>
            <a:off x="4406900" y="2247900"/>
            <a:ext cx="2997200" cy="8763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18 Sep orders are not completed and Rp311M is only partially paid. Confirm delivery and payment dates so the month's GMV is realised.</a:t>
            </a:r>
            <a:endParaRPr lang="en-US" sz="950" dirty="0"/>
          </a:p>
        </p:txBody>
      </p:sp>
      <p:sp>
        <p:nvSpPr>
          <p:cNvPr id="18" name="Text 13"/>
          <p:cNvSpPr txBox="1"/>
          <p:nvPr/>
        </p:nvSpPr>
        <p:spPr>
          <a:xfrm>
            <a:off x="4406900" y="3200400"/>
            <a:ext cx="29972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19" name="Shape 14"/>
          <p:cNvSpPr/>
          <p:nvPr/>
        </p:nvSpPr>
        <p:spPr>
          <a:xfrm>
            <a:off x="7708900" y="1714500"/>
            <a:ext cx="3340100" cy="1809750"/>
          </a:xfrm>
          <a:prstGeom prst="roundRect">
            <a:avLst>
              <a:gd name="adj" fmla="val 6063"/>
            </a:avLst>
          </a:prstGeom>
          <a:solidFill>
            <a:srgbClr val="FFFFFF"/>
          </a:solidFill>
          <a:ln w="12700">
            <a:solidFill>
              <a:srgbClr val="FFFFFF"/>
            </a:solidFill>
            <a:prstDash val="solid"/>
          </a:ln>
        </p:spPr>
      </p:sp>
      <p:sp>
        <p:nvSpPr>
          <p:cNvPr id="20" name="Text 15"/>
          <p:cNvSpPr txBox="1"/>
          <p:nvPr/>
        </p:nvSpPr>
        <p:spPr>
          <a:xfrm>
            <a:off x="7880350" y="1847850"/>
            <a:ext cx="29972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3  </a:t>
            </a:r>
            <a:pPr indent="0" marL="0">
              <a:buNone/>
            </a:pPr>
            <a:r>
              <a:rPr lang="en-US" sz="1200" b="1" dirty="0">
                <a:solidFill>
                  <a:srgbClr val="274E13"/>
                </a:solidFill>
                <a:latin typeface="Plus Jakarta Sans" pitchFamily="34" charset="0"/>
                <a:ea typeface="Plus Jakarta Sans" pitchFamily="34" charset="-122"/>
                <a:cs typeface="Plus Jakarta Sans" pitchFamily="34" charset="-120"/>
              </a:rPr>
              <a:t>[DRAFT] Call the 35 lapsed customers</a:t>
            </a:r>
            <a:endParaRPr lang="en-US" sz="1200" dirty="0"/>
          </a:p>
        </p:txBody>
      </p:sp>
      <p:sp>
        <p:nvSpPr>
          <p:cNvPr id="21" name="Text 16"/>
          <p:cNvSpPr txBox="1"/>
          <p:nvPr/>
        </p:nvSpPr>
        <p:spPr>
          <a:xfrm>
            <a:off x="7880350" y="2247900"/>
            <a:ext cx="2997200" cy="8763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They bought in Jul–Aug (Rp3.1B) but not in Sep, and only 27 are in the CRM. Put them at the top of each PIC's call list with their last order and product, and log every call.</a:t>
            </a:r>
            <a:endParaRPr lang="en-US" sz="950" dirty="0"/>
          </a:p>
        </p:txBody>
      </p:sp>
      <p:sp>
        <p:nvSpPr>
          <p:cNvPr id="22" name="Text 17"/>
          <p:cNvSpPr txBox="1"/>
          <p:nvPr/>
        </p:nvSpPr>
        <p:spPr>
          <a:xfrm>
            <a:off x="7880350" y="3200400"/>
            <a:ext cx="29972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23" name="Shape 18"/>
          <p:cNvSpPr/>
          <p:nvPr/>
        </p:nvSpPr>
        <p:spPr>
          <a:xfrm>
            <a:off x="762000" y="3667125"/>
            <a:ext cx="3340100" cy="1809750"/>
          </a:xfrm>
          <a:prstGeom prst="roundRect">
            <a:avLst>
              <a:gd name="adj" fmla="val 6063"/>
            </a:avLst>
          </a:prstGeom>
          <a:solidFill>
            <a:srgbClr val="FFFFFF"/>
          </a:solidFill>
          <a:ln w="12700">
            <a:solidFill>
              <a:srgbClr val="FFFFFF"/>
            </a:solidFill>
            <a:prstDash val="solid"/>
          </a:ln>
        </p:spPr>
      </p:sp>
      <p:sp>
        <p:nvSpPr>
          <p:cNvPr id="24" name="Text 19"/>
          <p:cNvSpPr txBox="1"/>
          <p:nvPr/>
        </p:nvSpPr>
        <p:spPr>
          <a:xfrm>
            <a:off x="933450" y="3800475"/>
            <a:ext cx="29972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4  </a:t>
            </a:r>
            <a:pPr indent="0" marL="0">
              <a:buNone/>
            </a:pPr>
            <a:r>
              <a:rPr lang="en-US" sz="1200" b="1" dirty="0">
                <a:solidFill>
                  <a:srgbClr val="274E13"/>
                </a:solidFill>
                <a:latin typeface="Plus Jakarta Sans" pitchFamily="34" charset="0"/>
                <a:ea typeface="Plus Jakarta Sans" pitchFamily="34" charset="-122"/>
                <a:cs typeface="Plus Jakarta Sans" pitchFamily="34" charset="-120"/>
              </a:rPr>
              <a:t>[DRAFT] Check what the 26% lower GMV per kg costs in margin</a:t>
            </a:r>
            <a:endParaRPr lang="en-US" sz="1200" dirty="0"/>
          </a:p>
        </p:txBody>
      </p:sp>
      <p:sp>
        <p:nvSpPr>
          <p:cNvPr id="25" name="Text 20"/>
          <p:cNvSpPr txBox="1"/>
          <p:nvPr/>
        </p:nvSpPr>
        <p:spPr>
          <a:xfrm>
            <a:off x="933450" y="4200525"/>
            <a:ext cx="2997200" cy="8763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Rock phosphate (RP) grew to 51% of kg sold. Prices fell on Urea Nitrea 46% N 50kg (−28%) and RP Mahkota 50kg - Egypt (−4%). Confirm the margin per product and pair low-priced products with higher-value ones in each offer.</a:t>
            </a:r>
            <a:endParaRPr lang="en-US" sz="950" dirty="0"/>
          </a:p>
        </p:txBody>
      </p:sp>
      <p:sp>
        <p:nvSpPr>
          <p:cNvPr id="26" name="Text 21"/>
          <p:cNvSpPr txBox="1"/>
          <p:nvPr/>
        </p:nvSpPr>
        <p:spPr>
          <a:xfrm>
            <a:off x="933450" y="5153025"/>
            <a:ext cx="29972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27" name="Shape 22"/>
          <p:cNvSpPr/>
          <p:nvPr/>
        </p:nvSpPr>
        <p:spPr>
          <a:xfrm>
            <a:off x="4235450" y="3667125"/>
            <a:ext cx="3340100" cy="1809750"/>
          </a:xfrm>
          <a:prstGeom prst="roundRect">
            <a:avLst>
              <a:gd name="adj" fmla="val 6063"/>
            </a:avLst>
          </a:prstGeom>
          <a:solidFill>
            <a:srgbClr val="FFFFFF"/>
          </a:solidFill>
          <a:ln w="12700">
            <a:solidFill>
              <a:srgbClr val="FFFFFF"/>
            </a:solidFill>
            <a:prstDash val="solid"/>
          </a:ln>
        </p:spPr>
      </p:sp>
      <p:sp>
        <p:nvSpPr>
          <p:cNvPr id="28" name="Text 23"/>
          <p:cNvSpPr txBox="1"/>
          <p:nvPr/>
        </p:nvSpPr>
        <p:spPr>
          <a:xfrm>
            <a:off x="4406900" y="3800475"/>
            <a:ext cx="29972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5  </a:t>
            </a:r>
            <a:pPr indent="0" marL="0">
              <a:buNone/>
            </a:pPr>
            <a:r>
              <a:rPr lang="en-US" sz="1200" b="1" dirty="0">
                <a:solidFill>
                  <a:srgbClr val="274E13"/>
                </a:solidFill>
                <a:latin typeface="Plus Jakarta Sans" pitchFamily="34" charset="0"/>
                <a:ea typeface="Plus Jakarta Sans" pitchFamily="34" charset="-122"/>
                <a:cs typeface="Plus Jakarta Sans" pitchFamily="34" charset="-120"/>
              </a:rPr>
              <a:t>[DRAFT] Repeat what Simon and Deby did</a:t>
            </a:r>
            <a:endParaRPr lang="en-US" sz="1200" dirty="0"/>
          </a:p>
        </p:txBody>
      </p:sp>
      <p:sp>
        <p:nvSpPr>
          <p:cNvPr id="29" name="Text 24"/>
          <p:cNvSpPr txBox="1"/>
          <p:nvPr/>
        </p:nvSpPr>
        <p:spPr>
          <a:xfrm>
            <a:off x="4406900" y="4200525"/>
            <a:ext cx="2997200" cy="8763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Simon Sutrado Simanjuntak +Rp299M, Deby Zea Efendi +Rp187M from Jul to Sep, led by Khusus Petani. Share their customer list and offer with the team.</a:t>
            </a:r>
            <a:endParaRPr lang="en-US" sz="950" dirty="0"/>
          </a:p>
        </p:txBody>
      </p:sp>
      <p:sp>
        <p:nvSpPr>
          <p:cNvPr id="30" name="Text 25"/>
          <p:cNvSpPr txBox="1"/>
          <p:nvPr/>
        </p:nvSpPr>
        <p:spPr>
          <a:xfrm>
            <a:off x="4406900" y="5153025"/>
            <a:ext cx="29972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31" name="Shape 26"/>
          <p:cNvSpPr/>
          <p:nvPr/>
        </p:nvSpPr>
        <p:spPr>
          <a:xfrm>
            <a:off x="7708900" y="3667125"/>
            <a:ext cx="3340100" cy="1809750"/>
          </a:xfrm>
          <a:prstGeom prst="roundRect">
            <a:avLst>
              <a:gd name="adj" fmla="val 6063"/>
            </a:avLst>
          </a:prstGeom>
          <a:solidFill>
            <a:srgbClr val="FFFFFF"/>
          </a:solidFill>
          <a:ln w="12700">
            <a:solidFill>
              <a:srgbClr val="FFFFFF"/>
            </a:solidFill>
            <a:prstDash val="solid"/>
          </a:ln>
        </p:spPr>
      </p:sp>
      <p:sp>
        <p:nvSpPr>
          <p:cNvPr id="32" name="Text 27"/>
          <p:cNvSpPr txBox="1"/>
          <p:nvPr/>
        </p:nvSpPr>
        <p:spPr>
          <a:xfrm>
            <a:off x="7880350" y="3800475"/>
            <a:ext cx="2997200" cy="381000"/>
          </a:xfrm>
          <a:prstGeom prst="rect">
            <a:avLst/>
          </a:prstGeom>
          <a:noFill/>
          <a:ln/>
        </p:spPr>
        <p:txBody>
          <a:bodyPr wrap="square" lIns="0" tIns="0" rIns="0" bIns="0" rtlCol="0" anchor="t">
            <a:normAutofit/>
          </a:bodyPr>
          <a:lstStyle/>
          <a:p>
            <a:pPr indent="0" marL="0">
              <a:buNone/>
            </a:pPr>
            <a:r>
              <a:rPr lang="en-US" sz="1200" b="1" dirty="0">
                <a:solidFill>
                  <a:srgbClr val="D9A21B"/>
                </a:solidFill>
                <a:latin typeface="Plus Jakarta Sans" pitchFamily="34" charset="0"/>
                <a:ea typeface="Plus Jakarta Sans" pitchFamily="34" charset="-122"/>
                <a:cs typeface="Plus Jakarta Sans" pitchFamily="34" charset="-120"/>
              </a:rPr>
              <a:t>6  </a:t>
            </a:r>
            <a:pPr indent="0" marL="0">
              <a:buNone/>
            </a:pPr>
            <a:r>
              <a:rPr lang="en-US" sz="1200" b="1" dirty="0">
                <a:solidFill>
                  <a:srgbClr val="274E13"/>
                </a:solidFill>
                <a:latin typeface="Plus Jakarta Sans" pitchFamily="34" charset="0"/>
                <a:ea typeface="Plus Jakarta Sans" pitchFamily="34" charset="-122"/>
                <a:cs typeface="Plus Jakarta Sans" pitchFamily="34" charset="-120"/>
              </a:rPr>
              <a:t>[DRAFT] Close 175 warm leads within 48 hours</a:t>
            </a:r>
            <a:endParaRPr lang="en-US" sz="1200" dirty="0"/>
          </a:p>
        </p:txBody>
      </p:sp>
      <p:sp>
        <p:nvSpPr>
          <p:cNvPr id="33" name="Text 28"/>
          <p:cNvSpPr txBox="1"/>
          <p:nvPr/>
        </p:nvSpPr>
        <p:spPr>
          <a:xfrm>
            <a:off x="7880350" y="4200525"/>
            <a:ext cx="2997200" cy="876300"/>
          </a:xfrm>
          <a:prstGeom prst="rect">
            <a:avLst/>
          </a:prstGeom>
          <a:noFill/>
          <a:ln/>
        </p:spPr>
        <p:txBody>
          <a:bodyPr wrap="square" lIns="0" tIns="0" rIns="0" bIns="0" rtlCol="0" anchor="t">
            <a:normAutofit/>
          </a:bodyPr>
          <a:lstStyle/>
          <a:p>
            <a:pPr indent="0" marL="0">
              <a:buNone/>
            </a:pPr>
            <a:r>
              <a:rPr lang="en-US" sz="950" dirty="0">
                <a:solidFill>
                  <a:srgbClr val="535353"/>
                </a:solidFill>
                <a:latin typeface="Plus Jakarta Sans" pitchFamily="34" charset="0"/>
                <a:ea typeface="Plus Jakarta Sans" pitchFamily="34" charset="-122"/>
                <a:cs typeface="Plus Jakarta Sans" pitchFamily="34" charset="-120"/>
              </a:rPr>
              <a:t>They asked about the warehouse, delivery or prices. 20 could not be reached by phone, so send the price list and warehouse location on WhatsApp, then follow up.</a:t>
            </a:r>
            <a:endParaRPr lang="en-US" sz="950" dirty="0"/>
          </a:p>
        </p:txBody>
      </p:sp>
      <p:sp>
        <p:nvSpPr>
          <p:cNvPr id="34" name="Text 29"/>
          <p:cNvSpPr txBox="1"/>
          <p:nvPr/>
        </p:nvSpPr>
        <p:spPr>
          <a:xfrm>
            <a:off x="7880350" y="5153025"/>
            <a:ext cx="2997200" cy="228600"/>
          </a:xfrm>
          <a:prstGeom prst="rect">
            <a:avLst/>
          </a:prstGeom>
          <a:noFill/>
          <a:ln/>
        </p:spPr>
        <p:txBody>
          <a:bodyPr wrap="square" lIns="0" tIns="0" rIns="0" bIns="0" rtlCol="0" anchor="t"/>
          <a:lstStyle/>
          <a:p>
            <a:pPr indent="0" marL="0">
              <a:buNone/>
            </a:pPr>
            <a:r>
              <a:rPr lang="en-US" sz="900" b="1" dirty="0">
                <a:solidFill>
                  <a:srgbClr val="274E13"/>
                </a:solidFill>
                <a:latin typeface="Plus Jakarta Sans" pitchFamily="34" charset="0"/>
                <a:ea typeface="Plus Jakarta Sans" pitchFamily="34" charset="-122"/>
                <a:cs typeface="Plus Jakarta Sans" pitchFamily="34" charset="-120"/>
              </a:rPr>
              <a:t>Owner: [to be agreed]</a:t>
            </a:r>
            <a:pPr indent="0" marL="0">
              <a:buNone/>
            </a:pPr>
            <a:r>
              <a:rPr lang="en-US" sz="900" b="1" dirty="0">
                <a:solidFill>
                  <a:srgbClr val="9A6F00"/>
                </a:solidFill>
                <a:latin typeface="Plus Jakarta Sans" pitchFamily="34" charset="0"/>
                <a:ea typeface="Plus Jakarta Sans" pitchFamily="34" charset="-122"/>
                <a:cs typeface="Plus Jakarta Sans" pitchFamily="34" charset="-120"/>
              </a:rPr>
              <a:t>  ·  [date to be agreed]</a:t>
            </a:r>
            <a:endParaRPr lang="en-US" sz="900" dirty="0"/>
          </a:p>
        </p:txBody>
      </p:sp>
      <p:sp>
        <p:nvSpPr>
          <p:cNvPr id="35" name="Text 30"/>
          <p:cNvSpPr txBox="1"/>
          <p:nvPr/>
        </p:nvSpPr>
        <p:spPr>
          <a:xfrm>
            <a:off x="762000" y="5715000"/>
            <a:ext cx="10287000" cy="381000"/>
          </a:xfrm>
          <a:prstGeom prst="rect">
            <a:avLst/>
          </a:prstGeom>
          <a:noFill/>
          <a:ln/>
        </p:spPr>
        <p:txBody>
          <a:bodyPr wrap="square" lIns="0" tIns="0" rIns="0" bIns="0" rtlCol="0" anchor="t">
            <a:normAutofit/>
          </a:bodyPr>
          <a:lstStyle/>
          <a:p>
            <a:pPr indent="0" marL="0">
              <a:buNone/>
            </a:pPr>
            <a:r>
              <a:rPr lang="en-US" sz="1000" b="1" dirty="0">
                <a:solidFill>
                  <a:srgbClr val="274E13"/>
                </a:solidFill>
                <a:latin typeface="Plus Jakarta Sans" pitchFamily="34" charset="0"/>
                <a:ea typeface="Plus Jakarta Sans" pitchFamily="34" charset="-122"/>
                <a:cs typeface="Plus Jakarta Sans" pitchFamily="34" charset="-120"/>
              </a:rPr>
              <a:t>Also clean up in the CRM: </a:t>
            </a:r>
            <a:pPr indent="0" marL="0">
              <a:buNone/>
            </a:pPr>
            <a:r>
              <a:rPr lang="en-US" sz="1000" dirty="0">
                <a:solidFill>
                  <a:srgbClr val="535353"/>
                </a:solidFill>
                <a:latin typeface="Plus Jakarta Sans" pitchFamily="34" charset="0"/>
                <a:ea typeface="Plus Jakarta Sans" pitchFamily="34" charset="-122"/>
                <a:cs typeface="Plus Jakarta Sans" pitchFamily="34" charset="-120"/>
              </a:rPr>
              <a:t>1 engagement without a status; 17 without an engagement type; potential GMV, fertilizer needs and follow-up date mostly empty.</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35000"/>
            </a:srgbClr>
          </a:solidFill>
          <a:ln w="12700">
            <a:solidFill>
              <a:srgbClr val="000000">
                <a:alpha val="0"/>
              </a:srgbClr>
            </a:solidFill>
            <a:prstDash val="solid"/>
          </a:ln>
        </p:spPr>
      </p:sp>
      <p:pic>
        <p:nvPicPr>
          <p:cNvPr id="4" name="Image 1" descr="preencoded.png">    </p:cNvPr>
          <p:cNvPicPr>
            <a:picLocks noChangeAspect="1"/>
          </p:cNvPicPr>
          <p:nvPr/>
        </p:nvPicPr>
        <p:blipFill>
          <a:blip r:embed="rId2"/>
          <a:stretch>
            <a:fillRect/>
          </a:stretch>
        </p:blipFill>
        <p:spPr>
          <a:xfrm>
            <a:off x="628650" y="590550"/>
            <a:ext cx="2352675" cy="771525"/>
          </a:xfrm>
          <a:prstGeom prst="rect">
            <a:avLst/>
          </a:prstGeom>
        </p:spPr>
      </p:pic>
      <p:pic>
        <p:nvPicPr>
          <p:cNvPr id="5" name="Image 2" descr="preencoded.png">    </p:cNvPr>
          <p:cNvPicPr>
            <a:picLocks noChangeAspect="1"/>
          </p:cNvPicPr>
          <p:nvPr/>
        </p:nvPicPr>
        <p:blipFill>
          <a:blip r:embed="rId3"/>
          <a:stretch>
            <a:fillRect/>
          </a:stretch>
        </p:blipFill>
        <p:spPr>
          <a:xfrm>
            <a:off x="10420350" y="457200"/>
            <a:ext cx="1143000" cy="1143000"/>
          </a:xfrm>
          <a:prstGeom prst="rect">
            <a:avLst/>
          </a:prstGeom>
        </p:spPr>
      </p:pic>
      <p:sp>
        <p:nvSpPr>
          <p:cNvPr id="6" name="Text 1"/>
          <p:cNvSpPr txBox="1"/>
          <p:nvPr/>
        </p:nvSpPr>
        <p:spPr>
          <a:xfrm>
            <a:off x="0" y="2762250"/>
            <a:ext cx="12191695" cy="1005840"/>
          </a:xfrm>
          <a:prstGeom prst="rect">
            <a:avLst/>
          </a:prstGeom>
          <a:noFill/>
          <a:ln/>
        </p:spPr>
        <p:txBody>
          <a:bodyPr wrap="square" lIns="0" tIns="0" rIns="0" bIns="0" rtlCol="0" anchor="t"/>
          <a:lstStyle/>
          <a:p>
            <a:pPr algn="ctr" indent="0" marL="0">
              <a:buNone/>
            </a:pPr>
            <a:r>
              <a:rPr lang="en-US" sz="6000" b="1" dirty="0">
                <a:solidFill>
                  <a:srgbClr val="FFFFFF"/>
                </a:solidFill>
                <a:latin typeface="Plus Jakarta Sans" pitchFamily="34" charset="0"/>
                <a:ea typeface="Plus Jakarta Sans" pitchFamily="34" charset="-122"/>
                <a:cs typeface="Plus Jakarta Sans" pitchFamily="34" charset="-120"/>
              </a:rPr>
              <a:t>Thank You</a:t>
            </a:r>
            <a:endParaRPr lang="en-US" sz="6000" dirty="0"/>
          </a:p>
        </p:txBody>
      </p:sp>
      <p:sp>
        <p:nvSpPr>
          <p:cNvPr id="7" name="Text 2"/>
          <p:cNvSpPr txBox="1"/>
          <p:nvPr/>
        </p:nvSpPr>
        <p:spPr>
          <a:xfrm>
            <a:off x="0" y="3810000"/>
            <a:ext cx="12191695" cy="548640"/>
          </a:xfrm>
          <a:prstGeom prst="rect">
            <a:avLst/>
          </a:prstGeom>
          <a:noFill/>
          <a:ln/>
        </p:spPr>
        <p:txBody>
          <a:bodyPr wrap="square" lIns="0" tIns="0" rIns="0" bIns="0" rtlCol="0" anchor="t"/>
          <a:lstStyle/>
          <a:p>
            <a:pPr algn="ctr" indent="0" marL="0">
              <a:buNone/>
            </a:pPr>
            <a:r>
              <a:rPr lang="en-US" sz="2600" b="1" dirty="0">
                <a:solidFill>
                  <a:srgbClr val="F5D347"/>
                </a:solidFill>
                <a:latin typeface="Plus Jakarta Sans" pitchFamily="34" charset="0"/>
                <a:ea typeface="Plus Jakarta Sans" pitchFamily="34" charset="-122"/>
                <a:cs typeface="Plus Jakarta Sans" pitchFamily="34" charset="-120"/>
              </a:rPr>
              <a:t>#TerusTumbuh</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SawitPRO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Smallholder Sales Jul–Sep</dc:title>
  <dc:subject>PptxGenJS Presentation</dc:subject>
  <dc:creator>PptxGenJS</dc:creator>
  <cp:lastModifiedBy>PptxGenJS</cp:lastModifiedBy>
  <cp:revision>1</cp:revision>
  <dcterms:created xsi:type="dcterms:W3CDTF">2026-10-14T02:00:49Z</dcterms:created>
  <dcterms:modified xsi:type="dcterms:W3CDTF">2026-10-14T02:00:49Z</dcterms:modified>
</cp:coreProperties>
</file>