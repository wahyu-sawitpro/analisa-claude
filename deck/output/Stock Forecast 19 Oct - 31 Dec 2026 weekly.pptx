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628650" y="590550"/>
            <a:ext cx="2352675" cy="771525"/>
          </a:xfrm>
          <a:prstGeom prst="rect">
            <a:avLst/>
          </a:prstGeom>
        </p:spPr>
      </p:pic>
      <p:sp>
        <p:nvSpPr>
          <p:cNvPr id="4" name="Shape 0"/>
          <p:cNvSpPr/>
          <p:nvPr/>
        </p:nvSpPr>
        <p:spPr>
          <a:xfrm>
            <a:off x="4743450" y="3448050"/>
            <a:ext cx="7448550" cy="2447925"/>
          </a:xfrm>
          <a:prstGeom prst="rect">
            <a:avLst/>
          </a:prstGeom>
          <a:solidFill>
            <a:srgbClr val="4A653B"/>
          </a:solidFill>
          <a:ln w="12700">
            <a:solidFill>
              <a:srgbClr val="4A653B"/>
            </a:solidFill>
            <a:prstDash val="solid"/>
          </a:ln>
        </p:spPr>
      </p:sp>
      <p:sp>
        <p:nvSpPr>
          <p:cNvPr id="5" name="Shape 1"/>
          <p:cNvSpPr/>
          <p:nvPr/>
        </p:nvSpPr>
        <p:spPr>
          <a:xfrm>
            <a:off x="3533775" y="3448050"/>
            <a:ext cx="2447925" cy="2447925"/>
          </a:xfrm>
          <a:prstGeom prst="ellipse">
            <a:avLst/>
          </a:prstGeom>
          <a:solidFill>
            <a:srgbClr val="4A653B"/>
          </a:solidFill>
          <a:ln w="12700">
            <a:solidFill>
              <a:srgbClr val="4A653B"/>
            </a:solidFill>
            <a:prstDash val="solid"/>
          </a:ln>
        </p:spPr>
      </p:sp>
      <p:pic>
        <p:nvPicPr>
          <p:cNvPr id="6" name="Image 2" descr="preencoded.png">    </p:cNvPr>
          <p:cNvPicPr>
            <a:picLocks noChangeAspect="1"/>
          </p:cNvPicPr>
          <p:nvPr/>
        </p:nvPicPr>
        <p:blipFill>
          <a:blip r:embed="rId3"/>
          <a:stretch>
            <a:fillRect/>
          </a:stretch>
        </p:blipFill>
        <p:spPr>
          <a:xfrm>
            <a:off x="3695700" y="3609975"/>
            <a:ext cx="2114550" cy="2114550"/>
          </a:xfrm>
          <a:prstGeom prst="rect">
            <a:avLst/>
          </a:prstGeom>
        </p:spPr>
      </p:pic>
      <p:sp>
        <p:nvSpPr>
          <p:cNvPr id="7" name="Text 2"/>
          <p:cNvSpPr txBox="1"/>
          <p:nvPr/>
        </p:nvSpPr>
        <p:spPr>
          <a:xfrm>
            <a:off x="6210300" y="3619500"/>
            <a:ext cx="5619750" cy="457200"/>
          </a:xfrm>
          <a:prstGeom prst="rect">
            <a:avLst/>
          </a:prstGeom>
          <a:noFill/>
          <a:ln/>
        </p:spPr>
        <p:txBody>
          <a:bodyPr wrap="square" lIns="0" tIns="0" rIns="0" bIns="0" rtlCol="0" anchor="t"/>
          <a:lstStyle/>
          <a:p>
            <a:pPr indent="0" marL="0">
              <a:buNone/>
            </a:pPr>
            <a:r>
              <a:rPr lang="en-US" sz="2600" b="1" dirty="0">
                <a:solidFill>
                  <a:srgbClr val="F5D347"/>
                </a:solidFill>
                <a:latin typeface="Plus Jakarta Sans" pitchFamily="34" charset="0"/>
                <a:ea typeface="Plus Jakarta Sans" pitchFamily="34" charset="-122"/>
                <a:cs typeface="Plus Jakarta Sans" pitchFamily="34" charset="-120"/>
              </a:rPr>
              <a:t>Stock Forecast</a:t>
            </a:r>
            <a:endParaRPr lang="en-US" sz="2600" dirty="0"/>
          </a:p>
        </p:txBody>
      </p:sp>
      <p:sp>
        <p:nvSpPr>
          <p:cNvPr id="8" name="Text 3"/>
          <p:cNvSpPr txBox="1"/>
          <p:nvPr/>
        </p:nvSpPr>
        <p:spPr>
          <a:xfrm>
            <a:off x="6210300" y="4095750"/>
            <a:ext cx="5619750" cy="1005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Plus Jakarta Sans" pitchFamily="34" charset="0"/>
                <a:ea typeface="Plus Jakarta Sans" pitchFamily="34" charset="-122"/>
                <a:cs typeface="Plus Jakarta Sans" pitchFamily="34" charset="-120"/>
              </a:rPr>
              <a:t>Smallholder · 19 Oct – 31 Dec 2026</a:t>
            </a:r>
            <a:endParaRPr lang="en-US" sz="3400" dirty="0"/>
          </a:p>
        </p:txBody>
      </p:sp>
      <p:sp>
        <p:nvSpPr>
          <p:cNvPr id="9" name="Text 4"/>
          <p:cNvSpPr txBox="1"/>
          <p:nvPr/>
        </p:nvSpPr>
        <p:spPr>
          <a:xfrm>
            <a:off x="6210300" y="6000750"/>
            <a:ext cx="5715000" cy="274320"/>
          </a:xfrm>
          <a:prstGeom prst="rect">
            <a:avLst/>
          </a:prstGeom>
          <a:noFill/>
          <a:ln/>
        </p:spPr>
        <p:txBody>
          <a:bodyPr wrap="square" lIns="0" tIns="0" rIns="0" bIns="0" rtlCol="0" anchor="t"/>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Sales history 1 Jan – 18 Oct 2026 · target Rp4B a month · 11 weeks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 plan 19 Oct – 31 Dec 2026 · data to 18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2</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EXECUTIVE SUMMARY</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Rp4B a month needs 1,442 MT from 19 Oct to 31 Dec: about 136 MT a week, 1.5× our best month</a:t>
            </a:r>
            <a:endParaRPr lang="en-US" sz="2300" dirty="0"/>
          </a:p>
        </p:txBody>
      </p:sp>
      <p:sp>
        <p:nvSpPr>
          <p:cNvPr id="11" name="Shape 6"/>
          <p:cNvSpPr/>
          <p:nvPr/>
        </p:nvSpPr>
        <p:spPr>
          <a:xfrm>
            <a:off x="762000" y="1714500"/>
            <a:ext cx="2438400" cy="1123950"/>
          </a:xfrm>
          <a:prstGeom prst="roundRect">
            <a:avLst>
              <a:gd name="adj" fmla="val 9763"/>
            </a:avLst>
          </a:prstGeom>
          <a:solidFill>
            <a:srgbClr val="4A653B"/>
          </a:solidFill>
          <a:ln w="12700">
            <a:solidFill>
              <a:srgbClr val="4A653B"/>
            </a:solidFill>
            <a:prstDash val="solid"/>
          </a:ln>
        </p:spPr>
      </p:sp>
      <p:sp>
        <p:nvSpPr>
          <p:cNvPr id="12" name="Text 7"/>
          <p:cNvSpPr txBox="1"/>
          <p:nvPr/>
        </p:nvSpPr>
        <p:spPr>
          <a:xfrm>
            <a:off x="914400" y="1828800"/>
            <a:ext cx="213360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1,442</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 MT</a:t>
            </a:r>
            <a:endParaRPr lang="en-US" sz="2800" dirty="0"/>
          </a:p>
        </p:txBody>
      </p:sp>
      <p:sp>
        <p:nvSpPr>
          <p:cNvPr id="13" name="Text 8"/>
          <p:cNvSpPr txBox="1"/>
          <p:nvPr/>
        </p:nvSpPr>
        <p:spPr>
          <a:xfrm>
            <a:off x="91440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stock for 19 Oct – 31 Dec 2026 (19–31 Oct 250, Nov 596, Dec 596)</a:t>
            </a:r>
            <a:endParaRPr lang="en-US" sz="950" dirty="0"/>
          </a:p>
        </p:txBody>
      </p:sp>
      <p:sp>
        <p:nvSpPr>
          <p:cNvPr id="14" name="Shape 9"/>
          <p:cNvSpPr/>
          <p:nvPr/>
        </p:nvSpPr>
        <p:spPr>
          <a:xfrm>
            <a:off x="3371850" y="1714500"/>
            <a:ext cx="2438400" cy="1123950"/>
          </a:xfrm>
          <a:prstGeom prst="roundRect">
            <a:avLst>
              <a:gd name="adj" fmla="val 9763"/>
            </a:avLst>
          </a:prstGeom>
          <a:solidFill>
            <a:srgbClr val="FFFFFF"/>
          </a:solidFill>
          <a:ln w="12700">
            <a:solidFill>
              <a:srgbClr val="FFFFFF"/>
            </a:solidFill>
            <a:prstDash val="solid"/>
          </a:ln>
        </p:spPr>
      </p:sp>
      <p:sp>
        <p:nvSpPr>
          <p:cNvPr id="15" name="Text 10"/>
          <p:cNvSpPr txBox="1"/>
          <p:nvPr/>
        </p:nvSpPr>
        <p:spPr>
          <a:xfrm>
            <a:off x="352425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136</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 MT</a:t>
            </a:r>
            <a:endParaRPr lang="en-US" sz="2800" dirty="0"/>
          </a:p>
        </p:txBody>
      </p:sp>
      <p:sp>
        <p:nvSpPr>
          <p:cNvPr id="16" name="Text 11"/>
          <p:cNvSpPr txBox="1"/>
          <p:nvPr/>
        </p:nvSpPr>
        <p:spPr>
          <a:xfrm>
            <a:off x="352425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 week on average over 11 weeks; the first full week 135 MT</a:t>
            </a:r>
            <a:endParaRPr lang="en-US" sz="950" dirty="0"/>
          </a:p>
        </p:txBody>
      </p:sp>
      <p:sp>
        <p:nvSpPr>
          <p:cNvPr id="17" name="Shape 12"/>
          <p:cNvSpPr/>
          <p:nvPr/>
        </p:nvSpPr>
        <p:spPr>
          <a:xfrm>
            <a:off x="5981700" y="1714500"/>
            <a:ext cx="2438400" cy="1123950"/>
          </a:xfrm>
          <a:prstGeom prst="roundRect">
            <a:avLst>
              <a:gd name="adj" fmla="val 9763"/>
            </a:avLst>
          </a:prstGeom>
          <a:solidFill>
            <a:srgbClr val="FFFFFF"/>
          </a:solidFill>
          <a:ln w="12700">
            <a:solidFill>
              <a:srgbClr val="FFFFFF"/>
            </a:solidFill>
            <a:prstDash val="solid"/>
          </a:ln>
        </p:spPr>
      </p:sp>
      <p:sp>
        <p:nvSpPr>
          <p:cNvPr id="18" name="Text 13"/>
          <p:cNvSpPr txBox="1"/>
          <p:nvPr/>
        </p:nvSpPr>
        <p:spPr>
          <a:xfrm>
            <a:off x="613410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4</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9" name="Text 14"/>
          <p:cNvSpPr txBox="1"/>
          <p:nvPr/>
        </p:nvSpPr>
        <p:spPr>
          <a:xfrm>
            <a:off x="613410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target a month: 1.3× the best month in this data (Rp3B, Jan)</a:t>
            </a:r>
            <a:endParaRPr lang="en-US" sz="950" dirty="0"/>
          </a:p>
        </p:txBody>
      </p:sp>
      <p:sp>
        <p:nvSpPr>
          <p:cNvPr id="20" name="Shape 15"/>
          <p:cNvSpPr/>
          <p:nvPr/>
        </p:nvSpPr>
        <p:spPr>
          <a:xfrm>
            <a:off x="8591550" y="1714500"/>
            <a:ext cx="2438400" cy="1123950"/>
          </a:xfrm>
          <a:prstGeom prst="roundRect">
            <a:avLst>
              <a:gd name="adj" fmla="val 9763"/>
            </a:avLst>
          </a:prstGeom>
          <a:solidFill>
            <a:srgbClr val="FFFFFF"/>
          </a:solidFill>
          <a:ln w="12700">
            <a:solidFill>
              <a:srgbClr val="FFFFFF"/>
            </a:solidFill>
            <a:prstDash val="solid"/>
          </a:ln>
        </p:spPr>
      </p:sp>
      <p:sp>
        <p:nvSpPr>
          <p:cNvPr id="21" name="Text 16"/>
          <p:cNvSpPr txBox="1"/>
          <p:nvPr/>
        </p:nvSpPr>
        <p:spPr>
          <a:xfrm>
            <a:off x="874395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142</a:t>
            </a:r>
            <a:pPr indent="0" marL="0">
              <a:buNone/>
            </a:pPr>
            <a:endParaRPr lang="en-US" sz="2800" dirty="0"/>
          </a:p>
        </p:txBody>
      </p:sp>
      <p:sp>
        <p:nvSpPr>
          <p:cNvPr id="22" name="Text 17"/>
          <p:cNvSpPr txBox="1"/>
          <p:nvPr/>
        </p:nvSpPr>
        <p:spPr>
          <a:xfrm>
            <a:off x="874395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orders a month needed, vs 73 a month in Jul–Sep</a:t>
            </a:r>
            <a:endParaRPr lang="en-US" sz="950" dirty="0"/>
          </a:p>
        </p:txBody>
      </p:sp>
      <p:sp>
        <p:nvSpPr>
          <p:cNvPr id="23" name="Shape 18"/>
          <p:cNvSpPr/>
          <p:nvPr/>
        </p:nvSpPr>
        <p:spPr>
          <a:xfrm>
            <a:off x="762000" y="3009900"/>
            <a:ext cx="6191250" cy="3105150"/>
          </a:xfrm>
          <a:prstGeom prst="roundRect">
            <a:avLst>
              <a:gd name="adj" fmla="val 3534"/>
            </a:avLst>
          </a:prstGeom>
          <a:solidFill>
            <a:srgbClr val="FFFFFF"/>
          </a:solidFill>
          <a:ln w="12700">
            <a:solidFill>
              <a:srgbClr val="FFFFFF"/>
            </a:solidFill>
            <a:prstDash val="solid"/>
          </a:ln>
        </p:spPr>
      </p:sp>
      <p:sp>
        <p:nvSpPr>
          <p:cNvPr id="24" name="Text 19"/>
          <p:cNvSpPr txBox="1"/>
          <p:nvPr/>
        </p:nvSpPr>
        <p:spPr>
          <a:xfrm>
            <a:off x="952500" y="3181350"/>
            <a:ext cx="5829300" cy="2781300"/>
          </a:xfrm>
          <a:prstGeom prst="rect">
            <a:avLst/>
          </a:prstGeom>
          <a:noFill/>
          <a:ln/>
        </p:spPr>
        <p:txBody>
          <a:bodyPr wrap="square" lIns="0" tIns="0" rIns="0" bIns="0" rtlCol="0" anchor="t">
            <a:normAutofit/>
          </a:bodyPr>
          <a:lstStyle/>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Rp4B is a step up from this data</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The best month in the file was Rp3B (Jan); the last 6 full months averaged Rp1.85B. The plan needs 596 MT a month against a record of 394 t (Sep).</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A few SKUs carry the plan</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RP Mahkota Egypt 415 MT, KCL Canada Cap Mahkota 282 MT, KCL Mentari 152 MT to 31 Dec (59% of the tonnes). A stock-out of any of them stops the plan.</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Riau takes 81% of the stock</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Riau 81%, Sumatera Utara 16%, Sumatera Selatan 3% of fertilizer GMV; 11 weekly deliveries of about 111 MT to Riau.</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The gap is volume, not price</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At the Jul–Oct average of Rp27.1M, Rp4B needs 142 orders a month; the team closed 73. Today's prices are within 4% of what the top SKUs sold for.</a:t>
            </a:r>
            <a:endParaRPr lang="en-US" sz="1300" dirty="0"/>
          </a:p>
        </p:txBody>
      </p:sp>
      <p:sp>
        <p:nvSpPr>
          <p:cNvPr id="25" name="Shape 20"/>
          <p:cNvSpPr/>
          <p:nvPr/>
        </p:nvSpPr>
        <p:spPr>
          <a:xfrm>
            <a:off x="7143750" y="3009900"/>
            <a:ext cx="3905250" cy="3105150"/>
          </a:xfrm>
          <a:prstGeom prst="roundRect">
            <a:avLst>
              <a:gd name="adj" fmla="val 3534"/>
            </a:avLst>
          </a:prstGeom>
          <a:solidFill>
            <a:srgbClr val="274E13"/>
          </a:solidFill>
          <a:ln w="12700">
            <a:solidFill>
              <a:srgbClr val="274E13"/>
            </a:solidFill>
            <a:prstDash val="solid"/>
          </a:ln>
        </p:spPr>
      </p:sp>
      <p:sp>
        <p:nvSpPr>
          <p:cNvPr id="26" name="Text 21"/>
          <p:cNvSpPr txBox="1"/>
          <p:nvPr/>
        </p:nvSpPr>
        <p:spPr>
          <a:xfrm>
            <a:off x="7372350" y="3219450"/>
            <a:ext cx="3448050" cy="2724150"/>
          </a:xfrm>
          <a:prstGeom prst="rect">
            <a:avLst/>
          </a:prstGeom>
          <a:noFill/>
          <a:ln/>
        </p:spPr>
        <p:txBody>
          <a:bodyPr wrap="square" lIns="0" tIns="0" rIns="0" bIns="0" rtlCol="0" anchor="t">
            <a:normAutofit/>
          </a:bodyPr>
          <a:lstStyle/>
          <a:p>
            <a:pPr indent="0" marL="0">
              <a:spcAft>
                <a:spcPts val="800"/>
              </a:spcAft>
              <a:buNone/>
            </a:pPr>
            <a:r>
              <a:rPr lang="en-US" sz="950" b="1" spc="200" kern="0" dirty="0">
                <a:solidFill>
                  <a:srgbClr val="F5D347"/>
                </a:solidFill>
                <a:latin typeface="Plus Jakarta Sans" pitchFamily="34" charset="0"/>
                <a:ea typeface="Plus Jakarta Sans" pitchFamily="34" charset="-122"/>
                <a:cs typeface="Plus Jakarta Sans" pitchFamily="34" charset="-120"/>
              </a:rPr>
              <a:t>BOTTOM LINE</a:t>
            </a:r>
            <a:endParaRPr lang="en-US" sz="950" dirty="0"/>
          </a:p>
          <a:p>
            <a:pPr indent="0" marL="0">
              <a:spcAft>
                <a:spcPts val="1000"/>
              </a:spcAft>
              <a:buNone/>
            </a:pPr>
            <a:r>
              <a:rPr lang="en-US" sz="1600" b="1" dirty="0">
                <a:solidFill>
                  <a:srgbClr val="FFFFFF"/>
                </a:solidFill>
                <a:latin typeface="Plus Jakarta Sans" pitchFamily="34" charset="0"/>
                <a:ea typeface="Plus Jakarta Sans" pitchFamily="34" charset="-122"/>
                <a:cs typeface="Plus Jakarta Sans" pitchFamily="34" charset="-120"/>
              </a:rPr>
              <a:t>Stock RP Mahkota Egypt and KCL Canada Cap Mahkota first, about 136 MT a week, and plan 142 orders a month.</a:t>
            </a:r>
            <a:endParaRPr lang="en-US" sz="950" dirty="0"/>
          </a:p>
          <a:p>
            <a:pPr indent="0" marL="0">
              <a:buNone/>
            </a:pPr>
            <a:r>
              <a:rPr lang="en-US" sz="1050" dirty="0">
                <a:solidFill>
                  <a:srgbClr val="D8E3CF"/>
                </a:solidFill>
                <a:latin typeface="Plus Jakarta Sans" pitchFamily="34" charset="0"/>
                <a:ea typeface="Plus Jakarta Sans" pitchFamily="34" charset="-122"/>
                <a:cs typeface="Plus Jakarta Sans" pitchFamily="34" charset="-120"/>
              </a:rPr>
              <a:t>Stock required is the tonnage to sell at today's list prices; stock on hand and supplier lead times are not in the data.</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 plan 19 Oct – 31 Dec 2026 · data to 18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3</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RP4B A MONTH</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Rp4B a month needs about 596 t of fertilizer a month, 1.5× our best month (394 t in Sep)</a:t>
            </a:r>
            <a:endParaRPr lang="en-US" sz="2300" dirty="0"/>
          </a:p>
        </p:txBody>
      </p:sp>
      <p:sp>
        <p:nvSpPr>
          <p:cNvPr id="11" name="Shape 6"/>
          <p:cNvSpPr/>
          <p:nvPr/>
        </p:nvSpPr>
        <p:spPr>
          <a:xfrm>
            <a:off x="762000" y="1714500"/>
            <a:ext cx="2457450" cy="800100"/>
          </a:xfrm>
          <a:prstGeom prst="roundRect">
            <a:avLst>
              <a:gd name="adj" fmla="val 13714"/>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4</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B</a:t>
            </a: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monthly sales target used for the plan</a:t>
            </a:r>
            <a:endParaRPr lang="en-US" sz="950" dirty="0"/>
          </a:p>
        </p:txBody>
      </p:sp>
      <p:sp>
        <p:nvSpPr>
          <p:cNvPr id="14" name="Shape 9"/>
          <p:cNvSpPr/>
          <p:nvPr/>
        </p:nvSpPr>
        <p:spPr>
          <a:xfrm>
            <a:off x="3371850" y="1714500"/>
            <a:ext cx="2457450" cy="800100"/>
          </a:xfrm>
          <a:prstGeom prst="roundRect">
            <a:avLst>
              <a:gd name="adj" fmla="val 13714"/>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3</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best month in this data (Jan); target is 1.3×</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1.85</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average month, last 6 full months; target is 2.2×</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142</a:t>
            </a:r>
            <a:pPr indent="0" marL="0">
              <a:buNone/>
            </a:pP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orders a month at the Jul–Oct average of Rp27.1M (Jul–Sep: 73 a month)</a:t>
            </a:r>
            <a:endParaRPr lang="en-US" sz="950" dirty="0"/>
          </a:p>
        </p:txBody>
      </p:sp>
      <p:sp>
        <p:nvSpPr>
          <p:cNvPr id="23" name="Shape 18"/>
          <p:cNvSpPr/>
          <p:nvPr/>
        </p:nvSpPr>
        <p:spPr>
          <a:xfrm>
            <a:off x="762000" y="2647950"/>
            <a:ext cx="5067300" cy="1924050"/>
          </a:xfrm>
          <a:prstGeom prst="roundRect">
            <a:avLst>
              <a:gd name="adj" fmla="val 5703"/>
            </a:avLst>
          </a:prstGeom>
          <a:solidFill>
            <a:srgbClr val="FFFFFF"/>
          </a:solidFill>
          <a:ln w="12700">
            <a:solidFill>
              <a:srgbClr val="FFFFFF"/>
            </a:solidFill>
            <a:prstDash val="solid"/>
          </a:ln>
        </p:spPr>
      </p:sp>
      <p:sp>
        <p:nvSpPr>
          <p:cNvPr id="24" name="Text 19"/>
          <p:cNvSpPr txBox="1"/>
          <p:nvPr/>
        </p:nvSpPr>
        <p:spPr>
          <a:xfrm>
            <a:off x="952500" y="2800350"/>
            <a:ext cx="46863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month vs the target</a:t>
            </a:r>
            <a:endParaRPr lang="en-US" sz="1300" dirty="0"/>
          </a:p>
        </p:txBody>
      </p:sp>
      <p:sp>
        <p:nvSpPr>
          <p:cNvPr id="25" name="Text 20"/>
          <p:cNvSpPr txBox="1"/>
          <p:nvPr/>
        </p:nvSpPr>
        <p:spPr>
          <a:xfrm>
            <a:off x="952500" y="3028950"/>
            <a:ext cx="46863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All products; Oct to 18 is partial</a:t>
            </a:r>
            <a:endParaRPr lang="en-US" sz="950" dirty="0"/>
          </a:p>
        </p:txBody>
      </p:sp>
      <p:sp>
        <p:nvSpPr>
          <p:cNvPr id="26" name="Shape 21"/>
          <p:cNvSpPr/>
          <p:nvPr/>
        </p:nvSpPr>
        <p:spPr>
          <a:xfrm>
            <a:off x="1051837" y="3666705"/>
            <a:ext cx="261989" cy="486195"/>
          </a:xfrm>
          <a:prstGeom prst="roundRect">
            <a:avLst>
              <a:gd name="adj" fmla="val 14543"/>
            </a:avLst>
          </a:prstGeom>
          <a:solidFill>
            <a:srgbClr val="3E7B27"/>
          </a:solidFill>
          <a:ln w="12700">
            <a:solidFill>
              <a:srgbClr val="3E7B27"/>
            </a:solidFill>
            <a:prstDash val="solid"/>
          </a:ln>
        </p:spPr>
      </p:sp>
      <p:sp>
        <p:nvSpPr>
          <p:cNvPr id="27" name="Text 22"/>
          <p:cNvSpPr txBox="1"/>
          <p:nvPr/>
        </p:nvSpPr>
        <p:spPr>
          <a:xfrm>
            <a:off x="823237" y="3495255"/>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3.0B</a:t>
            </a:r>
            <a:endParaRPr lang="en-US" sz="860" dirty="0"/>
          </a:p>
        </p:txBody>
      </p:sp>
      <p:sp>
        <p:nvSpPr>
          <p:cNvPr id="28" name="Text 23"/>
          <p:cNvSpPr txBox="1"/>
          <p:nvPr/>
        </p:nvSpPr>
        <p:spPr>
          <a:xfrm>
            <a:off x="981075"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p:txBody>
      </p:sp>
      <p:sp>
        <p:nvSpPr>
          <p:cNvPr id="29" name="Shape 24"/>
          <p:cNvSpPr/>
          <p:nvPr/>
        </p:nvSpPr>
        <p:spPr>
          <a:xfrm>
            <a:off x="1474401" y="3787158"/>
            <a:ext cx="261989" cy="365742"/>
          </a:xfrm>
          <a:prstGeom prst="roundRect">
            <a:avLst>
              <a:gd name="adj" fmla="val 14543"/>
            </a:avLst>
          </a:prstGeom>
          <a:solidFill>
            <a:srgbClr val="3E7B27"/>
          </a:solidFill>
          <a:ln w="12700">
            <a:solidFill>
              <a:srgbClr val="3E7B27"/>
            </a:solidFill>
            <a:prstDash val="solid"/>
          </a:ln>
        </p:spPr>
      </p:sp>
      <p:sp>
        <p:nvSpPr>
          <p:cNvPr id="30" name="Text 25"/>
          <p:cNvSpPr txBox="1"/>
          <p:nvPr/>
        </p:nvSpPr>
        <p:spPr>
          <a:xfrm>
            <a:off x="1245801" y="3615708"/>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2.3B</a:t>
            </a:r>
            <a:endParaRPr lang="en-US" sz="860" dirty="0"/>
          </a:p>
        </p:txBody>
      </p:sp>
      <p:sp>
        <p:nvSpPr>
          <p:cNvPr id="31" name="Text 26"/>
          <p:cNvSpPr txBox="1"/>
          <p:nvPr/>
        </p:nvSpPr>
        <p:spPr>
          <a:xfrm>
            <a:off x="1403639"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Feb</a:t>
            </a:r>
            <a:endParaRPr lang="en-US" sz="830" dirty="0"/>
          </a:p>
        </p:txBody>
      </p:sp>
      <p:sp>
        <p:nvSpPr>
          <p:cNvPr id="32" name="Shape 27"/>
          <p:cNvSpPr/>
          <p:nvPr/>
        </p:nvSpPr>
        <p:spPr>
          <a:xfrm>
            <a:off x="1896964" y="4020889"/>
            <a:ext cx="261989" cy="132011"/>
          </a:xfrm>
          <a:prstGeom prst="roundRect">
            <a:avLst>
              <a:gd name="adj" fmla="val 28861"/>
            </a:avLst>
          </a:prstGeom>
          <a:solidFill>
            <a:srgbClr val="3E7B27"/>
          </a:solidFill>
          <a:ln w="12700">
            <a:solidFill>
              <a:srgbClr val="3E7B27"/>
            </a:solidFill>
            <a:prstDash val="solid"/>
          </a:ln>
        </p:spPr>
      </p:sp>
      <p:sp>
        <p:nvSpPr>
          <p:cNvPr id="33" name="Text 28"/>
          <p:cNvSpPr txBox="1"/>
          <p:nvPr/>
        </p:nvSpPr>
        <p:spPr>
          <a:xfrm>
            <a:off x="1668364" y="384943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815M</a:t>
            </a:r>
            <a:endParaRPr lang="en-US" sz="860" dirty="0"/>
          </a:p>
        </p:txBody>
      </p:sp>
      <p:sp>
        <p:nvSpPr>
          <p:cNvPr id="34" name="Text 29"/>
          <p:cNvSpPr txBox="1"/>
          <p:nvPr/>
        </p:nvSpPr>
        <p:spPr>
          <a:xfrm>
            <a:off x="1826202"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Mar</a:t>
            </a:r>
            <a:endParaRPr lang="en-US" sz="830" dirty="0"/>
          </a:p>
        </p:txBody>
      </p:sp>
      <p:sp>
        <p:nvSpPr>
          <p:cNvPr id="35" name="Shape 30"/>
          <p:cNvSpPr/>
          <p:nvPr/>
        </p:nvSpPr>
        <p:spPr>
          <a:xfrm>
            <a:off x="2319528" y="3767389"/>
            <a:ext cx="261989" cy="385511"/>
          </a:xfrm>
          <a:prstGeom prst="roundRect">
            <a:avLst>
              <a:gd name="adj" fmla="val 14543"/>
            </a:avLst>
          </a:prstGeom>
          <a:solidFill>
            <a:srgbClr val="3E7B27"/>
          </a:solidFill>
          <a:ln w="12700">
            <a:solidFill>
              <a:srgbClr val="3E7B27"/>
            </a:solidFill>
            <a:prstDash val="solid"/>
          </a:ln>
        </p:spPr>
      </p:sp>
      <p:sp>
        <p:nvSpPr>
          <p:cNvPr id="36" name="Text 31"/>
          <p:cNvSpPr txBox="1"/>
          <p:nvPr/>
        </p:nvSpPr>
        <p:spPr>
          <a:xfrm>
            <a:off x="2090928" y="359593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2.4B</a:t>
            </a:r>
            <a:endParaRPr lang="en-US" sz="860" dirty="0"/>
          </a:p>
        </p:txBody>
      </p:sp>
      <p:sp>
        <p:nvSpPr>
          <p:cNvPr id="37" name="Text 32"/>
          <p:cNvSpPr txBox="1"/>
          <p:nvPr/>
        </p:nvSpPr>
        <p:spPr>
          <a:xfrm>
            <a:off x="2248766"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Apr</a:t>
            </a:r>
            <a:endParaRPr lang="en-US" sz="830" dirty="0"/>
          </a:p>
        </p:txBody>
      </p:sp>
      <p:sp>
        <p:nvSpPr>
          <p:cNvPr id="38" name="Shape 33"/>
          <p:cNvSpPr/>
          <p:nvPr/>
        </p:nvSpPr>
        <p:spPr>
          <a:xfrm>
            <a:off x="2742092" y="4090284"/>
            <a:ext cx="261989" cy="62616"/>
          </a:xfrm>
          <a:prstGeom prst="roundRect">
            <a:avLst>
              <a:gd name="adj" fmla="val 50000"/>
            </a:avLst>
          </a:prstGeom>
          <a:solidFill>
            <a:srgbClr val="3E7B27"/>
          </a:solidFill>
          <a:ln w="12700">
            <a:solidFill>
              <a:srgbClr val="3E7B27"/>
            </a:solidFill>
            <a:prstDash val="solid"/>
          </a:ln>
        </p:spPr>
      </p:sp>
      <p:sp>
        <p:nvSpPr>
          <p:cNvPr id="39" name="Text 34"/>
          <p:cNvSpPr txBox="1"/>
          <p:nvPr/>
        </p:nvSpPr>
        <p:spPr>
          <a:xfrm>
            <a:off x="2513492" y="3918834"/>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387M</a:t>
            </a:r>
            <a:endParaRPr lang="en-US" sz="860" dirty="0"/>
          </a:p>
        </p:txBody>
      </p:sp>
      <p:sp>
        <p:nvSpPr>
          <p:cNvPr id="40" name="Text 35"/>
          <p:cNvSpPr txBox="1"/>
          <p:nvPr/>
        </p:nvSpPr>
        <p:spPr>
          <a:xfrm>
            <a:off x="2671330"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May</a:t>
            </a:r>
            <a:endParaRPr lang="en-US" sz="830" dirty="0"/>
          </a:p>
        </p:txBody>
      </p:sp>
      <p:sp>
        <p:nvSpPr>
          <p:cNvPr id="41" name="Shape 36"/>
          <p:cNvSpPr/>
          <p:nvPr/>
        </p:nvSpPr>
        <p:spPr>
          <a:xfrm>
            <a:off x="3164655" y="3826903"/>
            <a:ext cx="261989" cy="325997"/>
          </a:xfrm>
          <a:prstGeom prst="roundRect">
            <a:avLst>
              <a:gd name="adj" fmla="val 14543"/>
            </a:avLst>
          </a:prstGeom>
          <a:solidFill>
            <a:srgbClr val="3E7B27"/>
          </a:solidFill>
          <a:ln w="12700">
            <a:solidFill>
              <a:srgbClr val="3E7B27"/>
            </a:solidFill>
            <a:prstDash val="solid"/>
          </a:ln>
        </p:spPr>
      </p:sp>
      <p:sp>
        <p:nvSpPr>
          <p:cNvPr id="42" name="Text 37"/>
          <p:cNvSpPr txBox="1"/>
          <p:nvPr/>
        </p:nvSpPr>
        <p:spPr>
          <a:xfrm>
            <a:off x="2936055" y="3655453"/>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2.0B</a:t>
            </a:r>
            <a:endParaRPr lang="en-US" sz="860" dirty="0"/>
          </a:p>
        </p:txBody>
      </p:sp>
      <p:sp>
        <p:nvSpPr>
          <p:cNvPr id="43" name="Text 38"/>
          <p:cNvSpPr txBox="1"/>
          <p:nvPr/>
        </p:nvSpPr>
        <p:spPr>
          <a:xfrm>
            <a:off x="3093893"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Jun</a:t>
            </a:r>
            <a:endParaRPr lang="en-US" sz="830" dirty="0"/>
          </a:p>
        </p:txBody>
      </p:sp>
      <p:sp>
        <p:nvSpPr>
          <p:cNvPr id="44" name="Shape 39"/>
          <p:cNvSpPr/>
          <p:nvPr/>
        </p:nvSpPr>
        <p:spPr>
          <a:xfrm>
            <a:off x="3587219" y="3762169"/>
            <a:ext cx="261989" cy="390731"/>
          </a:xfrm>
          <a:prstGeom prst="roundRect">
            <a:avLst>
              <a:gd name="adj" fmla="val 14543"/>
            </a:avLst>
          </a:prstGeom>
          <a:solidFill>
            <a:srgbClr val="3E7B27"/>
          </a:solidFill>
          <a:ln w="12700">
            <a:solidFill>
              <a:srgbClr val="3E7B27"/>
            </a:solidFill>
            <a:prstDash val="solid"/>
          </a:ln>
        </p:spPr>
      </p:sp>
      <p:sp>
        <p:nvSpPr>
          <p:cNvPr id="45" name="Text 40"/>
          <p:cNvSpPr txBox="1"/>
          <p:nvPr/>
        </p:nvSpPr>
        <p:spPr>
          <a:xfrm>
            <a:off x="3358619" y="359071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2.4B</a:t>
            </a:r>
            <a:endParaRPr lang="en-US" sz="860" dirty="0"/>
          </a:p>
        </p:txBody>
      </p:sp>
      <p:sp>
        <p:nvSpPr>
          <p:cNvPr id="46" name="Text 41"/>
          <p:cNvSpPr txBox="1"/>
          <p:nvPr/>
        </p:nvSpPr>
        <p:spPr>
          <a:xfrm>
            <a:off x="3516457"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47" name="Shape 42"/>
          <p:cNvSpPr/>
          <p:nvPr/>
        </p:nvSpPr>
        <p:spPr>
          <a:xfrm>
            <a:off x="4009783" y="3887368"/>
            <a:ext cx="261989" cy="265532"/>
          </a:xfrm>
          <a:prstGeom prst="roundRect">
            <a:avLst>
              <a:gd name="adj" fmla="val 14543"/>
            </a:avLst>
          </a:prstGeom>
          <a:solidFill>
            <a:srgbClr val="3E7B27"/>
          </a:solidFill>
          <a:ln w="12700">
            <a:solidFill>
              <a:srgbClr val="3E7B27"/>
            </a:solidFill>
            <a:prstDash val="solid"/>
          </a:ln>
        </p:spPr>
      </p:sp>
      <p:sp>
        <p:nvSpPr>
          <p:cNvPr id="48" name="Text 43"/>
          <p:cNvSpPr txBox="1"/>
          <p:nvPr/>
        </p:nvSpPr>
        <p:spPr>
          <a:xfrm>
            <a:off x="3781183" y="3715918"/>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1.6B</a:t>
            </a:r>
            <a:endParaRPr lang="en-US" sz="860" dirty="0"/>
          </a:p>
        </p:txBody>
      </p:sp>
      <p:sp>
        <p:nvSpPr>
          <p:cNvPr id="49" name="Text 44"/>
          <p:cNvSpPr txBox="1"/>
          <p:nvPr/>
        </p:nvSpPr>
        <p:spPr>
          <a:xfrm>
            <a:off x="3939020"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50" name="Shape 45"/>
          <p:cNvSpPr/>
          <p:nvPr/>
        </p:nvSpPr>
        <p:spPr>
          <a:xfrm>
            <a:off x="4432346" y="3787919"/>
            <a:ext cx="261989" cy="364981"/>
          </a:xfrm>
          <a:prstGeom prst="roundRect">
            <a:avLst>
              <a:gd name="adj" fmla="val 14543"/>
            </a:avLst>
          </a:prstGeom>
          <a:solidFill>
            <a:srgbClr val="3E7B27"/>
          </a:solidFill>
          <a:ln w="12700">
            <a:solidFill>
              <a:srgbClr val="3E7B27"/>
            </a:solidFill>
            <a:prstDash val="solid"/>
          </a:ln>
        </p:spPr>
      </p:sp>
      <p:sp>
        <p:nvSpPr>
          <p:cNvPr id="51" name="Text 46"/>
          <p:cNvSpPr txBox="1"/>
          <p:nvPr/>
        </p:nvSpPr>
        <p:spPr>
          <a:xfrm>
            <a:off x="4203746" y="361646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2.3B</a:t>
            </a:r>
            <a:endParaRPr lang="en-US" sz="860" dirty="0"/>
          </a:p>
        </p:txBody>
      </p:sp>
      <p:sp>
        <p:nvSpPr>
          <p:cNvPr id="52" name="Text 47"/>
          <p:cNvSpPr txBox="1"/>
          <p:nvPr/>
        </p:nvSpPr>
        <p:spPr>
          <a:xfrm>
            <a:off x="4361584"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53" name="Shape 48"/>
          <p:cNvSpPr/>
          <p:nvPr/>
        </p:nvSpPr>
        <p:spPr>
          <a:xfrm>
            <a:off x="4854910" y="4003483"/>
            <a:ext cx="261989" cy="149417"/>
          </a:xfrm>
          <a:prstGeom prst="roundRect">
            <a:avLst>
              <a:gd name="adj" fmla="val 25499"/>
            </a:avLst>
          </a:prstGeom>
          <a:solidFill>
            <a:srgbClr val="B3BBAB"/>
          </a:solidFill>
          <a:ln w="12700">
            <a:solidFill>
              <a:srgbClr val="B3BBAB"/>
            </a:solidFill>
            <a:prstDash val="solid"/>
          </a:ln>
        </p:spPr>
      </p:sp>
      <p:sp>
        <p:nvSpPr>
          <p:cNvPr id="54" name="Text 49"/>
          <p:cNvSpPr txBox="1"/>
          <p:nvPr/>
        </p:nvSpPr>
        <p:spPr>
          <a:xfrm>
            <a:off x="4626310" y="3832033"/>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923M</a:t>
            </a:r>
            <a:endParaRPr lang="en-US" sz="860" dirty="0"/>
          </a:p>
        </p:txBody>
      </p:sp>
      <p:sp>
        <p:nvSpPr>
          <p:cNvPr id="55" name="Text 50"/>
          <p:cNvSpPr txBox="1"/>
          <p:nvPr/>
        </p:nvSpPr>
        <p:spPr>
          <a:xfrm>
            <a:off x="4784148"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 18</a:t>
            </a:r>
            <a:endParaRPr lang="en-US" sz="830" dirty="0"/>
          </a:p>
        </p:txBody>
      </p:sp>
      <p:sp>
        <p:nvSpPr>
          <p:cNvPr id="56" name="Shape 51"/>
          <p:cNvSpPr/>
          <p:nvPr/>
        </p:nvSpPr>
        <p:spPr>
          <a:xfrm>
            <a:off x="5277473" y="3505200"/>
            <a:ext cx="261989" cy="647700"/>
          </a:xfrm>
          <a:prstGeom prst="roundRect">
            <a:avLst>
              <a:gd name="adj" fmla="val 14543"/>
            </a:avLst>
          </a:prstGeom>
          <a:solidFill>
            <a:srgbClr val="D9A21B"/>
          </a:solidFill>
          <a:ln w="12700">
            <a:solidFill>
              <a:srgbClr val="D9A21B"/>
            </a:solidFill>
            <a:prstDash val="solid"/>
          </a:ln>
        </p:spPr>
      </p:sp>
      <p:sp>
        <p:nvSpPr>
          <p:cNvPr id="57" name="Text 52"/>
          <p:cNvSpPr txBox="1"/>
          <p:nvPr/>
        </p:nvSpPr>
        <p:spPr>
          <a:xfrm>
            <a:off x="5048873" y="3333750"/>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4.0B</a:t>
            </a:r>
            <a:endParaRPr lang="en-US" sz="860" dirty="0"/>
          </a:p>
        </p:txBody>
      </p:sp>
      <p:sp>
        <p:nvSpPr>
          <p:cNvPr id="58" name="Text 53"/>
          <p:cNvSpPr txBox="1"/>
          <p:nvPr/>
        </p:nvSpPr>
        <p:spPr>
          <a:xfrm>
            <a:off x="5206711"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Target</a:t>
            </a:r>
            <a:endParaRPr lang="en-US" sz="830" dirty="0"/>
          </a:p>
        </p:txBody>
      </p:sp>
      <p:sp>
        <p:nvSpPr>
          <p:cNvPr id="59" name="Shape 54"/>
          <p:cNvSpPr/>
          <p:nvPr/>
        </p:nvSpPr>
        <p:spPr>
          <a:xfrm>
            <a:off x="971550" y="4152900"/>
            <a:ext cx="4648200" cy="0"/>
          </a:xfrm>
          <a:prstGeom prst="line">
            <a:avLst/>
          </a:prstGeom>
          <a:noFill/>
          <a:ln w="9525">
            <a:solidFill>
              <a:srgbClr val="B9C2B0"/>
            </a:solidFill>
            <a:prstDash val="solid"/>
          </a:ln>
        </p:spPr>
      </p:sp>
      <p:sp>
        <p:nvSpPr>
          <p:cNvPr id="60" name="Shape 55"/>
          <p:cNvSpPr/>
          <p:nvPr/>
        </p:nvSpPr>
        <p:spPr>
          <a:xfrm>
            <a:off x="5981700" y="2647950"/>
            <a:ext cx="5067300" cy="1924050"/>
          </a:xfrm>
          <a:prstGeom prst="roundRect">
            <a:avLst>
              <a:gd name="adj" fmla="val 5703"/>
            </a:avLst>
          </a:prstGeom>
          <a:solidFill>
            <a:srgbClr val="FFFFFF"/>
          </a:solidFill>
          <a:ln w="12700">
            <a:solidFill>
              <a:srgbClr val="FFFFFF"/>
            </a:solidFill>
            <a:prstDash val="solid"/>
          </a:ln>
        </p:spPr>
      </p:sp>
      <p:sp>
        <p:nvSpPr>
          <p:cNvPr id="61" name="Text 56"/>
          <p:cNvSpPr txBox="1"/>
          <p:nvPr/>
        </p:nvSpPr>
        <p:spPr>
          <a:xfrm>
            <a:off x="6172200" y="2800350"/>
            <a:ext cx="46863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Fertilizer tonnes: history and the plan</a:t>
            </a:r>
            <a:endParaRPr lang="en-US" sz="1300" dirty="0"/>
          </a:p>
        </p:txBody>
      </p:sp>
      <p:sp>
        <p:nvSpPr>
          <p:cNvPr id="62" name="Text 57"/>
          <p:cNvSpPr txBox="1"/>
          <p:nvPr/>
        </p:nvSpPr>
        <p:spPr>
          <a:xfrm>
            <a:off x="6172200" y="3028950"/>
            <a:ext cx="46863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Tonnes per month; plan in yellow</a:t>
            </a:r>
            <a:endParaRPr lang="en-US" sz="950" dirty="0"/>
          </a:p>
        </p:txBody>
      </p:sp>
      <p:sp>
        <p:nvSpPr>
          <p:cNvPr id="63" name="Shape 58"/>
          <p:cNvSpPr/>
          <p:nvPr/>
        </p:nvSpPr>
        <p:spPr>
          <a:xfrm>
            <a:off x="6259185" y="3744865"/>
            <a:ext cx="221683" cy="408035"/>
          </a:xfrm>
          <a:prstGeom prst="roundRect">
            <a:avLst>
              <a:gd name="adj" fmla="val 17187"/>
            </a:avLst>
          </a:prstGeom>
          <a:solidFill>
            <a:srgbClr val="3E7B27"/>
          </a:solidFill>
          <a:ln w="12700">
            <a:solidFill>
              <a:srgbClr val="3E7B27"/>
            </a:solidFill>
            <a:prstDash val="solid"/>
          </a:ln>
        </p:spPr>
      </p:sp>
      <p:sp>
        <p:nvSpPr>
          <p:cNvPr id="64" name="Text 59"/>
          <p:cNvSpPr txBox="1"/>
          <p:nvPr/>
        </p:nvSpPr>
        <p:spPr>
          <a:xfrm>
            <a:off x="6030585" y="3573415"/>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376</a:t>
            </a:r>
            <a:endParaRPr lang="en-US" sz="860" dirty="0"/>
          </a:p>
        </p:txBody>
      </p:sp>
      <p:sp>
        <p:nvSpPr>
          <p:cNvPr id="65" name="Text 60"/>
          <p:cNvSpPr txBox="1"/>
          <p:nvPr/>
        </p:nvSpPr>
        <p:spPr>
          <a:xfrm>
            <a:off x="6200775"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p:txBody>
      </p:sp>
      <p:sp>
        <p:nvSpPr>
          <p:cNvPr id="66" name="Shape 61"/>
          <p:cNvSpPr/>
          <p:nvPr/>
        </p:nvSpPr>
        <p:spPr>
          <a:xfrm>
            <a:off x="6616739" y="3821420"/>
            <a:ext cx="221683" cy="331480"/>
          </a:xfrm>
          <a:prstGeom prst="roundRect">
            <a:avLst>
              <a:gd name="adj" fmla="val 17187"/>
            </a:avLst>
          </a:prstGeom>
          <a:solidFill>
            <a:srgbClr val="3E7B27"/>
          </a:solidFill>
          <a:ln w="12700">
            <a:solidFill>
              <a:srgbClr val="3E7B27"/>
            </a:solidFill>
            <a:prstDash val="solid"/>
          </a:ln>
        </p:spPr>
      </p:sp>
      <p:sp>
        <p:nvSpPr>
          <p:cNvPr id="67" name="Text 62"/>
          <p:cNvSpPr txBox="1"/>
          <p:nvPr/>
        </p:nvSpPr>
        <p:spPr>
          <a:xfrm>
            <a:off x="6388139" y="364997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305</a:t>
            </a:r>
            <a:endParaRPr lang="en-US" sz="860" dirty="0"/>
          </a:p>
        </p:txBody>
      </p:sp>
      <p:sp>
        <p:nvSpPr>
          <p:cNvPr id="68" name="Text 63"/>
          <p:cNvSpPr txBox="1"/>
          <p:nvPr/>
        </p:nvSpPr>
        <p:spPr>
          <a:xfrm>
            <a:off x="6558329"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Feb</a:t>
            </a:r>
            <a:endParaRPr lang="en-US" sz="830" dirty="0"/>
          </a:p>
        </p:txBody>
      </p:sp>
      <p:sp>
        <p:nvSpPr>
          <p:cNvPr id="69" name="Shape 64"/>
          <p:cNvSpPr/>
          <p:nvPr/>
        </p:nvSpPr>
        <p:spPr>
          <a:xfrm>
            <a:off x="6974293" y="4055224"/>
            <a:ext cx="221683" cy="97676"/>
          </a:xfrm>
          <a:prstGeom prst="roundRect">
            <a:avLst>
              <a:gd name="adj" fmla="val 39007"/>
            </a:avLst>
          </a:prstGeom>
          <a:solidFill>
            <a:srgbClr val="3E7B27"/>
          </a:solidFill>
          <a:ln w="12700">
            <a:solidFill>
              <a:srgbClr val="3E7B27"/>
            </a:solidFill>
            <a:prstDash val="solid"/>
          </a:ln>
        </p:spPr>
      </p:sp>
      <p:sp>
        <p:nvSpPr>
          <p:cNvPr id="70" name="Text 65"/>
          <p:cNvSpPr txBox="1"/>
          <p:nvPr/>
        </p:nvSpPr>
        <p:spPr>
          <a:xfrm>
            <a:off x="6745693" y="3883774"/>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90</a:t>
            </a:r>
            <a:endParaRPr lang="en-US" sz="860" dirty="0"/>
          </a:p>
        </p:txBody>
      </p:sp>
      <p:sp>
        <p:nvSpPr>
          <p:cNvPr id="71" name="Text 66"/>
          <p:cNvSpPr txBox="1"/>
          <p:nvPr/>
        </p:nvSpPr>
        <p:spPr>
          <a:xfrm>
            <a:off x="6915883"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Mar</a:t>
            </a:r>
            <a:endParaRPr lang="en-US" sz="830" dirty="0"/>
          </a:p>
        </p:txBody>
      </p:sp>
      <p:sp>
        <p:nvSpPr>
          <p:cNvPr id="72" name="Shape 67"/>
          <p:cNvSpPr/>
          <p:nvPr/>
        </p:nvSpPr>
        <p:spPr>
          <a:xfrm>
            <a:off x="7331847" y="3838359"/>
            <a:ext cx="221683" cy="314541"/>
          </a:xfrm>
          <a:prstGeom prst="roundRect">
            <a:avLst>
              <a:gd name="adj" fmla="val 17187"/>
            </a:avLst>
          </a:prstGeom>
          <a:solidFill>
            <a:srgbClr val="3E7B27"/>
          </a:solidFill>
          <a:ln w="12700">
            <a:solidFill>
              <a:srgbClr val="3E7B27"/>
            </a:solidFill>
            <a:prstDash val="solid"/>
          </a:ln>
        </p:spPr>
      </p:sp>
      <p:sp>
        <p:nvSpPr>
          <p:cNvPr id="73" name="Text 68"/>
          <p:cNvSpPr txBox="1"/>
          <p:nvPr/>
        </p:nvSpPr>
        <p:spPr>
          <a:xfrm>
            <a:off x="7103247" y="3666909"/>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290</a:t>
            </a:r>
            <a:endParaRPr lang="en-US" sz="860" dirty="0"/>
          </a:p>
        </p:txBody>
      </p:sp>
      <p:sp>
        <p:nvSpPr>
          <p:cNvPr id="74" name="Text 69"/>
          <p:cNvSpPr txBox="1"/>
          <p:nvPr/>
        </p:nvSpPr>
        <p:spPr>
          <a:xfrm>
            <a:off x="7273437"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Apr</a:t>
            </a:r>
            <a:endParaRPr lang="en-US" sz="830" dirty="0"/>
          </a:p>
        </p:txBody>
      </p:sp>
      <p:sp>
        <p:nvSpPr>
          <p:cNvPr id="75" name="Shape 70"/>
          <p:cNvSpPr/>
          <p:nvPr/>
        </p:nvSpPr>
        <p:spPr>
          <a:xfrm>
            <a:off x="7689401" y="4106615"/>
            <a:ext cx="221683" cy="46285"/>
          </a:xfrm>
          <a:prstGeom prst="roundRect">
            <a:avLst>
              <a:gd name="adj" fmla="val 50000"/>
            </a:avLst>
          </a:prstGeom>
          <a:solidFill>
            <a:srgbClr val="3E7B27"/>
          </a:solidFill>
          <a:ln w="12700">
            <a:solidFill>
              <a:srgbClr val="3E7B27"/>
            </a:solidFill>
            <a:prstDash val="solid"/>
          </a:ln>
        </p:spPr>
      </p:sp>
      <p:sp>
        <p:nvSpPr>
          <p:cNvPr id="76" name="Text 71"/>
          <p:cNvSpPr txBox="1"/>
          <p:nvPr/>
        </p:nvSpPr>
        <p:spPr>
          <a:xfrm>
            <a:off x="7460801" y="3935165"/>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43</a:t>
            </a:r>
            <a:endParaRPr lang="en-US" sz="860" dirty="0"/>
          </a:p>
        </p:txBody>
      </p:sp>
      <p:sp>
        <p:nvSpPr>
          <p:cNvPr id="77" name="Text 72"/>
          <p:cNvSpPr txBox="1"/>
          <p:nvPr/>
        </p:nvSpPr>
        <p:spPr>
          <a:xfrm>
            <a:off x="7630990"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May</a:t>
            </a:r>
            <a:endParaRPr lang="en-US" sz="830" dirty="0"/>
          </a:p>
        </p:txBody>
      </p:sp>
      <p:sp>
        <p:nvSpPr>
          <p:cNvPr id="78" name="Shape 73"/>
          <p:cNvSpPr/>
          <p:nvPr/>
        </p:nvSpPr>
        <p:spPr>
          <a:xfrm>
            <a:off x="8046954" y="3942201"/>
            <a:ext cx="221683" cy="210699"/>
          </a:xfrm>
          <a:prstGeom prst="roundRect">
            <a:avLst>
              <a:gd name="adj" fmla="val 18083"/>
            </a:avLst>
          </a:prstGeom>
          <a:solidFill>
            <a:srgbClr val="3E7B27"/>
          </a:solidFill>
          <a:ln w="12700">
            <a:solidFill>
              <a:srgbClr val="3E7B27"/>
            </a:solidFill>
            <a:prstDash val="solid"/>
          </a:ln>
        </p:spPr>
      </p:sp>
      <p:sp>
        <p:nvSpPr>
          <p:cNvPr id="79" name="Text 74"/>
          <p:cNvSpPr txBox="1"/>
          <p:nvPr/>
        </p:nvSpPr>
        <p:spPr>
          <a:xfrm>
            <a:off x="7818354" y="3770751"/>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194</a:t>
            </a:r>
            <a:endParaRPr lang="en-US" sz="860" dirty="0"/>
          </a:p>
        </p:txBody>
      </p:sp>
      <p:sp>
        <p:nvSpPr>
          <p:cNvPr id="80" name="Text 75"/>
          <p:cNvSpPr txBox="1"/>
          <p:nvPr/>
        </p:nvSpPr>
        <p:spPr>
          <a:xfrm>
            <a:off x="7988544"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Jun</a:t>
            </a:r>
            <a:endParaRPr lang="en-US" sz="830" dirty="0"/>
          </a:p>
        </p:txBody>
      </p:sp>
      <p:sp>
        <p:nvSpPr>
          <p:cNvPr id="81" name="Shape 76"/>
          <p:cNvSpPr/>
          <p:nvPr/>
        </p:nvSpPr>
        <p:spPr>
          <a:xfrm>
            <a:off x="8404508" y="3803183"/>
            <a:ext cx="221683" cy="349717"/>
          </a:xfrm>
          <a:prstGeom prst="roundRect">
            <a:avLst>
              <a:gd name="adj" fmla="val 17187"/>
            </a:avLst>
          </a:prstGeom>
          <a:solidFill>
            <a:srgbClr val="3E7B27"/>
          </a:solidFill>
          <a:ln w="12700">
            <a:solidFill>
              <a:srgbClr val="3E7B27"/>
            </a:solidFill>
            <a:prstDash val="solid"/>
          </a:ln>
        </p:spPr>
      </p:sp>
      <p:sp>
        <p:nvSpPr>
          <p:cNvPr id="82" name="Text 77"/>
          <p:cNvSpPr txBox="1"/>
          <p:nvPr/>
        </p:nvSpPr>
        <p:spPr>
          <a:xfrm>
            <a:off x="8175908" y="3631733"/>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322</a:t>
            </a:r>
            <a:endParaRPr lang="en-US" sz="860" dirty="0"/>
          </a:p>
        </p:txBody>
      </p:sp>
      <p:sp>
        <p:nvSpPr>
          <p:cNvPr id="83" name="Text 78"/>
          <p:cNvSpPr txBox="1"/>
          <p:nvPr/>
        </p:nvSpPr>
        <p:spPr>
          <a:xfrm>
            <a:off x="8346098"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84" name="Shape 79"/>
          <p:cNvSpPr/>
          <p:nvPr/>
        </p:nvSpPr>
        <p:spPr>
          <a:xfrm>
            <a:off x="8762062" y="3909742"/>
            <a:ext cx="221683" cy="243158"/>
          </a:xfrm>
          <a:prstGeom prst="roundRect">
            <a:avLst>
              <a:gd name="adj" fmla="val 17187"/>
            </a:avLst>
          </a:prstGeom>
          <a:solidFill>
            <a:srgbClr val="3E7B27"/>
          </a:solidFill>
          <a:ln w="12700">
            <a:solidFill>
              <a:srgbClr val="3E7B27"/>
            </a:solidFill>
            <a:prstDash val="solid"/>
          </a:ln>
        </p:spPr>
      </p:sp>
      <p:sp>
        <p:nvSpPr>
          <p:cNvPr id="85" name="Text 80"/>
          <p:cNvSpPr txBox="1"/>
          <p:nvPr/>
        </p:nvSpPr>
        <p:spPr>
          <a:xfrm>
            <a:off x="8533462" y="3738292"/>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224</a:t>
            </a:r>
            <a:endParaRPr lang="en-US" sz="860" dirty="0"/>
          </a:p>
        </p:txBody>
      </p:sp>
      <p:sp>
        <p:nvSpPr>
          <p:cNvPr id="86" name="Text 81"/>
          <p:cNvSpPr txBox="1"/>
          <p:nvPr/>
        </p:nvSpPr>
        <p:spPr>
          <a:xfrm>
            <a:off x="8703652"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87" name="Shape 82"/>
          <p:cNvSpPr/>
          <p:nvPr/>
        </p:nvSpPr>
        <p:spPr>
          <a:xfrm>
            <a:off x="9119616" y="3725037"/>
            <a:ext cx="221683" cy="427863"/>
          </a:xfrm>
          <a:prstGeom prst="roundRect">
            <a:avLst>
              <a:gd name="adj" fmla="val 17187"/>
            </a:avLst>
          </a:prstGeom>
          <a:solidFill>
            <a:srgbClr val="3E7B27"/>
          </a:solidFill>
          <a:ln w="12700">
            <a:solidFill>
              <a:srgbClr val="3E7B27"/>
            </a:solidFill>
            <a:prstDash val="solid"/>
          </a:ln>
        </p:spPr>
      </p:sp>
      <p:sp>
        <p:nvSpPr>
          <p:cNvPr id="88" name="Text 83"/>
          <p:cNvSpPr txBox="1"/>
          <p:nvPr/>
        </p:nvSpPr>
        <p:spPr>
          <a:xfrm>
            <a:off x="8891016" y="355358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394</a:t>
            </a:r>
            <a:endParaRPr lang="en-US" sz="860" dirty="0"/>
          </a:p>
        </p:txBody>
      </p:sp>
      <p:sp>
        <p:nvSpPr>
          <p:cNvPr id="89" name="Text 84"/>
          <p:cNvSpPr txBox="1"/>
          <p:nvPr/>
        </p:nvSpPr>
        <p:spPr>
          <a:xfrm>
            <a:off x="9061206"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90" name="Shape 85"/>
          <p:cNvSpPr/>
          <p:nvPr/>
        </p:nvSpPr>
        <p:spPr>
          <a:xfrm>
            <a:off x="9477170" y="4017522"/>
            <a:ext cx="221683" cy="135378"/>
          </a:xfrm>
          <a:prstGeom prst="roundRect">
            <a:avLst>
              <a:gd name="adj" fmla="val 28143"/>
            </a:avLst>
          </a:prstGeom>
          <a:solidFill>
            <a:srgbClr val="B3BBAB"/>
          </a:solidFill>
          <a:ln w="12700">
            <a:solidFill>
              <a:srgbClr val="B3BBAB"/>
            </a:solidFill>
            <a:prstDash val="solid"/>
          </a:ln>
        </p:spPr>
      </p:sp>
      <p:sp>
        <p:nvSpPr>
          <p:cNvPr id="91" name="Text 86"/>
          <p:cNvSpPr txBox="1"/>
          <p:nvPr/>
        </p:nvSpPr>
        <p:spPr>
          <a:xfrm>
            <a:off x="9248570" y="3846072"/>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125</a:t>
            </a:r>
            <a:endParaRPr lang="en-US" sz="860" dirty="0"/>
          </a:p>
        </p:txBody>
      </p:sp>
      <p:sp>
        <p:nvSpPr>
          <p:cNvPr id="92" name="Text 87"/>
          <p:cNvSpPr txBox="1"/>
          <p:nvPr/>
        </p:nvSpPr>
        <p:spPr>
          <a:xfrm>
            <a:off x="9418760"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 18</a:t>
            </a:r>
            <a:endParaRPr lang="en-US" sz="830" dirty="0"/>
          </a:p>
        </p:txBody>
      </p:sp>
      <p:sp>
        <p:nvSpPr>
          <p:cNvPr id="93" name="Shape 88"/>
          <p:cNvSpPr/>
          <p:nvPr/>
        </p:nvSpPr>
        <p:spPr>
          <a:xfrm>
            <a:off x="9834724" y="3881379"/>
            <a:ext cx="221683" cy="271521"/>
          </a:xfrm>
          <a:prstGeom prst="roundRect">
            <a:avLst>
              <a:gd name="adj" fmla="val 17187"/>
            </a:avLst>
          </a:prstGeom>
          <a:solidFill>
            <a:srgbClr val="D9A21B"/>
          </a:solidFill>
          <a:ln w="12700">
            <a:solidFill>
              <a:srgbClr val="D9A21B"/>
            </a:solidFill>
            <a:prstDash val="solid"/>
          </a:ln>
        </p:spPr>
      </p:sp>
      <p:sp>
        <p:nvSpPr>
          <p:cNvPr id="94" name="Text 89"/>
          <p:cNvSpPr txBox="1"/>
          <p:nvPr/>
        </p:nvSpPr>
        <p:spPr>
          <a:xfrm>
            <a:off x="9606124" y="3709929"/>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250</a:t>
            </a:r>
            <a:endParaRPr lang="en-US" sz="860" dirty="0"/>
          </a:p>
        </p:txBody>
      </p:sp>
      <p:sp>
        <p:nvSpPr>
          <p:cNvPr id="95" name="Text 90"/>
          <p:cNvSpPr txBox="1"/>
          <p:nvPr/>
        </p:nvSpPr>
        <p:spPr>
          <a:xfrm>
            <a:off x="9776313"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19–31</a:t>
            </a:r>
            <a:endParaRPr lang="en-US" sz="830" dirty="0"/>
          </a:p>
        </p:txBody>
      </p:sp>
      <p:sp>
        <p:nvSpPr>
          <p:cNvPr id="96" name="Shape 91"/>
          <p:cNvSpPr/>
          <p:nvPr/>
        </p:nvSpPr>
        <p:spPr>
          <a:xfrm>
            <a:off x="10192278" y="3505200"/>
            <a:ext cx="221683" cy="647700"/>
          </a:xfrm>
          <a:prstGeom prst="roundRect">
            <a:avLst>
              <a:gd name="adj" fmla="val 17187"/>
            </a:avLst>
          </a:prstGeom>
          <a:solidFill>
            <a:srgbClr val="D9A21B"/>
          </a:solidFill>
          <a:ln w="12700">
            <a:solidFill>
              <a:srgbClr val="D9A21B"/>
            </a:solidFill>
            <a:prstDash val="solid"/>
          </a:ln>
        </p:spPr>
      </p:sp>
      <p:sp>
        <p:nvSpPr>
          <p:cNvPr id="97" name="Text 92"/>
          <p:cNvSpPr txBox="1"/>
          <p:nvPr/>
        </p:nvSpPr>
        <p:spPr>
          <a:xfrm>
            <a:off x="9963678" y="333375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596</a:t>
            </a:r>
            <a:endParaRPr lang="en-US" sz="860" dirty="0"/>
          </a:p>
        </p:txBody>
      </p:sp>
      <p:sp>
        <p:nvSpPr>
          <p:cNvPr id="98" name="Text 93"/>
          <p:cNvSpPr txBox="1"/>
          <p:nvPr/>
        </p:nvSpPr>
        <p:spPr>
          <a:xfrm>
            <a:off x="10133867"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Nov</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2026</a:t>
            </a:r>
            <a:endParaRPr lang="en-US" sz="830" dirty="0"/>
          </a:p>
        </p:txBody>
      </p:sp>
      <p:sp>
        <p:nvSpPr>
          <p:cNvPr id="99" name="Shape 94"/>
          <p:cNvSpPr/>
          <p:nvPr/>
        </p:nvSpPr>
        <p:spPr>
          <a:xfrm>
            <a:off x="10549831" y="3505200"/>
            <a:ext cx="221683" cy="647700"/>
          </a:xfrm>
          <a:prstGeom prst="roundRect">
            <a:avLst>
              <a:gd name="adj" fmla="val 17187"/>
            </a:avLst>
          </a:prstGeom>
          <a:solidFill>
            <a:srgbClr val="D9A21B"/>
          </a:solidFill>
          <a:ln w="12700">
            <a:solidFill>
              <a:srgbClr val="D9A21B"/>
            </a:solidFill>
            <a:prstDash val="solid"/>
          </a:ln>
        </p:spPr>
      </p:sp>
      <p:sp>
        <p:nvSpPr>
          <p:cNvPr id="100" name="Text 95"/>
          <p:cNvSpPr txBox="1"/>
          <p:nvPr/>
        </p:nvSpPr>
        <p:spPr>
          <a:xfrm>
            <a:off x="10321231" y="333375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596</a:t>
            </a:r>
            <a:endParaRPr lang="en-US" sz="860" dirty="0"/>
          </a:p>
        </p:txBody>
      </p:sp>
      <p:sp>
        <p:nvSpPr>
          <p:cNvPr id="101" name="Text 96"/>
          <p:cNvSpPr txBox="1"/>
          <p:nvPr/>
        </p:nvSpPr>
        <p:spPr>
          <a:xfrm>
            <a:off x="10491421"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Dec</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2026</a:t>
            </a:r>
            <a:endParaRPr lang="en-US" sz="830" dirty="0"/>
          </a:p>
        </p:txBody>
      </p:sp>
      <p:sp>
        <p:nvSpPr>
          <p:cNvPr id="102" name="Shape 97"/>
          <p:cNvSpPr/>
          <p:nvPr/>
        </p:nvSpPr>
        <p:spPr>
          <a:xfrm>
            <a:off x="6191250" y="4152900"/>
            <a:ext cx="4648200" cy="0"/>
          </a:xfrm>
          <a:prstGeom prst="line">
            <a:avLst/>
          </a:prstGeom>
          <a:noFill/>
          <a:ln w="9525">
            <a:solidFill>
              <a:srgbClr val="B9C2B0"/>
            </a:solidFill>
            <a:prstDash val="solid"/>
          </a:ln>
        </p:spPr>
      </p:sp>
      <p:sp>
        <p:nvSpPr>
          <p:cNvPr id="103" name="Shape 98"/>
          <p:cNvSpPr/>
          <p:nvPr/>
        </p:nvSpPr>
        <p:spPr>
          <a:xfrm>
            <a:off x="762000" y="4705350"/>
            <a:ext cx="10287000" cy="1409700"/>
          </a:xfrm>
          <a:prstGeom prst="roundRect">
            <a:avLst>
              <a:gd name="adj" fmla="val 7784"/>
            </a:avLst>
          </a:prstGeom>
          <a:solidFill>
            <a:srgbClr val="FBEFC4"/>
          </a:solidFill>
          <a:ln w="12700">
            <a:solidFill>
              <a:srgbClr val="FBEFC4"/>
            </a:solidFill>
            <a:prstDash val="solid"/>
          </a:ln>
        </p:spPr>
      </p:sp>
      <p:sp>
        <p:nvSpPr>
          <p:cNvPr id="104" name="Text 99"/>
          <p:cNvSpPr txBox="1"/>
          <p:nvPr/>
        </p:nvSpPr>
        <p:spPr>
          <a:xfrm>
            <a:off x="933450" y="4791075"/>
            <a:ext cx="9944100" cy="12382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Method: the Rp4B target is split by each area's share of fertilizer GMV (Riau 81%, Sumatera Utara 16%, Sumatera Selatan 3%); 96% of GMV is fertilizer and 1.8% is shipping. Rupiah is turned into kg at the prices in “list pricing”, with each area's product and price-tier mix from the last 4 months (Jul–Oct). Part months are pro rata by day.</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Prices today vs what we sold at (Jul–Oct): RP Mahkota Egypt Rp120,737 → Rp122,903 a bag (+2%); KCL Canada Cap Mahkota Rp421,993 → Rp415,270 a bag (−2%); KCL Mentari Rp424,093 → Rp410,679 a bag (−3%); NPK Sawit 13-8-27-4 0.5 B Pak Tani Rp588,150 → Rp579,997 a bag (−1%).</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Data: 36 lines (Rp1.36B) had no province and took the customer's province from other orders. 8 SKUs are not on the price list and use the last selling price (NPK Mahkota 13-6-27-4 0.65 B, KCL Kancil, Mahkota ZA…).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 plan 19 Oct – 31 Dec 2026 · data to 18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4</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WEEKLY STOCK PLAN</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1,442 MT from 19 Oct to 31 Dec: about 136 MT a week for Rp4B a month</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499110"/>
                <a:gridCol w="1497330"/>
                <a:gridCol w="1098042"/>
                <a:gridCol w="998220"/>
                <a:gridCol w="798576"/>
                <a:gridCol w="5090922"/>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Week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Dates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Target sales (IDR)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Stock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Bags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Most-ordered SKUs (bags)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19–25 Oct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Rp903M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2,719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527 · RP Mahkota Egypt 774 · Urea Nitrea 46% N 122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26 Oct – 1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Rp908M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135.3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2,732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530 · RP Mahkota Egypt 778 · Urea Nitrea 46% N 123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2–8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Rp933M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544 · RP Mahkota Egypt 801 · Urea Nitrea 46% N 127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9–15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Rp933M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544 · RP Mahkota Egypt 801 · Urea Nitrea 46% N 127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16–22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Rp933M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544 · RP Mahkota Egypt 801 · Urea Nitrea 46% N 127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23–29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Rp933M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544 · RP Mahkota Egypt 801 · Urea Nitrea 46% N 127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30 Nov – 6 Dec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Rp908M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2,730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529 · RP Mahkota Egypt 779 · Urea Nitrea 46% N 123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7–13 Dec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Rp903M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2,719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527 · RP Mahkota Egypt 775 · Urea Nitrea 46% N 123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14–20 Dec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Rp903M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2,719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527 · RP Mahkota Egypt 775 · Urea Nitrea 46% N 123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21–27 Dec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Rp903M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2,719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527 · RP Mahkota Egypt 775 · Urea Nitrea 46% N 123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W11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28–31 Dec (4 days)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Rp516M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77.0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1,554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 301 · RP Mahkota Egypt 443 · Urea Nitrea 46% N 70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Total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19 Oct – 31 Dec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Rp9.68B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1,442.3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29,124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13" name="Text 7"/>
          <p:cNvSpPr txBox="1"/>
          <p:nvPr/>
        </p:nvSpPr>
        <p:spPr>
          <a:xfrm>
            <a:off x="952500" y="5562600"/>
            <a:ext cx="9906000" cy="495300"/>
          </a:xfrm>
          <a:prstGeom prst="rect">
            <a:avLst/>
          </a:prstGeom>
          <a:noFill/>
          <a:ln/>
        </p:spPr>
        <p:txBody>
          <a:bodyPr wrap="square" lIns="0" tIns="0" rIns="0" bIns="0" rtlCol="0" anchor="b">
            <a:normAutofit/>
          </a:bodyPr>
          <a:lstStyle/>
          <a:p>
            <a:pPr indent="0" marL="0">
              <a:buNone/>
            </a:pPr>
            <a:r>
              <a:rPr lang="en-US" sz="1000" dirty="0">
                <a:solidFill>
                  <a:srgbClr val="535353"/>
                </a:solidFill>
                <a:latin typeface="Plus Jakarta Sans" pitchFamily="34" charset="0"/>
                <a:ea typeface="Plus Jakarta Sans" pitchFamily="34" charset="-122"/>
                <a:cs typeface="Plus Jakarta Sans" pitchFamily="34" charset="-120"/>
              </a:rPr>
              <a:t>Weeks run Monday to Sunday; each month's plan is spread evenly over its days, so a short week needs less. Bags are rounded per week; the 3 most-ordered SKUs shown, in bags.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 plan 19 Oct – 31 Dec 2026 · data to 18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5</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WEEKLY PLAN BY SKU</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The 12 most-ordered SKUs need 1,290 MT to 31 Dec, 89% of the plan; KCL Canada Cap Mahkota leads with 178 orders</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2119772"/>
                <a:gridCol w="578120"/>
                <a:gridCol w="539578"/>
                <a:gridCol w="539578"/>
                <a:gridCol w="539578"/>
                <a:gridCol w="539578"/>
                <a:gridCol w="539578"/>
                <a:gridCol w="539578"/>
                <a:gridCol w="539578"/>
                <a:gridCol w="539578"/>
                <a:gridCol w="539578"/>
                <a:gridCol w="539578"/>
                <a:gridCol w="539578"/>
                <a:gridCol w="674473"/>
                <a:gridCol w="674473"/>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SKU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Orders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19 Oct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26 Oct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2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9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16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23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30 Nov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7 Dec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14 Dec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21 Dec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28 Dec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Total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Bags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26.4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26.5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26.5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26.4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26.4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26.4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15.1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282.2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5,644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Mahkota Egypt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40.1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40.1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40.1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40.1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415.2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8,303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Urea Nitrea 46% 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65.8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1,315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Sasco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49.4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987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Cap Daun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39.1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781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ZA Cap Daun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25.1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Mahkota 13-8-27-4 0.5 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Mentari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151.5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3,030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AC Powder AKP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53.5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Phonska Plus 15-15-15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Sawit 13-8-27-4 0.5 B Pak Tani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114.6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2,292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Sasco Egypt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51.3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Top 12 total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120.4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120.5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120.5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120.5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68.9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1,290.4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26,067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13" name="Text 7"/>
          <p:cNvSpPr txBox="1"/>
          <p:nvPr/>
        </p:nvSpPr>
        <p:spPr>
          <a:xfrm>
            <a:off x="952500" y="5724525"/>
            <a:ext cx="9906000" cy="333375"/>
          </a:xfrm>
          <a:prstGeom prst="rect">
            <a:avLst/>
          </a:prstGeom>
          <a:noFill/>
          <a:ln/>
        </p:spPr>
        <p:txBody>
          <a:bodyPr wrap="square" lIns="0" tIns="0" rIns="0" bIns="0" rtlCol="0" anchor="b">
            <a:normAutofit/>
          </a:bodyPr>
          <a:lstStyle/>
          <a:p>
            <a:pPr indent="0" marL="0">
              <a:buNone/>
            </a:pPr>
            <a:r>
              <a:rPr lang="en-US" sz="1000" dirty="0">
                <a:solidFill>
                  <a:srgbClr val="535353"/>
                </a:solidFill>
                <a:latin typeface="Plus Jakarta Sans" pitchFamily="34" charset="0"/>
                <a:ea typeface="Plus Jakarta Sans" pitchFamily="34" charset="-122"/>
                <a:cs typeface="Plus Jakarta Sans" pitchFamily="34" charset="-120"/>
              </a:rPr>
              <a:t>Ranked by number of orders for each SKU, Jan–Oct. MT per week, by Monday start date. The full plan is 1,442.2 MT over 26 fertilizer SKUs.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 plan 19 Oct – 31 Dec 2026 · data to 18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6</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WHERE THE STOCK GOES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Riau needs 81% of the stock; KCL Canada Cap Mahkota, the most-ordered SKU, is 20% of the tonnes</a:t>
            </a:r>
            <a:endParaRPr lang="en-US" sz="2300" dirty="0"/>
          </a:p>
        </p:txBody>
      </p:sp>
      <p:sp>
        <p:nvSpPr>
          <p:cNvPr id="11" name="Shape 6"/>
          <p:cNvSpPr/>
          <p:nvPr/>
        </p:nvSpPr>
        <p:spPr>
          <a:xfrm>
            <a:off x="762000" y="1714500"/>
            <a:ext cx="5527964" cy="3714750"/>
          </a:xfrm>
          <a:prstGeom prst="roundRect">
            <a:avLst>
              <a:gd name="adj" fmla="val 2954"/>
            </a:avLst>
          </a:prstGeom>
          <a:solidFill>
            <a:srgbClr val="FFFFFF"/>
          </a:solidFill>
          <a:ln w="12700">
            <a:solidFill>
              <a:srgbClr val="FFFFFF"/>
            </a:solidFill>
            <a:prstDash val="solid"/>
          </a:ln>
        </p:spPr>
      </p:sp>
      <p:sp>
        <p:nvSpPr>
          <p:cNvPr id="12" name="Text 7"/>
          <p:cNvSpPr txBox="1"/>
          <p:nvPr/>
        </p:nvSpPr>
        <p:spPr>
          <a:xfrm>
            <a:off x="952500" y="1866900"/>
            <a:ext cx="5146964"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Stock required by area, per week (MT)</a:t>
            </a:r>
            <a:endParaRPr lang="en-US" sz="1300" dirty="0"/>
          </a:p>
        </p:txBody>
      </p:sp>
      <p:sp>
        <p:nvSpPr>
          <p:cNvPr id="13" name="Text 8"/>
          <p:cNvSpPr txBox="1"/>
          <p:nvPr/>
        </p:nvSpPr>
        <p:spPr>
          <a:xfrm>
            <a:off x="952500" y="2095500"/>
            <a:ext cx="5146964"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Week starting Monday</a:t>
            </a:r>
            <a:endParaRPr lang="en-US" sz="950" dirty="0"/>
          </a:p>
        </p:txBody>
      </p:sp>
      <p:sp>
        <p:nvSpPr>
          <p:cNvPr id="14" name="Shape 9"/>
          <p:cNvSpPr/>
          <p:nvPr/>
        </p:nvSpPr>
        <p:spPr>
          <a:xfrm>
            <a:off x="971550" y="2409825"/>
            <a:ext cx="104775" cy="104775"/>
          </a:xfrm>
          <a:prstGeom prst="roundRect">
            <a:avLst>
              <a:gd name="adj" fmla="val 18182"/>
            </a:avLst>
          </a:prstGeom>
          <a:solidFill>
            <a:srgbClr val="3E7B27"/>
          </a:solidFill>
          <a:ln w="12700">
            <a:solidFill>
              <a:srgbClr val="3E7B27"/>
            </a:solidFill>
            <a:prstDash val="solid"/>
          </a:ln>
        </p:spPr>
      </p:sp>
      <p:sp>
        <p:nvSpPr>
          <p:cNvPr id="15" name="Text 10"/>
          <p:cNvSpPr txBox="1"/>
          <p:nvPr/>
        </p:nvSpPr>
        <p:spPr>
          <a:xfrm>
            <a:off x="1123950" y="2381250"/>
            <a:ext cx="378714"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Riau</a:t>
            </a:r>
            <a:endParaRPr lang="en-US" sz="860" dirty="0"/>
          </a:p>
        </p:txBody>
      </p:sp>
      <p:sp>
        <p:nvSpPr>
          <p:cNvPr id="16" name="Shape 11"/>
          <p:cNvSpPr/>
          <p:nvPr/>
        </p:nvSpPr>
        <p:spPr>
          <a:xfrm>
            <a:off x="1502664" y="2409825"/>
            <a:ext cx="104775" cy="104775"/>
          </a:xfrm>
          <a:prstGeom prst="roundRect">
            <a:avLst>
              <a:gd name="adj" fmla="val 18182"/>
            </a:avLst>
          </a:prstGeom>
          <a:solidFill>
            <a:srgbClr val="D9A21B"/>
          </a:solidFill>
          <a:ln w="12700">
            <a:solidFill>
              <a:srgbClr val="D9A21B"/>
            </a:solidFill>
            <a:prstDash val="solid"/>
          </a:ln>
        </p:spPr>
      </p:sp>
      <p:sp>
        <p:nvSpPr>
          <p:cNvPr id="17" name="Text 12"/>
          <p:cNvSpPr txBox="1"/>
          <p:nvPr/>
        </p:nvSpPr>
        <p:spPr>
          <a:xfrm>
            <a:off x="1655064" y="2381250"/>
            <a:ext cx="992124"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Sumatera Utara</a:t>
            </a:r>
            <a:endParaRPr lang="en-US" sz="860" dirty="0"/>
          </a:p>
        </p:txBody>
      </p:sp>
      <p:sp>
        <p:nvSpPr>
          <p:cNvPr id="18" name="Shape 13"/>
          <p:cNvSpPr/>
          <p:nvPr/>
        </p:nvSpPr>
        <p:spPr>
          <a:xfrm>
            <a:off x="2647188" y="2409825"/>
            <a:ext cx="104775" cy="104775"/>
          </a:xfrm>
          <a:prstGeom prst="roundRect">
            <a:avLst>
              <a:gd name="adj" fmla="val 18182"/>
            </a:avLst>
          </a:prstGeom>
          <a:solidFill>
            <a:srgbClr val="2B7BB0"/>
          </a:solidFill>
          <a:ln w="12700">
            <a:solidFill>
              <a:srgbClr val="2B7BB0"/>
            </a:solidFill>
            <a:prstDash val="solid"/>
          </a:ln>
        </p:spPr>
      </p:sp>
      <p:sp>
        <p:nvSpPr>
          <p:cNvPr id="19" name="Text 14"/>
          <p:cNvSpPr txBox="1"/>
          <p:nvPr/>
        </p:nvSpPr>
        <p:spPr>
          <a:xfrm>
            <a:off x="2799588" y="2381250"/>
            <a:ext cx="1114806"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Sumatera Selatan</a:t>
            </a:r>
            <a:endParaRPr lang="en-US" sz="860" dirty="0"/>
          </a:p>
        </p:txBody>
      </p:sp>
      <p:sp>
        <p:nvSpPr>
          <p:cNvPr id="20" name="Shape 15"/>
          <p:cNvSpPr/>
          <p:nvPr/>
        </p:nvSpPr>
        <p:spPr>
          <a:xfrm>
            <a:off x="1059794" y="3359524"/>
            <a:ext cx="287954" cy="1707776"/>
          </a:xfrm>
          <a:prstGeom prst="roundRect">
            <a:avLst>
              <a:gd name="adj" fmla="val 9923"/>
            </a:avLst>
          </a:prstGeom>
          <a:solidFill>
            <a:srgbClr val="3E7B27"/>
          </a:solidFill>
          <a:ln w="12700">
            <a:solidFill>
              <a:srgbClr val="3E7B27"/>
            </a:solidFill>
            <a:prstDash val="solid"/>
          </a:ln>
        </p:spPr>
      </p:sp>
      <p:sp>
        <p:nvSpPr>
          <p:cNvPr id="21" name="Text 16"/>
          <p:cNvSpPr txBox="1"/>
          <p:nvPr/>
        </p:nvSpPr>
        <p:spPr>
          <a:xfrm>
            <a:off x="1059794" y="3359524"/>
            <a:ext cx="287954" cy="1707776"/>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106</a:t>
            </a:r>
            <a:endParaRPr lang="en-US" sz="800" dirty="0"/>
          </a:p>
        </p:txBody>
      </p:sp>
      <p:sp>
        <p:nvSpPr>
          <p:cNvPr id="22" name="Shape 17"/>
          <p:cNvSpPr/>
          <p:nvPr/>
        </p:nvSpPr>
        <p:spPr>
          <a:xfrm>
            <a:off x="1059794" y="2954889"/>
            <a:ext cx="287954" cy="385585"/>
          </a:xfrm>
          <a:prstGeom prst="roundRect">
            <a:avLst>
              <a:gd name="adj" fmla="val 9923"/>
            </a:avLst>
          </a:prstGeom>
          <a:solidFill>
            <a:srgbClr val="D9A21B"/>
          </a:solidFill>
          <a:ln w="12700">
            <a:solidFill>
              <a:srgbClr val="D9A21B"/>
            </a:solidFill>
            <a:prstDash val="solid"/>
          </a:ln>
        </p:spPr>
      </p:sp>
      <p:sp>
        <p:nvSpPr>
          <p:cNvPr id="23" name="Text 18"/>
          <p:cNvSpPr txBox="1"/>
          <p:nvPr/>
        </p:nvSpPr>
        <p:spPr>
          <a:xfrm>
            <a:off x="1059794" y="2954889"/>
            <a:ext cx="287954" cy="404635"/>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25</a:t>
            </a:r>
            <a:endParaRPr lang="en-US" sz="800" dirty="0"/>
          </a:p>
        </p:txBody>
      </p:sp>
      <p:sp>
        <p:nvSpPr>
          <p:cNvPr id="24" name="Shape 19"/>
          <p:cNvSpPr/>
          <p:nvPr/>
        </p:nvSpPr>
        <p:spPr>
          <a:xfrm>
            <a:off x="1059794" y="2892671"/>
            <a:ext cx="287954" cy="43168"/>
          </a:xfrm>
          <a:prstGeom prst="roundRect">
            <a:avLst>
              <a:gd name="adj" fmla="val 50000"/>
            </a:avLst>
          </a:prstGeom>
          <a:solidFill>
            <a:srgbClr val="2B7BB0"/>
          </a:solidFill>
          <a:ln w="12700">
            <a:solidFill>
              <a:srgbClr val="2B7BB0"/>
            </a:solidFill>
            <a:prstDash val="solid"/>
          </a:ln>
        </p:spPr>
      </p:sp>
      <p:sp>
        <p:nvSpPr>
          <p:cNvPr id="25" name="Text 20"/>
          <p:cNvSpPr txBox="1"/>
          <p:nvPr/>
        </p:nvSpPr>
        <p:spPr>
          <a:xfrm>
            <a:off x="822771" y="2721221"/>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135</a:t>
            </a:r>
            <a:endParaRPr lang="en-US" sz="860" dirty="0"/>
          </a:p>
        </p:txBody>
      </p:sp>
      <p:sp>
        <p:nvSpPr>
          <p:cNvPr id="26" name="Text 21"/>
          <p:cNvSpPr txBox="1"/>
          <p:nvPr/>
        </p:nvSpPr>
        <p:spPr>
          <a:xfrm>
            <a:off x="981075"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19 Oct</a:t>
            </a:r>
            <a:endParaRPr lang="en-US" sz="830" dirty="0"/>
          </a:p>
        </p:txBody>
      </p:sp>
      <p:sp>
        <p:nvSpPr>
          <p:cNvPr id="27" name="Shape 22"/>
          <p:cNvSpPr/>
          <p:nvPr/>
        </p:nvSpPr>
        <p:spPr>
          <a:xfrm>
            <a:off x="1524236" y="3351180"/>
            <a:ext cx="287954" cy="1716120"/>
          </a:xfrm>
          <a:prstGeom prst="roundRect">
            <a:avLst>
              <a:gd name="adj" fmla="val 9923"/>
            </a:avLst>
          </a:prstGeom>
          <a:solidFill>
            <a:srgbClr val="3E7B27"/>
          </a:solidFill>
          <a:ln w="12700">
            <a:solidFill>
              <a:srgbClr val="3E7B27"/>
            </a:solidFill>
            <a:prstDash val="solid"/>
          </a:ln>
        </p:spPr>
      </p:sp>
      <p:sp>
        <p:nvSpPr>
          <p:cNvPr id="28" name="Text 23"/>
          <p:cNvSpPr txBox="1"/>
          <p:nvPr/>
        </p:nvSpPr>
        <p:spPr>
          <a:xfrm>
            <a:off x="1524236" y="3351180"/>
            <a:ext cx="287954" cy="171612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106</a:t>
            </a:r>
            <a:endParaRPr lang="en-US" sz="800" dirty="0"/>
          </a:p>
        </p:txBody>
      </p:sp>
      <p:sp>
        <p:nvSpPr>
          <p:cNvPr id="29" name="Shape 24"/>
          <p:cNvSpPr/>
          <p:nvPr/>
        </p:nvSpPr>
        <p:spPr>
          <a:xfrm>
            <a:off x="1524236" y="2944691"/>
            <a:ext cx="287954" cy="387439"/>
          </a:xfrm>
          <a:prstGeom prst="roundRect">
            <a:avLst>
              <a:gd name="adj" fmla="val 9923"/>
            </a:avLst>
          </a:prstGeom>
          <a:solidFill>
            <a:srgbClr val="D9A21B"/>
          </a:solidFill>
          <a:ln w="12700">
            <a:solidFill>
              <a:srgbClr val="D9A21B"/>
            </a:solidFill>
            <a:prstDash val="solid"/>
          </a:ln>
        </p:spPr>
      </p:sp>
      <p:sp>
        <p:nvSpPr>
          <p:cNvPr id="30" name="Text 25"/>
          <p:cNvSpPr txBox="1"/>
          <p:nvPr/>
        </p:nvSpPr>
        <p:spPr>
          <a:xfrm>
            <a:off x="1524236" y="2944691"/>
            <a:ext cx="287954" cy="406489"/>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25</a:t>
            </a:r>
            <a:endParaRPr lang="en-US" sz="800" dirty="0"/>
          </a:p>
        </p:txBody>
      </p:sp>
      <p:sp>
        <p:nvSpPr>
          <p:cNvPr id="31" name="Shape 26"/>
          <p:cNvSpPr/>
          <p:nvPr/>
        </p:nvSpPr>
        <p:spPr>
          <a:xfrm>
            <a:off x="1524236" y="2882204"/>
            <a:ext cx="287954" cy="43437"/>
          </a:xfrm>
          <a:prstGeom prst="roundRect">
            <a:avLst>
              <a:gd name="adj" fmla="val 50000"/>
            </a:avLst>
          </a:prstGeom>
          <a:solidFill>
            <a:srgbClr val="2B7BB0"/>
          </a:solidFill>
          <a:ln w="12700">
            <a:solidFill>
              <a:srgbClr val="2B7BB0"/>
            </a:solidFill>
            <a:prstDash val="solid"/>
          </a:ln>
        </p:spPr>
      </p:sp>
      <p:sp>
        <p:nvSpPr>
          <p:cNvPr id="32" name="Text 27"/>
          <p:cNvSpPr txBox="1"/>
          <p:nvPr/>
        </p:nvSpPr>
        <p:spPr>
          <a:xfrm>
            <a:off x="1287213" y="2710754"/>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135</a:t>
            </a:r>
            <a:endParaRPr lang="en-US" sz="860" dirty="0"/>
          </a:p>
        </p:txBody>
      </p:sp>
      <p:sp>
        <p:nvSpPr>
          <p:cNvPr id="33" name="Text 28"/>
          <p:cNvSpPr txBox="1"/>
          <p:nvPr/>
        </p:nvSpPr>
        <p:spPr>
          <a:xfrm>
            <a:off x="1445517"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26 Oct</a:t>
            </a:r>
            <a:endParaRPr lang="en-US" sz="830" dirty="0"/>
          </a:p>
        </p:txBody>
      </p:sp>
      <p:sp>
        <p:nvSpPr>
          <p:cNvPr id="34" name="Shape 29"/>
          <p:cNvSpPr/>
          <p:nvPr/>
        </p:nvSpPr>
        <p:spPr>
          <a:xfrm>
            <a:off x="1988678" y="3301118"/>
            <a:ext cx="287954" cy="1766182"/>
          </a:xfrm>
          <a:prstGeom prst="roundRect">
            <a:avLst>
              <a:gd name="adj" fmla="val 9923"/>
            </a:avLst>
          </a:prstGeom>
          <a:solidFill>
            <a:srgbClr val="3E7B27"/>
          </a:solidFill>
          <a:ln w="12700">
            <a:solidFill>
              <a:srgbClr val="3E7B27"/>
            </a:solidFill>
            <a:prstDash val="solid"/>
          </a:ln>
        </p:spPr>
      </p:sp>
      <p:sp>
        <p:nvSpPr>
          <p:cNvPr id="35" name="Text 30"/>
          <p:cNvSpPr txBox="1"/>
          <p:nvPr/>
        </p:nvSpPr>
        <p:spPr>
          <a:xfrm>
            <a:off x="1988678" y="3301118"/>
            <a:ext cx="287954" cy="1766182"/>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109</a:t>
            </a:r>
            <a:endParaRPr lang="en-US" sz="800" dirty="0"/>
          </a:p>
        </p:txBody>
      </p:sp>
      <p:sp>
        <p:nvSpPr>
          <p:cNvPr id="36" name="Shape 31"/>
          <p:cNvSpPr/>
          <p:nvPr/>
        </p:nvSpPr>
        <p:spPr>
          <a:xfrm>
            <a:off x="1988678" y="2883503"/>
            <a:ext cx="287954" cy="398565"/>
          </a:xfrm>
          <a:prstGeom prst="roundRect">
            <a:avLst>
              <a:gd name="adj" fmla="val 9923"/>
            </a:avLst>
          </a:prstGeom>
          <a:solidFill>
            <a:srgbClr val="D9A21B"/>
          </a:solidFill>
          <a:ln w="12700">
            <a:solidFill>
              <a:srgbClr val="D9A21B"/>
            </a:solidFill>
            <a:prstDash val="solid"/>
          </a:ln>
        </p:spPr>
      </p:sp>
      <p:sp>
        <p:nvSpPr>
          <p:cNvPr id="37" name="Text 32"/>
          <p:cNvSpPr txBox="1"/>
          <p:nvPr/>
        </p:nvSpPr>
        <p:spPr>
          <a:xfrm>
            <a:off x="1988678" y="2883503"/>
            <a:ext cx="287954" cy="417615"/>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26</a:t>
            </a:r>
            <a:endParaRPr lang="en-US" sz="800" dirty="0"/>
          </a:p>
        </p:txBody>
      </p:sp>
      <p:sp>
        <p:nvSpPr>
          <p:cNvPr id="38" name="Shape 33"/>
          <p:cNvSpPr/>
          <p:nvPr/>
        </p:nvSpPr>
        <p:spPr>
          <a:xfrm>
            <a:off x="1988678" y="2819400"/>
            <a:ext cx="287954" cy="45053"/>
          </a:xfrm>
          <a:prstGeom prst="roundRect">
            <a:avLst>
              <a:gd name="adj" fmla="val 50000"/>
            </a:avLst>
          </a:prstGeom>
          <a:solidFill>
            <a:srgbClr val="2B7BB0"/>
          </a:solidFill>
          <a:ln w="12700">
            <a:solidFill>
              <a:srgbClr val="2B7BB0"/>
            </a:solidFill>
            <a:prstDash val="solid"/>
          </a:ln>
        </p:spPr>
      </p:sp>
      <p:sp>
        <p:nvSpPr>
          <p:cNvPr id="39" name="Text 34"/>
          <p:cNvSpPr txBox="1"/>
          <p:nvPr/>
        </p:nvSpPr>
        <p:spPr>
          <a:xfrm>
            <a:off x="1751655" y="26479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139</a:t>
            </a:r>
            <a:endParaRPr lang="en-US" sz="860" dirty="0"/>
          </a:p>
        </p:txBody>
      </p:sp>
      <p:sp>
        <p:nvSpPr>
          <p:cNvPr id="40" name="Text 35"/>
          <p:cNvSpPr txBox="1"/>
          <p:nvPr/>
        </p:nvSpPr>
        <p:spPr>
          <a:xfrm>
            <a:off x="1909959"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 Nov</a:t>
            </a:r>
            <a:endParaRPr lang="en-US" sz="830" dirty="0"/>
          </a:p>
        </p:txBody>
      </p:sp>
      <p:sp>
        <p:nvSpPr>
          <p:cNvPr id="41" name="Shape 36"/>
          <p:cNvSpPr/>
          <p:nvPr/>
        </p:nvSpPr>
        <p:spPr>
          <a:xfrm>
            <a:off x="2453120" y="3301118"/>
            <a:ext cx="287954" cy="1766182"/>
          </a:xfrm>
          <a:prstGeom prst="roundRect">
            <a:avLst>
              <a:gd name="adj" fmla="val 9923"/>
            </a:avLst>
          </a:prstGeom>
          <a:solidFill>
            <a:srgbClr val="3E7B27"/>
          </a:solidFill>
          <a:ln w="12700">
            <a:solidFill>
              <a:srgbClr val="3E7B27"/>
            </a:solidFill>
            <a:prstDash val="solid"/>
          </a:ln>
        </p:spPr>
      </p:sp>
      <p:sp>
        <p:nvSpPr>
          <p:cNvPr id="42" name="Text 37"/>
          <p:cNvSpPr txBox="1"/>
          <p:nvPr/>
        </p:nvSpPr>
        <p:spPr>
          <a:xfrm>
            <a:off x="2453120" y="3301118"/>
            <a:ext cx="287954" cy="1766182"/>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109</a:t>
            </a:r>
            <a:endParaRPr lang="en-US" sz="800" dirty="0"/>
          </a:p>
        </p:txBody>
      </p:sp>
      <p:sp>
        <p:nvSpPr>
          <p:cNvPr id="43" name="Shape 38"/>
          <p:cNvSpPr/>
          <p:nvPr/>
        </p:nvSpPr>
        <p:spPr>
          <a:xfrm>
            <a:off x="2453120" y="2883503"/>
            <a:ext cx="287954" cy="398565"/>
          </a:xfrm>
          <a:prstGeom prst="roundRect">
            <a:avLst>
              <a:gd name="adj" fmla="val 9923"/>
            </a:avLst>
          </a:prstGeom>
          <a:solidFill>
            <a:srgbClr val="D9A21B"/>
          </a:solidFill>
          <a:ln w="12700">
            <a:solidFill>
              <a:srgbClr val="D9A21B"/>
            </a:solidFill>
            <a:prstDash val="solid"/>
          </a:ln>
        </p:spPr>
      </p:sp>
      <p:sp>
        <p:nvSpPr>
          <p:cNvPr id="44" name="Text 39"/>
          <p:cNvSpPr txBox="1"/>
          <p:nvPr/>
        </p:nvSpPr>
        <p:spPr>
          <a:xfrm>
            <a:off x="2453120" y="2883503"/>
            <a:ext cx="287954" cy="417615"/>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26</a:t>
            </a:r>
            <a:endParaRPr lang="en-US" sz="800" dirty="0"/>
          </a:p>
        </p:txBody>
      </p:sp>
      <p:sp>
        <p:nvSpPr>
          <p:cNvPr id="45" name="Shape 40"/>
          <p:cNvSpPr/>
          <p:nvPr/>
        </p:nvSpPr>
        <p:spPr>
          <a:xfrm>
            <a:off x="2453120" y="2819400"/>
            <a:ext cx="287954" cy="45053"/>
          </a:xfrm>
          <a:prstGeom prst="roundRect">
            <a:avLst>
              <a:gd name="adj" fmla="val 50000"/>
            </a:avLst>
          </a:prstGeom>
          <a:solidFill>
            <a:srgbClr val="2B7BB0"/>
          </a:solidFill>
          <a:ln w="12700">
            <a:solidFill>
              <a:srgbClr val="2B7BB0"/>
            </a:solidFill>
            <a:prstDash val="solid"/>
          </a:ln>
        </p:spPr>
      </p:sp>
      <p:sp>
        <p:nvSpPr>
          <p:cNvPr id="46" name="Text 41"/>
          <p:cNvSpPr txBox="1"/>
          <p:nvPr/>
        </p:nvSpPr>
        <p:spPr>
          <a:xfrm>
            <a:off x="2216098" y="26479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139</a:t>
            </a:r>
            <a:endParaRPr lang="en-US" sz="860" dirty="0"/>
          </a:p>
        </p:txBody>
      </p:sp>
      <p:sp>
        <p:nvSpPr>
          <p:cNvPr id="47" name="Text 42"/>
          <p:cNvSpPr txBox="1"/>
          <p:nvPr/>
        </p:nvSpPr>
        <p:spPr>
          <a:xfrm>
            <a:off x="2374401"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9 Nov</a:t>
            </a:r>
            <a:endParaRPr lang="en-US" sz="830" dirty="0"/>
          </a:p>
        </p:txBody>
      </p:sp>
      <p:sp>
        <p:nvSpPr>
          <p:cNvPr id="48" name="Shape 43"/>
          <p:cNvSpPr/>
          <p:nvPr/>
        </p:nvSpPr>
        <p:spPr>
          <a:xfrm>
            <a:off x="2917563" y="3301118"/>
            <a:ext cx="287954" cy="1766182"/>
          </a:xfrm>
          <a:prstGeom prst="roundRect">
            <a:avLst>
              <a:gd name="adj" fmla="val 9923"/>
            </a:avLst>
          </a:prstGeom>
          <a:solidFill>
            <a:srgbClr val="3E7B27"/>
          </a:solidFill>
          <a:ln w="12700">
            <a:solidFill>
              <a:srgbClr val="3E7B27"/>
            </a:solidFill>
            <a:prstDash val="solid"/>
          </a:ln>
        </p:spPr>
      </p:sp>
      <p:sp>
        <p:nvSpPr>
          <p:cNvPr id="49" name="Text 44"/>
          <p:cNvSpPr txBox="1"/>
          <p:nvPr/>
        </p:nvSpPr>
        <p:spPr>
          <a:xfrm>
            <a:off x="2917563" y="3301118"/>
            <a:ext cx="287954" cy="1766182"/>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109</a:t>
            </a:r>
            <a:endParaRPr lang="en-US" sz="800" dirty="0"/>
          </a:p>
        </p:txBody>
      </p:sp>
      <p:sp>
        <p:nvSpPr>
          <p:cNvPr id="50" name="Shape 45"/>
          <p:cNvSpPr/>
          <p:nvPr/>
        </p:nvSpPr>
        <p:spPr>
          <a:xfrm>
            <a:off x="2917563" y="2883503"/>
            <a:ext cx="287954" cy="398565"/>
          </a:xfrm>
          <a:prstGeom prst="roundRect">
            <a:avLst>
              <a:gd name="adj" fmla="val 9923"/>
            </a:avLst>
          </a:prstGeom>
          <a:solidFill>
            <a:srgbClr val="D9A21B"/>
          </a:solidFill>
          <a:ln w="12700">
            <a:solidFill>
              <a:srgbClr val="D9A21B"/>
            </a:solidFill>
            <a:prstDash val="solid"/>
          </a:ln>
        </p:spPr>
      </p:sp>
      <p:sp>
        <p:nvSpPr>
          <p:cNvPr id="51" name="Text 46"/>
          <p:cNvSpPr txBox="1"/>
          <p:nvPr/>
        </p:nvSpPr>
        <p:spPr>
          <a:xfrm>
            <a:off x="2917563" y="2883503"/>
            <a:ext cx="287954" cy="417615"/>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26</a:t>
            </a:r>
            <a:endParaRPr lang="en-US" sz="800" dirty="0"/>
          </a:p>
        </p:txBody>
      </p:sp>
      <p:sp>
        <p:nvSpPr>
          <p:cNvPr id="52" name="Shape 47"/>
          <p:cNvSpPr/>
          <p:nvPr/>
        </p:nvSpPr>
        <p:spPr>
          <a:xfrm>
            <a:off x="2917563" y="2819400"/>
            <a:ext cx="287954" cy="45053"/>
          </a:xfrm>
          <a:prstGeom prst="roundRect">
            <a:avLst>
              <a:gd name="adj" fmla="val 50000"/>
            </a:avLst>
          </a:prstGeom>
          <a:solidFill>
            <a:srgbClr val="2B7BB0"/>
          </a:solidFill>
          <a:ln w="12700">
            <a:solidFill>
              <a:srgbClr val="2B7BB0"/>
            </a:solidFill>
            <a:prstDash val="solid"/>
          </a:ln>
        </p:spPr>
      </p:sp>
      <p:sp>
        <p:nvSpPr>
          <p:cNvPr id="53" name="Text 48"/>
          <p:cNvSpPr txBox="1"/>
          <p:nvPr/>
        </p:nvSpPr>
        <p:spPr>
          <a:xfrm>
            <a:off x="2680540" y="26479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139</a:t>
            </a:r>
            <a:endParaRPr lang="en-US" sz="860" dirty="0"/>
          </a:p>
        </p:txBody>
      </p:sp>
      <p:sp>
        <p:nvSpPr>
          <p:cNvPr id="54" name="Text 49"/>
          <p:cNvSpPr txBox="1"/>
          <p:nvPr/>
        </p:nvSpPr>
        <p:spPr>
          <a:xfrm>
            <a:off x="2838844"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16 Nov</a:t>
            </a:r>
            <a:endParaRPr lang="en-US" sz="830" dirty="0"/>
          </a:p>
        </p:txBody>
      </p:sp>
      <p:sp>
        <p:nvSpPr>
          <p:cNvPr id="55" name="Shape 50"/>
          <p:cNvSpPr/>
          <p:nvPr/>
        </p:nvSpPr>
        <p:spPr>
          <a:xfrm>
            <a:off x="3382005" y="3301118"/>
            <a:ext cx="287954" cy="1766182"/>
          </a:xfrm>
          <a:prstGeom prst="roundRect">
            <a:avLst>
              <a:gd name="adj" fmla="val 9923"/>
            </a:avLst>
          </a:prstGeom>
          <a:solidFill>
            <a:srgbClr val="3E7B27"/>
          </a:solidFill>
          <a:ln w="12700">
            <a:solidFill>
              <a:srgbClr val="3E7B27"/>
            </a:solidFill>
            <a:prstDash val="solid"/>
          </a:ln>
        </p:spPr>
      </p:sp>
      <p:sp>
        <p:nvSpPr>
          <p:cNvPr id="56" name="Text 51"/>
          <p:cNvSpPr txBox="1"/>
          <p:nvPr/>
        </p:nvSpPr>
        <p:spPr>
          <a:xfrm>
            <a:off x="3382005" y="3301118"/>
            <a:ext cx="287954" cy="1766182"/>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109</a:t>
            </a:r>
            <a:endParaRPr lang="en-US" sz="800" dirty="0"/>
          </a:p>
        </p:txBody>
      </p:sp>
      <p:sp>
        <p:nvSpPr>
          <p:cNvPr id="57" name="Shape 52"/>
          <p:cNvSpPr/>
          <p:nvPr/>
        </p:nvSpPr>
        <p:spPr>
          <a:xfrm>
            <a:off x="3382005" y="2883503"/>
            <a:ext cx="287954" cy="398565"/>
          </a:xfrm>
          <a:prstGeom prst="roundRect">
            <a:avLst>
              <a:gd name="adj" fmla="val 9923"/>
            </a:avLst>
          </a:prstGeom>
          <a:solidFill>
            <a:srgbClr val="D9A21B"/>
          </a:solidFill>
          <a:ln w="12700">
            <a:solidFill>
              <a:srgbClr val="D9A21B"/>
            </a:solidFill>
            <a:prstDash val="solid"/>
          </a:ln>
        </p:spPr>
      </p:sp>
      <p:sp>
        <p:nvSpPr>
          <p:cNvPr id="58" name="Text 53"/>
          <p:cNvSpPr txBox="1"/>
          <p:nvPr/>
        </p:nvSpPr>
        <p:spPr>
          <a:xfrm>
            <a:off x="3382005" y="2883503"/>
            <a:ext cx="287954" cy="417615"/>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26</a:t>
            </a:r>
            <a:endParaRPr lang="en-US" sz="800" dirty="0"/>
          </a:p>
        </p:txBody>
      </p:sp>
      <p:sp>
        <p:nvSpPr>
          <p:cNvPr id="59" name="Shape 54"/>
          <p:cNvSpPr/>
          <p:nvPr/>
        </p:nvSpPr>
        <p:spPr>
          <a:xfrm>
            <a:off x="3382005" y="2819400"/>
            <a:ext cx="287954" cy="45053"/>
          </a:xfrm>
          <a:prstGeom prst="roundRect">
            <a:avLst>
              <a:gd name="adj" fmla="val 50000"/>
            </a:avLst>
          </a:prstGeom>
          <a:solidFill>
            <a:srgbClr val="2B7BB0"/>
          </a:solidFill>
          <a:ln w="12700">
            <a:solidFill>
              <a:srgbClr val="2B7BB0"/>
            </a:solidFill>
            <a:prstDash val="solid"/>
          </a:ln>
        </p:spPr>
      </p:sp>
      <p:sp>
        <p:nvSpPr>
          <p:cNvPr id="60" name="Text 55"/>
          <p:cNvSpPr txBox="1"/>
          <p:nvPr/>
        </p:nvSpPr>
        <p:spPr>
          <a:xfrm>
            <a:off x="3144982" y="26479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139</a:t>
            </a:r>
            <a:endParaRPr lang="en-US" sz="860" dirty="0"/>
          </a:p>
        </p:txBody>
      </p:sp>
      <p:sp>
        <p:nvSpPr>
          <p:cNvPr id="61" name="Text 56"/>
          <p:cNvSpPr txBox="1"/>
          <p:nvPr/>
        </p:nvSpPr>
        <p:spPr>
          <a:xfrm>
            <a:off x="3303286"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23 Nov</a:t>
            </a:r>
            <a:endParaRPr lang="en-US" sz="830" dirty="0"/>
          </a:p>
        </p:txBody>
      </p:sp>
      <p:sp>
        <p:nvSpPr>
          <p:cNvPr id="62" name="Shape 57"/>
          <p:cNvSpPr/>
          <p:nvPr/>
        </p:nvSpPr>
        <p:spPr>
          <a:xfrm>
            <a:off x="3846447" y="3349953"/>
            <a:ext cx="287954" cy="1717347"/>
          </a:xfrm>
          <a:prstGeom prst="roundRect">
            <a:avLst>
              <a:gd name="adj" fmla="val 9923"/>
            </a:avLst>
          </a:prstGeom>
          <a:solidFill>
            <a:srgbClr val="3E7B27"/>
          </a:solidFill>
          <a:ln w="12700">
            <a:solidFill>
              <a:srgbClr val="3E7B27"/>
            </a:solidFill>
            <a:prstDash val="solid"/>
          </a:ln>
        </p:spPr>
      </p:sp>
      <p:sp>
        <p:nvSpPr>
          <p:cNvPr id="63" name="Text 58"/>
          <p:cNvSpPr txBox="1"/>
          <p:nvPr/>
        </p:nvSpPr>
        <p:spPr>
          <a:xfrm>
            <a:off x="3846447" y="3349953"/>
            <a:ext cx="287954" cy="1717347"/>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106</a:t>
            </a:r>
            <a:endParaRPr lang="en-US" sz="800" dirty="0"/>
          </a:p>
        </p:txBody>
      </p:sp>
      <p:sp>
        <p:nvSpPr>
          <p:cNvPr id="64" name="Shape 59"/>
          <p:cNvSpPr/>
          <p:nvPr/>
        </p:nvSpPr>
        <p:spPr>
          <a:xfrm>
            <a:off x="3846447" y="2943885"/>
            <a:ext cx="287954" cy="387018"/>
          </a:xfrm>
          <a:prstGeom prst="roundRect">
            <a:avLst>
              <a:gd name="adj" fmla="val 9923"/>
            </a:avLst>
          </a:prstGeom>
          <a:solidFill>
            <a:srgbClr val="D9A21B"/>
          </a:solidFill>
          <a:ln w="12700">
            <a:solidFill>
              <a:srgbClr val="D9A21B"/>
            </a:solidFill>
            <a:prstDash val="solid"/>
          </a:ln>
        </p:spPr>
      </p:sp>
      <p:sp>
        <p:nvSpPr>
          <p:cNvPr id="65" name="Text 60"/>
          <p:cNvSpPr txBox="1"/>
          <p:nvPr/>
        </p:nvSpPr>
        <p:spPr>
          <a:xfrm>
            <a:off x="3846447" y="2943885"/>
            <a:ext cx="287954" cy="40606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25</a:t>
            </a:r>
            <a:endParaRPr lang="en-US" sz="800" dirty="0"/>
          </a:p>
        </p:txBody>
      </p:sp>
      <p:sp>
        <p:nvSpPr>
          <p:cNvPr id="66" name="Shape 61"/>
          <p:cNvSpPr/>
          <p:nvPr/>
        </p:nvSpPr>
        <p:spPr>
          <a:xfrm>
            <a:off x="3846447" y="2881554"/>
            <a:ext cx="287954" cy="43281"/>
          </a:xfrm>
          <a:prstGeom prst="roundRect">
            <a:avLst>
              <a:gd name="adj" fmla="val 50000"/>
            </a:avLst>
          </a:prstGeom>
          <a:solidFill>
            <a:srgbClr val="2B7BB0"/>
          </a:solidFill>
          <a:ln w="12700">
            <a:solidFill>
              <a:srgbClr val="2B7BB0"/>
            </a:solidFill>
            <a:prstDash val="solid"/>
          </a:ln>
        </p:spPr>
      </p:sp>
      <p:sp>
        <p:nvSpPr>
          <p:cNvPr id="67" name="Text 62"/>
          <p:cNvSpPr txBox="1"/>
          <p:nvPr/>
        </p:nvSpPr>
        <p:spPr>
          <a:xfrm>
            <a:off x="3609424" y="2710104"/>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135</a:t>
            </a:r>
            <a:endParaRPr lang="en-US" sz="860" dirty="0"/>
          </a:p>
        </p:txBody>
      </p:sp>
      <p:sp>
        <p:nvSpPr>
          <p:cNvPr id="68" name="Text 63"/>
          <p:cNvSpPr txBox="1"/>
          <p:nvPr/>
        </p:nvSpPr>
        <p:spPr>
          <a:xfrm>
            <a:off x="3767728"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30 Nov</a:t>
            </a:r>
            <a:endParaRPr lang="en-US" sz="830" dirty="0"/>
          </a:p>
        </p:txBody>
      </p:sp>
      <p:sp>
        <p:nvSpPr>
          <p:cNvPr id="69" name="Shape 64"/>
          <p:cNvSpPr/>
          <p:nvPr/>
        </p:nvSpPr>
        <p:spPr>
          <a:xfrm>
            <a:off x="4310889" y="3358092"/>
            <a:ext cx="287954" cy="1709208"/>
          </a:xfrm>
          <a:prstGeom prst="roundRect">
            <a:avLst>
              <a:gd name="adj" fmla="val 9923"/>
            </a:avLst>
          </a:prstGeom>
          <a:solidFill>
            <a:srgbClr val="3E7B27"/>
          </a:solidFill>
          <a:ln w="12700">
            <a:solidFill>
              <a:srgbClr val="3E7B27"/>
            </a:solidFill>
            <a:prstDash val="solid"/>
          </a:ln>
        </p:spPr>
      </p:sp>
      <p:sp>
        <p:nvSpPr>
          <p:cNvPr id="70" name="Text 65"/>
          <p:cNvSpPr txBox="1"/>
          <p:nvPr/>
        </p:nvSpPr>
        <p:spPr>
          <a:xfrm>
            <a:off x="4310889" y="3358092"/>
            <a:ext cx="287954" cy="170920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106</a:t>
            </a:r>
            <a:endParaRPr lang="en-US" sz="800" dirty="0"/>
          </a:p>
        </p:txBody>
      </p:sp>
      <p:sp>
        <p:nvSpPr>
          <p:cNvPr id="71" name="Shape 66"/>
          <p:cNvSpPr/>
          <p:nvPr/>
        </p:nvSpPr>
        <p:spPr>
          <a:xfrm>
            <a:off x="4310889" y="2953948"/>
            <a:ext cx="287954" cy="385094"/>
          </a:xfrm>
          <a:prstGeom prst="roundRect">
            <a:avLst>
              <a:gd name="adj" fmla="val 9923"/>
            </a:avLst>
          </a:prstGeom>
          <a:solidFill>
            <a:srgbClr val="D9A21B"/>
          </a:solidFill>
          <a:ln w="12700">
            <a:solidFill>
              <a:srgbClr val="D9A21B"/>
            </a:solidFill>
            <a:prstDash val="solid"/>
          </a:ln>
        </p:spPr>
      </p:sp>
      <p:sp>
        <p:nvSpPr>
          <p:cNvPr id="72" name="Text 67"/>
          <p:cNvSpPr txBox="1"/>
          <p:nvPr/>
        </p:nvSpPr>
        <p:spPr>
          <a:xfrm>
            <a:off x="4310889" y="2953948"/>
            <a:ext cx="287954" cy="404144"/>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25</a:t>
            </a:r>
            <a:endParaRPr lang="en-US" sz="800" dirty="0"/>
          </a:p>
        </p:txBody>
      </p:sp>
      <p:sp>
        <p:nvSpPr>
          <p:cNvPr id="73" name="Shape 68"/>
          <p:cNvSpPr/>
          <p:nvPr/>
        </p:nvSpPr>
        <p:spPr>
          <a:xfrm>
            <a:off x="4310889" y="2891913"/>
            <a:ext cx="287954" cy="42986"/>
          </a:xfrm>
          <a:prstGeom prst="roundRect">
            <a:avLst>
              <a:gd name="adj" fmla="val 50000"/>
            </a:avLst>
          </a:prstGeom>
          <a:solidFill>
            <a:srgbClr val="2B7BB0"/>
          </a:solidFill>
          <a:ln w="12700">
            <a:solidFill>
              <a:srgbClr val="2B7BB0"/>
            </a:solidFill>
            <a:prstDash val="solid"/>
          </a:ln>
        </p:spPr>
      </p:sp>
      <p:sp>
        <p:nvSpPr>
          <p:cNvPr id="74" name="Text 69"/>
          <p:cNvSpPr txBox="1"/>
          <p:nvPr/>
        </p:nvSpPr>
        <p:spPr>
          <a:xfrm>
            <a:off x="4073866" y="2720463"/>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135</a:t>
            </a:r>
            <a:endParaRPr lang="en-US" sz="860" dirty="0"/>
          </a:p>
        </p:txBody>
      </p:sp>
      <p:sp>
        <p:nvSpPr>
          <p:cNvPr id="75" name="Text 70"/>
          <p:cNvSpPr txBox="1"/>
          <p:nvPr/>
        </p:nvSpPr>
        <p:spPr>
          <a:xfrm>
            <a:off x="4232170"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7 Dec</a:t>
            </a:r>
            <a:endParaRPr lang="en-US" sz="830" dirty="0"/>
          </a:p>
        </p:txBody>
      </p:sp>
      <p:sp>
        <p:nvSpPr>
          <p:cNvPr id="76" name="Shape 71"/>
          <p:cNvSpPr/>
          <p:nvPr/>
        </p:nvSpPr>
        <p:spPr>
          <a:xfrm>
            <a:off x="4775331" y="3358092"/>
            <a:ext cx="287954" cy="1709208"/>
          </a:xfrm>
          <a:prstGeom prst="roundRect">
            <a:avLst>
              <a:gd name="adj" fmla="val 9923"/>
            </a:avLst>
          </a:prstGeom>
          <a:solidFill>
            <a:srgbClr val="3E7B27"/>
          </a:solidFill>
          <a:ln w="12700">
            <a:solidFill>
              <a:srgbClr val="3E7B27"/>
            </a:solidFill>
            <a:prstDash val="solid"/>
          </a:ln>
        </p:spPr>
      </p:sp>
      <p:sp>
        <p:nvSpPr>
          <p:cNvPr id="77" name="Text 72"/>
          <p:cNvSpPr txBox="1"/>
          <p:nvPr/>
        </p:nvSpPr>
        <p:spPr>
          <a:xfrm>
            <a:off x="4775331" y="3358092"/>
            <a:ext cx="287954" cy="170920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106</a:t>
            </a:r>
            <a:endParaRPr lang="en-US" sz="800" dirty="0"/>
          </a:p>
        </p:txBody>
      </p:sp>
      <p:sp>
        <p:nvSpPr>
          <p:cNvPr id="78" name="Shape 73"/>
          <p:cNvSpPr/>
          <p:nvPr/>
        </p:nvSpPr>
        <p:spPr>
          <a:xfrm>
            <a:off x="4775331" y="2953948"/>
            <a:ext cx="287954" cy="385094"/>
          </a:xfrm>
          <a:prstGeom prst="roundRect">
            <a:avLst>
              <a:gd name="adj" fmla="val 9923"/>
            </a:avLst>
          </a:prstGeom>
          <a:solidFill>
            <a:srgbClr val="D9A21B"/>
          </a:solidFill>
          <a:ln w="12700">
            <a:solidFill>
              <a:srgbClr val="D9A21B"/>
            </a:solidFill>
            <a:prstDash val="solid"/>
          </a:ln>
        </p:spPr>
      </p:sp>
      <p:sp>
        <p:nvSpPr>
          <p:cNvPr id="79" name="Text 74"/>
          <p:cNvSpPr txBox="1"/>
          <p:nvPr/>
        </p:nvSpPr>
        <p:spPr>
          <a:xfrm>
            <a:off x="4775331" y="2953948"/>
            <a:ext cx="287954" cy="404144"/>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25</a:t>
            </a:r>
            <a:endParaRPr lang="en-US" sz="800" dirty="0"/>
          </a:p>
        </p:txBody>
      </p:sp>
      <p:sp>
        <p:nvSpPr>
          <p:cNvPr id="80" name="Shape 75"/>
          <p:cNvSpPr/>
          <p:nvPr/>
        </p:nvSpPr>
        <p:spPr>
          <a:xfrm>
            <a:off x="4775331" y="2891913"/>
            <a:ext cx="287954" cy="42986"/>
          </a:xfrm>
          <a:prstGeom prst="roundRect">
            <a:avLst>
              <a:gd name="adj" fmla="val 50000"/>
            </a:avLst>
          </a:prstGeom>
          <a:solidFill>
            <a:srgbClr val="2B7BB0"/>
          </a:solidFill>
          <a:ln w="12700">
            <a:solidFill>
              <a:srgbClr val="2B7BB0"/>
            </a:solidFill>
            <a:prstDash val="solid"/>
          </a:ln>
        </p:spPr>
      </p:sp>
      <p:sp>
        <p:nvSpPr>
          <p:cNvPr id="81" name="Text 76"/>
          <p:cNvSpPr txBox="1"/>
          <p:nvPr/>
        </p:nvSpPr>
        <p:spPr>
          <a:xfrm>
            <a:off x="4538308" y="2720463"/>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135</a:t>
            </a:r>
            <a:endParaRPr lang="en-US" sz="860" dirty="0"/>
          </a:p>
        </p:txBody>
      </p:sp>
      <p:sp>
        <p:nvSpPr>
          <p:cNvPr id="82" name="Text 77"/>
          <p:cNvSpPr txBox="1"/>
          <p:nvPr/>
        </p:nvSpPr>
        <p:spPr>
          <a:xfrm>
            <a:off x="4696612"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14 Dec</a:t>
            </a:r>
            <a:endParaRPr lang="en-US" sz="830" dirty="0"/>
          </a:p>
        </p:txBody>
      </p:sp>
      <p:sp>
        <p:nvSpPr>
          <p:cNvPr id="83" name="Shape 78"/>
          <p:cNvSpPr/>
          <p:nvPr/>
        </p:nvSpPr>
        <p:spPr>
          <a:xfrm>
            <a:off x="5239773" y="3358092"/>
            <a:ext cx="287954" cy="1709208"/>
          </a:xfrm>
          <a:prstGeom prst="roundRect">
            <a:avLst>
              <a:gd name="adj" fmla="val 9923"/>
            </a:avLst>
          </a:prstGeom>
          <a:solidFill>
            <a:srgbClr val="3E7B27"/>
          </a:solidFill>
          <a:ln w="12700">
            <a:solidFill>
              <a:srgbClr val="3E7B27"/>
            </a:solidFill>
            <a:prstDash val="solid"/>
          </a:ln>
        </p:spPr>
      </p:sp>
      <p:sp>
        <p:nvSpPr>
          <p:cNvPr id="84" name="Text 79"/>
          <p:cNvSpPr txBox="1"/>
          <p:nvPr/>
        </p:nvSpPr>
        <p:spPr>
          <a:xfrm>
            <a:off x="5239773" y="3358092"/>
            <a:ext cx="287954" cy="170920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106</a:t>
            </a:r>
            <a:endParaRPr lang="en-US" sz="800" dirty="0"/>
          </a:p>
        </p:txBody>
      </p:sp>
      <p:sp>
        <p:nvSpPr>
          <p:cNvPr id="85" name="Shape 80"/>
          <p:cNvSpPr/>
          <p:nvPr/>
        </p:nvSpPr>
        <p:spPr>
          <a:xfrm>
            <a:off x="5239773" y="2953948"/>
            <a:ext cx="287954" cy="385094"/>
          </a:xfrm>
          <a:prstGeom prst="roundRect">
            <a:avLst>
              <a:gd name="adj" fmla="val 9923"/>
            </a:avLst>
          </a:prstGeom>
          <a:solidFill>
            <a:srgbClr val="D9A21B"/>
          </a:solidFill>
          <a:ln w="12700">
            <a:solidFill>
              <a:srgbClr val="D9A21B"/>
            </a:solidFill>
            <a:prstDash val="solid"/>
          </a:ln>
        </p:spPr>
      </p:sp>
      <p:sp>
        <p:nvSpPr>
          <p:cNvPr id="86" name="Text 81"/>
          <p:cNvSpPr txBox="1"/>
          <p:nvPr/>
        </p:nvSpPr>
        <p:spPr>
          <a:xfrm>
            <a:off x="5239773" y="2953948"/>
            <a:ext cx="287954" cy="404144"/>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25</a:t>
            </a:r>
            <a:endParaRPr lang="en-US" sz="800" dirty="0"/>
          </a:p>
        </p:txBody>
      </p:sp>
      <p:sp>
        <p:nvSpPr>
          <p:cNvPr id="87" name="Shape 82"/>
          <p:cNvSpPr/>
          <p:nvPr/>
        </p:nvSpPr>
        <p:spPr>
          <a:xfrm>
            <a:off x="5239773" y="2891913"/>
            <a:ext cx="287954" cy="42986"/>
          </a:xfrm>
          <a:prstGeom prst="roundRect">
            <a:avLst>
              <a:gd name="adj" fmla="val 50000"/>
            </a:avLst>
          </a:prstGeom>
          <a:solidFill>
            <a:srgbClr val="2B7BB0"/>
          </a:solidFill>
          <a:ln w="12700">
            <a:solidFill>
              <a:srgbClr val="2B7BB0"/>
            </a:solidFill>
            <a:prstDash val="solid"/>
          </a:ln>
        </p:spPr>
      </p:sp>
      <p:sp>
        <p:nvSpPr>
          <p:cNvPr id="88" name="Text 83"/>
          <p:cNvSpPr txBox="1"/>
          <p:nvPr/>
        </p:nvSpPr>
        <p:spPr>
          <a:xfrm>
            <a:off x="5002750" y="2720463"/>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135</a:t>
            </a:r>
            <a:endParaRPr lang="en-US" sz="860" dirty="0"/>
          </a:p>
        </p:txBody>
      </p:sp>
      <p:sp>
        <p:nvSpPr>
          <p:cNvPr id="89" name="Text 84"/>
          <p:cNvSpPr txBox="1"/>
          <p:nvPr/>
        </p:nvSpPr>
        <p:spPr>
          <a:xfrm>
            <a:off x="5161054"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21 Dec</a:t>
            </a:r>
            <a:endParaRPr lang="en-US" sz="830" dirty="0"/>
          </a:p>
        </p:txBody>
      </p:sp>
      <p:sp>
        <p:nvSpPr>
          <p:cNvPr id="90" name="Shape 85"/>
          <p:cNvSpPr/>
          <p:nvPr/>
        </p:nvSpPr>
        <p:spPr>
          <a:xfrm>
            <a:off x="5704215" y="4090610"/>
            <a:ext cx="287954" cy="976690"/>
          </a:xfrm>
          <a:prstGeom prst="roundRect">
            <a:avLst>
              <a:gd name="adj" fmla="val 9923"/>
            </a:avLst>
          </a:prstGeom>
          <a:solidFill>
            <a:srgbClr val="3E7B27"/>
          </a:solidFill>
          <a:ln w="12700">
            <a:solidFill>
              <a:srgbClr val="3E7B27"/>
            </a:solidFill>
            <a:prstDash val="solid"/>
          </a:ln>
        </p:spPr>
      </p:sp>
      <p:sp>
        <p:nvSpPr>
          <p:cNvPr id="91" name="Text 86"/>
          <p:cNvSpPr txBox="1"/>
          <p:nvPr/>
        </p:nvSpPr>
        <p:spPr>
          <a:xfrm>
            <a:off x="5704215" y="4090610"/>
            <a:ext cx="287954" cy="97669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60</a:t>
            </a:r>
            <a:endParaRPr lang="en-US" sz="800" dirty="0"/>
          </a:p>
        </p:txBody>
      </p:sp>
      <p:sp>
        <p:nvSpPr>
          <p:cNvPr id="92" name="Shape 87"/>
          <p:cNvSpPr/>
          <p:nvPr/>
        </p:nvSpPr>
        <p:spPr>
          <a:xfrm>
            <a:off x="5704215" y="3859671"/>
            <a:ext cx="287954" cy="211889"/>
          </a:xfrm>
          <a:prstGeom prst="roundRect">
            <a:avLst>
              <a:gd name="adj" fmla="val 13486"/>
            </a:avLst>
          </a:prstGeom>
          <a:solidFill>
            <a:srgbClr val="D9A21B"/>
          </a:solidFill>
          <a:ln w="12700">
            <a:solidFill>
              <a:srgbClr val="D9A21B"/>
            </a:solidFill>
            <a:prstDash val="solid"/>
          </a:ln>
        </p:spPr>
      </p:sp>
      <p:sp>
        <p:nvSpPr>
          <p:cNvPr id="93" name="Text 88"/>
          <p:cNvSpPr txBox="1"/>
          <p:nvPr/>
        </p:nvSpPr>
        <p:spPr>
          <a:xfrm>
            <a:off x="5704215" y="3859671"/>
            <a:ext cx="287954" cy="230939"/>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14</a:t>
            </a:r>
            <a:endParaRPr lang="en-US" sz="800" dirty="0"/>
          </a:p>
        </p:txBody>
      </p:sp>
      <p:sp>
        <p:nvSpPr>
          <p:cNvPr id="94" name="Shape 89"/>
          <p:cNvSpPr/>
          <p:nvPr/>
        </p:nvSpPr>
        <p:spPr>
          <a:xfrm>
            <a:off x="5704215" y="3824222"/>
            <a:ext cx="287954" cy="16399"/>
          </a:xfrm>
          <a:prstGeom prst="rect">
            <a:avLst/>
          </a:prstGeom>
          <a:solidFill>
            <a:srgbClr val="2B7BB0"/>
          </a:solidFill>
          <a:ln w="12700">
            <a:solidFill>
              <a:srgbClr val="2B7BB0"/>
            </a:solidFill>
            <a:prstDash val="solid"/>
          </a:ln>
        </p:spPr>
      </p:sp>
      <p:sp>
        <p:nvSpPr>
          <p:cNvPr id="95" name="Text 90"/>
          <p:cNvSpPr txBox="1"/>
          <p:nvPr/>
        </p:nvSpPr>
        <p:spPr>
          <a:xfrm>
            <a:off x="5467193" y="3652772"/>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77</a:t>
            </a:r>
            <a:endParaRPr lang="en-US" sz="860" dirty="0"/>
          </a:p>
        </p:txBody>
      </p:sp>
      <p:sp>
        <p:nvSpPr>
          <p:cNvPr id="96" name="Text 91"/>
          <p:cNvSpPr txBox="1"/>
          <p:nvPr/>
        </p:nvSpPr>
        <p:spPr>
          <a:xfrm>
            <a:off x="5625496" y="5114925"/>
            <a:ext cx="445392"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28 Dec</a:t>
            </a:r>
            <a:endParaRPr lang="en-US" sz="830" dirty="0"/>
          </a:p>
        </p:txBody>
      </p:sp>
      <p:sp>
        <p:nvSpPr>
          <p:cNvPr id="97" name="Shape 92"/>
          <p:cNvSpPr/>
          <p:nvPr/>
        </p:nvSpPr>
        <p:spPr>
          <a:xfrm>
            <a:off x="971550" y="5067300"/>
            <a:ext cx="5108864" cy="0"/>
          </a:xfrm>
          <a:prstGeom prst="line">
            <a:avLst/>
          </a:prstGeom>
          <a:noFill/>
          <a:ln w="9525">
            <a:solidFill>
              <a:srgbClr val="B9C2B0"/>
            </a:solidFill>
            <a:prstDash val="solid"/>
          </a:ln>
        </p:spPr>
      </p:sp>
      <p:sp>
        <p:nvSpPr>
          <p:cNvPr id="98" name="Shape 93"/>
          <p:cNvSpPr/>
          <p:nvPr/>
        </p:nvSpPr>
        <p:spPr>
          <a:xfrm>
            <a:off x="6442364" y="1714500"/>
            <a:ext cx="4606636" cy="3714750"/>
          </a:xfrm>
          <a:prstGeom prst="roundRect">
            <a:avLst>
              <a:gd name="adj" fmla="val 2954"/>
            </a:avLst>
          </a:prstGeom>
          <a:solidFill>
            <a:srgbClr val="FFFFFF"/>
          </a:solidFill>
          <a:ln w="12700">
            <a:solidFill>
              <a:srgbClr val="FFFFFF"/>
            </a:solidFill>
            <a:prstDash val="solid"/>
          </a:ln>
        </p:spPr>
      </p:sp>
      <p:sp>
        <p:nvSpPr>
          <p:cNvPr id="99" name="Text 94"/>
          <p:cNvSpPr txBox="1"/>
          <p:nvPr/>
        </p:nvSpPr>
        <p:spPr>
          <a:xfrm>
            <a:off x="6632864" y="1866900"/>
            <a:ext cx="422563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Most-ordered SKUs: stock to 31 Dec (MT)</a:t>
            </a:r>
            <a:endParaRPr lang="en-US" sz="1300" dirty="0"/>
          </a:p>
        </p:txBody>
      </p:sp>
      <p:sp>
        <p:nvSpPr>
          <p:cNvPr id="100" name="Text 95"/>
          <p:cNvSpPr txBox="1"/>
          <p:nvPr/>
        </p:nvSpPr>
        <p:spPr>
          <a:xfrm>
            <a:off x="6632864" y="2095500"/>
            <a:ext cx="422563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By number of orders; orders in grey</a:t>
            </a:r>
            <a:endParaRPr lang="en-US" sz="950" dirty="0"/>
          </a:p>
        </p:txBody>
      </p:sp>
      <p:sp>
        <p:nvSpPr>
          <p:cNvPr id="101" name="Text 96"/>
          <p:cNvSpPr txBox="1"/>
          <p:nvPr/>
        </p:nvSpPr>
        <p:spPr>
          <a:xfrm>
            <a:off x="6651914" y="2381250"/>
            <a:ext cx="3012151" cy="208812"/>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KCL Canada Cap Mahkota</a:t>
            </a:r>
            <a:endParaRPr lang="en-US" sz="940" dirty="0"/>
          </a:p>
        </p:txBody>
      </p:sp>
      <p:sp>
        <p:nvSpPr>
          <p:cNvPr id="102" name="Text 97"/>
          <p:cNvSpPr txBox="1"/>
          <p:nvPr/>
        </p:nvSpPr>
        <p:spPr>
          <a:xfrm>
            <a:off x="10467975" y="2381250"/>
            <a:ext cx="371475" cy="208812"/>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282.2</a:t>
            </a:r>
            <a:endParaRPr lang="en-US" sz="940" dirty="0"/>
          </a:p>
        </p:txBody>
      </p:sp>
      <p:sp>
        <p:nvSpPr>
          <p:cNvPr id="103" name="Text 98"/>
          <p:cNvSpPr txBox="1"/>
          <p:nvPr/>
        </p:nvSpPr>
        <p:spPr>
          <a:xfrm>
            <a:off x="9721215" y="2381250"/>
            <a:ext cx="670560" cy="208812"/>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178 orders</a:t>
            </a:r>
            <a:endParaRPr lang="en-US" sz="860" dirty="0"/>
          </a:p>
        </p:txBody>
      </p:sp>
      <p:sp>
        <p:nvSpPr>
          <p:cNvPr id="104" name="Shape 99"/>
          <p:cNvSpPr/>
          <p:nvPr/>
        </p:nvSpPr>
        <p:spPr>
          <a:xfrm>
            <a:off x="6651914" y="2609112"/>
            <a:ext cx="4187536" cy="98369"/>
          </a:xfrm>
          <a:prstGeom prst="roundRect">
            <a:avLst>
              <a:gd name="adj" fmla="val 29049"/>
            </a:avLst>
          </a:prstGeom>
          <a:solidFill>
            <a:srgbClr val="E9EDE5"/>
          </a:solidFill>
          <a:ln w="12700">
            <a:solidFill>
              <a:srgbClr val="E9EDE5"/>
            </a:solidFill>
            <a:prstDash val="solid"/>
          </a:ln>
        </p:spPr>
      </p:sp>
      <p:sp>
        <p:nvSpPr>
          <p:cNvPr id="105" name="Shape 100"/>
          <p:cNvSpPr/>
          <p:nvPr/>
        </p:nvSpPr>
        <p:spPr>
          <a:xfrm>
            <a:off x="6651914" y="2609112"/>
            <a:ext cx="2846496" cy="98369"/>
          </a:xfrm>
          <a:prstGeom prst="roundRect">
            <a:avLst>
              <a:gd name="adj" fmla="val 29049"/>
            </a:avLst>
          </a:prstGeom>
          <a:solidFill>
            <a:srgbClr val="3E7B27"/>
          </a:solidFill>
          <a:ln w="12700">
            <a:solidFill>
              <a:srgbClr val="3E7B27"/>
            </a:solidFill>
            <a:prstDash val="solid"/>
          </a:ln>
        </p:spPr>
      </p:sp>
      <p:sp>
        <p:nvSpPr>
          <p:cNvPr id="106" name="Text 101"/>
          <p:cNvSpPr txBox="1"/>
          <p:nvPr/>
        </p:nvSpPr>
        <p:spPr>
          <a:xfrm>
            <a:off x="6651914" y="2745581"/>
            <a:ext cx="3073492" cy="208812"/>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RP Mahkota Egypt</a:t>
            </a:r>
            <a:endParaRPr lang="en-US" sz="940" dirty="0"/>
          </a:p>
        </p:txBody>
      </p:sp>
      <p:sp>
        <p:nvSpPr>
          <p:cNvPr id="107" name="Text 102"/>
          <p:cNvSpPr txBox="1"/>
          <p:nvPr/>
        </p:nvSpPr>
        <p:spPr>
          <a:xfrm>
            <a:off x="10467975" y="2745581"/>
            <a:ext cx="371475" cy="208812"/>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415.2</a:t>
            </a:r>
            <a:endParaRPr lang="en-US" sz="940" dirty="0"/>
          </a:p>
        </p:txBody>
      </p:sp>
      <p:sp>
        <p:nvSpPr>
          <p:cNvPr id="108" name="Text 103"/>
          <p:cNvSpPr txBox="1"/>
          <p:nvPr/>
        </p:nvSpPr>
        <p:spPr>
          <a:xfrm>
            <a:off x="9782556" y="2745581"/>
            <a:ext cx="609219" cy="208812"/>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70 orders</a:t>
            </a:r>
            <a:endParaRPr lang="en-US" sz="860" dirty="0"/>
          </a:p>
        </p:txBody>
      </p:sp>
      <p:sp>
        <p:nvSpPr>
          <p:cNvPr id="109" name="Shape 104"/>
          <p:cNvSpPr/>
          <p:nvPr/>
        </p:nvSpPr>
        <p:spPr>
          <a:xfrm>
            <a:off x="6651914" y="2973443"/>
            <a:ext cx="4187536" cy="98369"/>
          </a:xfrm>
          <a:prstGeom prst="roundRect">
            <a:avLst>
              <a:gd name="adj" fmla="val 29049"/>
            </a:avLst>
          </a:prstGeom>
          <a:solidFill>
            <a:srgbClr val="E9EDE5"/>
          </a:solidFill>
          <a:ln w="12700">
            <a:solidFill>
              <a:srgbClr val="E9EDE5"/>
            </a:solidFill>
            <a:prstDash val="solid"/>
          </a:ln>
        </p:spPr>
      </p:sp>
      <p:sp>
        <p:nvSpPr>
          <p:cNvPr id="110" name="Shape 105"/>
          <p:cNvSpPr/>
          <p:nvPr/>
        </p:nvSpPr>
        <p:spPr>
          <a:xfrm>
            <a:off x="6651914" y="2973443"/>
            <a:ext cx="4187536" cy="98369"/>
          </a:xfrm>
          <a:prstGeom prst="roundRect">
            <a:avLst>
              <a:gd name="adj" fmla="val 29049"/>
            </a:avLst>
          </a:prstGeom>
          <a:solidFill>
            <a:srgbClr val="3E7B27"/>
          </a:solidFill>
          <a:ln w="12700">
            <a:solidFill>
              <a:srgbClr val="3E7B27"/>
            </a:solidFill>
            <a:prstDash val="solid"/>
          </a:ln>
        </p:spPr>
      </p:sp>
      <p:sp>
        <p:nvSpPr>
          <p:cNvPr id="111" name="Text 106"/>
          <p:cNvSpPr txBox="1"/>
          <p:nvPr/>
        </p:nvSpPr>
        <p:spPr>
          <a:xfrm>
            <a:off x="6651914" y="3109913"/>
            <a:ext cx="3140167" cy="208812"/>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Urea Nitrea 46% N</a:t>
            </a:r>
            <a:endParaRPr lang="en-US" sz="940" dirty="0"/>
          </a:p>
        </p:txBody>
      </p:sp>
      <p:sp>
        <p:nvSpPr>
          <p:cNvPr id="112" name="Text 107"/>
          <p:cNvSpPr txBox="1"/>
          <p:nvPr/>
        </p:nvSpPr>
        <p:spPr>
          <a:xfrm>
            <a:off x="10534650" y="3109913"/>
            <a:ext cx="304800" cy="208812"/>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65.8</a:t>
            </a:r>
            <a:endParaRPr lang="en-US" sz="940" dirty="0"/>
          </a:p>
        </p:txBody>
      </p:sp>
      <p:sp>
        <p:nvSpPr>
          <p:cNvPr id="113" name="Text 108"/>
          <p:cNvSpPr txBox="1"/>
          <p:nvPr/>
        </p:nvSpPr>
        <p:spPr>
          <a:xfrm>
            <a:off x="9849231" y="3109913"/>
            <a:ext cx="609219" cy="208812"/>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44 orders</a:t>
            </a:r>
            <a:endParaRPr lang="en-US" sz="860" dirty="0"/>
          </a:p>
        </p:txBody>
      </p:sp>
      <p:sp>
        <p:nvSpPr>
          <p:cNvPr id="114" name="Shape 109"/>
          <p:cNvSpPr/>
          <p:nvPr/>
        </p:nvSpPr>
        <p:spPr>
          <a:xfrm>
            <a:off x="6651914" y="3337774"/>
            <a:ext cx="4187536" cy="98369"/>
          </a:xfrm>
          <a:prstGeom prst="roundRect">
            <a:avLst>
              <a:gd name="adj" fmla="val 29049"/>
            </a:avLst>
          </a:prstGeom>
          <a:solidFill>
            <a:srgbClr val="E9EDE5"/>
          </a:solidFill>
          <a:ln w="12700">
            <a:solidFill>
              <a:srgbClr val="E9EDE5"/>
            </a:solidFill>
            <a:prstDash val="solid"/>
          </a:ln>
        </p:spPr>
      </p:sp>
      <p:sp>
        <p:nvSpPr>
          <p:cNvPr id="115" name="Shape 110"/>
          <p:cNvSpPr/>
          <p:nvPr/>
        </p:nvSpPr>
        <p:spPr>
          <a:xfrm>
            <a:off x="6651914" y="3337774"/>
            <a:ext cx="663207" cy="98369"/>
          </a:xfrm>
          <a:prstGeom prst="roundRect">
            <a:avLst>
              <a:gd name="adj" fmla="val 29049"/>
            </a:avLst>
          </a:prstGeom>
          <a:solidFill>
            <a:srgbClr val="3E7B27"/>
          </a:solidFill>
          <a:ln w="12700">
            <a:solidFill>
              <a:srgbClr val="3E7B27"/>
            </a:solidFill>
            <a:prstDash val="solid"/>
          </a:ln>
        </p:spPr>
      </p:sp>
      <p:sp>
        <p:nvSpPr>
          <p:cNvPr id="116" name="Text 111"/>
          <p:cNvSpPr txBox="1"/>
          <p:nvPr/>
        </p:nvSpPr>
        <p:spPr>
          <a:xfrm>
            <a:off x="6651914" y="3474244"/>
            <a:ext cx="3140167" cy="208812"/>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KCL Sasco</a:t>
            </a:r>
            <a:endParaRPr lang="en-US" sz="940" dirty="0"/>
          </a:p>
        </p:txBody>
      </p:sp>
      <p:sp>
        <p:nvSpPr>
          <p:cNvPr id="117" name="Text 112"/>
          <p:cNvSpPr txBox="1"/>
          <p:nvPr/>
        </p:nvSpPr>
        <p:spPr>
          <a:xfrm>
            <a:off x="10534650" y="3474244"/>
            <a:ext cx="304800" cy="208812"/>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49.4</a:t>
            </a:r>
            <a:endParaRPr lang="en-US" sz="940" dirty="0"/>
          </a:p>
        </p:txBody>
      </p:sp>
      <p:sp>
        <p:nvSpPr>
          <p:cNvPr id="118" name="Text 113"/>
          <p:cNvSpPr txBox="1"/>
          <p:nvPr/>
        </p:nvSpPr>
        <p:spPr>
          <a:xfrm>
            <a:off x="9849231" y="3474244"/>
            <a:ext cx="609219" cy="208812"/>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40 orders</a:t>
            </a:r>
            <a:endParaRPr lang="en-US" sz="860" dirty="0"/>
          </a:p>
        </p:txBody>
      </p:sp>
      <p:sp>
        <p:nvSpPr>
          <p:cNvPr id="119" name="Shape 114"/>
          <p:cNvSpPr/>
          <p:nvPr/>
        </p:nvSpPr>
        <p:spPr>
          <a:xfrm>
            <a:off x="6651914" y="3702106"/>
            <a:ext cx="4187536" cy="98369"/>
          </a:xfrm>
          <a:prstGeom prst="roundRect">
            <a:avLst>
              <a:gd name="adj" fmla="val 29049"/>
            </a:avLst>
          </a:prstGeom>
          <a:solidFill>
            <a:srgbClr val="E9EDE5"/>
          </a:solidFill>
          <a:ln w="12700">
            <a:solidFill>
              <a:srgbClr val="E9EDE5"/>
            </a:solidFill>
            <a:prstDash val="solid"/>
          </a:ln>
        </p:spPr>
      </p:sp>
      <p:sp>
        <p:nvSpPr>
          <p:cNvPr id="120" name="Shape 115"/>
          <p:cNvSpPr/>
          <p:nvPr/>
        </p:nvSpPr>
        <p:spPr>
          <a:xfrm>
            <a:off x="6651914" y="3702106"/>
            <a:ext cx="497784" cy="98369"/>
          </a:xfrm>
          <a:prstGeom prst="roundRect">
            <a:avLst>
              <a:gd name="adj" fmla="val 29049"/>
            </a:avLst>
          </a:prstGeom>
          <a:solidFill>
            <a:srgbClr val="3E7B27"/>
          </a:solidFill>
          <a:ln w="12700">
            <a:solidFill>
              <a:srgbClr val="3E7B27"/>
            </a:solidFill>
            <a:prstDash val="solid"/>
          </a:ln>
        </p:spPr>
      </p:sp>
      <p:sp>
        <p:nvSpPr>
          <p:cNvPr id="121" name="Text 116"/>
          <p:cNvSpPr txBox="1"/>
          <p:nvPr/>
        </p:nvSpPr>
        <p:spPr>
          <a:xfrm>
            <a:off x="6651914" y="3838575"/>
            <a:ext cx="3140167" cy="208812"/>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RP Cap Daun</a:t>
            </a:r>
            <a:endParaRPr lang="en-US" sz="940" dirty="0"/>
          </a:p>
        </p:txBody>
      </p:sp>
      <p:sp>
        <p:nvSpPr>
          <p:cNvPr id="122" name="Text 117"/>
          <p:cNvSpPr txBox="1"/>
          <p:nvPr/>
        </p:nvSpPr>
        <p:spPr>
          <a:xfrm>
            <a:off x="10534650" y="3838575"/>
            <a:ext cx="304800" cy="208812"/>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39.1</a:t>
            </a:r>
            <a:endParaRPr lang="en-US" sz="940" dirty="0"/>
          </a:p>
        </p:txBody>
      </p:sp>
      <p:sp>
        <p:nvSpPr>
          <p:cNvPr id="123" name="Text 118"/>
          <p:cNvSpPr txBox="1"/>
          <p:nvPr/>
        </p:nvSpPr>
        <p:spPr>
          <a:xfrm>
            <a:off x="9849231" y="3838575"/>
            <a:ext cx="609219" cy="208812"/>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35 orders</a:t>
            </a:r>
            <a:endParaRPr lang="en-US" sz="860" dirty="0"/>
          </a:p>
        </p:txBody>
      </p:sp>
      <p:sp>
        <p:nvSpPr>
          <p:cNvPr id="124" name="Shape 119"/>
          <p:cNvSpPr/>
          <p:nvPr/>
        </p:nvSpPr>
        <p:spPr>
          <a:xfrm>
            <a:off x="6651914" y="4066437"/>
            <a:ext cx="4187536" cy="98369"/>
          </a:xfrm>
          <a:prstGeom prst="roundRect">
            <a:avLst>
              <a:gd name="adj" fmla="val 29049"/>
            </a:avLst>
          </a:prstGeom>
          <a:solidFill>
            <a:srgbClr val="E9EDE5"/>
          </a:solidFill>
          <a:ln w="12700">
            <a:solidFill>
              <a:srgbClr val="E9EDE5"/>
            </a:solidFill>
            <a:prstDash val="solid"/>
          </a:ln>
        </p:spPr>
      </p:sp>
      <p:sp>
        <p:nvSpPr>
          <p:cNvPr id="125" name="Shape 120"/>
          <p:cNvSpPr/>
          <p:nvPr/>
        </p:nvSpPr>
        <p:spPr>
          <a:xfrm>
            <a:off x="6651914" y="4066437"/>
            <a:ext cx="393890" cy="98369"/>
          </a:xfrm>
          <a:prstGeom prst="roundRect">
            <a:avLst>
              <a:gd name="adj" fmla="val 29049"/>
            </a:avLst>
          </a:prstGeom>
          <a:solidFill>
            <a:srgbClr val="3E7B27"/>
          </a:solidFill>
          <a:ln w="12700">
            <a:solidFill>
              <a:srgbClr val="3E7B27"/>
            </a:solidFill>
            <a:prstDash val="solid"/>
          </a:ln>
        </p:spPr>
      </p:sp>
      <p:sp>
        <p:nvSpPr>
          <p:cNvPr id="126" name="Text 121"/>
          <p:cNvSpPr txBox="1"/>
          <p:nvPr/>
        </p:nvSpPr>
        <p:spPr>
          <a:xfrm>
            <a:off x="6651914" y="4202906"/>
            <a:ext cx="3140167" cy="208812"/>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ZA Cap Daun</a:t>
            </a:r>
            <a:endParaRPr lang="en-US" sz="940" dirty="0"/>
          </a:p>
        </p:txBody>
      </p:sp>
      <p:sp>
        <p:nvSpPr>
          <p:cNvPr id="127" name="Text 122"/>
          <p:cNvSpPr txBox="1"/>
          <p:nvPr/>
        </p:nvSpPr>
        <p:spPr>
          <a:xfrm>
            <a:off x="10534650" y="4202906"/>
            <a:ext cx="304800" cy="208812"/>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25.1</a:t>
            </a:r>
            <a:endParaRPr lang="en-US" sz="940" dirty="0"/>
          </a:p>
        </p:txBody>
      </p:sp>
      <p:sp>
        <p:nvSpPr>
          <p:cNvPr id="128" name="Text 123"/>
          <p:cNvSpPr txBox="1"/>
          <p:nvPr/>
        </p:nvSpPr>
        <p:spPr>
          <a:xfrm>
            <a:off x="9849231" y="4202906"/>
            <a:ext cx="609219" cy="208812"/>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35 orders</a:t>
            </a:r>
            <a:endParaRPr lang="en-US" sz="860" dirty="0"/>
          </a:p>
        </p:txBody>
      </p:sp>
      <p:sp>
        <p:nvSpPr>
          <p:cNvPr id="129" name="Shape 124"/>
          <p:cNvSpPr/>
          <p:nvPr/>
        </p:nvSpPr>
        <p:spPr>
          <a:xfrm>
            <a:off x="6651914" y="4430768"/>
            <a:ext cx="4187536" cy="98369"/>
          </a:xfrm>
          <a:prstGeom prst="roundRect">
            <a:avLst>
              <a:gd name="adj" fmla="val 29049"/>
            </a:avLst>
          </a:prstGeom>
          <a:solidFill>
            <a:srgbClr val="E9EDE5"/>
          </a:solidFill>
          <a:ln w="12700">
            <a:solidFill>
              <a:srgbClr val="E9EDE5"/>
            </a:solidFill>
            <a:prstDash val="solid"/>
          </a:ln>
        </p:spPr>
      </p:sp>
      <p:sp>
        <p:nvSpPr>
          <p:cNvPr id="130" name="Shape 125"/>
          <p:cNvSpPr/>
          <p:nvPr/>
        </p:nvSpPr>
        <p:spPr>
          <a:xfrm>
            <a:off x="6651914" y="4430768"/>
            <a:ext cx="252674" cy="98369"/>
          </a:xfrm>
          <a:prstGeom prst="roundRect">
            <a:avLst>
              <a:gd name="adj" fmla="val 29049"/>
            </a:avLst>
          </a:prstGeom>
          <a:solidFill>
            <a:srgbClr val="3E7B27"/>
          </a:solidFill>
          <a:ln w="12700">
            <a:solidFill>
              <a:srgbClr val="3E7B27"/>
            </a:solidFill>
            <a:prstDash val="solid"/>
          </a:ln>
        </p:spPr>
      </p:sp>
      <p:sp>
        <p:nvSpPr>
          <p:cNvPr id="131" name="Text 126"/>
          <p:cNvSpPr txBox="1"/>
          <p:nvPr/>
        </p:nvSpPr>
        <p:spPr>
          <a:xfrm>
            <a:off x="6651914" y="4567238"/>
            <a:ext cx="3140167" cy="208812"/>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NPK Mahkota 13-8-27-4 0.5 B</a:t>
            </a:r>
            <a:endParaRPr lang="en-US" sz="940" dirty="0"/>
          </a:p>
        </p:txBody>
      </p:sp>
      <p:sp>
        <p:nvSpPr>
          <p:cNvPr id="132" name="Text 127"/>
          <p:cNvSpPr txBox="1"/>
          <p:nvPr/>
        </p:nvSpPr>
        <p:spPr>
          <a:xfrm>
            <a:off x="10534650" y="4567238"/>
            <a:ext cx="304800" cy="208812"/>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30.0</a:t>
            </a:r>
            <a:endParaRPr lang="en-US" sz="940" dirty="0"/>
          </a:p>
        </p:txBody>
      </p:sp>
      <p:sp>
        <p:nvSpPr>
          <p:cNvPr id="133" name="Text 128"/>
          <p:cNvSpPr txBox="1"/>
          <p:nvPr/>
        </p:nvSpPr>
        <p:spPr>
          <a:xfrm>
            <a:off x="9849231" y="4567238"/>
            <a:ext cx="609219" cy="208812"/>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31 orders</a:t>
            </a:r>
            <a:endParaRPr lang="en-US" sz="860" dirty="0"/>
          </a:p>
        </p:txBody>
      </p:sp>
      <p:sp>
        <p:nvSpPr>
          <p:cNvPr id="134" name="Shape 129"/>
          <p:cNvSpPr/>
          <p:nvPr/>
        </p:nvSpPr>
        <p:spPr>
          <a:xfrm>
            <a:off x="6651914" y="4795099"/>
            <a:ext cx="4187536" cy="98369"/>
          </a:xfrm>
          <a:prstGeom prst="roundRect">
            <a:avLst>
              <a:gd name="adj" fmla="val 29049"/>
            </a:avLst>
          </a:prstGeom>
          <a:solidFill>
            <a:srgbClr val="E9EDE5"/>
          </a:solidFill>
          <a:ln w="12700">
            <a:solidFill>
              <a:srgbClr val="E9EDE5"/>
            </a:solidFill>
            <a:prstDash val="solid"/>
          </a:ln>
        </p:spPr>
      </p:sp>
      <p:sp>
        <p:nvSpPr>
          <p:cNvPr id="135" name="Shape 130"/>
          <p:cNvSpPr/>
          <p:nvPr/>
        </p:nvSpPr>
        <p:spPr>
          <a:xfrm>
            <a:off x="6651914" y="4795099"/>
            <a:ext cx="302604" cy="98369"/>
          </a:xfrm>
          <a:prstGeom prst="roundRect">
            <a:avLst>
              <a:gd name="adj" fmla="val 29049"/>
            </a:avLst>
          </a:prstGeom>
          <a:solidFill>
            <a:srgbClr val="3E7B27"/>
          </a:solidFill>
          <a:ln w="12700">
            <a:solidFill>
              <a:srgbClr val="3E7B27"/>
            </a:solidFill>
            <a:prstDash val="solid"/>
          </a:ln>
        </p:spPr>
      </p:sp>
      <p:sp>
        <p:nvSpPr>
          <p:cNvPr id="136" name="Text 131"/>
          <p:cNvSpPr txBox="1"/>
          <p:nvPr/>
        </p:nvSpPr>
        <p:spPr>
          <a:xfrm>
            <a:off x="6651914" y="4931569"/>
            <a:ext cx="3073492" cy="208812"/>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KCL Mentari</a:t>
            </a:r>
            <a:endParaRPr lang="en-US" sz="940" dirty="0"/>
          </a:p>
        </p:txBody>
      </p:sp>
      <p:sp>
        <p:nvSpPr>
          <p:cNvPr id="137" name="Text 132"/>
          <p:cNvSpPr txBox="1"/>
          <p:nvPr/>
        </p:nvSpPr>
        <p:spPr>
          <a:xfrm>
            <a:off x="10467975" y="4931569"/>
            <a:ext cx="371475" cy="208812"/>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151.5</a:t>
            </a:r>
            <a:endParaRPr lang="en-US" sz="940" dirty="0"/>
          </a:p>
        </p:txBody>
      </p:sp>
      <p:sp>
        <p:nvSpPr>
          <p:cNvPr id="138" name="Text 133"/>
          <p:cNvSpPr txBox="1"/>
          <p:nvPr/>
        </p:nvSpPr>
        <p:spPr>
          <a:xfrm>
            <a:off x="9782556" y="4931569"/>
            <a:ext cx="609219" cy="208812"/>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25 orders</a:t>
            </a:r>
            <a:endParaRPr lang="en-US" sz="860" dirty="0"/>
          </a:p>
        </p:txBody>
      </p:sp>
      <p:sp>
        <p:nvSpPr>
          <p:cNvPr id="139" name="Shape 134"/>
          <p:cNvSpPr/>
          <p:nvPr/>
        </p:nvSpPr>
        <p:spPr>
          <a:xfrm>
            <a:off x="6651914" y="5159431"/>
            <a:ext cx="4187536" cy="98369"/>
          </a:xfrm>
          <a:prstGeom prst="roundRect">
            <a:avLst>
              <a:gd name="adj" fmla="val 29049"/>
            </a:avLst>
          </a:prstGeom>
          <a:solidFill>
            <a:srgbClr val="E9EDE5"/>
          </a:solidFill>
          <a:ln w="12700">
            <a:solidFill>
              <a:srgbClr val="E9EDE5"/>
            </a:solidFill>
            <a:prstDash val="solid"/>
          </a:ln>
        </p:spPr>
      </p:sp>
      <p:sp>
        <p:nvSpPr>
          <p:cNvPr id="140" name="Shape 135"/>
          <p:cNvSpPr/>
          <p:nvPr/>
        </p:nvSpPr>
        <p:spPr>
          <a:xfrm>
            <a:off x="6651914" y="5159431"/>
            <a:ext cx="1528151" cy="98369"/>
          </a:xfrm>
          <a:prstGeom prst="roundRect">
            <a:avLst>
              <a:gd name="adj" fmla="val 29049"/>
            </a:avLst>
          </a:prstGeom>
          <a:solidFill>
            <a:srgbClr val="3E7B27"/>
          </a:solidFill>
          <a:ln w="12700">
            <a:solidFill>
              <a:srgbClr val="3E7B27"/>
            </a:solidFill>
            <a:prstDash val="solid"/>
          </a:ln>
        </p:spPr>
      </p:sp>
      <p:sp>
        <p:nvSpPr>
          <p:cNvPr id="141" name="Shape 136"/>
          <p:cNvSpPr/>
          <p:nvPr/>
        </p:nvSpPr>
        <p:spPr>
          <a:xfrm>
            <a:off x="762000" y="5562600"/>
            <a:ext cx="10287000" cy="552450"/>
          </a:xfrm>
          <a:prstGeom prst="roundRect">
            <a:avLst>
              <a:gd name="adj" fmla="val 19862"/>
            </a:avLst>
          </a:prstGeom>
          <a:solidFill>
            <a:srgbClr val="FBEFC4"/>
          </a:solidFill>
          <a:ln w="12700">
            <a:solidFill>
              <a:srgbClr val="FBEFC4"/>
            </a:solidFill>
            <a:prstDash val="solid"/>
          </a:ln>
        </p:spPr>
      </p:sp>
      <p:sp>
        <p:nvSpPr>
          <p:cNvPr id="142" name="Text 137"/>
          <p:cNvSpPr txBox="1"/>
          <p:nvPr/>
        </p:nvSpPr>
        <p:spPr>
          <a:xfrm>
            <a:off x="933450" y="5648325"/>
            <a:ext cx="9944100" cy="3810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Oct, Nov and Dec use the Jul–Oct mix (the data has no same month last season): Rp6,527/kg in Riau, so each Rp1B needs about 144 t.</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Small areas are thin: Sumatera Selatan 3% of fertilizer GMV, so their mix can swing with one or two customers.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 plan 19 Oct – 31 Dec 2026 · data to 18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7</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STOCK PLAN BY MONTH AND AREA</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Stock needed for Rp4B a month: 250 MT in 19–31 Oct, 596 MT in Nov, 596 MT in Dec</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898398"/>
                <a:gridCol w="1197864"/>
                <a:gridCol w="3992880"/>
                <a:gridCol w="1098042"/>
                <a:gridCol w="2795016"/>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Area (province)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Stock required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Target sales (IDR)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Description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19–31 Oct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196.3 MT: KCL Canada Cap Mahkota 36.2 · RP Mahkota Egypt 52.4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Rp1.36B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207 lines · Rp6,527/kg · 1.5×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46.5 MT: KCL Canada Cap Mahkota 12.4 · RP Mahkota Egypt 19.3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Rp269M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46 lines · Rp5,459/kg · 1.2×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7.2 MT: KCL Canada Cap Mahkota 0.5 · RP Mahkota Egypt 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Rp46.9M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 Rp6,228/kg · 0.7×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Nov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468.4 MT: KCL Canada Cap Mahkota 86.2 · RP Mahkota Egypt 124.9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Rp3.25B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207 lines · Rp6,527/kg · 1.5×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110.7 MT: KCL Canada Cap Mahkota 29.5 · RP Mahkota Egypt 46.1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46 lines · Rp5,459/kg · 1.2×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17.0 MT: KCL Canada Cap Mahkota 1.0 · RP Mahkota Egypt 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Rp112M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 Rp6,228/kg · 0.7×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Dec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468.4 MT: KCL Canada Cap Mahkota 86.2 · RP Mahkota Egypt 124.9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Rp3.25B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207 lines · Rp6,527/kg · 1.5×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110.7 MT: KCL Canada Cap Mahkota 29.5 · RP Mahkota Egypt 46.1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46 lines · Rp5,459/kg · 1.2×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17.0 MT: KCL Canada Cap Mahkota 1.0 · RP Mahkota Egypt 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Rp112M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 Rp6,228/kg · 0.7× best 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13" name="Text 7"/>
          <p:cNvSpPr txBox="1"/>
          <p:nvPr/>
        </p:nvSpPr>
        <p:spPr>
          <a:xfrm>
            <a:off x="952500" y="5562600"/>
            <a:ext cx="9906000" cy="495300"/>
          </a:xfrm>
          <a:prstGeom prst="rect">
            <a:avLst/>
          </a:prstGeom>
          <a:noFill/>
          <a:ln/>
        </p:spPr>
        <p:txBody>
          <a:bodyPr wrap="square" lIns="0" tIns="0" rIns="0" bIns="0" rtlCol="0" anchor="b">
            <a:normAutofit/>
          </a:bodyPr>
          <a:lstStyle/>
          <a:p>
            <a:pPr indent="0" marL="0">
              <a:buNone/>
            </a:pPr>
            <a:r>
              <a:rPr lang="en-US" sz="1000" dirty="0">
                <a:solidFill>
                  <a:srgbClr val="535353"/>
                </a:solidFill>
                <a:latin typeface="Plus Jakarta Sans" pitchFamily="34" charset="0"/>
                <a:ea typeface="Plus Jakarta Sans" pitchFamily="34" charset="-122"/>
                <a:cs typeface="Plus Jakarta Sans" pitchFamily="34" charset="-120"/>
              </a:rPr>
              <a:t>*Sumatera Selatan incl. Lampung, Jambi, Bengkulu. Stock required = tonnes to sell at today's list prices, rounded to whole bags; part months pro rata by day.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 plan 19 Oct – 31 Dec 2026 · data to 18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8</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NEXT STEPS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5 draft actions to deliver the stock plan; owners and dates to be agreed</a:t>
            </a:r>
            <a:endParaRPr lang="en-US" sz="2300" dirty="0"/>
          </a:p>
        </p:txBody>
      </p:sp>
      <p:sp>
        <p:nvSpPr>
          <p:cNvPr id="11" name="Shape 6"/>
          <p:cNvSpPr/>
          <p:nvPr/>
        </p:nvSpPr>
        <p:spPr>
          <a:xfrm>
            <a:off x="762000" y="1714500"/>
            <a:ext cx="3340100" cy="1809750"/>
          </a:xfrm>
          <a:prstGeom prst="roundRect">
            <a:avLst>
              <a:gd name="adj" fmla="val 6063"/>
            </a:avLst>
          </a:prstGeom>
          <a:solidFill>
            <a:srgbClr val="FFFFFF"/>
          </a:solidFill>
          <a:ln w="12700">
            <a:solidFill>
              <a:srgbClr val="FFFFFF"/>
            </a:solidFill>
            <a:prstDash val="solid"/>
          </a:ln>
        </p:spPr>
      </p:sp>
      <p:sp>
        <p:nvSpPr>
          <p:cNvPr id="12" name="Text 7"/>
          <p:cNvSpPr txBox="1"/>
          <p:nvPr/>
        </p:nvSpPr>
        <p:spPr>
          <a:xfrm>
            <a:off x="93345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1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Stock 270 MT for the first two weeks (19 Oct – 1 Nov)</a:t>
            </a:r>
            <a:endParaRPr lang="en-US" sz="1200" dirty="0"/>
          </a:p>
        </p:txBody>
      </p:sp>
      <p:sp>
        <p:nvSpPr>
          <p:cNvPr id="13" name="Text 8"/>
          <p:cNvSpPr txBox="1"/>
          <p:nvPr/>
        </p:nvSpPr>
        <p:spPr>
          <a:xfrm>
            <a:off x="93345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 Mahkota Egypt 1,552 bags, KCL Canada Cap Mahkota 1,057 bags, KCL Mentari 567 bags are the largest lines. Check stock on hand and supplier lead time against the weekly plan, then confirm the following weeks every Monday.</a:t>
            </a:r>
            <a:endParaRPr lang="en-US" sz="950" dirty="0"/>
          </a:p>
        </p:txBody>
      </p:sp>
      <p:sp>
        <p:nvSpPr>
          <p:cNvPr id="14" name="Text 9"/>
          <p:cNvSpPr txBox="1"/>
          <p:nvPr/>
        </p:nvSpPr>
        <p:spPr>
          <a:xfrm>
            <a:off x="93345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15" name="Shape 10"/>
          <p:cNvSpPr/>
          <p:nvPr/>
        </p:nvSpPr>
        <p:spPr>
          <a:xfrm>
            <a:off x="4235450" y="1714500"/>
            <a:ext cx="3340100" cy="1809750"/>
          </a:xfrm>
          <a:prstGeom prst="roundRect">
            <a:avLst>
              <a:gd name="adj" fmla="val 6063"/>
            </a:avLst>
          </a:prstGeom>
          <a:solidFill>
            <a:srgbClr val="FFFFFF"/>
          </a:solidFill>
          <a:ln w="12700">
            <a:solidFill>
              <a:srgbClr val="FFFFFF"/>
            </a:solidFill>
            <a:prstDash val="solid"/>
          </a:ln>
        </p:spPr>
      </p:sp>
      <p:sp>
        <p:nvSpPr>
          <p:cNvPr id="16" name="Text 11"/>
          <p:cNvSpPr txBox="1"/>
          <p:nvPr/>
        </p:nvSpPr>
        <p:spPr>
          <a:xfrm>
            <a:off x="440690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2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Plan 142 orders a month</a:t>
            </a:r>
            <a:endParaRPr lang="en-US" sz="1200" dirty="0"/>
          </a:p>
        </p:txBody>
      </p:sp>
      <p:sp>
        <p:nvSpPr>
          <p:cNvPr id="17" name="Text 12"/>
          <p:cNvSpPr txBox="1"/>
          <p:nvPr/>
        </p:nvSpPr>
        <p:spPr>
          <a:xfrm>
            <a:off x="440690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Rp4B a month at the Jul–Oct average of Rp27.1M needs 142 orders; the team closed 73 a month in Jul–Sep. Split the gap by week and area.</a:t>
            </a:r>
            <a:endParaRPr lang="en-US" sz="950" dirty="0"/>
          </a:p>
        </p:txBody>
      </p:sp>
      <p:sp>
        <p:nvSpPr>
          <p:cNvPr id="18" name="Text 13"/>
          <p:cNvSpPr txBox="1"/>
          <p:nvPr/>
        </p:nvSpPr>
        <p:spPr>
          <a:xfrm>
            <a:off x="440690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19" name="Shape 14"/>
          <p:cNvSpPr/>
          <p:nvPr/>
        </p:nvSpPr>
        <p:spPr>
          <a:xfrm>
            <a:off x="7708900" y="1714500"/>
            <a:ext cx="3340100" cy="1809750"/>
          </a:xfrm>
          <a:prstGeom prst="roundRect">
            <a:avLst>
              <a:gd name="adj" fmla="val 6063"/>
            </a:avLst>
          </a:prstGeom>
          <a:solidFill>
            <a:srgbClr val="FFFFFF"/>
          </a:solidFill>
          <a:ln w="12700">
            <a:solidFill>
              <a:srgbClr val="FFFFFF"/>
            </a:solidFill>
            <a:prstDash val="solid"/>
          </a:ln>
        </p:spPr>
      </p:sp>
      <p:sp>
        <p:nvSpPr>
          <p:cNvPr id="20" name="Text 15"/>
          <p:cNvSpPr txBox="1"/>
          <p:nvPr/>
        </p:nvSpPr>
        <p:spPr>
          <a:xfrm>
            <a:off x="788035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3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Book 415 MT of RP Mahkota Egypt to 31 Dec</a:t>
            </a:r>
            <a:endParaRPr lang="en-US" sz="1200" dirty="0"/>
          </a:p>
        </p:txBody>
      </p:sp>
      <p:sp>
        <p:nvSpPr>
          <p:cNvPr id="21" name="Text 16"/>
          <p:cNvSpPr txBox="1"/>
          <p:nvPr/>
        </p:nvSpPr>
        <p:spPr>
          <a:xfrm>
            <a:off x="788035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The largest line in the plan (29% of the tonnes). Confirm supplier allocation for Oct, Nov and Dec now, at about 38 MT a week.</a:t>
            </a:r>
            <a:endParaRPr lang="en-US" sz="950" dirty="0"/>
          </a:p>
        </p:txBody>
      </p:sp>
      <p:sp>
        <p:nvSpPr>
          <p:cNvPr id="22" name="Text 17"/>
          <p:cNvSpPr txBox="1"/>
          <p:nvPr/>
        </p:nvSpPr>
        <p:spPr>
          <a:xfrm>
            <a:off x="788035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23" name="Shape 18"/>
          <p:cNvSpPr/>
          <p:nvPr/>
        </p:nvSpPr>
        <p:spPr>
          <a:xfrm>
            <a:off x="762000" y="3667125"/>
            <a:ext cx="3340100" cy="1809750"/>
          </a:xfrm>
          <a:prstGeom prst="roundRect">
            <a:avLst>
              <a:gd name="adj" fmla="val 6063"/>
            </a:avLst>
          </a:prstGeom>
          <a:solidFill>
            <a:srgbClr val="FFFFFF"/>
          </a:solidFill>
          <a:ln w="12700">
            <a:solidFill>
              <a:srgbClr val="FFFFFF"/>
            </a:solidFill>
            <a:prstDash val="solid"/>
          </a:ln>
        </p:spPr>
      </p:sp>
      <p:sp>
        <p:nvSpPr>
          <p:cNvPr id="24" name="Text 19"/>
          <p:cNvSpPr txBox="1"/>
          <p:nvPr/>
        </p:nvSpPr>
        <p:spPr>
          <a:xfrm>
            <a:off x="93345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4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Add 8 SKUs to the price list</a:t>
            </a:r>
            <a:endParaRPr lang="en-US" sz="1200" dirty="0"/>
          </a:p>
        </p:txBody>
      </p:sp>
      <p:sp>
        <p:nvSpPr>
          <p:cNvPr id="25" name="Text 20"/>
          <p:cNvSpPr txBox="1"/>
          <p:nvPr/>
        </p:nvSpPr>
        <p:spPr>
          <a:xfrm>
            <a:off x="93345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NPK Mahkota 13-6-27-4 0.65 B, KCL Kancil, Mahkota ZA, Borat Mahkota and others sell but are not on the price list, so the plan uses their last selling price.</a:t>
            </a:r>
            <a:endParaRPr lang="en-US" sz="950" dirty="0"/>
          </a:p>
        </p:txBody>
      </p:sp>
      <p:sp>
        <p:nvSpPr>
          <p:cNvPr id="26" name="Text 21"/>
          <p:cNvSpPr txBox="1"/>
          <p:nvPr/>
        </p:nvSpPr>
        <p:spPr>
          <a:xfrm>
            <a:off x="93345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27" name="Shape 22"/>
          <p:cNvSpPr/>
          <p:nvPr/>
        </p:nvSpPr>
        <p:spPr>
          <a:xfrm>
            <a:off x="4235450" y="3667125"/>
            <a:ext cx="3340100" cy="1809750"/>
          </a:xfrm>
          <a:prstGeom prst="roundRect">
            <a:avLst>
              <a:gd name="adj" fmla="val 6063"/>
            </a:avLst>
          </a:prstGeom>
          <a:solidFill>
            <a:srgbClr val="FFFFFF"/>
          </a:solidFill>
          <a:ln w="12700">
            <a:solidFill>
              <a:srgbClr val="FFFFFF"/>
            </a:solidFill>
            <a:prstDash val="solid"/>
          </a:ln>
        </p:spPr>
      </p:sp>
      <p:sp>
        <p:nvSpPr>
          <p:cNvPr id="28" name="Text 23"/>
          <p:cNvSpPr txBox="1"/>
          <p:nvPr/>
        </p:nvSpPr>
        <p:spPr>
          <a:xfrm>
            <a:off x="440690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5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Fill the province on 36 order lines</a:t>
            </a:r>
            <a:endParaRPr lang="en-US" sz="1200" dirty="0"/>
          </a:p>
        </p:txBody>
      </p:sp>
      <p:sp>
        <p:nvSpPr>
          <p:cNvPr id="29" name="Text 24"/>
          <p:cNvSpPr txBox="1"/>
          <p:nvPr/>
        </p:nvSpPr>
        <p:spPr>
          <a:xfrm>
            <a:off x="440690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Rp1.36B of sales had no province; the plan took it from the customer's other orders. Fix it at the source so the area split stays right.</a:t>
            </a:r>
            <a:endParaRPr lang="en-US" sz="950" dirty="0"/>
          </a:p>
        </p:txBody>
      </p:sp>
      <p:sp>
        <p:nvSpPr>
          <p:cNvPr id="30" name="Text 25"/>
          <p:cNvSpPr txBox="1"/>
          <p:nvPr/>
        </p:nvSpPr>
        <p:spPr>
          <a:xfrm>
            <a:off x="440690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35000"/>
            </a:srgbClr>
          </a:solidFill>
          <a:ln w="12700">
            <a:solidFill>
              <a:srgbClr val="000000">
                <a:alpha val="0"/>
              </a:srgbClr>
            </a:solidFill>
            <a:prstDash val="solid"/>
          </a:ln>
        </p:spPr>
      </p:sp>
      <p:pic>
        <p:nvPicPr>
          <p:cNvPr id="4" name="Image 1" descr="preencoded.png">    </p:cNvPr>
          <p:cNvPicPr>
            <a:picLocks noChangeAspect="1"/>
          </p:cNvPicPr>
          <p:nvPr/>
        </p:nvPicPr>
        <p:blipFill>
          <a:blip r:embed="rId2"/>
          <a:stretch>
            <a:fillRect/>
          </a:stretch>
        </p:blipFill>
        <p:spPr>
          <a:xfrm>
            <a:off x="628650" y="590550"/>
            <a:ext cx="2352675" cy="771525"/>
          </a:xfrm>
          <a:prstGeom prst="rect">
            <a:avLst/>
          </a:prstGeom>
        </p:spPr>
      </p:pic>
      <p:pic>
        <p:nvPicPr>
          <p:cNvPr id="5" name="Image 2" descr="preencoded.png">    </p:cNvPr>
          <p:cNvPicPr>
            <a:picLocks noChangeAspect="1"/>
          </p:cNvPicPr>
          <p:nvPr/>
        </p:nvPicPr>
        <p:blipFill>
          <a:blip r:embed="rId3"/>
          <a:stretch>
            <a:fillRect/>
          </a:stretch>
        </p:blipFill>
        <p:spPr>
          <a:xfrm>
            <a:off x="10420350" y="457200"/>
            <a:ext cx="1143000" cy="1143000"/>
          </a:xfrm>
          <a:prstGeom prst="rect">
            <a:avLst/>
          </a:prstGeom>
        </p:spPr>
      </p:pic>
      <p:sp>
        <p:nvSpPr>
          <p:cNvPr id="6" name="Text 1"/>
          <p:cNvSpPr txBox="1"/>
          <p:nvPr/>
        </p:nvSpPr>
        <p:spPr>
          <a:xfrm>
            <a:off x="0" y="2762250"/>
            <a:ext cx="12191695" cy="1005840"/>
          </a:xfrm>
          <a:prstGeom prst="rect">
            <a:avLst/>
          </a:prstGeom>
          <a:noFill/>
          <a:ln/>
        </p:spPr>
        <p:txBody>
          <a:bodyPr wrap="square" lIns="0" tIns="0" rIns="0" bIns="0" rtlCol="0" anchor="t"/>
          <a:lstStyle/>
          <a:p>
            <a:pPr algn="ctr" indent="0" marL="0">
              <a:buNone/>
            </a:pPr>
            <a:r>
              <a:rPr lang="en-US" sz="6000" b="1" dirty="0">
                <a:solidFill>
                  <a:srgbClr val="FFFFFF"/>
                </a:solidFill>
                <a:latin typeface="Plus Jakarta Sans" pitchFamily="34" charset="0"/>
                <a:ea typeface="Plus Jakarta Sans" pitchFamily="34" charset="-122"/>
                <a:cs typeface="Plus Jakarta Sans" pitchFamily="34" charset="-120"/>
              </a:rPr>
              <a:t>Thank You</a:t>
            </a:r>
            <a:endParaRPr lang="en-US" sz="6000" dirty="0"/>
          </a:p>
        </p:txBody>
      </p:sp>
      <p:sp>
        <p:nvSpPr>
          <p:cNvPr id="7" name="Text 2"/>
          <p:cNvSpPr txBox="1"/>
          <p:nvPr/>
        </p:nvSpPr>
        <p:spPr>
          <a:xfrm>
            <a:off x="0" y="3810000"/>
            <a:ext cx="12191695" cy="548640"/>
          </a:xfrm>
          <a:prstGeom prst="rect">
            <a:avLst/>
          </a:prstGeom>
          <a:noFill/>
          <a:ln/>
        </p:spPr>
        <p:txBody>
          <a:bodyPr wrap="square" lIns="0" tIns="0" rIns="0" bIns="0" rtlCol="0" anchor="t"/>
          <a:lstStyle/>
          <a:p>
            <a:pPr algn="ctr" indent="0" marL="0">
              <a:buNone/>
            </a:pPr>
            <a:r>
              <a:rPr lang="en-US" sz="2600" b="1" dirty="0">
                <a:solidFill>
                  <a:srgbClr val="F5D347"/>
                </a:solidFill>
                <a:latin typeface="Plus Jakarta Sans" pitchFamily="34" charset="0"/>
                <a:ea typeface="Plus Jakarta Sans" pitchFamily="34" charset="-122"/>
                <a:cs typeface="Plus Jakarta Sans" pitchFamily="34" charset="-120"/>
              </a:rPr>
              <a:t>#TerusTumbuh</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SawitPRO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Smallholder · 19 Oct – 31 Dec 2026</dc:title>
  <dc:subject>PptxGenJS Presentation</dc:subject>
  <dc:creator>PptxGenJS</dc:creator>
  <cp:lastModifiedBy>PptxGenJS</cp:lastModifiedBy>
  <cp:revision>1</cp:revision>
  <dcterms:created xsi:type="dcterms:W3CDTF">2026-10-19T08:56:56Z</dcterms:created>
  <dcterms:modified xsi:type="dcterms:W3CDTF">2026-10-19T08:56:56Z</dcterms:modified>
</cp:coreProperties>
</file>