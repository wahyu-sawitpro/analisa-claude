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628650" y="590550"/>
            <a:ext cx="2352675" cy="771525"/>
          </a:xfrm>
          <a:prstGeom prst="rect">
            <a:avLst/>
          </a:prstGeom>
        </p:spPr>
      </p:pic>
      <p:sp>
        <p:nvSpPr>
          <p:cNvPr id="4" name="Shape 0"/>
          <p:cNvSpPr/>
          <p:nvPr/>
        </p:nvSpPr>
        <p:spPr>
          <a:xfrm>
            <a:off x="4743450" y="3448050"/>
            <a:ext cx="7448550" cy="2447925"/>
          </a:xfrm>
          <a:prstGeom prst="rect">
            <a:avLst/>
          </a:prstGeom>
          <a:solidFill>
            <a:srgbClr val="4A653B"/>
          </a:solidFill>
          <a:ln w="12700">
            <a:solidFill>
              <a:srgbClr val="4A653B"/>
            </a:solidFill>
            <a:prstDash val="solid"/>
          </a:ln>
        </p:spPr>
      </p:sp>
      <p:sp>
        <p:nvSpPr>
          <p:cNvPr id="5" name="Shape 1"/>
          <p:cNvSpPr/>
          <p:nvPr/>
        </p:nvSpPr>
        <p:spPr>
          <a:xfrm>
            <a:off x="3533775" y="3448050"/>
            <a:ext cx="2447925" cy="2447925"/>
          </a:xfrm>
          <a:prstGeom prst="ellipse">
            <a:avLst/>
          </a:prstGeom>
          <a:solidFill>
            <a:srgbClr val="4A653B"/>
          </a:solidFill>
          <a:ln w="12700">
            <a:solidFill>
              <a:srgbClr val="4A653B"/>
            </a:solidFill>
            <a:prstDash val="solid"/>
          </a:ln>
        </p:spPr>
      </p:sp>
      <p:pic>
        <p:nvPicPr>
          <p:cNvPr id="6" name="Image 2" descr="preencoded.png">    </p:cNvPr>
          <p:cNvPicPr>
            <a:picLocks noChangeAspect="1"/>
          </p:cNvPicPr>
          <p:nvPr/>
        </p:nvPicPr>
        <p:blipFill>
          <a:blip r:embed="rId3"/>
          <a:stretch>
            <a:fillRect/>
          </a:stretch>
        </p:blipFill>
        <p:spPr>
          <a:xfrm>
            <a:off x="3695700" y="3609975"/>
            <a:ext cx="2114550" cy="2114550"/>
          </a:xfrm>
          <a:prstGeom prst="rect">
            <a:avLst/>
          </a:prstGeom>
        </p:spPr>
      </p:pic>
      <p:sp>
        <p:nvSpPr>
          <p:cNvPr id="7" name="Text 2"/>
          <p:cNvSpPr txBox="1"/>
          <p:nvPr/>
        </p:nvSpPr>
        <p:spPr>
          <a:xfrm>
            <a:off x="6210300" y="3619500"/>
            <a:ext cx="5619750" cy="457200"/>
          </a:xfrm>
          <a:prstGeom prst="rect">
            <a:avLst/>
          </a:prstGeom>
          <a:noFill/>
          <a:ln/>
        </p:spPr>
        <p:txBody>
          <a:bodyPr wrap="square" lIns="0" tIns="0" rIns="0" bIns="0" rtlCol="0" anchor="t"/>
          <a:lstStyle/>
          <a:p>
            <a:pPr indent="0" marL="0">
              <a:buNone/>
            </a:pPr>
            <a:r>
              <a:rPr lang="en-US" sz="2600" b="1" dirty="0">
                <a:solidFill>
                  <a:srgbClr val="F5D347"/>
                </a:solidFill>
                <a:latin typeface="Plus Jakarta Sans" pitchFamily="34" charset="0"/>
                <a:ea typeface="Plus Jakarta Sans" pitchFamily="34" charset="-122"/>
                <a:cs typeface="Plus Jakarta Sans" pitchFamily="34" charset="-120"/>
              </a:rPr>
              <a:t>Stock Forecast</a:t>
            </a:r>
            <a:endParaRPr lang="en-US" sz="2600" dirty="0"/>
          </a:p>
        </p:txBody>
      </p:sp>
      <p:sp>
        <p:nvSpPr>
          <p:cNvPr id="8" name="Text 3"/>
          <p:cNvSpPr txBox="1"/>
          <p:nvPr/>
        </p:nvSpPr>
        <p:spPr>
          <a:xfrm>
            <a:off x="6210300" y="4095750"/>
            <a:ext cx="5619750" cy="1005840"/>
          </a:xfrm>
          <a:prstGeom prst="rect">
            <a:avLst/>
          </a:prstGeom>
          <a:noFill/>
          <a:ln/>
        </p:spPr>
        <p:txBody>
          <a:bodyPr wrap="square" lIns="0" tIns="0" rIns="0" bIns="0" rtlCol="0" anchor="t">
            <a:normAutofit/>
          </a:bodyPr>
          <a:lstStyle/>
          <a:p>
            <a:pPr indent="0" marL="0">
              <a:buNone/>
            </a:pPr>
            <a:r>
              <a:rPr lang="en-US" sz="3400" b="1" dirty="0">
                <a:solidFill>
                  <a:srgbClr val="FFFFFF"/>
                </a:solidFill>
                <a:latin typeface="Plus Jakarta Sans" pitchFamily="34" charset="0"/>
                <a:ea typeface="Plus Jakarta Sans" pitchFamily="34" charset="-122"/>
                <a:cs typeface="Plus Jakarta Sans" pitchFamily="34" charset="-120"/>
              </a:rPr>
              <a:t>Smallholder · 19 Oct – 31 Dec 2026</a:t>
            </a:r>
            <a:endParaRPr lang="en-US" sz="3400" dirty="0"/>
          </a:p>
        </p:txBody>
      </p:sp>
      <p:sp>
        <p:nvSpPr>
          <p:cNvPr id="9" name="Text 4"/>
          <p:cNvSpPr txBox="1"/>
          <p:nvPr/>
        </p:nvSpPr>
        <p:spPr>
          <a:xfrm>
            <a:off x="6210300" y="6000750"/>
            <a:ext cx="5715000" cy="274320"/>
          </a:xfrm>
          <a:prstGeom prst="rect">
            <a:avLst/>
          </a:prstGeom>
          <a:noFill/>
          <a:ln/>
        </p:spPr>
        <p:txBody>
          <a:bodyPr wrap="square" lIns="0" tIns="0" rIns="0" bIns="0" rtlCol="0" anchor="t"/>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Sales history 1 Jan – 18 Oct 2026 · target Rp4B a month · 11 weeks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Sales amount · target Rp4B a month · plan 19 Oct – 31 Dec 2026 · data to 18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2</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EXECUTIVE SUMMARY</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Rp4B a month needs 1,551 MT from 19 Oct to 31 Dec: about 147 MT a week, 5.4× our best month</a:t>
            </a:r>
            <a:endParaRPr lang="en-US" sz="2300" dirty="0"/>
          </a:p>
        </p:txBody>
      </p:sp>
      <p:sp>
        <p:nvSpPr>
          <p:cNvPr id="11" name="Shape 6"/>
          <p:cNvSpPr/>
          <p:nvPr/>
        </p:nvSpPr>
        <p:spPr>
          <a:xfrm>
            <a:off x="762000" y="1714500"/>
            <a:ext cx="2438400" cy="1123950"/>
          </a:xfrm>
          <a:prstGeom prst="roundRect">
            <a:avLst>
              <a:gd name="adj" fmla="val 9763"/>
            </a:avLst>
          </a:prstGeom>
          <a:solidFill>
            <a:srgbClr val="4A653B"/>
          </a:solidFill>
          <a:ln w="12700">
            <a:solidFill>
              <a:srgbClr val="4A653B"/>
            </a:solidFill>
            <a:prstDash val="solid"/>
          </a:ln>
        </p:spPr>
      </p:sp>
      <p:sp>
        <p:nvSpPr>
          <p:cNvPr id="12" name="Text 7"/>
          <p:cNvSpPr txBox="1"/>
          <p:nvPr/>
        </p:nvSpPr>
        <p:spPr>
          <a:xfrm>
            <a:off x="914400" y="1828800"/>
            <a:ext cx="2133600"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1,551</a:t>
            </a:r>
            <a:pPr indent="0" marL="0">
              <a:buNone/>
            </a:pPr>
            <a:r>
              <a:rPr lang="en-US" sz="1400" b="1" dirty="0">
                <a:solidFill>
                  <a:srgbClr val="FFFFFF"/>
                </a:solidFill>
                <a:latin typeface="Plus Jakarta Sans" pitchFamily="34" charset="0"/>
                <a:ea typeface="Plus Jakarta Sans" pitchFamily="34" charset="-122"/>
                <a:cs typeface="Plus Jakarta Sans" pitchFamily="34" charset="-120"/>
              </a:rPr>
              <a:t> MT</a:t>
            </a:r>
            <a:endParaRPr lang="en-US" sz="2800" dirty="0"/>
          </a:p>
        </p:txBody>
      </p:sp>
      <p:sp>
        <p:nvSpPr>
          <p:cNvPr id="13" name="Text 8"/>
          <p:cNvSpPr txBox="1"/>
          <p:nvPr/>
        </p:nvSpPr>
        <p:spPr>
          <a:xfrm>
            <a:off x="914400" y="2247900"/>
            <a:ext cx="2133600" cy="53340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stock for 19 Oct – 31 Dec 2026 (19–31 Oct 269, Nov 641, Dec 641)</a:t>
            </a:r>
            <a:endParaRPr lang="en-US" sz="950" dirty="0"/>
          </a:p>
        </p:txBody>
      </p:sp>
      <p:sp>
        <p:nvSpPr>
          <p:cNvPr id="14" name="Shape 9"/>
          <p:cNvSpPr/>
          <p:nvPr/>
        </p:nvSpPr>
        <p:spPr>
          <a:xfrm>
            <a:off x="3371850" y="1714500"/>
            <a:ext cx="2438400" cy="1123950"/>
          </a:xfrm>
          <a:prstGeom prst="roundRect">
            <a:avLst>
              <a:gd name="adj" fmla="val 9763"/>
            </a:avLst>
          </a:prstGeom>
          <a:solidFill>
            <a:srgbClr val="FFFFFF"/>
          </a:solidFill>
          <a:ln w="12700">
            <a:solidFill>
              <a:srgbClr val="FFFFFF"/>
            </a:solidFill>
            <a:prstDash val="solid"/>
          </a:ln>
        </p:spPr>
      </p:sp>
      <p:sp>
        <p:nvSpPr>
          <p:cNvPr id="15" name="Text 10"/>
          <p:cNvSpPr txBox="1"/>
          <p:nvPr/>
        </p:nvSpPr>
        <p:spPr>
          <a:xfrm>
            <a:off x="3524250" y="1828800"/>
            <a:ext cx="213360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147</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 MT</a:t>
            </a:r>
            <a:endParaRPr lang="en-US" sz="2800" dirty="0"/>
          </a:p>
        </p:txBody>
      </p:sp>
      <p:sp>
        <p:nvSpPr>
          <p:cNvPr id="16" name="Text 11"/>
          <p:cNvSpPr txBox="1"/>
          <p:nvPr/>
        </p:nvSpPr>
        <p:spPr>
          <a:xfrm>
            <a:off x="3524250" y="2247900"/>
            <a:ext cx="2133600" cy="533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a week on average over 11 weeks; the first full week 145 MT</a:t>
            </a:r>
            <a:endParaRPr lang="en-US" sz="950" dirty="0"/>
          </a:p>
        </p:txBody>
      </p:sp>
      <p:sp>
        <p:nvSpPr>
          <p:cNvPr id="17" name="Shape 12"/>
          <p:cNvSpPr/>
          <p:nvPr/>
        </p:nvSpPr>
        <p:spPr>
          <a:xfrm>
            <a:off x="5981700" y="1714500"/>
            <a:ext cx="2438400" cy="1123950"/>
          </a:xfrm>
          <a:prstGeom prst="roundRect">
            <a:avLst>
              <a:gd name="adj" fmla="val 9763"/>
            </a:avLst>
          </a:prstGeom>
          <a:solidFill>
            <a:srgbClr val="FFFFFF"/>
          </a:solidFill>
          <a:ln w="12700">
            <a:solidFill>
              <a:srgbClr val="FFFFFF"/>
            </a:solidFill>
            <a:prstDash val="solid"/>
          </a:ln>
        </p:spPr>
      </p:sp>
      <p:sp>
        <p:nvSpPr>
          <p:cNvPr id="18" name="Text 13"/>
          <p:cNvSpPr txBox="1"/>
          <p:nvPr/>
        </p:nvSpPr>
        <p:spPr>
          <a:xfrm>
            <a:off x="6134100" y="1828800"/>
            <a:ext cx="213360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4</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B</a:t>
            </a:r>
            <a:endParaRPr lang="en-US" sz="2800" dirty="0"/>
          </a:p>
        </p:txBody>
      </p:sp>
      <p:sp>
        <p:nvSpPr>
          <p:cNvPr id="19" name="Text 14"/>
          <p:cNvSpPr txBox="1"/>
          <p:nvPr/>
        </p:nvSpPr>
        <p:spPr>
          <a:xfrm>
            <a:off x="6134100" y="2247900"/>
            <a:ext cx="2133600" cy="533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target a month: 5.3× the best month in this data (Rp755M, Sep)</a:t>
            </a:r>
            <a:endParaRPr lang="en-US" sz="950" dirty="0"/>
          </a:p>
        </p:txBody>
      </p:sp>
      <p:sp>
        <p:nvSpPr>
          <p:cNvPr id="20" name="Shape 15"/>
          <p:cNvSpPr/>
          <p:nvPr/>
        </p:nvSpPr>
        <p:spPr>
          <a:xfrm>
            <a:off x="8591550" y="1714500"/>
            <a:ext cx="2438400" cy="1123950"/>
          </a:xfrm>
          <a:prstGeom prst="roundRect">
            <a:avLst>
              <a:gd name="adj" fmla="val 9763"/>
            </a:avLst>
          </a:prstGeom>
          <a:solidFill>
            <a:srgbClr val="FFFFFF"/>
          </a:solidFill>
          <a:ln w="12700">
            <a:solidFill>
              <a:srgbClr val="FFFFFF"/>
            </a:solidFill>
            <a:prstDash val="solid"/>
          </a:ln>
        </p:spPr>
      </p:sp>
      <p:sp>
        <p:nvSpPr>
          <p:cNvPr id="21" name="Text 16"/>
          <p:cNvSpPr txBox="1"/>
          <p:nvPr/>
        </p:nvSpPr>
        <p:spPr>
          <a:xfrm>
            <a:off x="8743950" y="1828800"/>
            <a:ext cx="213360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359</a:t>
            </a:r>
            <a:pPr indent="0" marL="0">
              <a:buNone/>
            </a:pPr>
            <a:endParaRPr lang="en-US" sz="2800" dirty="0"/>
          </a:p>
        </p:txBody>
      </p:sp>
      <p:sp>
        <p:nvSpPr>
          <p:cNvPr id="22" name="Text 17"/>
          <p:cNvSpPr txBox="1"/>
          <p:nvPr/>
        </p:nvSpPr>
        <p:spPr>
          <a:xfrm>
            <a:off x="8743950" y="2247900"/>
            <a:ext cx="2133600" cy="533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order lines a month needed, vs 45 a month in Jul–Sep</a:t>
            </a:r>
            <a:endParaRPr lang="en-US" sz="950" dirty="0"/>
          </a:p>
        </p:txBody>
      </p:sp>
      <p:sp>
        <p:nvSpPr>
          <p:cNvPr id="23" name="Shape 18"/>
          <p:cNvSpPr/>
          <p:nvPr/>
        </p:nvSpPr>
        <p:spPr>
          <a:xfrm>
            <a:off x="762000" y="3009900"/>
            <a:ext cx="6191250" cy="3105150"/>
          </a:xfrm>
          <a:prstGeom prst="roundRect">
            <a:avLst>
              <a:gd name="adj" fmla="val 3534"/>
            </a:avLst>
          </a:prstGeom>
          <a:solidFill>
            <a:srgbClr val="FFFFFF"/>
          </a:solidFill>
          <a:ln w="12700">
            <a:solidFill>
              <a:srgbClr val="FFFFFF"/>
            </a:solidFill>
            <a:prstDash val="solid"/>
          </a:ln>
        </p:spPr>
      </p:sp>
      <p:sp>
        <p:nvSpPr>
          <p:cNvPr id="24" name="Text 19"/>
          <p:cNvSpPr txBox="1"/>
          <p:nvPr/>
        </p:nvSpPr>
        <p:spPr>
          <a:xfrm>
            <a:off x="952500" y="3181350"/>
            <a:ext cx="5829300" cy="2781300"/>
          </a:xfrm>
          <a:prstGeom prst="rect">
            <a:avLst/>
          </a:prstGeom>
          <a:noFill/>
          <a:ln/>
        </p:spPr>
        <p:txBody>
          <a:bodyPr wrap="square" lIns="0" tIns="0" rIns="0" bIns="0" rtlCol="0" anchor="t">
            <a:normAutofit/>
          </a:bodyPr>
          <a:lstStyle/>
          <a:p>
            <a:pPr marL="342900" indent="-342900">
              <a:buSzPct val="100000"/>
              <a:buChar char="●"/>
            </a:pPr>
            <a:r>
              <a:rPr lang="en-US" sz="1300" b="1" dirty="0">
                <a:solidFill>
                  <a:srgbClr val="274E13"/>
                </a:solidFill>
                <a:latin typeface="Plus Jakarta Sans" pitchFamily="34" charset="0"/>
                <a:ea typeface="Plus Jakarta Sans" pitchFamily="34" charset="-122"/>
                <a:cs typeface="Plus Jakarta Sans" pitchFamily="34" charset="-120"/>
              </a:rPr>
              <a:t>Rp4B is a step up from this data</a:t>
            </a:r>
            <a:endParaRPr lang="en-US" sz="1300" dirty="0"/>
          </a:p>
          <a:p>
            <a:pPr lvl="1" indent="0" marL="0">
              <a:spcAft>
                <a:spcPts val="900"/>
              </a:spcAft>
              <a:buNone/>
            </a:pPr>
            <a:r>
              <a:rPr lang="en-US" sz="1050" dirty="0">
                <a:solidFill>
                  <a:srgbClr val="535353"/>
                </a:solidFill>
                <a:latin typeface="Plus Jakarta Sans" pitchFamily="34" charset="0"/>
                <a:ea typeface="Plus Jakarta Sans" pitchFamily="34" charset="-122"/>
                <a:cs typeface="Plus Jakarta Sans" pitchFamily="34" charset="-120"/>
              </a:rPr>
              <a:t>The best month in the file was Rp755M (Sep); the last 6 full months averaged Rp307M. The plan needs 641 MT a month against a record of 118 t (Sep).</a:t>
            </a:r>
            <a:endParaRPr lang="en-US" sz="1300" dirty="0"/>
          </a:p>
          <a:p>
            <a:pPr marL="342900" indent="-342900">
              <a:buSzPct val="100000"/>
              <a:buChar char="●"/>
            </a:pPr>
            <a:r>
              <a:rPr lang="en-US" sz="1300" b="1" dirty="0">
                <a:solidFill>
                  <a:srgbClr val="274E13"/>
                </a:solidFill>
                <a:latin typeface="Plus Jakarta Sans" pitchFamily="34" charset="0"/>
                <a:ea typeface="Plus Jakarta Sans" pitchFamily="34" charset="-122"/>
                <a:cs typeface="Plus Jakarta Sans" pitchFamily="34" charset="-120"/>
              </a:rPr>
              <a:t>A few SKUs carry the plan</a:t>
            </a:r>
            <a:endParaRPr lang="en-US" sz="1300" dirty="0"/>
          </a:p>
          <a:p>
            <a:pPr lvl="1" indent="0" marL="0">
              <a:spcAft>
                <a:spcPts val="900"/>
              </a:spcAft>
              <a:buNone/>
            </a:pPr>
            <a:r>
              <a:rPr lang="en-US" sz="1050" dirty="0">
                <a:solidFill>
                  <a:srgbClr val="535353"/>
                </a:solidFill>
                <a:latin typeface="Plus Jakarta Sans" pitchFamily="34" charset="0"/>
                <a:ea typeface="Plus Jakarta Sans" pitchFamily="34" charset="-122"/>
                <a:cs typeface="Plus Jakarta Sans" pitchFamily="34" charset="-120"/>
              </a:rPr>
              <a:t>KCL Canada Cap Mahkota 483 MT, RP Mahkota Egypt 214 MT, RP Sasco Egypt 116 MT to 31 Dec (52% of the tonnes). A stock-out of any of them stops the plan.</a:t>
            </a:r>
            <a:endParaRPr lang="en-US" sz="1300" dirty="0"/>
          </a:p>
          <a:p>
            <a:pPr marL="342900" indent="-342900">
              <a:buSzPct val="100000"/>
              <a:buChar char="●"/>
            </a:pPr>
            <a:r>
              <a:rPr lang="en-US" sz="1300" b="1" dirty="0">
                <a:solidFill>
                  <a:srgbClr val="274E13"/>
                </a:solidFill>
                <a:latin typeface="Plus Jakarta Sans" pitchFamily="34" charset="0"/>
                <a:ea typeface="Plus Jakarta Sans" pitchFamily="34" charset="-122"/>
                <a:cs typeface="Plus Jakarta Sans" pitchFamily="34" charset="-120"/>
              </a:rPr>
              <a:t>Riau takes 83% of the stock</a:t>
            </a:r>
            <a:endParaRPr lang="en-US" sz="1300" dirty="0"/>
          </a:p>
          <a:p>
            <a:pPr lvl="1" indent="0" marL="0">
              <a:spcAft>
                <a:spcPts val="900"/>
              </a:spcAft>
              <a:buNone/>
            </a:pPr>
            <a:r>
              <a:rPr lang="en-US" sz="1050" dirty="0">
                <a:solidFill>
                  <a:srgbClr val="535353"/>
                </a:solidFill>
                <a:latin typeface="Plus Jakarta Sans" pitchFamily="34" charset="0"/>
                <a:ea typeface="Plus Jakarta Sans" pitchFamily="34" charset="-122"/>
                <a:cs typeface="Plus Jakarta Sans" pitchFamily="34" charset="-120"/>
              </a:rPr>
              <a:t>Riau 83%, Sumatera Utara 10%, Sumatera Selatan 7% of fertilizer GMV; 11 weekly deliveries of about 122 MT to Riau.</a:t>
            </a:r>
            <a:endParaRPr lang="en-US" sz="1300" dirty="0"/>
          </a:p>
          <a:p>
            <a:pPr marL="342900" indent="-342900">
              <a:buSzPct val="100000"/>
              <a:buChar char="●"/>
            </a:pPr>
            <a:r>
              <a:rPr lang="en-US" sz="1300" b="1" dirty="0">
                <a:solidFill>
                  <a:srgbClr val="274E13"/>
                </a:solidFill>
                <a:latin typeface="Plus Jakarta Sans" pitchFamily="34" charset="0"/>
                <a:ea typeface="Plus Jakarta Sans" pitchFamily="34" charset="-122"/>
                <a:cs typeface="Plus Jakarta Sans" pitchFamily="34" charset="-120"/>
              </a:rPr>
              <a:t>The gap is volume, not price</a:t>
            </a:r>
            <a:endParaRPr lang="en-US" sz="1300" dirty="0"/>
          </a:p>
          <a:p>
            <a:pPr lvl="1" indent="0" marL="0">
              <a:spcAft>
                <a:spcPts val="900"/>
              </a:spcAft>
              <a:buNone/>
            </a:pPr>
            <a:r>
              <a:rPr lang="en-US" sz="1050" dirty="0">
                <a:solidFill>
                  <a:srgbClr val="535353"/>
                </a:solidFill>
                <a:latin typeface="Plus Jakarta Sans" pitchFamily="34" charset="0"/>
                <a:ea typeface="Plus Jakarta Sans" pitchFamily="34" charset="-122"/>
                <a:cs typeface="Plus Jakarta Sans" pitchFamily="34" charset="-120"/>
              </a:rPr>
              <a:t>At the Jul–Oct average of Rp11.1M, Rp4B needs 359 order lines a month; the team closed 45.</a:t>
            </a:r>
            <a:endParaRPr lang="en-US" sz="1300" dirty="0"/>
          </a:p>
        </p:txBody>
      </p:sp>
      <p:sp>
        <p:nvSpPr>
          <p:cNvPr id="25" name="Shape 20"/>
          <p:cNvSpPr/>
          <p:nvPr/>
        </p:nvSpPr>
        <p:spPr>
          <a:xfrm>
            <a:off x="7143750" y="3009900"/>
            <a:ext cx="3905250" cy="3105150"/>
          </a:xfrm>
          <a:prstGeom prst="roundRect">
            <a:avLst>
              <a:gd name="adj" fmla="val 3534"/>
            </a:avLst>
          </a:prstGeom>
          <a:solidFill>
            <a:srgbClr val="274E13"/>
          </a:solidFill>
          <a:ln w="12700">
            <a:solidFill>
              <a:srgbClr val="274E13"/>
            </a:solidFill>
            <a:prstDash val="solid"/>
          </a:ln>
        </p:spPr>
      </p:sp>
      <p:sp>
        <p:nvSpPr>
          <p:cNvPr id="26" name="Text 21"/>
          <p:cNvSpPr txBox="1"/>
          <p:nvPr/>
        </p:nvSpPr>
        <p:spPr>
          <a:xfrm>
            <a:off x="7372350" y="3219450"/>
            <a:ext cx="3448050" cy="2724150"/>
          </a:xfrm>
          <a:prstGeom prst="rect">
            <a:avLst/>
          </a:prstGeom>
          <a:noFill/>
          <a:ln/>
        </p:spPr>
        <p:txBody>
          <a:bodyPr wrap="square" lIns="0" tIns="0" rIns="0" bIns="0" rtlCol="0" anchor="t">
            <a:normAutofit/>
          </a:bodyPr>
          <a:lstStyle/>
          <a:p>
            <a:pPr indent="0" marL="0">
              <a:spcAft>
                <a:spcPts val="800"/>
              </a:spcAft>
              <a:buNone/>
            </a:pPr>
            <a:r>
              <a:rPr lang="en-US" sz="950" b="1" spc="200" kern="0" dirty="0">
                <a:solidFill>
                  <a:srgbClr val="F5D347"/>
                </a:solidFill>
                <a:latin typeface="Plus Jakarta Sans" pitchFamily="34" charset="0"/>
                <a:ea typeface="Plus Jakarta Sans" pitchFamily="34" charset="-122"/>
                <a:cs typeface="Plus Jakarta Sans" pitchFamily="34" charset="-120"/>
              </a:rPr>
              <a:t>BOTTOM LINE</a:t>
            </a:r>
            <a:endParaRPr lang="en-US" sz="950" dirty="0"/>
          </a:p>
          <a:p>
            <a:pPr indent="0" marL="0">
              <a:spcAft>
                <a:spcPts val="1000"/>
              </a:spcAft>
              <a:buNone/>
            </a:pPr>
            <a:r>
              <a:rPr lang="en-US" sz="1600" b="1" dirty="0">
                <a:solidFill>
                  <a:srgbClr val="FFFFFF"/>
                </a:solidFill>
                <a:latin typeface="Plus Jakarta Sans" pitchFamily="34" charset="0"/>
                <a:ea typeface="Plus Jakarta Sans" pitchFamily="34" charset="-122"/>
                <a:cs typeface="Plus Jakarta Sans" pitchFamily="34" charset="-120"/>
              </a:rPr>
              <a:t>Stock KCL Canada Cap Mahkota and RP Mahkota Egypt first, about 147 MT a week, and plan 359 order lines a month.</a:t>
            </a:r>
            <a:endParaRPr lang="en-US" sz="950" dirty="0"/>
          </a:p>
          <a:p>
            <a:pPr indent="0" marL="0">
              <a:buNone/>
            </a:pPr>
            <a:r>
              <a:rPr lang="en-US" sz="1050" dirty="0">
                <a:solidFill>
                  <a:srgbClr val="D8E3CF"/>
                </a:solidFill>
                <a:latin typeface="Plus Jakarta Sans" pitchFamily="34" charset="0"/>
                <a:ea typeface="Plus Jakarta Sans" pitchFamily="34" charset="-122"/>
                <a:cs typeface="Plus Jakarta Sans" pitchFamily="34" charset="-120"/>
              </a:rPr>
              <a:t>Stock required is the tonnage to sell at today's list prices; stock on hand and supplier lead times are not in the data.</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Sales amount · target Rp4B a month · plan 19 Oct – 31 Dec 2026 · data to 18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3</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FORECAST · RP4B A MONTH</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Rp4B a month needs about 641 t of fertilizer a month, 5.4× our best month (118 t in Sep)</a:t>
            </a:r>
            <a:endParaRPr lang="en-US" sz="2300" dirty="0"/>
          </a:p>
        </p:txBody>
      </p:sp>
      <p:sp>
        <p:nvSpPr>
          <p:cNvPr id="11" name="Shape 6"/>
          <p:cNvSpPr/>
          <p:nvPr/>
        </p:nvSpPr>
        <p:spPr>
          <a:xfrm>
            <a:off x="762000" y="1714500"/>
            <a:ext cx="2457450" cy="800100"/>
          </a:xfrm>
          <a:prstGeom prst="roundRect">
            <a:avLst>
              <a:gd name="adj" fmla="val 13714"/>
            </a:avLst>
          </a:prstGeom>
          <a:solidFill>
            <a:srgbClr val="4A653B"/>
          </a:solidFill>
          <a:ln w="12700">
            <a:solidFill>
              <a:srgbClr val="4A653B"/>
            </a:solidFill>
            <a:prstDash val="solid"/>
          </a:ln>
        </p:spPr>
      </p:sp>
      <p:sp>
        <p:nvSpPr>
          <p:cNvPr id="12" name="Text 7"/>
          <p:cNvSpPr txBox="1"/>
          <p:nvPr/>
        </p:nvSpPr>
        <p:spPr>
          <a:xfrm>
            <a:off x="914400" y="1828800"/>
            <a:ext cx="2152650"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4</a:t>
            </a:r>
            <a:pPr indent="0" marL="0">
              <a:buNone/>
            </a:pPr>
            <a:r>
              <a:rPr lang="en-US" sz="1400" b="1" dirty="0">
                <a:solidFill>
                  <a:srgbClr val="FFFFFF"/>
                </a:solidFill>
                <a:latin typeface="Plus Jakarta Sans" pitchFamily="34" charset="0"/>
                <a:ea typeface="Plus Jakarta Sans" pitchFamily="34" charset="-122"/>
                <a:cs typeface="Plus Jakarta Sans" pitchFamily="34" charset="-120"/>
              </a:rPr>
              <a:t>B</a:t>
            </a:r>
            <a:endParaRPr lang="en-US" sz="2800" dirty="0"/>
          </a:p>
        </p:txBody>
      </p:sp>
      <p:sp>
        <p:nvSpPr>
          <p:cNvPr id="13" name="Text 8"/>
          <p:cNvSpPr txBox="1"/>
          <p:nvPr/>
        </p:nvSpPr>
        <p:spPr>
          <a:xfrm>
            <a:off x="91440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monthly sales target used for the plan</a:t>
            </a:r>
            <a:endParaRPr lang="en-US" sz="950" dirty="0"/>
          </a:p>
        </p:txBody>
      </p:sp>
      <p:sp>
        <p:nvSpPr>
          <p:cNvPr id="14" name="Shape 9"/>
          <p:cNvSpPr/>
          <p:nvPr/>
        </p:nvSpPr>
        <p:spPr>
          <a:xfrm>
            <a:off x="3371850" y="1714500"/>
            <a:ext cx="2457450" cy="800100"/>
          </a:xfrm>
          <a:prstGeom prst="roundRect">
            <a:avLst>
              <a:gd name="adj" fmla="val 13714"/>
            </a:avLst>
          </a:prstGeom>
          <a:solidFill>
            <a:srgbClr val="FFFFFF"/>
          </a:solidFill>
          <a:ln w="12700">
            <a:solidFill>
              <a:srgbClr val="FFFFFF"/>
            </a:solidFill>
            <a:prstDash val="solid"/>
          </a:ln>
        </p:spPr>
      </p:sp>
      <p:sp>
        <p:nvSpPr>
          <p:cNvPr id="15" name="Text 10"/>
          <p:cNvSpPr txBox="1"/>
          <p:nvPr/>
        </p:nvSpPr>
        <p:spPr>
          <a:xfrm>
            <a:off x="35242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755</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M</a:t>
            </a:r>
            <a:endParaRPr lang="en-US" sz="2800" dirty="0"/>
          </a:p>
        </p:txBody>
      </p:sp>
      <p:sp>
        <p:nvSpPr>
          <p:cNvPr id="16" name="Text 11"/>
          <p:cNvSpPr txBox="1"/>
          <p:nvPr/>
        </p:nvSpPr>
        <p:spPr>
          <a:xfrm>
            <a:off x="352425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best month in this data (Sep); target is 5.3×</a:t>
            </a:r>
            <a:endParaRPr lang="en-US" sz="950" dirty="0"/>
          </a:p>
        </p:txBody>
      </p:sp>
      <p:sp>
        <p:nvSpPr>
          <p:cNvPr id="17" name="Shape 12"/>
          <p:cNvSpPr/>
          <p:nvPr/>
        </p:nvSpPr>
        <p:spPr>
          <a:xfrm>
            <a:off x="5981700" y="1714500"/>
            <a:ext cx="2457450" cy="800100"/>
          </a:xfrm>
          <a:prstGeom prst="roundRect">
            <a:avLst>
              <a:gd name="adj" fmla="val 13714"/>
            </a:avLst>
          </a:prstGeom>
          <a:solidFill>
            <a:srgbClr val="FFFFFF"/>
          </a:solidFill>
          <a:ln w="12700">
            <a:solidFill>
              <a:srgbClr val="FFFFFF"/>
            </a:solidFill>
            <a:prstDash val="solid"/>
          </a:ln>
        </p:spPr>
      </p:sp>
      <p:sp>
        <p:nvSpPr>
          <p:cNvPr id="18" name="Text 13"/>
          <p:cNvSpPr txBox="1"/>
          <p:nvPr/>
        </p:nvSpPr>
        <p:spPr>
          <a:xfrm>
            <a:off x="613410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307</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M</a:t>
            </a:r>
            <a:endParaRPr lang="en-US" sz="2800" dirty="0"/>
          </a:p>
        </p:txBody>
      </p:sp>
      <p:sp>
        <p:nvSpPr>
          <p:cNvPr id="19" name="Text 14"/>
          <p:cNvSpPr txBox="1"/>
          <p:nvPr/>
        </p:nvSpPr>
        <p:spPr>
          <a:xfrm>
            <a:off x="613410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average month, last 6 full months; target is 13.0×</a:t>
            </a:r>
            <a:endParaRPr lang="en-US" sz="950" dirty="0"/>
          </a:p>
        </p:txBody>
      </p:sp>
      <p:sp>
        <p:nvSpPr>
          <p:cNvPr id="20" name="Shape 15"/>
          <p:cNvSpPr/>
          <p:nvPr/>
        </p:nvSpPr>
        <p:spPr>
          <a:xfrm>
            <a:off x="8591550" y="1714500"/>
            <a:ext cx="2457450" cy="800100"/>
          </a:xfrm>
          <a:prstGeom prst="roundRect">
            <a:avLst>
              <a:gd name="adj" fmla="val 13714"/>
            </a:avLst>
          </a:prstGeom>
          <a:solidFill>
            <a:srgbClr val="FFFFFF"/>
          </a:solidFill>
          <a:ln w="12700">
            <a:solidFill>
              <a:srgbClr val="FFFFFF"/>
            </a:solidFill>
            <a:prstDash val="solid"/>
          </a:ln>
        </p:spPr>
      </p:sp>
      <p:sp>
        <p:nvSpPr>
          <p:cNvPr id="21" name="Text 16"/>
          <p:cNvSpPr txBox="1"/>
          <p:nvPr/>
        </p:nvSpPr>
        <p:spPr>
          <a:xfrm>
            <a:off x="87439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359</a:t>
            </a:r>
            <a:pPr indent="0" marL="0">
              <a:buNone/>
            </a:pPr>
            <a:endParaRPr lang="en-US" sz="2800" dirty="0"/>
          </a:p>
        </p:txBody>
      </p:sp>
      <p:sp>
        <p:nvSpPr>
          <p:cNvPr id="22" name="Text 17"/>
          <p:cNvSpPr txBox="1"/>
          <p:nvPr/>
        </p:nvSpPr>
        <p:spPr>
          <a:xfrm>
            <a:off x="874395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order lines a month at the Jul–Oct average of Rp11.1M (Jul–Sep: 45 a month)</a:t>
            </a:r>
            <a:endParaRPr lang="en-US" sz="950" dirty="0"/>
          </a:p>
        </p:txBody>
      </p:sp>
      <p:sp>
        <p:nvSpPr>
          <p:cNvPr id="23" name="Shape 18"/>
          <p:cNvSpPr/>
          <p:nvPr/>
        </p:nvSpPr>
        <p:spPr>
          <a:xfrm>
            <a:off x="762000" y="2647950"/>
            <a:ext cx="5067300" cy="2609850"/>
          </a:xfrm>
          <a:prstGeom prst="roundRect">
            <a:avLst>
              <a:gd name="adj" fmla="val 4204"/>
            </a:avLst>
          </a:prstGeom>
          <a:solidFill>
            <a:srgbClr val="FFFFFF"/>
          </a:solidFill>
          <a:ln w="12700">
            <a:solidFill>
              <a:srgbClr val="FFFFFF"/>
            </a:solidFill>
            <a:prstDash val="solid"/>
          </a:ln>
        </p:spPr>
      </p:sp>
      <p:sp>
        <p:nvSpPr>
          <p:cNvPr id="24" name="Text 19"/>
          <p:cNvSpPr txBox="1"/>
          <p:nvPr/>
        </p:nvSpPr>
        <p:spPr>
          <a:xfrm>
            <a:off x="952500" y="2800350"/>
            <a:ext cx="46863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month vs the target</a:t>
            </a:r>
            <a:endParaRPr lang="en-US" sz="1300" dirty="0"/>
          </a:p>
        </p:txBody>
      </p:sp>
      <p:sp>
        <p:nvSpPr>
          <p:cNvPr id="25" name="Text 20"/>
          <p:cNvSpPr txBox="1"/>
          <p:nvPr/>
        </p:nvSpPr>
        <p:spPr>
          <a:xfrm>
            <a:off x="952500" y="3028950"/>
            <a:ext cx="46863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Fertilizer sales; Oct to 18 is partial</a:t>
            </a:r>
            <a:endParaRPr lang="en-US" sz="950" dirty="0"/>
          </a:p>
        </p:txBody>
      </p:sp>
      <p:sp>
        <p:nvSpPr>
          <p:cNvPr id="26" name="Shape 21"/>
          <p:cNvSpPr/>
          <p:nvPr/>
        </p:nvSpPr>
        <p:spPr>
          <a:xfrm>
            <a:off x="1051837" y="4813793"/>
            <a:ext cx="261989" cy="24907"/>
          </a:xfrm>
          <a:prstGeom prst="rect">
            <a:avLst/>
          </a:prstGeom>
          <a:solidFill>
            <a:srgbClr val="3E7B27"/>
          </a:solidFill>
          <a:ln w="12700">
            <a:solidFill>
              <a:srgbClr val="3E7B27"/>
            </a:solidFill>
            <a:prstDash val="solid"/>
          </a:ln>
        </p:spPr>
      </p:sp>
      <p:sp>
        <p:nvSpPr>
          <p:cNvPr id="27" name="Text 22"/>
          <p:cNvSpPr txBox="1"/>
          <p:nvPr/>
        </p:nvSpPr>
        <p:spPr>
          <a:xfrm>
            <a:off x="823237" y="4642343"/>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75M</a:t>
            </a:r>
            <a:endParaRPr lang="en-US" sz="860" dirty="0"/>
          </a:p>
        </p:txBody>
      </p:sp>
      <p:sp>
        <p:nvSpPr>
          <p:cNvPr id="28" name="Text 23"/>
          <p:cNvSpPr txBox="1"/>
          <p:nvPr/>
        </p:nvSpPr>
        <p:spPr>
          <a:xfrm>
            <a:off x="981075" y="48863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Jan</a:t>
            </a:r>
            <a:endParaRPr lang="en-US" sz="830" dirty="0"/>
          </a:p>
        </p:txBody>
      </p:sp>
      <p:sp>
        <p:nvSpPr>
          <p:cNvPr id="29" name="Text 24"/>
          <p:cNvSpPr txBox="1"/>
          <p:nvPr/>
        </p:nvSpPr>
        <p:spPr>
          <a:xfrm>
            <a:off x="1319645" y="4667250"/>
            <a:ext cx="571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0M</a:t>
            </a:r>
            <a:endParaRPr lang="en-US" sz="860" dirty="0"/>
          </a:p>
        </p:txBody>
      </p:sp>
      <p:sp>
        <p:nvSpPr>
          <p:cNvPr id="30" name="Text 25"/>
          <p:cNvSpPr txBox="1"/>
          <p:nvPr/>
        </p:nvSpPr>
        <p:spPr>
          <a:xfrm>
            <a:off x="1403639" y="48863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Feb</a:t>
            </a:r>
            <a:endParaRPr lang="en-US" sz="830" dirty="0"/>
          </a:p>
        </p:txBody>
      </p:sp>
      <p:sp>
        <p:nvSpPr>
          <p:cNvPr id="31" name="Text 26"/>
          <p:cNvSpPr txBox="1"/>
          <p:nvPr/>
        </p:nvSpPr>
        <p:spPr>
          <a:xfrm>
            <a:off x="1742209" y="4667250"/>
            <a:ext cx="571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0M</a:t>
            </a:r>
            <a:endParaRPr lang="en-US" sz="860" dirty="0"/>
          </a:p>
        </p:txBody>
      </p:sp>
      <p:sp>
        <p:nvSpPr>
          <p:cNvPr id="32" name="Text 27"/>
          <p:cNvSpPr txBox="1"/>
          <p:nvPr/>
        </p:nvSpPr>
        <p:spPr>
          <a:xfrm>
            <a:off x="1826202" y="48863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Mar</a:t>
            </a:r>
            <a:endParaRPr lang="en-US" sz="830" dirty="0"/>
          </a:p>
        </p:txBody>
      </p:sp>
      <p:sp>
        <p:nvSpPr>
          <p:cNvPr id="33" name="Shape 28"/>
          <p:cNvSpPr/>
          <p:nvPr/>
        </p:nvSpPr>
        <p:spPr>
          <a:xfrm>
            <a:off x="2319528" y="4819650"/>
            <a:ext cx="261989" cy="19050"/>
          </a:xfrm>
          <a:prstGeom prst="rect">
            <a:avLst/>
          </a:prstGeom>
          <a:solidFill>
            <a:srgbClr val="3E7B27"/>
          </a:solidFill>
          <a:ln w="12700">
            <a:solidFill>
              <a:srgbClr val="3E7B27"/>
            </a:solidFill>
            <a:prstDash val="solid"/>
          </a:ln>
        </p:spPr>
      </p:sp>
      <p:sp>
        <p:nvSpPr>
          <p:cNvPr id="34" name="Text 29"/>
          <p:cNvSpPr txBox="1"/>
          <p:nvPr/>
        </p:nvSpPr>
        <p:spPr>
          <a:xfrm>
            <a:off x="2090928" y="4648200"/>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28M</a:t>
            </a:r>
            <a:endParaRPr lang="en-US" sz="860" dirty="0"/>
          </a:p>
        </p:txBody>
      </p:sp>
      <p:sp>
        <p:nvSpPr>
          <p:cNvPr id="35" name="Text 30"/>
          <p:cNvSpPr txBox="1"/>
          <p:nvPr/>
        </p:nvSpPr>
        <p:spPr>
          <a:xfrm>
            <a:off x="2248766" y="48863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Apr</a:t>
            </a:r>
            <a:endParaRPr lang="en-US" sz="830" dirty="0"/>
          </a:p>
        </p:txBody>
      </p:sp>
      <p:sp>
        <p:nvSpPr>
          <p:cNvPr id="36" name="Shape 31"/>
          <p:cNvSpPr/>
          <p:nvPr/>
        </p:nvSpPr>
        <p:spPr>
          <a:xfrm>
            <a:off x="2742092" y="4817440"/>
            <a:ext cx="261989" cy="21260"/>
          </a:xfrm>
          <a:prstGeom prst="rect">
            <a:avLst/>
          </a:prstGeom>
          <a:solidFill>
            <a:srgbClr val="3E7B27"/>
          </a:solidFill>
          <a:ln w="12700">
            <a:solidFill>
              <a:srgbClr val="3E7B27"/>
            </a:solidFill>
            <a:prstDash val="solid"/>
          </a:ln>
        </p:spPr>
      </p:sp>
      <p:sp>
        <p:nvSpPr>
          <p:cNvPr id="37" name="Text 32"/>
          <p:cNvSpPr txBox="1"/>
          <p:nvPr/>
        </p:nvSpPr>
        <p:spPr>
          <a:xfrm>
            <a:off x="2513492" y="4645990"/>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64M</a:t>
            </a:r>
            <a:endParaRPr lang="en-US" sz="860" dirty="0"/>
          </a:p>
        </p:txBody>
      </p:sp>
      <p:sp>
        <p:nvSpPr>
          <p:cNvPr id="38" name="Text 33"/>
          <p:cNvSpPr txBox="1"/>
          <p:nvPr/>
        </p:nvSpPr>
        <p:spPr>
          <a:xfrm>
            <a:off x="2671330" y="48863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May</a:t>
            </a:r>
            <a:endParaRPr lang="en-US" sz="830" dirty="0"/>
          </a:p>
        </p:txBody>
      </p:sp>
      <p:sp>
        <p:nvSpPr>
          <p:cNvPr id="39" name="Shape 34"/>
          <p:cNvSpPr/>
          <p:nvPr/>
        </p:nvSpPr>
        <p:spPr>
          <a:xfrm>
            <a:off x="3164655" y="4716977"/>
            <a:ext cx="261989" cy="121723"/>
          </a:xfrm>
          <a:prstGeom prst="roundRect">
            <a:avLst>
              <a:gd name="adj" fmla="val 31301"/>
            </a:avLst>
          </a:prstGeom>
          <a:solidFill>
            <a:srgbClr val="3E7B27"/>
          </a:solidFill>
          <a:ln w="12700">
            <a:solidFill>
              <a:srgbClr val="3E7B27"/>
            </a:solidFill>
            <a:prstDash val="solid"/>
          </a:ln>
        </p:spPr>
      </p:sp>
      <p:sp>
        <p:nvSpPr>
          <p:cNvPr id="40" name="Text 35"/>
          <p:cNvSpPr txBox="1"/>
          <p:nvPr/>
        </p:nvSpPr>
        <p:spPr>
          <a:xfrm>
            <a:off x="2936055" y="4545527"/>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365M</a:t>
            </a:r>
            <a:endParaRPr lang="en-US" sz="860" dirty="0"/>
          </a:p>
        </p:txBody>
      </p:sp>
      <p:sp>
        <p:nvSpPr>
          <p:cNvPr id="41" name="Text 36"/>
          <p:cNvSpPr txBox="1"/>
          <p:nvPr/>
        </p:nvSpPr>
        <p:spPr>
          <a:xfrm>
            <a:off x="3093893" y="48863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Jun</a:t>
            </a:r>
            <a:endParaRPr lang="en-US" sz="830" dirty="0"/>
          </a:p>
        </p:txBody>
      </p:sp>
      <p:sp>
        <p:nvSpPr>
          <p:cNvPr id="42" name="Shape 37"/>
          <p:cNvSpPr/>
          <p:nvPr/>
        </p:nvSpPr>
        <p:spPr>
          <a:xfrm>
            <a:off x="3587219" y="4689507"/>
            <a:ext cx="261989" cy="149193"/>
          </a:xfrm>
          <a:prstGeom prst="roundRect">
            <a:avLst>
              <a:gd name="adj" fmla="val 25537"/>
            </a:avLst>
          </a:prstGeom>
          <a:solidFill>
            <a:srgbClr val="3E7B27"/>
          </a:solidFill>
          <a:ln w="12700">
            <a:solidFill>
              <a:srgbClr val="3E7B27"/>
            </a:solidFill>
            <a:prstDash val="solid"/>
          </a:ln>
        </p:spPr>
      </p:sp>
      <p:sp>
        <p:nvSpPr>
          <p:cNvPr id="43" name="Text 38"/>
          <p:cNvSpPr txBox="1"/>
          <p:nvPr/>
        </p:nvSpPr>
        <p:spPr>
          <a:xfrm>
            <a:off x="3358619" y="4518057"/>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448M</a:t>
            </a:r>
            <a:endParaRPr lang="en-US" sz="860" dirty="0"/>
          </a:p>
        </p:txBody>
      </p:sp>
      <p:sp>
        <p:nvSpPr>
          <p:cNvPr id="44" name="Text 39"/>
          <p:cNvSpPr txBox="1"/>
          <p:nvPr/>
        </p:nvSpPr>
        <p:spPr>
          <a:xfrm>
            <a:off x="3516457" y="48863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p:txBody>
      </p:sp>
      <p:sp>
        <p:nvSpPr>
          <p:cNvPr id="45" name="Shape 40"/>
          <p:cNvSpPr/>
          <p:nvPr/>
        </p:nvSpPr>
        <p:spPr>
          <a:xfrm>
            <a:off x="4009783" y="4778639"/>
            <a:ext cx="261989" cy="60061"/>
          </a:xfrm>
          <a:prstGeom prst="roundRect">
            <a:avLst>
              <a:gd name="adj" fmla="val 50000"/>
            </a:avLst>
          </a:prstGeom>
          <a:solidFill>
            <a:srgbClr val="3E7B27"/>
          </a:solidFill>
          <a:ln w="12700">
            <a:solidFill>
              <a:srgbClr val="3E7B27"/>
            </a:solidFill>
            <a:prstDash val="solid"/>
          </a:ln>
        </p:spPr>
      </p:sp>
      <p:sp>
        <p:nvSpPr>
          <p:cNvPr id="46" name="Text 41"/>
          <p:cNvSpPr txBox="1"/>
          <p:nvPr/>
        </p:nvSpPr>
        <p:spPr>
          <a:xfrm>
            <a:off x="3781183" y="4607189"/>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180M</a:t>
            </a:r>
            <a:endParaRPr lang="en-US" sz="860" dirty="0"/>
          </a:p>
        </p:txBody>
      </p:sp>
      <p:sp>
        <p:nvSpPr>
          <p:cNvPr id="47" name="Text 42"/>
          <p:cNvSpPr txBox="1"/>
          <p:nvPr/>
        </p:nvSpPr>
        <p:spPr>
          <a:xfrm>
            <a:off x="3939020" y="48863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Aug</a:t>
            </a:r>
            <a:endParaRPr lang="en-US" sz="830" dirty="0"/>
          </a:p>
        </p:txBody>
      </p:sp>
      <p:sp>
        <p:nvSpPr>
          <p:cNvPr id="48" name="Shape 43"/>
          <p:cNvSpPr/>
          <p:nvPr/>
        </p:nvSpPr>
        <p:spPr>
          <a:xfrm>
            <a:off x="4432346" y="4587054"/>
            <a:ext cx="261989" cy="251646"/>
          </a:xfrm>
          <a:prstGeom prst="roundRect">
            <a:avLst>
              <a:gd name="adj" fmla="val 15140"/>
            </a:avLst>
          </a:prstGeom>
          <a:solidFill>
            <a:srgbClr val="3E7B27"/>
          </a:solidFill>
          <a:ln w="12700">
            <a:solidFill>
              <a:srgbClr val="3E7B27"/>
            </a:solidFill>
            <a:prstDash val="solid"/>
          </a:ln>
        </p:spPr>
      </p:sp>
      <p:sp>
        <p:nvSpPr>
          <p:cNvPr id="49" name="Text 44"/>
          <p:cNvSpPr txBox="1"/>
          <p:nvPr/>
        </p:nvSpPr>
        <p:spPr>
          <a:xfrm>
            <a:off x="4203746" y="4415604"/>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755M</a:t>
            </a:r>
            <a:endParaRPr lang="en-US" sz="860" dirty="0"/>
          </a:p>
        </p:txBody>
      </p:sp>
      <p:sp>
        <p:nvSpPr>
          <p:cNvPr id="50" name="Text 45"/>
          <p:cNvSpPr txBox="1"/>
          <p:nvPr/>
        </p:nvSpPr>
        <p:spPr>
          <a:xfrm>
            <a:off x="4361584" y="48863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p:txBody>
      </p:sp>
      <p:sp>
        <p:nvSpPr>
          <p:cNvPr id="51" name="Shape 46"/>
          <p:cNvSpPr/>
          <p:nvPr/>
        </p:nvSpPr>
        <p:spPr>
          <a:xfrm>
            <a:off x="4854910" y="4690163"/>
            <a:ext cx="261989" cy="148537"/>
          </a:xfrm>
          <a:prstGeom prst="roundRect">
            <a:avLst>
              <a:gd name="adj" fmla="val 25650"/>
            </a:avLst>
          </a:prstGeom>
          <a:solidFill>
            <a:srgbClr val="B3BBAB"/>
          </a:solidFill>
          <a:ln w="12700">
            <a:solidFill>
              <a:srgbClr val="B3BBAB"/>
            </a:solidFill>
            <a:prstDash val="solid"/>
          </a:ln>
        </p:spPr>
      </p:sp>
      <p:sp>
        <p:nvSpPr>
          <p:cNvPr id="52" name="Text 47"/>
          <p:cNvSpPr txBox="1"/>
          <p:nvPr/>
        </p:nvSpPr>
        <p:spPr>
          <a:xfrm>
            <a:off x="4626310" y="4518713"/>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446M</a:t>
            </a:r>
            <a:endParaRPr lang="en-US" sz="860" dirty="0"/>
          </a:p>
        </p:txBody>
      </p:sp>
      <p:sp>
        <p:nvSpPr>
          <p:cNvPr id="53" name="Text 48"/>
          <p:cNvSpPr txBox="1"/>
          <p:nvPr/>
        </p:nvSpPr>
        <p:spPr>
          <a:xfrm>
            <a:off x="4784148" y="48863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Oct</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to 18</a:t>
            </a:r>
            <a:endParaRPr lang="en-US" sz="830" dirty="0"/>
          </a:p>
        </p:txBody>
      </p:sp>
      <p:sp>
        <p:nvSpPr>
          <p:cNvPr id="54" name="Shape 49"/>
          <p:cNvSpPr/>
          <p:nvPr/>
        </p:nvSpPr>
        <p:spPr>
          <a:xfrm>
            <a:off x="5277473" y="3505200"/>
            <a:ext cx="261989" cy="1333500"/>
          </a:xfrm>
          <a:prstGeom prst="roundRect">
            <a:avLst>
              <a:gd name="adj" fmla="val 14543"/>
            </a:avLst>
          </a:prstGeom>
          <a:solidFill>
            <a:srgbClr val="D9A21B"/>
          </a:solidFill>
          <a:ln w="12700">
            <a:solidFill>
              <a:srgbClr val="D9A21B"/>
            </a:solidFill>
            <a:prstDash val="solid"/>
          </a:ln>
        </p:spPr>
      </p:sp>
      <p:sp>
        <p:nvSpPr>
          <p:cNvPr id="55" name="Text 50"/>
          <p:cNvSpPr txBox="1"/>
          <p:nvPr/>
        </p:nvSpPr>
        <p:spPr>
          <a:xfrm>
            <a:off x="5048873" y="3333750"/>
            <a:ext cx="71918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4.0B</a:t>
            </a:r>
            <a:endParaRPr lang="en-US" sz="860" dirty="0"/>
          </a:p>
        </p:txBody>
      </p:sp>
      <p:sp>
        <p:nvSpPr>
          <p:cNvPr id="56" name="Text 51"/>
          <p:cNvSpPr txBox="1"/>
          <p:nvPr/>
        </p:nvSpPr>
        <p:spPr>
          <a:xfrm>
            <a:off x="5206711" y="4886325"/>
            <a:ext cx="40351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Target</a:t>
            </a:r>
            <a:endParaRPr lang="en-US" sz="830" dirty="0"/>
          </a:p>
        </p:txBody>
      </p:sp>
      <p:sp>
        <p:nvSpPr>
          <p:cNvPr id="57" name="Shape 52"/>
          <p:cNvSpPr/>
          <p:nvPr/>
        </p:nvSpPr>
        <p:spPr>
          <a:xfrm>
            <a:off x="971550" y="4838700"/>
            <a:ext cx="4648200" cy="0"/>
          </a:xfrm>
          <a:prstGeom prst="line">
            <a:avLst/>
          </a:prstGeom>
          <a:noFill/>
          <a:ln w="9525">
            <a:solidFill>
              <a:srgbClr val="B9C2B0"/>
            </a:solidFill>
            <a:prstDash val="solid"/>
          </a:ln>
        </p:spPr>
      </p:sp>
      <p:sp>
        <p:nvSpPr>
          <p:cNvPr id="58" name="Shape 53"/>
          <p:cNvSpPr/>
          <p:nvPr/>
        </p:nvSpPr>
        <p:spPr>
          <a:xfrm>
            <a:off x="5981700" y="2647950"/>
            <a:ext cx="5067300" cy="2609850"/>
          </a:xfrm>
          <a:prstGeom prst="roundRect">
            <a:avLst>
              <a:gd name="adj" fmla="val 4204"/>
            </a:avLst>
          </a:prstGeom>
          <a:solidFill>
            <a:srgbClr val="FFFFFF"/>
          </a:solidFill>
          <a:ln w="12700">
            <a:solidFill>
              <a:srgbClr val="FFFFFF"/>
            </a:solidFill>
            <a:prstDash val="solid"/>
          </a:ln>
        </p:spPr>
      </p:sp>
      <p:sp>
        <p:nvSpPr>
          <p:cNvPr id="59" name="Text 54"/>
          <p:cNvSpPr txBox="1"/>
          <p:nvPr/>
        </p:nvSpPr>
        <p:spPr>
          <a:xfrm>
            <a:off x="6172200" y="2800350"/>
            <a:ext cx="46863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Fertilizer tonnes: history and the plan</a:t>
            </a:r>
            <a:endParaRPr lang="en-US" sz="1300" dirty="0"/>
          </a:p>
        </p:txBody>
      </p:sp>
      <p:sp>
        <p:nvSpPr>
          <p:cNvPr id="60" name="Text 55"/>
          <p:cNvSpPr txBox="1"/>
          <p:nvPr/>
        </p:nvSpPr>
        <p:spPr>
          <a:xfrm>
            <a:off x="6172200" y="3028950"/>
            <a:ext cx="46863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Tonnes per month; plan in yellow</a:t>
            </a:r>
            <a:endParaRPr lang="en-US" sz="950" dirty="0"/>
          </a:p>
        </p:txBody>
      </p:sp>
      <p:sp>
        <p:nvSpPr>
          <p:cNvPr id="61" name="Shape 56"/>
          <p:cNvSpPr/>
          <p:nvPr/>
        </p:nvSpPr>
        <p:spPr>
          <a:xfrm>
            <a:off x="6259185" y="4818941"/>
            <a:ext cx="221683" cy="19759"/>
          </a:xfrm>
          <a:prstGeom prst="rect">
            <a:avLst/>
          </a:prstGeom>
          <a:solidFill>
            <a:srgbClr val="3E7B27"/>
          </a:solidFill>
          <a:ln w="12700">
            <a:solidFill>
              <a:srgbClr val="3E7B27"/>
            </a:solidFill>
            <a:prstDash val="solid"/>
          </a:ln>
        </p:spPr>
      </p:sp>
      <p:sp>
        <p:nvSpPr>
          <p:cNvPr id="62" name="Text 57"/>
          <p:cNvSpPr txBox="1"/>
          <p:nvPr/>
        </p:nvSpPr>
        <p:spPr>
          <a:xfrm>
            <a:off x="6030585" y="4647491"/>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10</a:t>
            </a:r>
            <a:endParaRPr lang="en-US" sz="860" dirty="0"/>
          </a:p>
        </p:txBody>
      </p:sp>
      <p:sp>
        <p:nvSpPr>
          <p:cNvPr id="63" name="Text 58"/>
          <p:cNvSpPr txBox="1"/>
          <p:nvPr/>
        </p:nvSpPr>
        <p:spPr>
          <a:xfrm>
            <a:off x="6200775" y="48863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Jan</a:t>
            </a:r>
            <a:endParaRPr lang="en-US" sz="830" dirty="0"/>
          </a:p>
        </p:txBody>
      </p:sp>
      <p:sp>
        <p:nvSpPr>
          <p:cNvPr id="64" name="Text 59"/>
          <p:cNvSpPr txBox="1"/>
          <p:nvPr/>
        </p:nvSpPr>
        <p:spPr>
          <a:xfrm>
            <a:off x="6441831" y="4667250"/>
            <a:ext cx="571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0</a:t>
            </a:r>
            <a:endParaRPr lang="en-US" sz="860" dirty="0"/>
          </a:p>
        </p:txBody>
      </p:sp>
      <p:sp>
        <p:nvSpPr>
          <p:cNvPr id="65" name="Text 60"/>
          <p:cNvSpPr txBox="1"/>
          <p:nvPr/>
        </p:nvSpPr>
        <p:spPr>
          <a:xfrm>
            <a:off x="6558329" y="48863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Feb</a:t>
            </a:r>
            <a:endParaRPr lang="en-US" sz="830" dirty="0"/>
          </a:p>
        </p:txBody>
      </p:sp>
      <p:sp>
        <p:nvSpPr>
          <p:cNvPr id="66" name="Text 61"/>
          <p:cNvSpPr txBox="1"/>
          <p:nvPr/>
        </p:nvSpPr>
        <p:spPr>
          <a:xfrm>
            <a:off x="6799385" y="4667250"/>
            <a:ext cx="571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0</a:t>
            </a:r>
            <a:endParaRPr lang="en-US" sz="860" dirty="0"/>
          </a:p>
        </p:txBody>
      </p:sp>
      <p:sp>
        <p:nvSpPr>
          <p:cNvPr id="67" name="Text 62"/>
          <p:cNvSpPr txBox="1"/>
          <p:nvPr/>
        </p:nvSpPr>
        <p:spPr>
          <a:xfrm>
            <a:off x="6915883" y="48863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Mar</a:t>
            </a:r>
            <a:endParaRPr lang="en-US" sz="830" dirty="0"/>
          </a:p>
        </p:txBody>
      </p:sp>
      <p:sp>
        <p:nvSpPr>
          <p:cNvPr id="68" name="Shape 63"/>
          <p:cNvSpPr/>
          <p:nvPr/>
        </p:nvSpPr>
        <p:spPr>
          <a:xfrm>
            <a:off x="7331847" y="4819650"/>
            <a:ext cx="221683" cy="19050"/>
          </a:xfrm>
          <a:prstGeom prst="rect">
            <a:avLst/>
          </a:prstGeom>
          <a:solidFill>
            <a:srgbClr val="3E7B27"/>
          </a:solidFill>
          <a:ln w="12700">
            <a:solidFill>
              <a:srgbClr val="3E7B27"/>
            </a:solidFill>
            <a:prstDash val="solid"/>
          </a:ln>
        </p:spPr>
      </p:sp>
      <p:sp>
        <p:nvSpPr>
          <p:cNvPr id="69" name="Text 64"/>
          <p:cNvSpPr txBox="1"/>
          <p:nvPr/>
        </p:nvSpPr>
        <p:spPr>
          <a:xfrm>
            <a:off x="7103247" y="4648200"/>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6</a:t>
            </a:r>
            <a:endParaRPr lang="en-US" sz="860" dirty="0"/>
          </a:p>
        </p:txBody>
      </p:sp>
      <p:sp>
        <p:nvSpPr>
          <p:cNvPr id="70" name="Text 65"/>
          <p:cNvSpPr txBox="1"/>
          <p:nvPr/>
        </p:nvSpPr>
        <p:spPr>
          <a:xfrm>
            <a:off x="7273437" y="48863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Apr</a:t>
            </a:r>
            <a:endParaRPr lang="en-US" sz="830" dirty="0"/>
          </a:p>
        </p:txBody>
      </p:sp>
      <p:sp>
        <p:nvSpPr>
          <p:cNvPr id="71" name="Shape 66"/>
          <p:cNvSpPr/>
          <p:nvPr/>
        </p:nvSpPr>
        <p:spPr>
          <a:xfrm>
            <a:off x="7689401" y="4819650"/>
            <a:ext cx="221683" cy="19050"/>
          </a:xfrm>
          <a:prstGeom prst="rect">
            <a:avLst/>
          </a:prstGeom>
          <a:solidFill>
            <a:srgbClr val="3E7B27"/>
          </a:solidFill>
          <a:ln w="12700">
            <a:solidFill>
              <a:srgbClr val="3E7B27"/>
            </a:solidFill>
            <a:prstDash val="solid"/>
          </a:ln>
        </p:spPr>
      </p:sp>
      <p:sp>
        <p:nvSpPr>
          <p:cNvPr id="72" name="Text 67"/>
          <p:cNvSpPr txBox="1"/>
          <p:nvPr/>
        </p:nvSpPr>
        <p:spPr>
          <a:xfrm>
            <a:off x="7460801" y="4648200"/>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9</a:t>
            </a:r>
            <a:endParaRPr lang="en-US" sz="860" dirty="0"/>
          </a:p>
        </p:txBody>
      </p:sp>
      <p:sp>
        <p:nvSpPr>
          <p:cNvPr id="73" name="Text 68"/>
          <p:cNvSpPr txBox="1"/>
          <p:nvPr/>
        </p:nvSpPr>
        <p:spPr>
          <a:xfrm>
            <a:off x="7630990" y="48863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May</a:t>
            </a:r>
            <a:endParaRPr lang="en-US" sz="830" dirty="0"/>
          </a:p>
        </p:txBody>
      </p:sp>
      <p:sp>
        <p:nvSpPr>
          <p:cNvPr id="74" name="Shape 69"/>
          <p:cNvSpPr/>
          <p:nvPr/>
        </p:nvSpPr>
        <p:spPr>
          <a:xfrm>
            <a:off x="8046954" y="4720718"/>
            <a:ext cx="221683" cy="117982"/>
          </a:xfrm>
          <a:prstGeom prst="roundRect">
            <a:avLst>
              <a:gd name="adj" fmla="val 32293"/>
            </a:avLst>
          </a:prstGeom>
          <a:solidFill>
            <a:srgbClr val="3E7B27"/>
          </a:solidFill>
          <a:ln w="12700">
            <a:solidFill>
              <a:srgbClr val="3E7B27"/>
            </a:solidFill>
            <a:prstDash val="solid"/>
          </a:ln>
        </p:spPr>
      </p:sp>
      <p:sp>
        <p:nvSpPr>
          <p:cNvPr id="75" name="Text 70"/>
          <p:cNvSpPr txBox="1"/>
          <p:nvPr/>
        </p:nvSpPr>
        <p:spPr>
          <a:xfrm>
            <a:off x="7818354" y="4549268"/>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57</a:t>
            </a:r>
            <a:endParaRPr lang="en-US" sz="860" dirty="0"/>
          </a:p>
        </p:txBody>
      </p:sp>
      <p:sp>
        <p:nvSpPr>
          <p:cNvPr id="76" name="Text 71"/>
          <p:cNvSpPr txBox="1"/>
          <p:nvPr/>
        </p:nvSpPr>
        <p:spPr>
          <a:xfrm>
            <a:off x="7988544" y="48863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Jun</a:t>
            </a:r>
            <a:endParaRPr lang="en-US" sz="830" dirty="0"/>
          </a:p>
        </p:txBody>
      </p:sp>
      <p:sp>
        <p:nvSpPr>
          <p:cNvPr id="77" name="Shape 72"/>
          <p:cNvSpPr/>
          <p:nvPr/>
        </p:nvSpPr>
        <p:spPr>
          <a:xfrm>
            <a:off x="8404508" y="4683384"/>
            <a:ext cx="221683" cy="155316"/>
          </a:xfrm>
          <a:prstGeom prst="roundRect">
            <a:avLst>
              <a:gd name="adj" fmla="val 24531"/>
            </a:avLst>
          </a:prstGeom>
          <a:solidFill>
            <a:srgbClr val="3E7B27"/>
          </a:solidFill>
          <a:ln w="12700">
            <a:solidFill>
              <a:srgbClr val="3E7B27"/>
            </a:solidFill>
            <a:prstDash val="solid"/>
          </a:ln>
        </p:spPr>
      </p:sp>
      <p:sp>
        <p:nvSpPr>
          <p:cNvPr id="78" name="Text 73"/>
          <p:cNvSpPr txBox="1"/>
          <p:nvPr/>
        </p:nvSpPr>
        <p:spPr>
          <a:xfrm>
            <a:off x="8175908" y="4511934"/>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75</a:t>
            </a:r>
            <a:endParaRPr lang="en-US" sz="860" dirty="0"/>
          </a:p>
        </p:txBody>
      </p:sp>
      <p:sp>
        <p:nvSpPr>
          <p:cNvPr id="79" name="Text 74"/>
          <p:cNvSpPr txBox="1"/>
          <p:nvPr/>
        </p:nvSpPr>
        <p:spPr>
          <a:xfrm>
            <a:off x="8346098" y="48863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p:txBody>
      </p:sp>
      <p:sp>
        <p:nvSpPr>
          <p:cNvPr id="80" name="Shape 75"/>
          <p:cNvSpPr/>
          <p:nvPr/>
        </p:nvSpPr>
        <p:spPr>
          <a:xfrm>
            <a:off x="8762062" y="4771104"/>
            <a:ext cx="221683" cy="67596"/>
          </a:xfrm>
          <a:prstGeom prst="roundRect">
            <a:avLst>
              <a:gd name="adj" fmla="val 50000"/>
            </a:avLst>
          </a:prstGeom>
          <a:solidFill>
            <a:srgbClr val="3E7B27"/>
          </a:solidFill>
          <a:ln w="12700">
            <a:solidFill>
              <a:srgbClr val="3E7B27"/>
            </a:solidFill>
            <a:prstDash val="solid"/>
          </a:ln>
        </p:spPr>
      </p:sp>
      <p:sp>
        <p:nvSpPr>
          <p:cNvPr id="81" name="Text 76"/>
          <p:cNvSpPr txBox="1"/>
          <p:nvPr/>
        </p:nvSpPr>
        <p:spPr>
          <a:xfrm>
            <a:off x="8533462" y="4599654"/>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33</a:t>
            </a:r>
            <a:endParaRPr lang="en-US" sz="860" dirty="0"/>
          </a:p>
        </p:txBody>
      </p:sp>
      <p:sp>
        <p:nvSpPr>
          <p:cNvPr id="82" name="Text 77"/>
          <p:cNvSpPr txBox="1"/>
          <p:nvPr/>
        </p:nvSpPr>
        <p:spPr>
          <a:xfrm>
            <a:off x="8703652" y="48863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Aug</a:t>
            </a:r>
            <a:endParaRPr lang="en-US" sz="830" dirty="0"/>
          </a:p>
        </p:txBody>
      </p:sp>
      <p:sp>
        <p:nvSpPr>
          <p:cNvPr id="83" name="Shape 78"/>
          <p:cNvSpPr/>
          <p:nvPr/>
        </p:nvSpPr>
        <p:spPr>
          <a:xfrm>
            <a:off x="9119616" y="4593377"/>
            <a:ext cx="221683" cy="245323"/>
          </a:xfrm>
          <a:prstGeom prst="roundRect">
            <a:avLst>
              <a:gd name="adj" fmla="val 17187"/>
            </a:avLst>
          </a:prstGeom>
          <a:solidFill>
            <a:srgbClr val="3E7B27"/>
          </a:solidFill>
          <a:ln w="12700">
            <a:solidFill>
              <a:srgbClr val="3E7B27"/>
            </a:solidFill>
            <a:prstDash val="solid"/>
          </a:ln>
        </p:spPr>
      </p:sp>
      <p:sp>
        <p:nvSpPr>
          <p:cNvPr id="84" name="Text 79"/>
          <p:cNvSpPr txBox="1"/>
          <p:nvPr/>
        </p:nvSpPr>
        <p:spPr>
          <a:xfrm>
            <a:off x="8891016" y="4421927"/>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118</a:t>
            </a:r>
            <a:endParaRPr lang="en-US" sz="860" dirty="0"/>
          </a:p>
        </p:txBody>
      </p:sp>
      <p:sp>
        <p:nvSpPr>
          <p:cNvPr id="85" name="Text 80"/>
          <p:cNvSpPr txBox="1"/>
          <p:nvPr/>
        </p:nvSpPr>
        <p:spPr>
          <a:xfrm>
            <a:off x="9061206" y="48863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p:txBody>
      </p:sp>
      <p:sp>
        <p:nvSpPr>
          <p:cNvPr id="86" name="Shape 81"/>
          <p:cNvSpPr/>
          <p:nvPr/>
        </p:nvSpPr>
        <p:spPr>
          <a:xfrm>
            <a:off x="9477170" y="4706003"/>
            <a:ext cx="221683" cy="132697"/>
          </a:xfrm>
          <a:prstGeom prst="roundRect">
            <a:avLst>
              <a:gd name="adj" fmla="val 28712"/>
            </a:avLst>
          </a:prstGeom>
          <a:solidFill>
            <a:srgbClr val="B3BBAB"/>
          </a:solidFill>
          <a:ln w="12700">
            <a:solidFill>
              <a:srgbClr val="B3BBAB"/>
            </a:solidFill>
            <a:prstDash val="solid"/>
          </a:ln>
        </p:spPr>
      </p:sp>
      <p:sp>
        <p:nvSpPr>
          <p:cNvPr id="87" name="Text 82"/>
          <p:cNvSpPr txBox="1"/>
          <p:nvPr/>
        </p:nvSpPr>
        <p:spPr>
          <a:xfrm>
            <a:off x="9248570" y="4534553"/>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64</a:t>
            </a:r>
            <a:endParaRPr lang="en-US" sz="860" dirty="0"/>
          </a:p>
        </p:txBody>
      </p:sp>
      <p:sp>
        <p:nvSpPr>
          <p:cNvPr id="88" name="Text 83"/>
          <p:cNvSpPr txBox="1"/>
          <p:nvPr/>
        </p:nvSpPr>
        <p:spPr>
          <a:xfrm>
            <a:off x="9418760" y="48863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Oct</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to 18</a:t>
            </a:r>
            <a:endParaRPr lang="en-US" sz="830" dirty="0"/>
          </a:p>
        </p:txBody>
      </p:sp>
      <p:sp>
        <p:nvSpPr>
          <p:cNvPr id="89" name="Shape 84"/>
          <p:cNvSpPr/>
          <p:nvPr/>
        </p:nvSpPr>
        <p:spPr>
          <a:xfrm>
            <a:off x="9834724" y="4279345"/>
            <a:ext cx="221683" cy="559355"/>
          </a:xfrm>
          <a:prstGeom prst="roundRect">
            <a:avLst>
              <a:gd name="adj" fmla="val 17187"/>
            </a:avLst>
          </a:prstGeom>
          <a:solidFill>
            <a:srgbClr val="D9A21B"/>
          </a:solidFill>
          <a:ln w="12700">
            <a:solidFill>
              <a:srgbClr val="D9A21B"/>
            </a:solidFill>
            <a:prstDash val="solid"/>
          </a:ln>
        </p:spPr>
      </p:sp>
      <p:sp>
        <p:nvSpPr>
          <p:cNvPr id="90" name="Text 85"/>
          <p:cNvSpPr txBox="1"/>
          <p:nvPr/>
        </p:nvSpPr>
        <p:spPr>
          <a:xfrm>
            <a:off x="9606124" y="4107895"/>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269</a:t>
            </a:r>
            <a:endParaRPr lang="en-US" sz="860" dirty="0"/>
          </a:p>
        </p:txBody>
      </p:sp>
      <p:sp>
        <p:nvSpPr>
          <p:cNvPr id="91" name="Text 86"/>
          <p:cNvSpPr txBox="1"/>
          <p:nvPr/>
        </p:nvSpPr>
        <p:spPr>
          <a:xfrm>
            <a:off x="9776313" y="48863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Oct</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19–31</a:t>
            </a:r>
            <a:endParaRPr lang="en-US" sz="830" dirty="0"/>
          </a:p>
        </p:txBody>
      </p:sp>
      <p:sp>
        <p:nvSpPr>
          <p:cNvPr id="92" name="Shape 87"/>
          <p:cNvSpPr/>
          <p:nvPr/>
        </p:nvSpPr>
        <p:spPr>
          <a:xfrm>
            <a:off x="10192278" y="3505200"/>
            <a:ext cx="221683" cy="1333500"/>
          </a:xfrm>
          <a:prstGeom prst="roundRect">
            <a:avLst>
              <a:gd name="adj" fmla="val 17187"/>
            </a:avLst>
          </a:prstGeom>
          <a:solidFill>
            <a:srgbClr val="D9A21B"/>
          </a:solidFill>
          <a:ln w="12700">
            <a:solidFill>
              <a:srgbClr val="D9A21B"/>
            </a:solidFill>
            <a:prstDash val="solid"/>
          </a:ln>
        </p:spPr>
      </p:sp>
      <p:sp>
        <p:nvSpPr>
          <p:cNvPr id="93" name="Text 88"/>
          <p:cNvSpPr txBox="1"/>
          <p:nvPr/>
        </p:nvSpPr>
        <p:spPr>
          <a:xfrm>
            <a:off x="9963678" y="3333750"/>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641</a:t>
            </a:r>
            <a:endParaRPr lang="en-US" sz="860" dirty="0"/>
          </a:p>
        </p:txBody>
      </p:sp>
      <p:sp>
        <p:nvSpPr>
          <p:cNvPr id="94" name="Text 89"/>
          <p:cNvSpPr txBox="1"/>
          <p:nvPr/>
        </p:nvSpPr>
        <p:spPr>
          <a:xfrm>
            <a:off x="10133867" y="48863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Nov</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2026</a:t>
            </a:r>
            <a:endParaRPr lang="en-US" sz="830" dirty="0"/>
          </a:p>
        </p:txBody>
      </p:sp>
      <p:sp>
        <p:nvSpPr>
          <p:cNvPr id="95" name="Shape 90"/>
          <p:cNvSpPr/>
          <p:nvPr/>
        </p:nvSpPr>
        <p:spPr>
          <a:xfrm>
            <a:off x="10549831" y="3505200"/>
            <a:ext cx="221683" cy="1333500"/>
          </a:xfrm>
          <a:prstGeom prst="roundRect">
            <a:avLst>
              <a:gd name="adj" fmla="val 17187"/>
            </a:avLst>
          </a:prstGeom>
          <a:solidFill>
            <a:srgbClr val="D9A21B"/>
          </a:solidFill>
          <a:ln w="12700">
            <a:solidFill>
              <a:srgbClr val="D9A21B"/>
            </a:solidFill>
            <a:prstDash val="solid"/>
          </a:ln>
        </p:spPr>
      </p:sp>
      <p:sp>
        <p:nvSpPr>
          <p:cNvPr id="96" name="Text 91"/>
          <p:cNvSpPr txBox="1"/>
          <p:nvPr/>
        </p:nvSpPr>
        <p:spPr>
          <a:xfrm>
            <a:off x="10321231" y="3333750"/>
            <a:ext cx="678883"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641</a:t>
            </a:r>
            <a:endParaRPr lang="en-US" sz="860" dirty="0"/>
          </a:p>
        </p:txBody>
      </p:sp>
      <p:sp>
        <p:nvSpPr>
          <p:cNvPr id="97" name="Text 92"/>
          <p:cNvSpPr txBox="1"/>
          <p:nvPr/>
        </p:nvSpPr>
        <p:spPr>
          <a:xfrm>
            <a:off x="10491421" y="4886325"/>
            <a:ext cx="338504"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Dec</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2026</a:t>
            </a:r>
            <a:endParaRPr lang="en-US" sz="830" dirty="0"/>
          </a:p>
        </p:txBody>
      </p:sp>
      <p:sp>
        <p:nvSpPr>
          <p:cNvPr id="98" name="Shape 93"/>
          <p:cNvSpPr/>
          <p:nvPr/>
        </p:nvSpPr>
        <p:spPr>
          <a:xfrm>
            <a:off x="6191250" y="4838700"/>
            <a:ext cx="4648200" cy="0"/>
          </a:xfrm>
          <a:prstGeom prst="line">
            <a:avLst/>
          </a:prstGeom>
          <a:noFill/>
          <a:ln w="9525">
            <a:solidFill>
              <a:srgbClr val="B9C2B0"/>
            </a:solidFill>
            <a:prstDash val="solid"/>
          </a:ln>
        </p:spPr>
      </p:sp>
      <p:sp>
        <p:nvSpPr>
          <p:cNvPr id="99" name="Shape 94"/>
          <p:cNvSpPr/>
          <p:nvPr/>
        </p:nvSpPr>
        <p:spPr>
          <a:xfrm>
            <a:off x="762000" y="5391150"/>
            <a:ext cx="10287000" cy="723900"/>
          </a:xfrm>
          <a:prstGeom prst="roundRect">
            <a:avLst>
              <a:gd name="adj" fmla="val 15158"/>
            </a:avLst>
          </a:prstGeom>
          <a:solidFill>
            <a:srgbClr val="FBEFC4"/>
          </a:solidFill>
          <a:ln w="12700">
            <a:solidFill>
              <a:srgbClr val="FBEFC4"/>
            </a:solidFill>
            <a:prstDash val="solid"/>
          </a:ln>
        </p:spPr>
      </p:sp>
      <p:sp>
        <p:nvSpPr>
          <p:cNvPr id="100" name="Text 95"/>
          <p:cNvSpPr txBox="1"/>
          <p:nvPr/>
        </p:nvSpPr>
        <p:spPr>
          <a:xfrm>
            <a:off x="933450" y="5476875"/>
            <a:ext cx="9944100" cy="55245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Method: the Rp4B target is split by each area's share of fertilizer GMV (Riau 83%, Sumatera Utara 10%, Sumatera Selatan 7%). Rupiah is turned into kg at the prices in “list pricing”, with each area's product and price-tier mix from the last 4 months (Jul–Oct). Part months are pro rata by day.</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Data: 1 SKU is not on the price list and uses the last selling price (Mahkota ZA).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Sales amount · target Rp4B a month · plan 19 Oct – 31 Dec 2026 · data to 18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4</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FORECAST · WEEKLY STOCK PLAN</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1,551 MT from 19 Oct to 31 Dec: about 147 MT a week for Rp4B a month</a:t>
            </a:r>
            <a:endParaRPr lang="en-US" sz="2300" dirty="0"/>
          </a:p>
        </p:txBody>
      </p:sp>
      <p:sp>
        <p:nvSpPr>
          <p:cNvPr id="11" name="Shape 6"/>
          <p:cNvSpPr/>
          <p:nvPr/>
        </p:nvSpPr>
        <p:spPr>
          <a:xfrm>
            <a:off x="762000" y="1714500"/>
            <a:ext cx="10287000" cy="4400550"/>
          </a:xfrm>
          <a:prstGeom prst="roundRect">
            <a:avLst>
              <a:gd name="adj" fmla="val 2494"/>
            </a:avLst>
          </a:prstGeom>
          <a:solidFill>
            <a:srgbClr val="FFFFFF"/>
          </a:solidFill>
          <a:ln w="12700">
            <a:solidFill>
              <a:srgbClr val="FFFFFF"/>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14400" y="1885950"/>
          <a:ext cx="9982200" cy="914400"/>
        </p:xfrm>
        <a:graphic>
          <a:graphicData uri="http://schemas.openxmlformats.org/drawingml/2006/table">
            <a:tbl>
              <a:tblPr/>
              <a:tblGrid>
                <a:gridCol w="499110"/>
                <a:gridCol w="1497330"/>
                <a:gridCol w="1098042"/>
                <a:gridCol w="998220"/>
                <a:gridCol w="798576"/>
                <a:gridCol w="5090922"/>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Week</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Dates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Target sales (IDR)</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Stock (MT)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Bags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Largest SKUs (bags)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W1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19–25 Oct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Rp903M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144.8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2,931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KCL Canada Cap Mahkota 901 · RP Mahkota Egypt 399 · RP Sasco Egypt 217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W2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26 Oct – 1 Nov</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Rp908M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145.6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2,947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KCL Canada Cap Mahkota 906 · RP Mahkota Egypt 401 · RP Sasco Egypt 218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W3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2–8 Nov</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Rp933M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149.7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3,029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KCL Canada Cap Mahkota 931 · RP Mahkota Egypt 413 · RP Sasco Egypt 224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W4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9–15 Nov</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Rp933M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149.7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3,029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KCL Canada Cap Mahkota 931 · RP Mahkota Egypt 413 · RP Sasco Egypt 224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W5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16–22 Nov</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Rp933M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149.7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3,029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KCL Canada Cap Mahkota 931 · RP Mahkota Egypt 413 · RP Sasco Egypt 224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W6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23–29 Nov</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Rp933M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149.7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3,029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KCL Canada Cap Mahkota 931 · RP Mahkota Egypt 413 · RP Sasco Egypt 224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W7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30 Nov – 6 Dec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Rp908M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145.5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2,944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KCL Canada Cap Mahkota 905 · RP Mahkota Egypt 401 · RP Sasco Egypt 218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W8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7–13 Dec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Rp903M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144.7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2,927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KCL Canada Cap Mahkota 901 · RP Mahkota Egypt 399 · RP Sasco Egypt 217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W9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14–20 Dec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Rp903M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144.7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2,927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KCL Canada Cap Mahkota 901 · RP Mahkota Egypt 399 · RP Sasco Egypt 217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W10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21–27 Dec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Rp903M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144.7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2,927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KCL Canada Cap Mahkota 901 · RP Mahkota Egypt 399 · RP Sasco Egypt 217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W11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28–31 Dec (4 days)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Rp516M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82.8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1,674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KCL Canada Cap Mahkota 515 · RP Mahkota Egypt 228 · RP Sasco Egypt 124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Total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19 Oct – 31 Dec 2026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Rp9.68B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1,551.5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31,393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
        <p:nvSpPr>
          <p:cNvPr id="13" name="Text 7"/>
          <p:cNvSpPr txBox="1"/>
          <p:nvPr/>
        </p:nvSpPr>
        <p:spPr>
          <a:xfrm>
            <a:off x="952500" y="5562600"/>
            <a:ext cx="9906000" cy="495300"/>
          </a:xfrm>
          <a:prstGeom prst="rect">
            <a:avLst/>
          </a:prstGeom>
          <a:noFill/>
          <a:ln/>
        </p:spPr>
        <p:txBody>
          <a:bodyPr wrap="square" lIns="0" tIns="0" rIns="0" bIns="0" rtlCol="0" anchor="b">
            <a:normAutofit/>
          </a:bodyPr>
          <a:lstStyle/>
          <a:p>
            <a:pPr indent="0" marL="0">
              <a:buNone/>
            </a:pPr>
            <a:r>
              <a:rPr lang="en-US" sz="1000" dirty="0">
                <a:solidFill>
                  <a:srgbClr val="535353"/>
                </a:solidFill>
                <a:latin typeface="Plus Jakarta Sans" pitchFamily="34" charset="0"/>
                <a:ea typeface="Plus Jakarta Sans" pitchFamily="34" charset="-122"/>
                <a:cs typeface="Plus Jakarta Sans" pitchFamily="34" charset="-120"/>
              </a:rPr>
              <a:t>Weeks run Monday to Sunday; each month's plan is spread evenly over its days, so a short week needs less. Bags are rounded per week; top 3 SKUs in bags.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Sales amount · target Rp4B a month · plan 19 Oct – 31 Dec 2026 · data to 18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5</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FORECAST · WEEKLY PLAN BY SKU</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KCL Canada Cap Mahkota, RP Mahkota Egypt, RP Sasco Egypt are 52% of the tonnes to stock by week</a:t>
            </a:r>
            <a:endParaRPr lang="en-US" sz="2300" dirty="0"/>
          </a:p>
        </p:txBody>
      </p:sp>
      <p:sp>
        <p:nvSpPr>
          <p:cNvPr id="11" name="Shape 6"/>
          <p:cNvSpPr/>
          <p:nvPr/>
        </p:nvSpPr>
        <p:spPr>
          <a:xfrm>
            <a:off x="762000" y="1714500"/>
            <a:ext cx="10287000" cy="4400550"/>
          </a:xfrm>
          <a:prstGeom prst="roundRect">
            <a:avLst>
              <a:gd name="adj" fmla="val 2494"/>
            </a:avLst>
          </a:prstGeom>
          <a:solidFill>
            <a:srgbClr val="FFFFFF"/>
          </a:solidFill>
          <a:ln w="12700">
            <a:solidFill>
              <a:srgbClr val="FFFFFF"/>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1885950"/>
          <a:ext cx="9982200" cy="914400"/>
        </p:xfrm>
        <a:graphic>
          <a:graphicData uri="http://schemas.openxmlformats.org/drawingml/2006/table">
            <a:tbl>
              <a:tblPr/>
              <a:tblGrid>
                <a:gridCol w="2260121"/>
                <a:gridCol w="565030"/>
                <a:gridCol w="565030"/>
                <a:gridCol w="565030"/>
                <a:gridCol w="565030"/>
                <a:gridCol w="565030"/>
                <a:gridCol w="565030"/>
                <a:gridCol w="565030"/>
                <a:gridCol w="565030"/>
                <a:gridCol w="565030"/>
                <a:gridCol w="565030"/>
                <a:gridCol w="565030"/>
                <a:gridCol w="753374"/>
                <a:gridCol w="753374"/>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SKU</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19 Oct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26 Oct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2 Nov</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9 Nov</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16 Nov</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23 Nov</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30 Nov</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7 Dec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14 Dec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21 Dec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28 Dec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Total MT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Bags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KCL Canada Cap Mahkota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45.1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45.3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46.6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46.6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46.6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46.6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45.3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45.1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45.1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45.1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25.8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482.7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9,654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 Mahkota Egypt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20.0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20.1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20.7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20.7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20.7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20.7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20.1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20.0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20.0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20.0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11.4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213.9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4,278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 Sasco Egypt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11.2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11.2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11.2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11.2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116.2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2,324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Dolomite M-100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111.3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2,225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Urea Nitrea 46% 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5.4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101.5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2,029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 Cap Daun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7.1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7.1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7.1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7.1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73.5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1,470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KCL Sasco</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7.0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7.0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7.0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7.0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72.4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1,449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 Mahkota Peru</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68.0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1,360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KCL Mentari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65.4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1,308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ZA Cap Daun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63.8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1,276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Other 11 SKUs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17.1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17.2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17.7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17.7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17.7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17.7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17.1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17.0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17.0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17.0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182.9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4,020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Total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144.8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145.6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149.7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149.7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149.7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149.7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145.5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144.7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144.7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144.7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82.8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1,551.2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b="1" dirty="0">
                          <a:solidFill>
                            <a:srgbClr val="274E13"/>
                          </a:solidFill>
                          <a:latin typeface="Plus Jakarta Sans" pitchFamily="34" charset="0"/>
                          <a:ea typeface="Plus Jakarta Sans" pitchFamily="34" charset="-122"/>
                          <a:cs typeface="Plus Jakarta Sans" pitchFamily="34" charset="-120"/>
                        </a:rPr>
                        <a:t>31,393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
        <p:nvSpPr>
          <p:cNvPr id="13" name="Text 7"/>
          <p:cNvSpPr txBox="1"/>
          <p:nvPr/>
        </p:nvSpPr>
        <p:spPr>
          <a:xfrm>
            <a:off x="952500" y="5724525"/>
            <a:ext cx="9906000" cy="333375"/>
          </a:xfrm>
          <a:prstGeom prst="rect">
            <a:avLst/>
          </a:prstGeom>
          <a:noFill/>
          <a:ln/>
        </p:spPr>
        <p:txBody>
          <a:bodyPr wrap="square" lIns="0" tIns="0" rIns="0" bIns="0" rtlCol="0" anchor="b">
            <a:normAutofit/>
          </a:bodyPr>
          <a:lstStyle/>
          <a:p>
            <a:pPr indent="0" marL="0">
              <a:buNone/>
            </a:pPr>
            <a:r>
              <a:rPr lang="en-US" sz="1000" dirty="0">
                <a:solidFill>
                  <a:srgbClr val="535353"/>
                </a:solidFill>
                <a:latin typeface="Plus Jakarta Sans" pitchFamily="34" charset="0"/>
                <a:ea typeface="Plus Jakarta Sans" pitchFamily="34" charset="-122"/>
                <a:cs typeface="Plus Jakarta Sans" pitchFamily="34" charset="-120"/>
              </a:rPr>
              <a:t>MT per week (Monday start date shown). Bags = total over the plan.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Sales amount · target Rp4B a month · plan 19 Oct – 31 Dec 2026 · data to 18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6</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FORECAST · WHERE THE STOCK GOES</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Riau needs 83% of the stock; KCL Canada Cap Mahkota and RP Mahkota Egypt are 45% of the tonnes</a:t>
            </a:r>
            <a:endParaRPr lang="en-US" sz="2300" dirty="0"/>
          </a:p>
        </p:txBody>
      </p:sp>
      <p:sp>
        <p:nvSpPr>
          <p:cNvPr id="11" name="Shape 6"/>
          <p:cNvSpPr/>
          <p:nvPr/>
        </p:nvSpPr>
        <p:spPr>
          <a:xfrm>
            <a:off x="762000" y="1714500"/>
            <a:ext cx="5527964" cy="3886200"/>
          </a:xfrm>
          <a:prstGeom prst="roundRect">
            <a:avLst>
              <a:gd name="adj" fmla="val 2824"/>
            </a:avLst>
          </a:prstGeom>
          <a:solidFill>
            <a:srgbClr val="FFFFFF"/>
          </a:solidFill>
          <a:ln w="12700">
            <a:solidFill>
              <a:srgbClr val="FFFFFF"/>
            </a:solidFill>
            <a:prstDash val="solid"/>
          </a:ln>
        </p:spPr>
      </p:sp>
      <p:sp>
        <p:nvSpPr>
          <p:cNvPr id="12" name="Text 7"/>
          <p:cNvSpPr txBox="1"/>
          <p:nvPr/>
        </p:nvSpPr>
        <p:spPr>
          <a:xfrm>
            <a:off x="952500" y="1866900"/>
            <a:ext cx="5146964"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Stock required by area, per week (MT)</a:t>
            </a:r>
            <a:endParaRPr lang="en-US" sz="1300" dirty="0"/>
          </a:p>
        </p:txBody>
      </p:sp>
      <p:sp>
        <p:nvSpPr>
          <p:cNvPr id="13" name="Text 8"/>
          <p:cNvSpPr txBox="1"/>
          <p:nvPr/>
        </p:nvSpPr>
        <p:spPr>
          <a:xfrm>
            <a:off x="952500" y="2095500"/>
            <a:ext cx="5146964"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Week starting Monday</a:t>
            </a:r>
            <a:endParaRPr lang="en-US" sz="950" dirty="0"/>
          </a:p>
        </p:txBody>
      </p:sp>
      <p:sp>
        <p:nvSpPr>
          <p:cNvPr id="14" name="Shape 9"/>
          <p:cNvSpPr/>
          <p:nvPr/>
        </p:nvSpPr>
        <p:spPr>
          <a:xfrm>
            <a:off x="971550" y="2409825"/>
            <a:ext cx="104775" cy="104775"/>
          </a:xfrm>
          <a:prstGeom prst="roundRect">
            <a:avLst>
              <a:gd name="adj" fmla="val 18182"/>
            </a:avLst>
          </a:prstGeom>
          <a:solidFill>
            <a:srgbClr val="3E7B27"/>
          </a:solidFill>
          <a:ln w="12700">
            <a:solidFill>
              <a:srgbClr val="3E7B27"/>
            </a:solidFill>
            <a:prstDash val="solid"/>
          </a:ln>
        </p:spPr>
      </p:sp>
      <p:sp>
        <p:nvSpPr>
          <p:cNvPr id="15" name="Text 10"/>
          <p:cNvSpPr txBox="1"/>
          <p:nvPr/>
        </p:nvSpPr>
        <p:spPr>
          <a:xfrm>
            <a:off x="1123950" y="2381250"/>
            <a:ext cx="378714"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Riau</a:t>
            </a:r>
            <a:endParaRPr lang="en-US" sz="860" dirty="0"/>
          </a:p>
        </p:txBody>
      </p:sp>
      <p:sp>
        <p:nvSpPr>
          <p:cNvPr id="16" name="Shape 11"/>
          <p:cNvSpPr/>
          <p:nvPr/>
        </p:nvSpPr>
        <p:spPr>
          <a:xfrm>
            <a:off x="1502664" y="2409825"/>
            <a:ext cx="104775" cy="104775"/>
          </a:xfrm>
          <a:prstGeom prst="roundRect">
            <a:avLst>
              <a:gd name="adj" fmla="val 18182"/>
            </a:avLst>
          </a:prstGeom>
          <a:solidFill>
            <a:srgbClr val="D9A21B"/>
          </a:solidFill>
          <a:ln w="12700">
            <a:solidFill>
              <a:srgbClr val="D9A21B"/>
            </a:solidFill>
            <a:prstDash val="solid"/>
          </a:ln>
        </p:spPr>
      </p:sp>
      <p:sp>
        <p:nvSpPr>
          <p:cNvPr id="17" name="Text 12"/>
          <p:cNvSpPr txBox="1"/>
          <p:nvPr/>
        </p:nvSpPr>
        <p:spPr>
          <a:xfrm>
            <a:off x="1655064" y="2381250"/>
            <a:ext cx="992124"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Sumatera Utara</a:t>
            </a:r>
            <a:endParaRPr lang="en-US" sz="860" dirty="0"/>
          </a:p>
        </p:txBody>
      </p:sp>
      <p:sp>
        <p:nvSpPr>
          <p:cNvPr id="18" name="Shape 13"/>
          <p:cNvSpPr/>
          <p:nvPr/>
        </p:nvSpPr>
        <p:spPr>
          <a:xfrm>
            <a:off x="2647188" y="2409825"/>
            <a:ext cx="104775" cy="104775"/>
          </a:xfrm>
          <a:prstGeom prst="roundRect">
            <a:avLst>
              <a:gd name="adj" fmla="val 18182"/>
            </a:avLst>
          </a:prstGeom>
          <a:solidFill>
            <a:srgbClr val="2B7BB0"/>
          </a:solidFill>
          <a:ln w="12700">
            <a:solidFill>
              <a:srgbClr val="2B7BB0"/>
            </a:solidFill>
            <a:prstDash val="solid"/>
          </a:ln>
        </p:spPr>
      </p:sp>
      <p:sp>
        <p:nvSpPr>
          <p:cNvPr id="19" name="Text 14"/>
          <p:cNvSpPr txBox="1"/>
          <p:nvPr/>
        </p:nvSpPr>
        <p:spPr>
          <a:xfrm>
            <a:off x="2799588" y="2381250"/>
            <a:ext cx="1114806"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Sumatera Selatan</a:t>
            </a:r>
            <a:endParaRPr lang="en-US" sz="860" dirty="0"/>
          </a:p>
        </p:txBody>
      </p:sp>
      <p:sp>
        <p:nvSpPr>
          <p:cNvPr id="20" name="Shape 15"/>
          <p:cNvSpPr/>
          <p:nvPr/>
        </p:nvSpPr>
        <p:spPr>
          <a:xfrm>
            <a:off x="1059794" y="3212330"/>
            <a:ext cx="287954" cy="2026420"/>
          </a:xfrm>
          <a:prstGeom prst="roundRect">
            <a:avLst>
              <a:gd name="adj" fmla="val 9923"/>
            </a:avLst>
          </a:prstGeom>
          <a:solidFill>
            <a:srgbClr val="3E7B27"/>
          </a:solidFill>
          <a:ln w="12700">
            <a:solidFill>
              <a:srgbClr val="3E7B27"/>
            </a:solidFill>
            <a:prstDash val="solid"/>
          </a:ln>
        </p:spPr>
      </p:sp>
      <p:sp>
        <p:nvSpPr>
          <p:cNvPr id="21" name="Text 16"/>
          <p:cNvSpPr txBox="1"/>
          <p:nvPr/>
        </p:nvSpPr>
        <p:spPr>
          <a:xfrm>
            <a:off x="1059794" y="3212330"/>
            <a:ext cx="287954" cy="2026420"/>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125</a:t>
            </a:r>
            <a:endParaRPr lang="en-US" sz="800" dirty="0"/>
          </a:p>
        </p:txBody>
      </p:sp>
      <p:sp>
        <p:nvSpPr>
          <p:cNvPr id="22" name="Shape 17"/>
          <p:cNvSpPr/>
          <p:nvPr/>
        </p:nvSpPr>
        <p:spPr>
          <a:xfrm>
            <a:off x="1059794" y="3019881"/>
            <a:ext cx="287954" cy="173399"/>
          </a:xfrm>
          <a:prstGeom prst="roundRect">
            <a:avLst>
              <a:gd name="adj" fmla="val 16479"/>
            </a:avLst>
          </a:prstGeom>
          <a:solidFill>
            <a:srgbClr val="D9A21B"/>
          </a:solidFill>
          <a:ln w="12700">
            <a:solidFill>
              <a:srgbClr val="D9A21B"/>
            </a:solidFill>
            <a:prstDash val="solid"/>
          </a:ln>
        </p:spPr>
      </p:sp>
      <p:sp>
        <p:nvSpPr>
          <p:cNvPr id="23" name="Text 18"/>
          <p:cNvSpPr txBox="1"/>
          <p:nvPr/>
        </p:nvSpPr>
        <p:spPr>
          <a:xfrm>
            <a:off x="1059794" y="3019881"/>
            <a:ext cx="287954" cy="192449"/>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12</a:t>
            </a:r>
            <a:endParaRPr lang="en-US" sz="800" dirty="0"/>
          </a:p>
        </p:txBody>
      </p:sp>
      <p:sp>
        <p:nvSpPr>
          <p:cNvPr id="24" name="Shape 19"/>
          <p:cNvSpPr/>
          <p:nvPr/>
        </p:nvSpPr>
        <p:spPr>
          <a:xfrm>
            <a:off x="1059794" y="2896835"/>
            <a:ext cx="287954" cy="103996"/>
          </a:xfrm>
          <a:prstGeom prst="roundRect">
            <a:avLst>
              <a:gd name="adj" fmla="val 27477"/>
            </a:avLst>
          </a:prstGeom>
          <a:solidFill>
            <a:srgbClr val="2B7BB0"/>
          </a:solidFill>
          <a:ln w="12700">
            <a:solidFill>
              <a:srgbClr val="2B7BB0"/>
            </a:solidFill>
            <a:prstDash val="solid"/>
          </a:ln>
        </p:spPr>
      </p:sp>
      <p:sp>
        <p:nvSpPr>
          <p:cNvPr id="25" name="Text 20"/>
          <p:cNvSpPr txBox="1"/>
          <p:nvPr/>
        </p:nvSpPr>
        <p:spPr>
          <a:xfrm>
            <a:off x="822771" y="2725385"/>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145</a:t>
            </a:r>
            <a:endParaRPr lang="en-US" sz="860" dirty="0"/>
          </a:p>
        </p:txBody>
      </p:sp>
      <p:sp>
        <p:nvSpPr>
          <p:cNvPr id="26" name="Text 21"/>
          <p:cNvSpPr txBox="1"/>
          <p:nvPr/>
        </p:nvSpPr>
        <p:spPr>
          <a:xfrm>
            <a:off x="981075" y="5286375"/>
            <a:ext cx="445392"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19 Oct</a:t>
            </a:r>
            <a:endParaRPr lang="en-US" sz="830" dirty="0"/>
          </a:p>
        </p:txBody>
      </p:sp>
      <p:sp>
        <p:nvSpPr>
          <p:cNvPr id="27" name="Shape 22"/>
          <p:cNvSpPr/>
          <p:nvPr/>
        </p:nvSpPr>
        <p:spPr>
          <a:xfrm>
            <a:off x="1524236" y="3202644"/>
            <a:ext cx="287954" cy="2036106"/>
          </a:xfrm>
          <a:prstGeom prst="roundRect">
            <a:avLst>
              <a:gd name="adj" fmla="val 9923"/>
            </a:avLst>
          </a:prstGeom>
          <a:solidFill>
            <a:srgbClr val="3E7B27"/>
          </a:solidFill>
          <a:ln w="12700">
            <a:solidFill>
              <a:srgbClr val="3E7B27"/>
            </a:solidFill>
            <a:prstDash val="solid"/>
          </a:ln>
        </p:spPr>
      </p:sp>
      <p:sp>
        <p:nvSpPr>
          <p:cNvPr id="28" name="Text 23"/>
          <p:cNvSpPr txBox="1"/>
          <p:nvPr/>
        </p:nvSpPr>
        <p:spPr>
          <a:xfrm>
            <a:off x="1524236" y="3202644"/>
            <a:ext cx="287954" cy="2036106"/>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126</a:t>
            </a:r>
            <a:endParaRPr lang="en-US" sz="800" dirty="0"/>
          </a:p>
        </p:txBody>
      </p:sp>
      <p:sp>
        <p:nvSpPr>
          <p:cNvPr id="29" name="Shape 24"/>
          <p:cNvSpPr/>
          <p:nvPr/>
        </p:nvSpPr>
        <p:spPr>
          <a:xfrm>
            <a:off x="1524236" y="3009332"/>
            <a:ext cx="287954" cy="174262"/>
          </a:xfrm>
          <a:prstGeom prst="roundRect">
            <a:avLst>
              <a:gd name="adj" fmla="val 16398"/>
            </a:avLst>
          </a:prstGeom>
          <a:solidFill>
            <a:srgbClr val="D9A21B"/>
          </a:solidFill>
          <a:ln w="12700">
            <a:solidFill>
              <a:srgbClr val="D9A21B"/>
            </a:solidFill>
            <a:prstDash val="solid"/>
          </a:ln>
        </p:spPr>
      </p:sp>
      <p:sp>
        <p:nvSpPr>
          <p:cNvPr id="30" name="Text 25"/>
          <p:cNvSpPr txBox="1"/>
          <p:nvPr/>
        </p:nvSpPr>
        <p:spPr>
          <a:xfrm>
            <a:off x="1524236" y="3009332"/>
            <a:ext cx="287954" cy="193312"/>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12</a:t>
            </a:r>
            <a:endParaRPr lang="en-US" sz="800" dirty="0"/>
          </a:p>
        </p:txBody>
      </p:sp>
      <p:sp>
        <p:nvSpPr>
          <p:cNvPr id="31" name="Shape 26"/>
          <p:cNvSpPr/>
          <p:nvPr/>
        </p:nvSpPr>
        <p:spPr>
          <a:xfrm>
            <a:off x="1524236" y="2885773"/>
            <a:ext cx="287954" cy="104509"/>
          </a:xfrm>
          <a:prstGeom prst="roundRect">
            <a:avLst>
              <a:gd name="adj" fmla="val 27342"/>
            </a:avLst>
          </a:prstGeom>
          <a:solidFill>
            <a:srgbClr val="2B7BB0"/>
          </a:solidFill>
          <a:ln w="12700">
            <a:solidFill>
              <a:srgbClr val="2B7BB0"/>
            </a:solidFill>
            <a:prstDash val="solid"/>
          </a:ln>
        </p:spPr>
      </p:sp>
      <p:sp>
        <p:nvSpPr>
          <p:cNvPr id="32" name="Text 27"/>
          <p:cNvSpPr txBox="1"/>
          <p:nvPr/>
        </p:nvSpPr>
        <p:spPr>
          <a:xfrm>
            <a:off x="1287213" y="2714323"/>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145</a:t>
            </a:r>
            <a:endParaRPr lang="en-US" sz="860" dirty="0"/>
          </a:p>
        </p:txBody>
      </p:sp>
      <p:sp>
        <p:nvSpPr>
          <p:cNvPr id="33" name="Text 28"/>
          <p:cNvSpPr txBox="1"/>
          <p:nvPr/>
        </p:nvSpPr>
        <p:spPr>
          <a:xfrm>
            <a:off x="1445517" y="5286375"/>
            <a:ext cx="445392"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26 Oct</a:t>
            </a:r>
            <a:endParaRPr lang="en-US" sz="830" dirty="0"/>
          </a:p>
        </p:txBody>
      </p:sp>
      <p:sp>
        <p:nvSpPr>
          <p:cNvPr id="34" name="Shape 29"/>
          <p:cNvSpPr/>
          <p:nvPr/>
        </p:nvSpPr>
        <p:spPr>
          <a:xfrm>
            <a:off x="1988678" y="3144526"/>
            <a:ext cx="287954" cy="2094224"/>
          </a:xfrm>
          <a:prstGeom prst="roundRect">
            <a:avLst>
              <a:gd name="adj" fmla="val 9923"/>
            </a:avLst>
          </a:prstGeom>
          <a:solidFill>
            <a:srgbClr val="3E7B27"/>
          </a:solidFill>
          <a:ln w="12700">
            <a:solidFill>
              <a:srgbClr val="3E7B27"/>
            </a:solidFill>
            <a:prstDash val="solid"/>
          </a:ln>
        </p:spPr>
      </p:sp>
      <p:sp>
        <p:nvSpPr>
          <p:cNvPr id="35" name="Text 30"/>
          <p:cNvSpPr txBox="1"/>
          <p:nvPr/>
        </p:nvSpPr>
        <p:spPr>
          <a:xfrm>
            <a:off x="1988678" y="3144526"/>
            <a:ext cx="287954" cy="2094224"/>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129</a:t>
            </a:r>
            <a:endParaRPr lang="en-US" sz="800" dirty="0"/>
          </a:p>
        </p:txBody>
      </p:sp>
      <p:sp>
        <p:nvSpPr>
          <p:cNvPr id="36" name="Shape 31"/>
          <p:cNvSpPr/>
          <p:nvPr/>
        </p:nvSpPr>
        <p:spPr>
          <a:xfrm>
            <a:off x="1988678" y="2946039"/>
            <a:ext cx="287954" cy="179437"/>
          </a:xfrm>
          <a:prstGeom prst="roundRect">
            <a:avLst>
              <a:gd name="adj" fmla="val 15925"/>
            </a:avLst>
          </a:prstGeom>
          <a:solidFill>
            <a:srgbClr val="D9A21B"/>
          </a:solidFill>
          <a:ln w="12700">
            <a:solidFill>
              <a:srgbClr val="D9A21B"/>
            </a:solidFill>
            <a:prstDash val="solid"/>
          </a:ln>
        </p:spPr>
      </p:sp>
      <p:sp>
        <p:nvSpPr>
          <p:cNvPr id="37" name="Text 32"/>
          <p:cNvSpPr txBox="1"/>
          <p:nvPr/>
        </p:nvSpPr>
        <p:spPr>
          <a:xfrm>
            <a:off x="1988678" y="2946039"/>
            <a:ext cx="287954" cy="198487"/>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12</a:t>
            </a:r>
            <a:endParaRPr lang="en-US" sz="800" dirty="0"/>
          </a:p>
        </p:txBody>
      </p:sp>
      <p:sp>
        <p:nvSpPr>
          <p:cNvPr id="38" name="Shape 33"/>
          <p:cNvSpPr/>
          <p:nvPr/>
        </p:nvSpPr>
        <p:spPr>
          <a:xfrm>
            <a:off x="1988678" y="2819400"/>
            <a:ext cx="287954" cy="107589"/>
          </a:xfrm>
          <a:prstGeom prst="roundRect">
            <a:avLst>
              <a:gd name="adj" fmla="val 26559"/>
            </a:avLst>
          </a:prstGeom>
          <a:solidFill>
            <a:srgbClr val="2B7BB0"/>
          </a:solidFill>
          <a:ln w="12700">
            <a:solidFill>
              <a:srgbClr val="2B7BB0"/>
            </a:solidFill>
            <a:prstDash val="solid"/>
          </a:ln>
        </p:spPr>
      </p:sp>
      <p:sp>
        <p:nvSpPr>
          <p:cNvPr id="39" name="Text 34"/>
          <p:cNvSpPr txBox="1"/>
          <p:nvPr/>
        </p:nvSpPr>
        <p:spPr>
          <a:xfrm>
            <a:off x="1751655" y="264795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150</a:t>
            </a:r>
            <a:endParaRPr lang="en-US" sz="860" dirty="0"/>
          </a:p>
        </p:txBody>
      </p:sp>
      <p:sp>
        <p:nvSpPr>
          <p:cNvPr id="40" name="Text 35"/>
          <p:cNvSpPr txBox="1"/>
          <p:nvPr/>
        </p:nvSpPr>
        <p:spPr>
          <a:xfrm>
            <a:off x="1909959" y="5286375"/>
            <a:ext cx="445392"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2 Nov</a:t>
            </a:r>
            <a:endParaRPr lang="en-US" sz="830" dirty="0"/>
          </a:p>
        </p:txBody>
      </p:sp>
      <p:sp>
        <p:nvSpPr>
          <p:cNvPr id="41" name="Shape 36"/>
          <p:cNvSpPr/>
          <p:nvPr/>
        </p:nvSpPr>
        <p:spPr>
          <a:xfrm>
            <a:off x="2453120" y="3144526"/>
            <a:ext cx="287954" cy="2094224"/>
          </a:xfrm>
          <a:prstGeom prst="roundRect">
            <a:avLst>
              <a:gd name="adj" fmla="val 9923"/>
            </a:avLst>
          </a:prstGeom>
          <a:solidFill>
            <a:srgbClr val="3E7B27"/>
          </a:solidFill>
          <a:ln w="12700">
            <a:solidFill>
              <a:srgbClr val="3E7B27"/>
            </a:solidFill>
            <a:prstDash val="solid"/>
          </a:ln>
        </p:spPr>
      </p:sp>
      <p:sp>
        <p:nvSpPr>
          <p:cNvPr id="42" name="Text 37"/>
          <p:cNvSpPr txBox="1"/>
          <p:nvPr/>
        </p:nvSpPr>
        <p:spPr>
          <a:xfrm>
            <a:off x="2453120" y="3144526"/>
            <a:ext cx="287954" cy="2094224"/>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129</a:t>
            </a:r>
            <a:endParaRPr lang="en-US" sz="800" dirty="0"/>
          </a:p>
        </p:txBody>
      </p:sp>
      <p:sp>
        <p:nvSpPr>
          <p:cNvPr id="43" name="Shape 38"/>
          <p:cNvSpPr/>
          <p:nvPr/>
        </p:nvSpPr>
        <p:spPr>
          <a:xfrm>
            <a:off x="2453120" y="2946039"/>
            <a:ext cx="287954" cy="179437"/>
          </a:xfrm>
          <a:prstGeom prst="roundRect">
            <a:avLst>
              <a:gd name="adj" fmla="val 15925"/>
            </a:avLst>
          </a:prstGeom>
          <a:solidFill>
            <a:srgbClr val="D9A21B"/>
          </a:solidFill>
          <a:ln w="12700">
            <a:solidFill>
              <a:srgbClr val="D9A21B"/>
            </a:solidFill>
            <a:prstDash val="solid"/>
          </a:ln>
        </p:spPr>
      </p:sp>
      <p:sp>
        <p:nvSpPr>
          <p:cNvPr id="44" name="Text 39"/>
          <p:cNvSpPr txBox="1"/>
          <p:nvPr/>
        </p:nvSpPr>
        <p:spPr>
          <a:xfrm>
            <a:off x="2453120" y="2946039"/>
            <a:ext cx="287954" cy="198487"/>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12</a:t>
            </a:r>
            <a:endParaRPr lang="en-US" sz="800" dirty="0"/>
          </a:p>
        </p:txBody>
      </p:sp>
      <p:sp>
        <p:nvSpPr>
          <p:cNvPr id="45" name="Shape 40"/>
          <p:cNvSpPr/>
          <p:nvPr/>
        </p:nvSpPr>
        <p:spPr>
          <a:xfrm>
            <a:off x="2453120" y="2819400"/>
            <a:ext cx="287954" cy="107589"/>
          </a:xfrm>
          <a:prstGeom prst="roundRect">
            <a:avLst>
              <a:gd name="adj" fmla="val 26559"/>
            </a:avLst>
          </a:prstGeom>
          <a:solidFill>
            <a:srgbClr val="2B7BB0"/>
          </a:solidFill>
          <a:ln w="12700">
            <a:solidFill>
              <a:srgbClr val="2B7BB0"/>
            </a:solidFill>
            <a:prstDash val="solid"/>
          </a:ln>
        </p:spPr>
      </p:sp>
      <p:sp>
        <p:nvSpPr>
          <p:cNvPr id="46" name="Text 41"/>
          <p:cNvSpPr txBox="1"/>
          <p:nvPr/>
        </p:nvSpPr>
        <p:spPr>
          <a:xfrm>
            <a:off x="2216098" y="264795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150</a:t>
            </a:r>
            <a:endParaRPr lang="en-US" sz="860" dirty="0"/>
          </a:p>
        </p:txBody>
      </p:sp>
      <p:sp>
        <p:nvSpPr>
          <p:cNvPr id="47" name="Text 42"/>
          <p:cNvSpPr txBox="1"/>
          <p:nvPr/>
        </p:nvSpPr>
        <p:spPr>
          <a:xfrm>
            <a:off x="2374401" y="5286375"/>
            <a:ext cx="445392"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9 Nov</a:t>
            </a:r>
            <a:endParaRPr lang="en-US" sz="830" dirty="0"/>
          </a:p>
        </p:txBody>
      </p:sp>
      <p:sp>
        <p:nvSpPr>
          <p:cNvPr id="48" name="Shape 43"/>
          <p:cNvSpPr/>
          <p:nvPr/>
        </p:nvSpPr>
        <p:spPr>
          <a:xfrm>
            <a:off x="2917563" y="3144526"/>
            <a:ext cx="287954" cy="2094224"/>
          </a:xfrm>
          <a:prstGeom prst="roundRect">
            <a:avLst>
              <a:gd name="adj" fmla="val 9923"/>
            </a:avLst>
          </a:prstGeom>
          <a:solidFill>
            <a:srgbClr val="3E7B27"/>
          </a:solidFill>
          <a:ln w="12700">
            <a:solidFill>
              <a:srgbClr val="3E7B27"/>
            </a:solidFill>
            <a:prstDash val="solid"/>
          </a:ln>
        </p:spPr>
      </p:sp>
      <p:sp>
        <p:nvSpPr>
          <p:cNvPr id="49" name="Text 44"/>
          <p:cNvSpPr txBox="1"/>
          <p:nvPr/>
        </p:nvSpPr>
        <p:spPr>
          <a:xfrm>
            <a:off x="2917563" y="3144526"/>
            <a:ext cx="287954" cy="2094224"/>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129</a:t>
            </a:r>
            <a:endParaRPr lang="en-US" sz="800" dirty="0"/>
          </a:p>
        </p:txBody>
      </p:sp>
      <p:sp>
        <p:nvSpPr>
          <p:cNvPr id="50" name="Shape 45"/>
          <p:cNvSpPr/>
          <p:nvPr/>
        </p:nvSpPr>
        <p:spPr>
          <a:xfrm>
            <a:off x="2917563" y="2946039"/>
            <a:ext cx="287954" cy="179437"/>
          </a:xfrm>
          <a:prstGeom prst="roundRect">
            <a:avLst>
              <a:gd name="adj" fmla="val 15925"/>
            </a:avLst>
          </a:prstGeom>
          <a:solidFill>
            <a:srgbClr val="D9A21B"/>
          </a:solidFill>
          <a:ln w="12700">
            <a:solidFill>
              <a:srgbClr val="D9A21B"/>
            </a:solidFill>
            <a:prstDash val="solid"/>
          </a:ln>
        </p:spPr>
      </p:sp>
      <p:sp>
        <p:nvSpPr>
          <p:cNvPr id="51" name="Text 46"/>
          <p:cNvSpPr txBox="1"/>
          <p:nvPr/>
        </p:nvSpPr>
        <p:spPr>
          <a:xfrm>
            <a:off x="2917563" y="2946039"/>
            <a:ext cx="287954" cy="198487"/>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12</a:t>
            </a:r>
            <a:endParaRPr lang="en-US" sz="800" dirty="0"/>
          </a:p>
        </p:txBody>
      </p:sp>
      <p:sp>
        <p:nvSpPr>
          <p:cNvPr id="52" name="Shape 47"/>
          <p:cNvSpPr/>
          <p:nvPr/>
        </p:nvSpPr>
        <p:spPr>
          <a:xfrm>
            <a:off x="2917563" y="2819400"/>
            <a:ext cx="287954" cy="107589"/>
          </a:xfrm>
          <a:prstGeom prst="roundRect">
            <a:avLst>
              <a:gd name="adj" fmla="val 26559"/>
            </a:avLst>
          </a:prstGeom>
          <a:solidFill>
            <a:srgbClr val="2B7BB0"/>
          </a:solidFill>
          <a:ln w="12700">
            <a:solidFill>
              <a:srgbClr val="2B7BB0"/>
            </a:solidFill>
            <a:prstDash val="solid"/>
          </a:ln>
        </p:spPr>
      </p:sp>
      <p:sp>
        <p:nvSpPr>
          <p:cNvPr id="53" name="Text 48"/>
          <p:cNvSpPr txBox="1"/>
          <p:nvPr/>
        </p:nvSpPr>
        <p:spPr>
          <a:xfrm>
            <a:off x="2680540" y="264795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150</a:t>
            </a:r>
            <a:endParaRPr lang="en-US" sz="860" dirty="0"/>
          </a:p>
        </p:txBody>
      </p:sp>
      <p:sp>
        <p:nvSpPr>
          <p:cNvPr id="54" name="Text 49"/>
          <p:cNvSpPr txBox="1"/>
          <p:nvPr/>
        </p:nvSpPr>
        <p:spPr>
          <a:xfrm>
            <a:off x="2838844" y="5286375"/>
            <a:ext cx="445392"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16 Nov</a:t>
            </a:r>
            <a:endParaRPr lang="en-US" sz="830" dirty="0"/>
          </a:p>
        </p:txBody>
      </p:sp>
      <p:sp>
        <p:nvSpPr>
          <p:cNvPr id="55" name="Shape 50"/>
          <p:cNvSpPr/>
          <p:nvPr/>
        </p:nvSpPr>
        <p:spPr>
          <a:xfrm>
            <a:off x="3382005" y="3144526"/>
            <a:ext cx="287954" cy="2094224"/>
          </a:xfrm>
          <a:prstGeom prst="roundRect">
            <a:avLst>
              <a:gd name="adj" fmla="val 9923"/>
            </a:avLst>
          </a:prstGeom>
          <a:solidFill>
            <a:srgbClr val="3E7B27"/>
          </a:solidFill>
          <a:ln w="12700">
            <a:solidFill>
              <a:srgbClr val="3E7B27"/>
            </a:solidFill>
            <a:prstDash val="solid"/>
          </a:ln>
        </p:spPr>
      </p:sp>
      <p:sp>
        <p:nvSpPr>
          <p:cNvPr id="56" name="Text 51"/>
          <p:cNvSpPr txBox="1"/>
          <p:nvPr/>
        </p:nvSpPr>
        <p:spPr>
          <a:xfrm>
            <a:off x="3382005" y="3144526"/>
            <a:ext cx="287954" cy="2094224"/>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129</a:t>
            </a:r>
            <a:endParaRPr lang="en-US" sz="800" dirty="0"/>
          </a:p>
        </p:txBody>
      </p:sp>
      <p:sp>
        <p:nvSpPr>
          <p:cNvPr id="57" name="Shape 52"/>
          <p:cNvSpPr/>
          <p:nvPr/>
        </p:nvSpPr>
        <p:spPr>
          <a:xfrm>
            <a:off x="3382005" y="2946039"/>
            <a:ext cx="287954" cy="179437"/>
          </a:xfrm>
          <a:prstGeom prst="roundRect">
            <a:avLst>
              <a:gd name="adj" fmla="val 15925"/>
            </a:avLst>
          </a:prstGeom>
          <a:solidFill>
            <a:srgbClr val="D9A21B"/>
          </a:solidFill>
          <a:ln w="12700">
            <a:solidFill>
              <a:srgbClr val="D9A21B"/>
            </a:solidFill>
            <a:prstDash val="solid"/>
          </a:ln>
        </p:spPr>
      </p:sp>
      <p:sp>
        <p:nvSpPr>
          <p:cNvPr id="58" name="Text 53"/>
          <p:cNvSpPr txBox="1"/>
          <p:nvPr/>
        </p:nvSpPr>
        <p:spPr>
          <a:xfrm>
            <a:off x="3382005" y="2946039"/>
            <a:ext cx="287954" cy="198487"/>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12</a:t>
            </a:r>
            <a:endParaRPr lang="en-US" sz="800" dirty="0"/>
          </a:p>
        </p:txBody>
      </p:sp>
      <p:sp>
        <p:nvSpPr>
          <p:cNvPr id="59" name="Shape 54"/>
          <p:cNvSpPr/>
          <p:nvPr/>
        </p:nvSpPr>
        <p:spPr>
          <a:xfrm>
            <a:off x="3382005" y="2819400"/>
            <a:ext cx="287954" cy="107589"/>
          </a:xfrm>
          <a:prstGeom prst="roundRect">
            <a:avLst>
              <a:gd name="adj" fmla="val 26559"/>
            </a:avLst>
          </a:prstGeom>
          <a:solidFill>
            <a:srgbClr val="2B7BB0"/>
          </a:solidFill>
          <a:ln w="12700">
            <a:solidFill>
              <a:srgbClr val="2B7BB0"/>
            </a:solidFill>
            <a:prstDash val="solid"/>
          </a:ln>
        </p:spPr>
      </p:sp>
      <p:sp>
        <p:nvSpPr>
          <p:cNvPr id="60" name="Text 55"/>
          <p:cNvSpPr txBox="1"/>
          <p:nvPr/>
        </p:nvSpPr>
        <p:spPr>
          <a:xfrm>
            <a:off x="3144982" y="264795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150</a:t>
            </a:r>
            <a:endParaRPr lang="en-US" sz="860" dirty="0"/>
          </a:p>
        </p:txBody>
      </p:sp>
      <p:sp>
        <p:nvSpPr>
          <p:cNvPr id="61" name="Text 56"/>
          <p:cNvSpPr txBox="1"/>
          <p:nvPr/>
        </p:nvSpPr>
        <p:spPr>
          <a:xfrm>
            <a:off x="3303286" y="5286375"/>
            <a:ext cx="445392"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23 Nov</a:t>
            </a:r>
            <a:endParaRPr lang="en-US" sz="830" dirty="0"/>
          </a:p>
        </p:txBody>
      </p:sp>
      <p:sp>
        <p:nvSpPr>
          <p:cNvPr id="62" name="Shape 57"/>
          <p:cNvSpPr/>
          <p:nvPr/>
        </p:nvSpPr>
        <p:spPr>
          <a:xfrm>
            <a:off x="3846447" y="3202431"/>
            <a:ext cx="287954" cy="2036319"/>
          </a:xfrm>
          <a:prstGeom prst="roundRect">
            <a:avLst>
              <a:gd name="adj" fmla="val 9923"/>
            </a:avLst>
          </a:prstGeom>
          <a:solidFill>
            <a:srgbClr val="3E7B27"/>
          </a:solidFill>
          <a:ln w="12700">
            <a:solidFill>
              <a:srgbClr val="3E7B27"/>
            </a:solidFill>
            <a:prstDash val="solid"/>
          </a:ln>
        </p:spPr>
      </p:sp>
      <p:sp>
        <p:nvSpPr>
          <p:cNvPr id="63" name="Text 58"/>
          <p:cNvSpPr txBox="1"/>
          <p:nvPr/>
        </p:nvSpPr>
        <p:spPr>
          <a:xfrm>
            <a:off x="3846447" y="3202431"/>
            <a:ext cx="287954" cy="2036319"/>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126</a:t>
            </a:r>
            <a:endParaRPr lang="en-US" sz="800" dirty="0"/>
          </a:p>
        </p:txBody>
      </p:sp>
      <p:sp>
        <p:nvSpPr>
          <p:cNvPr id="64" name="Shape 59"/>
          <p:cNvSpPr/>
          <p:nvPr/>
        </p:nvSpPr>
        <p:spPr>
          <a:xfrm>
            <a:off x="3846447" y="3009432"/>
            <a:ext cx="287954" cy="173949"/>
          </a:xfrm>
          <a:prstGeom prst="roundRect">
            <a:avLst>
              <a:gd name="adj" fmla="val 16427"/>
            </a:avLst>
          </a:prstGeom>
          <a:solidFill>
            <a:srgbClr val="D9A21B"/>
          </a:solidFill>
          <a:ln w="12700">
            <a:solidFill>
              <a:srgbClr val="D9A21B"/>
            </a:solidFill>
            <a:prstDash val="solid"/>
          </a:ln>
        </p:spPr>
      </p:sp>
      <p:sp>
        <p:nvSpPr>
          <p:cNvPr id="65" name="Text 60"/>
          <p:cNvSpPr txBox="1"/>
          <p:nvPr/>
        </p:nvSpPr>
        <p:spPr>
          <a:xfrm>
            <a:off x="3846447" y="3009432"/>
            <a:ext cx="287954" cy="192999"/>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12</a:t>
            </a:r>
            <a:endParaRPr lang="en-US" sz="800" dirty="0"/>
          </a:p>
        </p:txBody>
      </p:sp>
      <p:sp>
        <p:nvSpPr>
          <p:cNvPr id="66" name="Shape 61"/>
          <p:cNvSpPr/>
          <p:nvPr/>
        </p:nvSpPr>
        <p:spPr>
          <a:xfrm>
            <a:off x="3846447" y="2886294"/>
            <a:ext cx="287954" cy="104088"/>
          </a:xfrm>
          <a:prstGeom prst="roundRect">
            <a:avLst>
              <a:gd name="adj" fmla="val 27453"/>
            </a:avLst>
          </a:prstGeom>
          <a:solidFill>
            <a:srgbClr val="2B7BB0"/>
          </a:solidFill>
          <a:ln w="12700">
            <a:solidFill>
              <a:srgbClr val="2B7BB0"/>
            </a:solidFill>
            <a:prstDash val="solid"/>
          </a:ln>
        </p:spPr>
      </p:sp>
      <p:sp>
        <p:nvSpPr>
          <p:cNvPr id="67" name="Text 62"/>
          <p:cNvSpPr txBox="1"/>
          <p:nvPr/>
        </p:nvSpPr>
        <p:spPr>
          <a:xfrm>
            <a:off x="3609424" y="2714844"/>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145</a:t>
            </a:r>
            <a:endParaRPr lang="en-US" sz="860" dirty="0"/>
          </a:p>
        </p:txBody>
      </p:sp>
      <p:sp>
        <p:nvSpPr>
          <p:cNvPr id="68" name="Text 63"/>
          <p:cNvSpPr txBox="1"/>
          <p:nvPr/>
        </p:nvSpPr>
        <p:spPr>
          <a:xfrm>
            <a:off x="3767728" y="5286375"/>
            <a:ext cx="445392"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30 Nov</a:t>
            </a:r>
            <a:endParaRPr lang="en-US" sz="830" dirty="0"/>
          </a:p>
        </p:txBody>
      </p:sp>
      <p:sp>
        <p:nvSpPr>
          <p:cNvPr id="69" name="Shape 64"/>
          <p:cNvSpPr/>
          <p:nvPr/>
        </p:nvSpPr>
        <p:spPr>
          <a:xfrm>
            <a:off x="4310889" y="3212081"/>
            <a:ext cx="287954" cy="2026669"/>
          </a:xfrm>
          <a:prstGeom prst="roundRect">
            <a:avLst>
              <a:gd name="adj" fmla="val 9923"/>
            </a:avLst>
          </a:prstGeom>
          <a:solidFill>
            <a:srgbClr val="3E7B27"/>
          </a:solidFill>
          <a:ln w="12700">
            <a:solidFill>
              <a:srgbClr val="3E7B27"/>
            </a:solidFill>
            <a:prstDash val="solid"/>
          </a:ln>
        </p:spPr>
      </p:sp>
      <p:sp>
        <p:nvSpPr>
          <p:cNvPr id="70" name="Text 65"/>
          <p:cNvSpPr txBox="1"/>
          <p:nvPr/>
        </p:nvSpPr>
        <p:spPr>
          <a:xfrm>
            <a:off x="4310889" y="3212081"/>
            <a:ext cx="287954" cy="2026669"/>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125</a:t>
            </a:r>
            <a:endParaRPr lang="en-US" sz="800" dirty="0"/>
          </a:p>
        </p:txBody>
      </p:sp>
      <p:sp>
        <p:nvSpPr>
          <p:cNvPr id="71" name="Shape 66"/>
          <p:cNvSpPr/>
          <p:nvPr/>
        </p:nvSpPr>
        <p:spPr>
          <a:xfrm>
            <a:off x="4310889" y="3019998"/>
            <a:ext cx="287954" cy="173034"/>
          </a:xfrm>
          <a:prstGeom prst="roundRect">
            <a:avLst>
              <a:gd name="adj" fmla="val 16514"/>
            </a:avLst>
          </a:prstGeom>
          <a:solidFill>
            <a:srgbClr val="D9A21B"/>
          </a:solidFill>
          <a:ln w="12700">
            <a:solidFill>
              <a:srgbClr val="D9A21B"/>
            </a:solidFill>
            <a:prstDash val="solid"/>
          </a:ln>
        </p:spPr>
      </p:sp>
      <p:sp>
        <p:nvSpPr>
          <p:cNvPr id="72" name="Text 67"/>
          <p:cNvSpPr txBox="1"/>
          <p:nvPr/>
        </p:nvSpPr>
        <p:spPr>
          <a:xfrm>
            <a:off x="4310889" y="3019998"/>
            <a:ext cx="287954" cy="192084"/>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12</a:t>
            </a:r>
            <a:endParaRPr lang="en-US" sz="800" dirty="0"/>
          </a:p>
        </p:txBody>
      </p:sp>
      <p:sp>
        <p:nvSpPr>
          <p:cNvPr id="73" name="Shape 68"/>
          <p:cNvSpPr/>
          <p:nvPr/>
        </p:nvSpPr>
        <p:spPr>
          <a:xfrm>
            <a:off x="4310889" y="2897444"/>
            <a:ext cx="287954" cy="103504"/>
          </a:xfrm>
          <a:prstGeom prst="roundRect">
            <a:avLst>
              <a:gd name="adj" fmla="val 27608"/>
            </a:avLst>
          </a:prstGeom>
          <a:solidFill>
            <a:srgbClr val="2B7BB0"/>
          </a:solidFill>
          <a:ln w="12700">
            <a:solidFill>
              <a:srgbClr val="2B7BB0"/>
            </a:solidFill>
            <a:prstDash val="solid"/>
          </a:ln>
        </p:spPr>
      </p:sp>
      <p:sp>
        <p:nvSpPr>
          <p:cNvPr id="74" name="Text 69"/>
          <p:cNvSpPr txBox="1"/>
          <p:nvPr/>
        </p:nvSpPr>
        <p:spPr>
          <a:xfrm>
            <a:off x="4073866" y="2725994"/>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145</a:t>
            </a:r>
            <a:endParaRPr lang="en-US" sz="860" dirty="0"/>
          </a:p>
        </p:txBody>
      </p:sp>
      <p:sp>
        <p:nvSpPr>
          <p:cNvPr id="75" name="Text 70"/>
          <p:cNvSpPr txBox="1"/>
          <p:nvPr/>
        </p:nvSpPr>
        <p:spPr>
          <a:xfrm>
            <a:off x="4232170" y="5286375"/>
            <a:ext cx="445392"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7 Dec</a:t>
            </a:r>
            <a:endParaRPr lang="en-US" sz="830" dirty="0"/>
          </a:p>
        </p:txBody>
      </p:sp>
      <p:sp>
        <p:nvSpPr>
          <p:cNvPr id="76" name="Shape 71"/>
          <p:cNvSpPr/>
          <p:nvPr/>
        </p:nvSpPr>
        <p:spPr>
          <a:xfrm>
            <a:off x="4775331" y="3212081"/>
            <a:ext cx="287954" cy="2026669"/>
          </a:xfrm>
          <a:prstGeom prst="roundRect">
            <a:avLst>
              <a:gd name="adj" fmla="val 9923"/>
            </a:avLst>
          </a:prstGeom>
          <a:solidFill>
            <a:srgbClr val="3E7B27"/>
          </a:solidFill>
          <a:ln w="12700">
            <a:solidFill>
              <a:srgbClr val="3E7B27"/>
            </a:solidFill>
            <a:prstDash val="solid"/>
          </a:ln>
        </p:spPr>
      </p:sp>
      <p:sp>
        <p:nvSpPr>
          <p:cNvPr id="77" name="Text 72"/>
          <p:cNvSpPr txBox="1"/>
          <p:nvPr/>
        </p:nvSpPr>
        <p:spPr>
          <a:xfrm>
            <a:off x="4775331" y="3212081"/>
            <a:ext cx="287954" cy="2026669"/>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125</a:t>
            </a:r>
            <a:endParaRPr lang="en-US" sz="800" dirty="0"/>
          </a:p>
        </p:txBody>
      </p:sp>
      <p:sp>
        <p:nvSpPr>
          <p:cNvPr id="78" name="Shape 73"/>
          <p:cNvSpPr/>
          <p:nvPr/>
        </p:nvSpPr>
        <p:spPr>
          <a:xfrm>
            <a:off x="4775331" y="3019998"/>
            <a:ext cx="287954" cy="173034"/>
          </a:xfrm>
          <a:prstGeom prst="roundRect">
            <a:avLst>
              <a:gd name="adj" fmla="val 16514"/>
            </a:avLst>
          </a:prstGeom>
          <a:solidFill>
            <a:srgbClr val="D9A21B"/>
          </a:solidFill>
          <a:ln w="12700">
            <a:solidFill>
              <a:srgbClr val="D9A21B"/>
            </a:solidFill>
            <a:prstDash val="solid"/>
          </a:ln>
        </p:spPr>
      </p:sp>
      <p:sp>
        <p:nvSpPr>
          <p:cNvPr id="79" name="Text 74"/>
          <p:cNvSpPr txBox="1"/>
          <p:nvPr/>
        </p:nvSpPr>
        <p:spPr>
          <a:xfrm>
            <a:off x="4775331" y="3019998"/>
            <a:ext cx="287954" cy="192084"/>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12</a:t>
            </a:r>
            <a:endParaRPr lang="en-US" sz="800" dirty="0"/>
          </a:p>
        </p:txBody>
      </p:sp>
      <p:sp>
        <p:nvSpPr>
          <p:cNvPr id="80" name="Shape 75"/>
          <p:cNvSpPr/>
          <p:nvPr/>
        </p:nvSpPr>
        <p:spPr>
          <a:xfrm>
            <a:off x="4775331" y="2897444"/>
            <a:ext cx="287954" cy="103504"/>
          </a:xfrm>
          <a:prstGeom prst="roundRect">
            <a:avLst>
              <a:gd name="adj" fmla="val 27608"/>
            </a:avLst>
          </a:prstGeom>
          <a:solidFill>
            <a:srgbClr val="2B7BB0"/>
          </a:solidFill>
          <a:ln w="12700">
            <a:solidFill>
              <a:srgbClr val="2B7BB0"/>
            </a:solidFill>
            <a:prstDash val="solid"/>
          </a:ln>
        </p:spPr>
      </p:sp>
      <p:sp>
        <p:nvSpPr>
          <p:cNvPr id="81" name="Text 76"/>
          <p:cNvSpPr txBox="1"/>
          <p:nvPr/>
        </p:nvSpPr>
        <p:spPr>
          <a:xfrm>
            <a:off x="4538308" y="2725994"/>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145</a:t>
            </a:r>
            <a:endParaRPr lang="en-US" sz="860" dirty="0"/>
          </a:p>
        </p:txBody>
      </p:sp>
      <p:sp>
        <p:nvSpPr>
          <p:cNvPr id="82" name="Text 77"/>
          <p:cNvSpPr txBox="1"/>
          <p:nvPr/>
        </p:nvSpPr>
        <p:spPr>
          <a:xfrm>
            <a:off x="4696612" y="5286375"/>
            <a:ext cx="445392"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14 Dec</a:t>
            </a:r>
            <a:endParaRPr lang="en-US" sz="830" dirty="0"/>
          </a:p>
        </p:txBody>
      </p:sp>
      <p:sp>
        <p:nvSpPr>
          <p:cNvPr id="83" name="Shape 78"/>
          <p:cNvSpPr/>
          <p:nvPr/>
        </p:nvSpPr>
        <p:spPr>
          <a:xfrm>
            <a:off x="5239773" y="3212081"/>
            <a:ext cx="287954" cy="2026669"/>
          </a:xfrm>
          <a:prstGeom prst="roundRect">
            <a:avLst>
              <a:gd name="adj" fmla="val 9923"/>
            </a:avLst>
          </a:prstGeom>
          <a:solidFill>
            <a:srgbClr val="3E7B27"/>
          </a:solidFill>
          <a:ln w="12700">
            <a:solidFill>
              <a:srgbClr val="3E7B27"/>
            </a:solidFill>
            <a:prstDash val="solid"/>
          </a:ln>
        </p:spPr>
      </p:sp>
      <p:sp>
        <p:nvSpPr>
          <p:cNvPr id="84" name="Text 79"/>
          <p:cNvSpPr txBox="1"/>
          <p:nvPr/>
        </p:nvSpPr>
        <p:spPr>
          <a:xfrm>
            <a:off x="5239773" y="3212081"/>
            <a:ext cx="287954" cy="2026669"/>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125</a:t>
            </a:r>
            <a:endParaRPr lang="en-US" sz="800" dirty="0"/>
          </a:p>
        </p:txBody>
      </p:sp>
      <p:sp>
        <p:nvSpPr>
          <p:cNvPr id="85" name="Shape 80"/>
          <p:cNvSpPr/>
          <p:nvPr/>
        </p:nvSpPr>
        <p:spPr>
          <a:xfrm>
            <a:off x="5239773" y="3019998"/>
            <a:ext cx="287954" cy="173034"/>
          </a:xfrm>
          <a:prstGeom prst="roundRect">
            <a:avLst>
              <a:gd name="adj" fmla="val 16514"/>
            </a:avLst>
          </a:prstGeom>
          <a:solidFill>
            <a:srgbClr val="D9A21B"/>
          </a:solidFill>
          <a:ln w="12700">
            <a:solidFill>
              <a:srgbClr val="D9A21B"/>
            </a:solidFill>
            <a:prstDash val="solid"/>
          </a:ln>
        </p:spPr>
      </p:sp>
      <p:sp>
        <p:nvSpPr>
          <p:cNvPr id="86" name="Text 81"/>
          <p:cNvSpPr txBox="1"/>
          <p:nvPr/>
        </p:nvSpPr>
        <p:spPr>
          <a:xfrm>
            <a:off x="5239773" y="3019998"/>
            <a:ext cx="287954" cy="192084"/>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12</a:t>
            </a:r>
            <a:endParaRPr lang="en-US" sz="800" dirty="0"/>
          </a:p>
        </p:txBody>
      </p:sp>
      <p:sp>
        <p:nvSpPr>
          <p:cNvPr id="87" name="Shape 82"/>
          <p:cNvSpPr/>
          <p:nvPr/>
        </p:nvSpPr>
        <p:spPr>
          <a:xfrm>
            <a:off x="5239773" y="2897444"/>
            <a:ext cx="287954" cy="103504"/>
          </a:xfrm>
          <a:prstGeom prst="roundRect">
            <a:avLst>
              <a:gd name="adj" fmla="val 27608"/>
            </a:avLst>
          </a:prstGeom>
          <a:solidFill>
            <a:srgbClr val="2B7BB0"/>
          </a:solidFill>
          <a:ln w="12700">
            <a:solidFill>
              <a:srgbClr val="2B7BB0"/>
            </a:solidFill>
            <a:prstDash val="solid"/>
          </a:ln>
        </p:spPr>
      </p:sp>
      <p:sp>
        <p:nvSpPr>
          <p:cNvPr id="88" name="Text 83"/>
          <p:cNvSpPr txBox="1"/>
          <p:nvPr/>
        </p:nvSpPr>
        <p:spPr>
          <a:xfrm>
            <a:off x="5002750" y="2725994"/>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145</a:t>
            </a:r>
            <a:endParaRPr lang="en-US" sz="860" dirty="0"/>
          </a:p>
        </p:txBody>
      </p:sp>
      <p:sp>
        <p:nvSpPr>
          <p:cNvPr id="89" name="Text 84"/>
          <p:cNvSpPr txBox="1"/>
          <p:nvPr/>
        </p:nvSpPr>
        <p:spPr>
          <a:xfrm>
            <a:off x="5161054" y="5286375"/>
            <a:ext cx="445392"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21 Dec</a:t>
            </a:r>
            <a:endParaRPr lang="en-US" sz="830" dirty="0"/>
          </a:p>
        </p:txBody>
      </p:sp>
      <p:sp>
        <p:nvSpPr>
          <p:cNvPr id="90" name="Shape 85"/>
          <p:cNvSpPr/>
          <p:nvPr/>
        </p:nvSpPr>
        <p:spPr>
          <a:xfrm>
            <a:off x="5704215" y="4080654"/>
            <a:ext cx="287954" cy="1158096"/>
          </a:xfrm>
          <a:prstGeom prst="roundRect">
            <a:avLst>
              <a:gd name="adj" fmla="val 9923"/>
            </a:avLst>
          </a:prstGeom>
          <a:solidFill>
            <a:srgbClr val="3E7B27"/>
          </a:solidFill>
          <a:ln w="12700">
            <a:solidFill>
              <a:srgbClr val="3E7B27"/>
            </a:solidFill>
            <a:prstDash val="solid"/>
          </a:ln>
        </p:spPr>
      </p:sp>
      <p:sp>
        <p:nvSpPr>
          <p:cNvPr id="91" name="Text 86"/>
          <p:cNvSpPr txBox="1"/>
          <p:nvPr/>
        </p:nvSpPr>
        <p:spPr>
          <a:xfrm>
            <a:off x="5704215" y="4080654"/>
            <a:ext cx="287954" cy="1158096"/>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72</a:t>
            </a:r>
            <a:endParaRPr lang="en-US" sz="800" dirty="0"/>
          </a:p>
        </p:txBody>
      </p:sp>
      <p:sp>
        <p:nvSpPr>
          <p:cNvPr id="92" name="Shape 87"/>
          <p:cNvSpPr/>
          <p:nvPr/>
        </p:nvSpPr>
        <p:spPr>
          <a:xfrm>
            <a:off x="5704215" y="3970891"/>
            <a:ext cx="287954" cy="90712"/>
          </a:xfrm>
          <a:prstGeom prst="roundRect">
            <a:avLst>
              <a:gd name="adj" fmla="val 31501"/>
            </a:avLst>
          </a:prstGeom>
          <a:solidFill>
            <a:srgbClr val="D9A21B"/>
          </a:solidFill>
          <a:ln w="12700">
            <a:solidFill>
              <a:srgbClr val="D9A21B"/>
            </a:solidFill>
            <a:prstDash val="solid"/>
          </a:ln>
        </p:spPr>
      </p:sp>
      <p:sp>
        <p:nvSpPr>
          <p:cNvPr id="93" name="Shape 88"/>
          <p:cNvSpPr/>
          <p:nvPr/>
        </p:nvSpPr>
        <p:spPr>
          <a:xfrm>
            <a:off x="5704215" y="3900861"/>
            <a:ext cx="287954" cy="50981"/>
          </a:xfrm>
          <a:prstGeom prst="roundRect">
            <a:avLst>
              <a:gd name="adj" fmla="val 50000"/>
            </a:avLst>
          </a:prstGeom>
          <a:solidFill>
            <a:srgbClr val="2B7BB0"/>
          </a:solidFill>
          <a:ln w="12700">
            <a:solidFill>
              <a:srgbClr val="2B7BB0"/>
            </a:solidFill>
            <a:prstDash val="solid"/>
          </a:ln>
        </p:spPr>
      </p:sp>
      <p:sp>
        <p:nvSpPr>
          <p:cNvPr id="94" name="Text 89"/>
          <p:cNvSpPr txBox="1"/>
          <p:nvPr/>
        </p:nvSpPr>
        <p:spPr>
          <a:xfrm>
            <a:off x="5467193" y="3729411"/>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83</a:t>
            </a:r>
            <a:endParaRPr lang="en-US" sz="860" dirty="0"/>
          </a:p>
        </p:txBody>
      </p:sp>
      <p:sp>
        <p:nvSpPr>
          <p:cNvPr id="95" name="Text 90"/>
          <p:cNvSpPr txBox="1"/>
          <p:nvPr/>
        </p:nvSpPr>
        <p:spPr>
          <a:xfrm>
            <a:off x="5625496" y="5286375"/>
            <a:ext cx="445392"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28 Dec</a:t>
            </a:r>
            <a:endParaRPr lang="en-US" sz="830" dirty="0"/>
          </a:p>
        </p:txBody>
      </p:sp>
      <p:sp>
        <p:nvSpPr>
          <p:cNvPr id="96" name="Shape 91"/>
          <p:cNvSpPr/>
          <p:nvPr/>
        </p:nvSpPr>
        <p:spPr>
          <a:xfrm>
            <a:off x="971550" y="5238750"/>
            <a:ext cx="5108864" cy="0"/>
          </a:xfrm>
          <a:prstGeom prst="line">
            <a:avLst/>
          </a:prstGeom>
          <a:noFill/>
          <a:ln w="9525">
            <a:solidFill>
              <a:srgbClr val="B9C2B0"/>
            </a:solidFill>
            <a:prstDash val="solid"/>
          </a:ln>
        </p:spPr>
      </p:sp>
      <p:sp>
        <p:nvSpPr>
          <p:cNvPr id="97" name="Shape 92"/>
          <p:cNvSpPr/>
          <p:nvPr/>
        </p:nvSpPr>
        <p:spPr>
          <a:xfrm>
            <a:off x="6442364" y="1714500"/>
            <a:ext cx="4606636" cy="3886200"/>
          </a:xfrm>
          <a:prstGeom prst="roundRect">
            <a:avLst>
              <a:gd name="adj" fmla="val 2824"/>
            </a:avLst>
          </a:prstGeom>
          <a:solidFill>
            <a:srgbClr val="FFFFFF"/>
          </a:solidFill>
          <a:ln w="12700">
            <a:solidFill>
              <a:srgbClr val="FFFFFF"/>
            </a:solidFill>
            <a:prstDash val="solid"/>
          </a:ln>
        </p:spPr>
      </p:sp>
      <p:sp>
        <p:nvSpPr>
          <p:cNvPr id="98" name="Text 93"/>
          <p:cNvSpPr txBox="1"/>
          <p:nvPr/>
        </p:nvSpPr>
        <p:spPr>
          <a:xfrm>
            <a:off x="6632864" y="1866900"/>
            <a:ext cx="4225636"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Largest SKUs, 19 Oct – 31 Dec (MT)</a:t>
            </a:r>
            <a:endParaRPr lang="en-US" sz="1300" dirty="0"/>
          </a:p>
        </p:txBody>
      </p:sp>
      <p:sp>
        <p:nvSpPr>
          <p:cNvPr id="99" name="Text 94"/>
          <p:cNvSpPr txBox="1"/>
          <p:nvPr/>
        </p:nvSpPr>
        <p:spPr>
          <a:xfrm>
            <a:off x="6632864" y="2095500"/>
            <a:ext cx="4225636"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Tonnes over the plan; bags in grey</a:t>
            </a:r>
            <a:endParaRPr lang="en-US" sz="950" dirty="0"/>
          </a:p>
        </p:txBody>
      </p:sp>
      <p:sp>
        <p:nvSpPr>
          <p:cNvPr id="100" name="Text 95"/>
          <p:cNvSpPr txBox="1"/>
          <p:nvPr/>
        </p:nvSpPr>
        <p:spPr>
          <a:xfrm>
            <a:off x="6651914" y="2381250"/>
            <a:ext cx="3012151" cy="224457"/>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KCL Canada Cap Mahkota</a:t>
            </a:r>
            <a:endParaRPr lang="en-US" sz="940" dirty="0"/>
          </a:p>
        </p:txBody>
      </p:sp>
      <p:sp>
        <p:nvSpPr>
          <p:cNvPr id="101" name="Text 96"/>
          <p:cNvSpPr txBox="1"/>
          <p:nvPr/>
        </p:nvSpPr>
        <p:spPr>
          <a:xfrm>
            <a:off x="10467975" y="2381250"/>
            <a:ext cx="371475" cy="224457"/>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482.7</a:t>
            </a:r>
            <a:endParaRPr lang="en-US" sz="940" dirty="0"/>
          </a:p>
        </p:txBody>
      </p:sp>
      <p:sp>
        <p:nvSpPr>
          <p:cNvPr id="102" name="Text 97"/>
          <p:cNvSpPr txBox="1"/>
          <p:nvPr/>
        </p:nvSpPr>
        <p:spPr>
          <a:xfrm>
            <a:off x="9721215" y="2381250"/>
            <a:ext cx="670560" cy="224457"/>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9,654 bags</a:t>
            </a:r>
            <a:endParaRPr lang="en-US" sz="860" dirty="0"/>
          </a:p>
        </p:txBody>
      </p:sp>
      <p:sp>
        <p:nvSpPr>
          <p:cNvPr id="103" name="Shape 98"/>
          <p:cNvSpPr/>
          <p:nvPr/>
        </p:nvSpPr>
        <p:spPr>
          <a:xfrm>
            <a:off x="6651914" y="2624757"/>
            <a:ext cx="4187536" cy="104156"/>
          </a:xfrm>
          <a:prstGeom prst="roundRect">
            <a:avLst>
              <a:gd name="adj" fmla="val 27435"/>
            </a:avLst>
          </a:prstGeom>
          <a:solidFill>
            <a:srgbClr val="E9EDE5"/>
          </a:solidFill>
          <a:ln w="12700">
            <a:solidFill>
              <a:srgbClr val="E9EDE5"/>
            </a:solidFill>
            <a:prstDash val="solid"/>
          </a:ln>
        </p:spPr>
      </p:sp>
      <p:sp>
        <p:nvSpPr>
          <p:cNvPr id="104" name="Shape 99"/>
          <p:cNvSpPr/>
          <p:nvPr/>
        </p:nvSpPr>
        <p:spPr>
          <a:xfrm>
            <a:off x="6651914" y="2624757"/>
            <a:ext cx="4187536" cy="104156"/>
          </a:xfrm>
          <a:prstGeom prst="roundRect">
            <a:avLst>
              <a:gd name="adj" fmla="val 27435"/>
            </a:avLst>
          </a:prstGeom>
          <a:solidFill>
            <a:srgbClr val="3E7B27"/>
          </a:solidFill>
          <a:ln w="12700">
            <a:solidFill>
              <a:srgbClr val="3E7B27"/>
            </a:solidFill>
            <a:prstDash val="solid"/>
          </a:ln>
        </p:spPr>
      </p:sp>
      <p:sp>
        <p:nvSpPr>
          <p:cNvPr id="105" name="Text 100"/>
          <p:cNvSpPr txBox="1"/>
          <p:nvPr/>
        </p:nvSpPr>
        <p:spPr>
          <a:xfrm>
            <a:off x="6651914" y="2767013"/>
            <a:ext cx="3012151" cy="224457"/>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RP Mahkota Egypt</a:t>
            </a:r>
            <a:endParaRPr lang="en-US" sz="940" dirty="0"/>
          </a:p>
        </p:txBody>
      </p:sp>
      <p:sp>
        <p:nvSpPr>
          <p:cNvPr id="106" name="Text 101"/>
          <p:cNvSpPr txBox="1"/>
          <p:nvPr/>
        </p:nvSpPr>
        <p:spPr>
          <a:xfrm>
            <a:off x="10467975" y="2767013"/>
            <a:ext cx="371475" cy="224457"/>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213.9</a:t>
            </a:r>
            <a:endParaRPr lang="en-US" sz="940" dirty="0"/>
          </a:p>
        </p:txBody>
      </p:sp>
      <p:sp>
        <p:nvSpPr>
          <p:cNvPr id="107" name="Text 102"/>
          <p:cNvSpPr txBox="1"/>
          <p:nvPr/>
        </p:nvSpPr>
        <p:spPr>
          <a:xfrm>
            <a:off x="9721215" y="2767013"/>
            <a:ext cx="670560" cy="224457"/>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4,278 bags</a:t>
            </a:r>
            <a:endParaRPr lang="en-US" sz="860" dirty="0"/>
          </a:p>
        </p:txBody>
      </p:sp>
      <p:sp>
        <p:nvSpPr>
          <p:cNvPr id="108" name="Shape 103"/>
          <p:cNvSpPr/>
          <p:nvPr/>
        </p:nvSpPr>
        <p:spPr>
          <a:xfrm>
            <a:off x="6651914" y="3010519"/>
            <a:ext cx="4187536" cy="104156"/>
          </a:xfrm>
          <a:prstGeom prst="roundRect">
            <a:avLst>
              <a:gd name="adj" fmla="val 27435"/>
            </a:avLst>
          </a:prstGeom>
          <a:solidFill>
            <a:srgbClr val="E9EDE5"/>
          </a:solidFill>
          <a:ln w="12700">
            <a:solidFill>
              <a:srgbClr val="E9EDE5"/>
            </a:solidFill>
            <a:prstDash val="solid"/>
          </a:ln>
        </p:spPr>
      </p:sp>
      <p:sp>
        <p:nvSpPr>
          <p:cNvPr id="109" name="Shape 104"/>
          <p:cNvSpPr/>
          <p:nvPr/>
        </p:nvSpPr>
        <p:spPr>
          <a:xfrm>
            <a:off x="6651914" y="3010519"/>
            <a:ext cx="1855633" cy="104156"/>
          </a:xfrm>
          <a:prstGeom prst="roundRect">
            <a:avLst>
              <a:gd name="adj" fmla="val 27435"/>
            </a:avLst>
          </a:prstGeom>
          <a:solidFill>
            <a:srgbClr val="3E7B27"/>
          </a:solidFill>
          <a:ln w="12700">
            <a:solidFill>
              <a:srgbClr val="3E7B27"/>
            </a:solidFill>
            <a:prstDash val="solid"/>
          </a:ln>
        </p:spPr>
      </p:sp>
      <p:sp>
        <p:nvSpPr>
          <p:cNvPr id="110" name="Text 105"/>
          <p:cNvSpPr txBox="1"/>
          <p:nvPr/>
        </p:nvSpPr>
        <p:spPr>
          <a:xfrm>
            <a:off x="6651914" y="3152775"/>
            <a:ext cx="3012151" cy="224457"/>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RP Sasco Egypt</a:t>
            </a:r>
            <a:endParaRPr lang="en-US" sz="940" dirty="0"/>
          </a:p>
        </p:txBody>
      </p:sp>
      <p:sp>
        <p:nvSpPr>
          <p:cNvPr id="111" name="Text 106"/>
          <p:cNvSpPr txBox="1"/>
          <p:nvPr/>
        </p:nvSpPr>
        <p:spPr>
          <a:xfrm>
            <a:off x="10467975" y="3152775"/>
            <a:ext cx="371475" cy="224457"/>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116.2</a:t>
            </a:r>
            <a:endParaRPr lang="en-US" sz="940" dirty="0"/>
          </a:p>
        </p:txBody>
      </p:sp>
      <p:sp>
        <p:nvSpPr>
          <p:cNvPr id="112" name="Text 107"/>
          <p:cNvSpPr txBox="1"/>
          <p:nvPr/>
        </p:nvSpPr>
        <p:spPr>
          <a:xfrm>
            <a:off x="9721215" y="3152775"/>
            <a:ext cx="670560" cy="224457"/>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2,324 bags</a:t>
            </a:r>
            <a:endParaRPr lang="en-US" sz="860" dirty="0"/>
          </a:p>
        </p:txBody>
      </p:sp>
      <p:sp>
        <p:nvSpPr>
          <p:cNvPr id="113" name="Shape 108"/>
          <p:cNvSpPr/>
          <p:nvPr/>
        </p:nvSpPr>
        <p:spPr>
          <a:xfrm>
            <a:off x="6651914" y="3396282"/>
            <a:ext cx="4187536" cy="104156"/>
          </a:xfrm>
          <a:prstGeom prst="roundRect">
            <a:avLst>
              <a:gd name="adj" fmla="val 27435"/>
            </a:avLst>
          </a:prstGeom>
          <a:solidFill>
            <a:srgbClr val="E9EDE5"/>
          </a:solidFill>
          <a:ln w="12700">
            <a:solidFill>
              <a:srgbClr val="E9EDE5"/>
            </a:solidFill>
            <a:prstDash val="solid"/>
          </a:ln>
        </p:spPr>
      </p:sp>
      <p:sp>
        <p:nvSpPr>
          <p:cNvPr id="114" name="Shape 109"/>
          <p:cNvSpPr/>
          <p:nvPr/>
        </p:nvSpPr>
        <p:spPr>
          <a:xfrm>
            <a:off x="6651914" y="3396282"/>
            <a:ext cx="1008062" cy="104156"/>
          </a:xfrm>
          <a:prstGeom prst="roundRect">
            <a:avLst>
              <a:gd name="adj" fmla="val 27435"/>
            </a:avLst>
          </a:prstGeom>
          <a:solidFill>
            <a:srgbClr val="3E7B27"/>
          </a:solidFill>
          <a:ln w="12700">
            <a:solidFill>
              <a:srgbClr val="3E7B27"/>
            </a:solidFill>
            <a:prstDash val="solid"/>
          </a:ln>
        </p:spPr>
      </p:sp>
      <p:sp>
        <p:nvSpPr>
          <p:cNvPr id="115" name="Text 110"/>
          <p:cNvSpPr txBox="1"/>
          <p:nvPr/>
        </p:nvSpPr>
        <p:spPr>
          <a:xfrm>
            <a:off x="6651914" y="3538538"/>
            <a:ext cx="3012151" cy="224457"/>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Dolomite M-100</a:t>
            </a:r>
            <a:endParaRPr lang="en-US" sz="940" dirty="0"/>
          </a:p>
        </p:txBody>
      </p:sp>
      <p:sp>
        <p:nvSpPr>
          <p:cNvPr id="116" name="Text 111"/>
          <p:cNvSpPr txBox="1"/>
          <p:nvPr/>
        </p:nvSpPr>
        <p:spPr>
          <a:xfrm>
            <a:off x="10467975" y="3538538"/>
            <a:ext cx="371475" cy="224457"/>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111.3</a:t>
            </a:r>
            <a:endParaRPr lang="en-US" sz="940" dirty="0"/>
          </a:p>
        </p:txBody>
      </p:sp>
      <p:sp>
        <p:nvSpPr>
          <p:cNvPr id="117" name="Text 112"/>
          <p:cNvSpPr txBox="1"/>
          <p:nvPr/>
        </p:nvSpPr>
        <p:spPr>
          <a:xfrm>
            <a:off x="9721215" y="3538538"/>
            <a:ext cx="670560" cy="224457"/>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2,225 bags</a:t>
            </a:r>
            <a:endParaRPr lang="en-US" sz="860" dirty="0"/>
          </a:p>
        </p:txBody>
      </p:sp>
      <p:sp>
        <p:nvSpPr>
          <p:cNvPr id="118" name="Shape 113"/>
          <p:cNvSpPr/>
          <p:nvPr/>
        </p:nvSpPr>
        <p:spPr>
          <a:xfrm>
            <a:off x="6651914" y="3782044"/>
            <a:ext cx="4187536" cy="104156"/>
          </a:xfrm>
          <a:prstGeom prst="roundRect">
            <a:avLst>
              <a:gd name="adj" fmla="val 27435"/>
            </a:avLst>
          </a:prstGeom>
          <a:solidFill>
            <a:srgbClr val="E9EDE5"/>
          </a:solidFill>
          <a:ln w="12700">
            <a:solidFill>
              <a:srgbClr val="E9EDE5"/>
            </a:solidFill>
            <a:prstDash val="solid"/>
          </a:ln>
        </p:spPr>
      </p:sp>
      <p:sp>
        <p:nvSpPr>
          <p:cNvPr id="119" name="Shape 114"/>
          <p:cNvSpPr/>
          <p:nvPr/>
        </p:nvSpPr>
        <p:spPr>
          <a:xfrm>
            <a:off x="6651914" y="3782044"/>
            <a:ext cx="965120" cy="104156"/>
          </a:xfrm>
          <a:prstGeom prst="roundRect">
            <a:avLst>
              <a:gd name="adj" fmla="val 27435"/>
            </a:avLst>
          </a:prstGeom>
          <a:solidFill>
            <a:srgbClr val="3E7B27"/>
          </a:solidFill>
          <a:ln w="12700">
            <a:solidFill>
              <a:srgbClr val="3E7B27"/>
            </a:solidFill>
            <a:prstDash val="solid"/>
          </a:ln>
        </p:spPr>
      </p:sp>
      <p:sp>
        <p:nvSpPr>
          <p:cNvPr id="120" name="Text 115"/>
          <p:cNvSpPr txBox="1"/>
          <p:nvPr/>
        </p:nvSpPr>
        <p:spPr>
          <a:xfrm>
            <a:off x="6651914" y="3924300"/>
            <a:ext cx="3012151" cy="224457"/>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Urea Nitrea 46% N</a:t>
            </a:r>
            <a:endParaRPr lang="en-US" sz="940" dirty="0"/>
          </a:p>
        </p:txBody>
      </p:sp>
      <p:sp>
        <p:nvSpPr>
          <p:cNvPr id="121" name="Text 116"/>
          <p:cNvSpPr txBox="1"/>
          <p:nvPr/>
        </p:nvSpPr>
        <p:spPr>
          <a:xfrm>
            <a:off x="10467975" y="3924300"/>
            <a:ext cx="371475" cy="224457"/>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101.5</a:t>
            </a:r>
            <a:endParaRPr lang="en-US" sz="940" dirty="0"/>
          </a:p>
        </p:txBody>
      </p:sp>
      <p:sp>
        <p:nvSpPr>
          <p:cNvPr id="122" name="Text 117"/>
          <p:cNvSpPr txBox="1"/>
          <p:nvPr/>
        </p:nvSpPr>
        <p:spPr>
          <a:xfrm>
            <a:off x="9721215" y="3924300"/>
            <a:ext cx="670560" cy="224457"/>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2,029 bags</a:t>
            </a:r>
            <a:endParaRPr lang="en-US" sz="860" dirty="0"/>
          </a:p>
        </p:txBody>
      </p:sp>
      <p:sp>
        <p:nvSpPr>
          <p:cNvPr id="123" name="Shape 118"/>
          <p:cNvSpPr/>
          <p:nvPr/>
        </p:nvSpPr>
        <p:spPr>
          <a:xfrm>
            <a:off x="6651914" y="4167807"/>
            <a:ext cx="4187536" cy="104156"/>
          </a:xfrm>
          <a:prstGeom prst="roundRect">
            <a:avLst>
              <a:gd name="adj" fmla="val 27435"/>
            </a:avLst>
          </a:prstGeom>
          <a:solidFill>
            <a:srgbClr val="E9EDE5"/>
          </a:solidFill>
          <a:ln w="12700">
            <a:solidFill>
              <a:srgbClr val="E9EDE5"/>
            </a:solidFill>
            <a:prstDash val="solid"/>
          </a:ln>
        </p:spPr>
      </p:sp>
      <p:sp>
        <p:nvSpPr>
          <p:cNvPr id="124" name="Shape 119"/>
          <p:cNvSpPr/>
          <p:nvPr/>
        </p:nvSpPr>
        <p:spPr>
          <a:xfrm>
            <a:off x="6651914" y="4167807"/>
            <a:ext cx="880103" cy="104156"/>
          </a:xfrm>
          <a:prstGeom prst="roundRect">
            <a:avLst>
              <a:gd name="adj" fmla="val 27435"/>
            </a:avLst>
          </a:prstGeom>
          <a:solidFill>
            <a:srgbClr val="3E7B27"/>
          </a:solidFill>
          <a:ln w="12700">
            <a:solidFill>
              <a:srgbClr val="3E7B27"/>
            </a:solidFill>
            <a:prstDash val="solid"/>
          </a:ln>
        </p:spPr>
      </p:sp>
      <p:sp>
        <p:nvSpPr>
          <p:cNvPr id="125" name="Text 120"/>
          <p:cNvSpPr txBox="1"/>
          <p:nvPr/>
        </p:nvSpPr>
        <p:spPr>
          <a:xfrm>
            <a:off x="6651914" y="4310063"/>
            <a:ext cx="3078826" cy="224457"/>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RP Cap Daun</a:t>
            </a:r>
            <a:endParaRPr lang="en-US" sz="940" dirty="0"/>
          </a:p>
        </p:txBody>
      </p:sp>
      <p:sp>
        <p:nvSpPr>
          <p:cNvPr id="126" name="Text 121"/>
          <p:cNvSpPr txBox="1"/>
          <p:nvPr/>
        </p:nvSpPr>
        <p:spPr>
          <a:xfrm>
            <a:off x="10534650" y="4310063"/>
            <a:ext cx="304800" cy="224457"/>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73.5</a:t>
            </a:r>
            <a:endParaRPr lang="en-US" sz="940" dirty="0"/>
          </a:p>
        </p:txBody>
      </p:sp>
      <p:sp>
        <p:nvSpPr>
          <p:cNvPr id="127" name="Text 122"/>
          <p:cNvSpPr txBox="1"/>
          <p:nvPr/>
        </p:nvSpPr>
        <p:spPr>
          <a:xfrm>
            <a:off x="9787890" y="4310063"/>
            <a:ext cx="670560" cy="224457"/>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1,470 bags</a:t>
            </a:r>
            <a:endParaRPr lang="en-US" sz="860" dirty="0"/>
          </a:p>
        </p:txBody>
      </p:sp>
      <p:sp>
        <p:nvSpPr>
          <p:cNvPr id="128" name="Shape 123"/>
          <p:cNvSpPr/>
          <p:nvPr/>
        </p:nvSpPr>
        <p:spPr>
          <a:xfrm>
            <a:off x="6651914" y="4553569"/>
            <a:ext cx="4187536" cy="104156"/>
          </a:xfrm>
          <a:prstGeom prst="roundRect">
            <a:avLst>
              <a:gd name="adj" fmla="val 27435"/>
            </a:avLst>
          </a:prstGeom>
          <a:solidFill>
            <a:srgbClr val="E9EDE5"/>
          </a:solidFill>
          <a:ln w="12700">
            <a:solidFill>
              <a:srgbClr val="E9EDE5"/>
            </a:solidFill>
            <a:prstDash val="solid"/>
          </a:ln>
        </p:spPr>
      </p:sp>
      <p:sp>
        <p:nvSpPr>
          <p:cNvPr id="129" name="Shape 124"/>
          <p:cNvSpPr/>
          <p:nvPr/>
        </p:nvSpPr>
        <p:spPr>
          <a:xfrm>
            <a:off x="6651914" y="4553569"/>
            <a:ext cx="637630" cy="104156"/>
          </a:xfrm>
          <a:prstGeom prst="roundRect">
            <a:avLst>
              <a:gd name="adj" fmla="val 27435"/>
            </a:avLst>
          </a:prstGeom>
          <a:solidFill>
            <a:srgbClr val="3E7B27"/>
          </a:solidFill>
          <a:ln w="12700">
            <a:solidFill>
              <a:srgbClr val="3E7B27"/>
            </a:solidFill>
            <a:prstDash val="solid"/>
          </a:ln>
        </p:spPr>
      </p:sp>
      <p:sp>
        <p:nvSpPr>
          <p:cNvPr id="130" name="Text 125"/>
          <p:cNvSpPr txBox="1"/>
          <p:nvPr/>
        </p:nvSpPr>
        <p:spPr>
          <a:xfrm>
            <a:off x="6651914" y="4695825"/>
            <a:ext cx="3078826" cy="224457"/>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KCL Sasco</a:t>
            </a:r>
            <a:endParaRPr lang="en-US" sz="940" dirty="0"/>
          </a:p>
        </p:txBody>
      </p:sp>
      <p:sp>
        <p:nvSpPr>
          <p:cNvPr id="131" name="Text 126"/>
          <p:cNvSpPr txBox="1"/>
          <p:nvPr/>
        </p:nvSpPr>
        <p:spPr>
          <a:xfrm>
            <a:off x="10534650" y="4695825"/>
            <a:ext cx="304800" cy="224457"/>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72.4</a:t>
            </a:r>
            <a:endParaRPr lang="en-US" sz="940" dirty="0"/>
          </a:p>
        </p:txBody>
      </p:sp>
      <p:sp>
        <p:nvSpPr>
          <p:cNvPr id="132" name="Text 127"/>
          <p:cNvSpPr txBox="1"/>
          <p:nvPr/>
        </p:nvSpPr>
        <p:spPr>
          <a:xfrm>
            <a:off x="9787890" y="4695825"/>
            <a:ext cx="670560" cy="224457"/>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1,449 bags</a:t>
            </a:r>
            <a:endParaRPr lang="en-US" sz="860" dirty="0"/>
          </a:p>
        </p:txBody>
      </p:sp>
      <p:sp>
        <p:nvSpPr>
          <p:cNvPr id="133" name="Shape 128"/>
          <p:cNvSpPr/>
          <p:nvPr/>
        </p:nvSpPr>
        <p:spPr>
          <a:xfrm>
            <a:off x="6651914" y="4939332"/>
            <a:ext cx="4187536" cy="104156"/>
          </a:xfrm>
          <a:prstGeom prst="roundRect">
            <a:avLst>
              <a:gd name="adj" fmla="val 27435"/>
            </a:avLst>
          </a:prstGeom>
          <a:solidFill>
            <a:srgbClr val="E9EDE5"/>
          </a:solidFill>
          <a:ln w="12700">
            <a:solidFill>
              <a:srgbClr val="E9EDE5"/>
            </a:solidFill>
            <a:prstDash val="solid"/>
          </a:ln>
        </p:spPr>
      </p:sp>
      <p:sp>
        <p:nvSpPr>
          <p:cNvPr id="134" name="Shape 129"/>
          <p:cNvSpPr/>
          <p:nvPr/>
        </p:nvSpPr>
        <p:spPr>
          <a:xfrm>
            <a:off x="6651914" y="4939332"/>
            <a:ext cx="628521" cy="104156"/>
          </a:xfrm>
          <a:prstGeom prst="roundRect">
            <a:avLst>
              <a:gd name="adj" fmla="val 27435"/>
            </a:avLst>
          </a:prstGeom>
          <a:solidFill>
            <a:srgbClr val="3E7B27"/>
          </a:solidFill>
          <a:ln w="12700">
            <a:solidFill>
              <a:srgbClr val="3E7B27"/>
            </a:solidFill>
            <a:prstDash val="solid"/>
          </a:ln>
        </p:spPr>
      </p:sp>
      <p:sp>
        <p:nvSpPr>
          <p:cNvPr id="135" name="Text 130"/>
          <p:cNvSpPr txBox="1"/>
          <p:nvPr/>
        </p:nvSpPr>
        <p:spPr>
          <a:xfrm>
            <a:off x="6651914" y="5081588"/>
            <a:ext cx="3078826" cy="224457"/>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RP Mahkota Peru</a:t>
            </a:r>
            <a:endParaRPr lang="en-US" sz="940" dirty="0"/>
          </a:p>
        </p:txBody>
      </p:sp>
      <p:sp>
        <p:nvSpPr>
          <p:cNvPr id="136" name="Text 131"/>
          <p:cNvSpPr txBox="1"/>
          <p:nvPr/>
        </p:nvSpPr>
        <p:spPr>
          <a:xfrm>
            <a:off x="10534650" y="5081588"/>
            <a:ext cx="304800" cy="224457"/>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68.0</a:t>
            </a:r>
            <a:endParaRPr lang="en-US" sz="940" dirty="0"/>
          </a:p>
        </p:txBody>
      </p:sp>
      <p:sp>
        <p:nvSpPr>
          <p:cNvPr id="137" name="Text 132"/>
          <p:cNvSpPr txBox="1"/>
          <p:nvPr/>
        </p:nvSpPr>
        <p:spPr>
          <a:xfrm>
            <a:off x="9787890" y="5081588"/>
            <a:ext cx="670560" cy="224457"/>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1,360 bags</a:t>
            </a:r>
            <a:endParaRPr lang="en-US" sz="860" dirty="0"/>
          </a:p>
        </p:txBody>
      </p:sp>
      <p:sp>
        <p:nvSpPr>
          <p:cNvPr id="138" name="Shape 133"/>
          <p:cNvSpPr/>
          <p:nvPr/>
        </p:nvSpPr>
        <p:spPr>
          <a:xfrm>
            <a:off x="6651914" y="5325094"/>
            <a:ext cx="4187536" cy="104156"/>
          </a:xfrm>
          <a:prstGeom prst="roundRect">
            <a:avLst>
              <a:gd name="adj" fmla="val 27435"/>
            </a:avLst>
          </a:prstGeom>
          <a:solidFill>
            <a:srgbClr val="E9EDE5"/>
          </a:solidFill>
          <a:ln w="12700">
            <a:solidFill>
              <a:srgbClr val="E9EDE5"/>
            </a:solidFill>
            <a:prstDash val="solid"/>
          </a:ln>
        </p:spPr>
      </p:sp>
      <p:sp>
        <p:nvSpPr>
          <p:cNvPr id="139" name="Shape 134"/>
          <p:cNvSpPr/>
          <p:nvPr/>
        </p:nvSpPr>
        <p:spPr>
          <a:xfrm>
            <a:off x="6651914" y="5325094"/>
            <a:ext cx="589916" cy="104156"/>
          </a:xfrm>
          <a:prstGeom prst="roundRect">
            <a:avLst>
              <a:gd name="adj" fmla="val 27435"/>
            </a:avLst>
          </a:prstGeom>
          <a:solidFill>
            <a:srgbClr val="3E7B27"/>
          </a:solidFill>
          <a:ln w="12700">
            <a:solidFill>
              <a:srgbClr val="3E7B27"/>
            </a:solidFill>
            <a:prstDash val="solid"/>
          </a:ln>
        </p:spPr>
      </p:sp>
      <p:sp>
        <p:nvSpPr>
          <p:cNvPr id="140" name="Shape 135"/>
          <p:cNvSpPr/>
          <p:nvPr/>
        </p:nvSpPr>
        <p:spPr>
          <a:xfrm>
            <a:off x="762000" y="5734050"/>
            <a:ext cx="10287000" cy="381000"/>
          </a:xfrm>
          <a:prstGeom prst="roundRect">
            <a:avLst>
              <a:gd name="adj" fmla="val 28800"/>
            </a:avLst>
          </a:prstGeom>
          <a:solidFill>
            <a:srgbClr val="FBEFC4"/>
          </a:solidFill>
          <a:ln w="12700">
            <a:solidFill>
              <a:srgbClr val="FBEFC4"/>
            </a:solidFill>
            <a:prstDash val="solid"/>
          </a:ln>
        </p:spPr>
      </p:sp>
      <p:sp>
        <p:nvSpPr>
          <p:cNvPr id="141" name="Text 136"/>
          <p:cNvSpPr txBox="1"/>
          <p:nvPr/>
        </p:nvSpPr>
        <p:spPr>
          <a:xfrm>
            <a:off x="933450" y="5819775"/>
            <a:ext cx="9944100" cy="20955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Oct, Nov and Dec use the Jul–Oct mix (the data has no same month last season): Rp5,982/kg in Riau, so each Rp1B needs about 167 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Sales amount · target Rp4B a month · plan 19 Oct – 31 Dec 2026 · data to 18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7</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FORECAST · STOCK PLAN BY MONTH AND AREA</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Stock needed for Rp4B a month: 269 MT in 19–31 Oct, 641 MT in Nov, 641 MT in Dec</a:t>
            </a:r>
            <a:endParaRPr lang="en-US" sz="2300" dirty="0"/>
          </a:p>
        </p:txBody>
      </p:sp>
      <p:sp>
        <p:nvSpPr>
          <p:cNvPr id="11" name="Shape 6"/>
          <p:cNvSpPr/>
          <p:nvPr/>
        </p:nvSpPr>
        <p:spPr>
          <a:xfrm>
            <a:off x="762000" y="1714500"/>
            <a:ext cx="10287000" cy="4400550"/>
          </a:xfrm>
          <a:prstGeom prst="roundRect">
            <a:avLst>
              <a:gd name="adj" fmla="val 2494"/>
            </a:avLst>
          </a:prstGeom>
          <a:solidFill>
            <a:srgbClr val="FFFFFF"/>
          </a:solidFill>
          <a:ln w="12700">
            <a:solidFill>
              <a:srgbClr val="FFFFFF"/>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14400" y="1885950"/>
          <a:ext cx="9982200" cy="914400"/>
        </p:xfrm>
        <a:graphic>
          <a:graphicData uri="http://schemas.openxmlformats.org/drawingml/2006/table">
            <a:tbl>
              <a:tblPr/>
              <a:tblGrid>
                <a:gridCol w="898398"/>
                <a:gridCol w="1197864"/>
                <a:gridCol w="3992880"/>
                <a:gridCol w="1098042"/>
                <a:gridCol w="2795016"/>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Month</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Area (province)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Stock required (MT)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Target sales (IDR)</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Description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19–31 Oct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232.7 MT: KCL Canada Cap Mahkota 71.5 · RP Mahkota Egypt 32.7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Rp1.39B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Jul–Oct mix, 148 lines · Rp5,982/kg · 5.5× best month</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Sumatera Utara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22.1 MT: KCL Canada Cap Mahkota 12.2 · RP Mahkota Egypt 4.4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Rp160M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Jul–Oct mix, 12 lines · Rp7,244/kg · 4.1× best month</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Sumatera Selatan*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14.1 MT: KCL Mentari 6.1 · NPK DGW 13-8-27-4 TE 5.8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Rp126M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Full-history mix · Rp8,910/kg · 3.4× best month</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Nov 2026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555.0 MT: KCL Canada Cap Mahkota 170.5 · RP Mahkota Egypt 77.9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Rp3.32B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Jul–Oct mix, 148 lines · Rp5,982/kg · 5.5× best month</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Sumatera Utara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52.6 MT: KCL Canada Cap Mahkota 29.1 · RP Mahkota Egypt 10.6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Rp381M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Jul–Oct mix, 12 lines · Rp7,244/kg · 4.0× best month</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Sumatera Selatan*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33.6 MT: KCL Mentari 14.4 · NPK DGW 13-8-27-4 TE 13.7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Rp299M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Full-history mix · Rp8,910/kg · 3.4× best month</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Dec 2026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Riau</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555.0 MT: KCL Canada Cap Mahkota 170.5 · RP Mahkota Egypt 77.9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Rp3.32B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Jul–Oct mix, 148 lines · Rp5,982/kg · 5.5× best month</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Sumatera Utara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52.6 MT: KCL Canada Cap Mahkota 29.1 · RP Mahkota Egypt 10.6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Rp381M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Jul–Oct mix, 12 lines · Rp7,244/kg · 4.0× best month</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Sumatera Selatan*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33.6 MT: KCL Mentari 14.4 · NPK DGW 13-8-27-4 TE 13.7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Rp299M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Full-history mix · Rp8,910/kg · 3.4× best month</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
        <p:nvSpPr>
          <p:cNvPr id="13" name="Text 7"/>
          <p:cNvSpPr txBox="1"/>
          <p:nvPr/>
        </p:nvSpPr>
        <p:spPr>
          <a:xfrm>
            <a:off x="952500" y="5562600"/>
            <a:ext cx="9906000" cy="495300"/>
          </a:xfrm>
          <a:prstGeom prst="rect">
            <a:avLst/>
          </a:prstGeom>
          <a:noFill/>
          <a:ln/>
        </p:spPr>
        <p:txBody>
          <a:bodyPr wrap="square" lIns="0" tIns="0" rIns="0" bIns="0" rtlCol="0" anchor="b">
            <a:normAutofit/>
          </a:bodyPr>
          <a:lstStyle/>
          <a:p>
            <a:pPr indent="0" marL="0">
              <a:buNone/>
            </a:pPr>
            <a:r>
              <a:rPr lang="en-US" sz="1000" dirty="0">
                <a:solidFill>
                  <a:srgbClr val="535353"/>
                </a:solidFill>
                <a:latin typeface="Plus Jakarta Sans" pitchFamily="34" charset="0"/>
                <a:ea typeface="Plus Jakarta Sans" pitchFamily="34" charset="-122"/>
                <a:cs typeface="Plus Jakarta Sans" pitchFamily="34" charset="-120"/>
              </a:rPr>
              <a:t>*Sumatera Selatan incl. Lampung, Jambi, Bengkulu. Stock required = tonnes to sell at today's list prices, rounded to whole bags; part months pro rata by day.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Sales amount · target Rp4B a month · plan 19 Oct – 31 Dec 2026 · data to 18 Oct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8</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NEXT STEPS</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4 draft actions to deliver the stock plan; owners and dates to be agreed</a:t>
            </a:r>
            <a:endParaRPr lang="en-US" sz="2300" dirty="0"/>
          </a:p>
        </p:txBody>
      </p:sp>
      <p:sp>
        <p:nvSpPr>
          <p:cNvPr id="11" name="Shape 6"/>
          <p:cNvSpPr/>
          <p:nvPr/>
        </p:nvSpPr>
        <p:spPr>
          <a:xfrm>
            <a:off x="762000" y="1714500"/>
            <a:ext cx="5067300" cy="1809750"/>
          </a:xfrm>
          <a:prstGeom prst="roundRect">
            <a:avLst>
              <a:gd name="adj" fmla="val 6063"/>
            </a:avLst>
          </a:prstGeom>
          <a:solidFill>
            <a:srgbClr val="FFFFFF"/>
          </a:solidFill>
          <a:ln w="12700">
            <a:solidFill>
              <a:srgbClr val="FFFFFF"/>
            </a:solidFill>
            <a:prstDash val="solid"/>
          </a:ln>
        </p:spPr>
      </p:sp>
      <p:sp>
        <p:nvSpPr>
          <p:cNvPr id="12" name="Text 7"/>
          <p:cNvSpPr txBox="1"/>
          <p:nvPr/>
        </p:nvSpPr>
        <p:spPr>
          <a:xfrm>
            <a:off x="933450" y="1847850"/>
            <a:ext cx="47244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1  </a:t>
            </a:r>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[DRAFT] Stock 290 MT for the first two weeks (19 Oct – 1 Nov)</a:t>
            </a:r>
            <a:endParaRPr lang="en-US" sz="1200" dirty="0"/>
          </a:p>
        </p:txBody>
      </p:sp>
      <p:sp>
        <p:nvSpPr>
          <p:cNvPr id="13" name="Text 8"/>
          <p:cNvSpPr txBox="1"/>
          <p:nvPr/>
        </p:nvSpPr>
        <p:spPr>
          <a:xfrm>
            <a:off x="933450" y="2247900"/>
            <a:ext cx="4724400" cy="876300"/>
          </a:xfrm>
          <a:prstGeom prst="rect">
            <a:avLst/>
          </a:prstGeom>
          <a:noFill/>
          <a:ln/>
        </p:spPr>
        <p:txBody>
          <a:bodyPr wrap="square" lIns="0" tIns="0" rIns="0" bIns="0" rtlCol="0" anchor="t">
            <a:normAutofit/>
          </a:bodyPr>
          <a:lstStyle/>
          <a:p>
            <a:pPr indent="0" marL="0">
              <a:buNone/>
            </a:pPr>
            <a:r>
              <a:rPr lang="en-US" sz="1050" dirty="0">
                <a:solidFill>
                  <a:srgbClr val="535353"/>
                </a:solidFill>
                <a:latin typeface="Plus Jakarta Sans" pitchFamily="34" charset="0"/>
                <a:ea typeface="Plus Jakarta Sans" pitchFamily="34" charset="-122"/>
                <a:cs typeface="Plus Jakarta Sans" pitchFamily="34" charset="-120"/>
              </a:rPr>
              <a:t>KCL Canada Cap Mahkota 1,807 bags, RP Mahkota Egypt 800 bags, RP Sasco Egypt 435 bags are the largest lines. Check stock on hand and supplier lead time against the weekly plan, then confirm the following weeks every Monday.</a:t>
            </a:r>
            <a:endParaRPr lang="en-US" sz="1050" dirty="0"/>
          </a:p>
        </p:txBody>
      </p:sp>
      <p:sp>
        <p:nvSpPr>
          <p:cNvPr id="14" name="Text 9"/>
          <p:cNvSpPr txBox="1"/>
          <p:nvPr/>
        </p:nvSpPr>
        <p:spPr>
          <a:xfrm>
            <a:off x="933450" y="3200400"/>
            <a:ext cx="47244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15" name="Shape 10"/>
          <p:cNvSpPr/>
          <p:nvPr/>
        </p:nvSpPr>
        <p:spPr>
          <a:xfrm>
            <a:off x="5981700" y="1714500"/>
            <a:ext cx="5067300" cy="1809750"/>
          </a:xfrm>
          <a:prstGeom prst="roundRect">
            <a:avLst>
              <a:gd name="adj" fmla="val 6063"/>
            </a:avLst>
          </a:prstGeom>
          <a:solidFill>
            <a:srgbClr val="FFFFFF"/>
          </a:solidFill>
          <a:ln w="12700">
            <a:solidFill>
              <a:srgbClr val="FFFFFF"/>
            </a:solidFill>
            <a:prstDash val="solid"/>
          </a:ln>
        </p:spPr>
      </p:sp>
      <p:sp>
        <p:nvSpPr>
          <p:cNvPr id="16" name="Text 11"/>
          <p:cNvSpPr txBox="1"/>
          <p:nvPr/>
        </p:nvSpPr>
        <p:spPr>
          <a:xfrm>
            <a:off x="6153150" y="1847850"/>
            <a:ext cx="47244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2  </a:t>
            </a:r>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[DRAFT] Plan 359 order lines a month</a:t>
            </a:r>
            <a:endParaRPr lang="en-US" sz="1200" dirty="0"/>
          </a:p>
        </p:txBody>
      </p:sp>
      <p:sp>
        <p:nvSpPr>
          <p:cNvPr id="17" name="Text 12"/>
          <p:cNvSpPr txBox="1"/>
          <p:nvPr/>
        </p:nvSpPr>
        <p:spPr>
          <a:xfrm>
            <a:off x="6153150" y="2247900"/>
            <a:ext cx="4724400" cy="876300"/>
          </a:xfrm>
          <a:prstGeom prst="rect">
            <a:avLst/>
          </a:prstGeom>
          <a:noFill/>
          <a:ln/>
        </p:spPr>
        <p:txBody>
          <a:bodyPr wrap="square" lIns="0" tIns="0" rIns="0" bIns="0" rtlCol="0" anchor="t">
            <a:normAutofit/>
          </a:bodyPr>
          <a:lstStyle/>
          <a:p>
            <a:pPr indent="0" marL="0">
              <a:buNone/>
            </a:pPr>
            <a:r>
              <a:rPr lang="en-US" sz="1050" dirty="0">
                <a:solidFill>
                  <a:srgbClr val="535353"/>
                </a:solidFill>
                <a:latin typeface="Plus Jakarta Sans" pitchFamily="34" charset="0"/>
                <a:ea typeface="Plus Jakarta Sans" pitchFamily="34" charset="-122"/>
                <a:cs typeface="Plus Jakarta Sans" pitchFamily="34" charset="-120"/>
              </a:rPr>
              <a:t>Rp4B a month at the Jul–Oct average of Rp11.1M needs 359 order lines; the team closed 45 a month in Jul–Sep. Split the gap by week and area.</a:t>
            </a:r>
            <a:endParaRPr lang="en-US" sz="1050" dirty="0"/>
          </a:p>
        </p:txBody>
      </p:sp>
      <p:sp>
        <p:nvSpPr>
          <p:cNvPr id="18" name="Text 13"/>
          <p:cNvSpPr txBox="1"/>
          <p:nvPr/>
        </p:nvSpPr>
        <p:spPr>
          <a:xfrm>
            <a:off x="6153150" y="3200400"/>
            <a:ext cx="47244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19" name="Shape 14"/>
          <p:cNvSpPr/>
          <p:nvPr/>
        </p:nvSpPr>
        <p:spPr>
          <a:xfrm>
            <a:off x="762000" y="3667125"/>
            <a:ext cx="5067300" cy="1809750"/>
          </a:xfrm>
          <a:prstGeom prst="roundRect">
            <a:avLst>
              <a:gd name="adj" fmla="val 6063"/>
            </a:avLst>
          </a:prstGeom>
          <a:solidFill>
            <a:srgbClr val="FFFFFF"/>
          </a:solidFill>
          <a:ln w="12700">
            <a:solidFill>
              <a:srgbClr val="FFFFFF"/>
            </a:solidFill>
            <a:prstDash val="solid"/>
          </a:ln>
        </p:spPr>
      </p:sp>
      <p:sp>
        <p:nvSpPr>
          <p:cNvPr id="20" name="Text 15"/>
          <p:cNvSpPr txBox="1"/>
          <p:nvPr/>
        </p:nvSpPr>
        <p:spPr>
          <a:xfrm>
            <a:off x="933450" y="3800475"/>
            <a:ext cx="47244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3  </a:t>
            </a:r>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[DRAFT] Book 483 MT of KCL Canada Cap Mahkota to 31 Dec</a:t>
            </a:r>
            <a:endParaRPr lang="en-US" sz="1200" dirty="0"/>
          </a:p>
        </p:txBody>
      </p:sp>
      <p:sp>
        <p:nvSpPr>
          <p:cNvPr id="21" name="Text 16"/>
          <p:cNvSpPr txBox="1"/>
          <p:nvPr/>
        </p:nvSpPr>
        <p:spPr>
          <a:xfrm>
            <a:off x="933450" y="4200525"/>
            <a:ext cx="4724400" cy="876300"/>
          </a:xfrm>
          <a:prstGeom prst="rect">
            <a:avLst/>
          </a:prstGeom>
          <a:noFill/>
          <a:ln/>
        </p:spPr>
        <p:txBody>
          <a:bodyPr wrap="square" lIns="0" tIns="0" rIns="0" bIns="0" rtlCol="0" anchor="t">
            <a:normAutofit/>
          </a:bodyPr>
          <a:lstStyle/>
          <a:p>
            <a:pPr indent="0" marL="0">
              <a:buNone/>
            </a:pPr>
            <a:r>
              <a:rPr lang="en-US" sz="1050" dirty="0">
                <a:solidFill>
                  <a:srgbClr val="535353"/>
                </a:solidFill>
                <a:latin typeface="Plus Jakarta Sans" pitchFamily="34" charset="0"/>
                <a:ea typeface="Plus Jakarta Sans" pitchFamily="34" charset="-122"/>
                <a:cs typeface="Plus Jakarta Sans" pitchFamily="34" charset="-120"/>
              </a:rPr>
              <a:t>The largest line in the plan (31% of the tonnes). Confirm supplier allocation for Oct, Nov and Dec now, at about 44 MT a week.</a:t>
            </a:r>
            <a:endParaRPr lang="en-US" sz="1050" dirty="0"/>
          </a:p>
        </p:txBody>
      </p:sp>
      <p:sp>
        <p:nvSpPr>
          <p:cNvPr id="22" name="Text 17"/>
          <p:cNvSpPr txBox="1"/>
          <p:nvPr/>
        </p:nvSpPr>
        <p:spPr>
          <a:xfrm>
            <a:off x="933450" y="5153025"/>
            <a:ext cx="47244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23" name="Shape 18"/>
          <p:cNvSpPr/>
          <p:nvPr/>
        </p:nvSpPr>
        <p:spPr>
          <a:xfrm>
            <a:off x="5981700" y="3667125"/>
            <a:ext cx="5067300" cy="1809750"/>
          </a:xfrm>
          <a:prstGeom prst="roundRect">
            <a:avLst>
              <a:gd name="adj" fmla="val 6063"/>
            </a:avLst>
          </a:prstGeom>
          <a:solidFill>
            <a:srgbClr val="FFFFFF"/>
          </a:solidFill>
          <a:ln w="12700">
            <a:solidFill>
              <a:srgbClr val="FFFFFF"/>
            </a:solidFill>
            <a:prstDash val="solid"/>
          </a:ln>
        </p:spPr>
      </p:sp>
      <p:sp>
        <p:nvSpPr>
          <p:cNvPr id="24" name="Text 19"/>
          <p:cNvSpPr txBox="1"/>
          <p:nvPr/>
        </p:nvSpPr>
        <p:spPr>
          <a:xfrm>
            <a:off x="6153150" y="3800475"/>
            <a:ext cx="47244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4  </a:t>
            </a:r>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[DRAFT] Add 1 SKU to the price list</a:t>
            </a:r>
            <a:endParaRPr lang="en-US" sz="1200" dirty="0"/>
          </a:p>
        </p:txBody>
      </p:sp>
      <p:sp>
        <p:nvSpPr>
          <p:cNvPr id="25" name="Text 20"/>
          <p:cNvSpPr txBox="1"/>
          <p:nvPr/>
        </p:nvSpPr>
        <p:spPr>
          <a:xfrm>
            <a:off x="6153150" y="4200525"/>
            <a:ext cx="4724400" cy="876300"/>
          </a:xfrm>
          <a:prstGeom prst="rect">
            <a:avLst/>
          </a:prstGeom>
          <a:noFill/>
          <a:ln/>
        </p:spPr>
        <p:txBody>
          <a:bodyPr wrap="square" lIns="0" tIns="0" rIns="0" bIns="0" rtlCol="0" anchor="t">
            <a:normAutofit/>
          </a:bodyPr>
          <a:lstStyle/>
          <a:p>
            <a:pPr indent="0" marL="0">
              <a:buNone/>
            </a:pPr>
            <a:r>
              <a:rPr lang="en-US" sz="1050" dirty="0">
                <a:solidFill>
                  <a:srgbClr val="535353"/>
                </a:solidFill>
                <a:latin typeface="Plus Jakarta Sans" pitchFamily="34" charset="0"/>
                <a:ea typeface="Plus Jakarta Sans" pitchFamily="34" charset="-122"/>
                <a:cs typeface="Plus Jakarta Sans" pitchFamily="34" charset="-120"/>
              </a:rPr>
              <a:t>Mahkota ZA sells but is not on the price list, so the plan uses their last selling price.</a:t>
            </a:r>
            <a:endParaRPr lang="en-US" sz="1050" dirty="0"/>
          </a:p>
        </p:txBody>
      </p:sp>
      <p:sp>
        <p:nvSpPr>
          <p:cNvPr id="26" name="Text 21"/>
          <p:cNvSpPr txBox="1"/>
          <p:nvPr/>
        </p:nvSpPr>
        <p:spPr>
          <a:xfrm>
            <a:off x="6153150" y="5153025"/>
            <a:ext cx="47244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35000"/>
            </a:srgbClr>
          </a:solidFill>
          <a:ln w="12700">
            <a:solidFill>
              <a:srgbClr val="000000">
                <a:alpha val="0"/>
              </a:srgbClr>
            </a:solidFill>
            <a:prstDash val="solid"/>
          </a:ln>
        </p:spPr>
      </p:sp>
      <p:pic>
        <p:nvPicPr>
          <p:cNvPr id="4" name="Image 1" descr="preencoded.png">    </p:cNvPr>
          <p:cNvPicPr>
            <a:picLocks noChangeAspect="1"/>
          </p:cNvPicPr>
          <p:nvPr/>
        </p:nvPicPr>
        <p:blipFill>
          <a:blip r:embed="rId2"/>
          <a:stretch>
            <a:fillRect/>
          </a:stretch>
        </p:blipFill>
        <p:spPr>
          <a:xfrm>
            <a:off x="628650" y="590550"/>
            <a:ext cx="2352675" cy="771525"/>
          </a:xfrm>
          <a:prstGeom prst="rect">
            <a:avLst/>
          </a:prstGeom>
        </p:spPr>
      </p:pic>
      <p:pic>
        <p:nvPicPr>
          <p:cNvPr id="5" name="Image 2" descr="preencoded.png">    </p:cNvPr>
          <p:cNvPicPr>
            <a:picLocks noChangeAspect="1"/>
          </p:cNvPicPr>
          <p:nvPr/>
        </p:nvPicPr>
        <p:blipFill>
          <a:blip r:embed="rId3"/>
          <a:stretch>
            <a:fillRect/>
          </a:stretch>
        </p:blipFill>
        <p:spPr>
          <a:xfrm>
            <a:off x="10420350" y="457200"/>
            <a:ext cx="1143000" cy="1143000"/>
          </a:xfrm>
          <a:prstGeom prst="rect">
            <a:avLst/>
          </a:prstGeom>
        </p:spPr>
      </p:pic>
      <p:sp>
        <p:nvSpPr>
          <p:cNvPr id="6" name="Text 1"/>
          <p:cNvSpPr txBox="1"/>
          <p:nvPr/>
        </p:nvSpPr>
        <p:spPr>
          <a:xfrm>
            <a:off x="0" y="2762250"/>
            <a:ext cx="12191695" cy="1005840"/>
          </a:xfrm>
          <a:prstGeom prst="rect">
            <a:avLst/>
          </a:prstGeom>
          <a:noFill/>
          <a:ln/>
        </p:spPr>
        <p:txBody>
          <a:bodyPr wrap="square" lIns="0" tIns="0" rIns="0" bIns="0" rtlCol="0" anchor="t"/>
          <a:lstStyle/>
          <a:p>
            <a:pPr algn="ctr" indent="0" marL="0">
              <a:buNone/>
            </a:pPr>
            <a:r>
              <a:rPr lang="en-US" sz="6000" b="1" dirty="0">
                <a:solidFill>
                  <a:srgbClr val="FFFFFF"/>
                </a:solidFill>
                <a:latin typeface="Plus Jakarta Sans" pitchFamily="34" charset="0"/>
                <a:ea typeface="Plus Jakarta Sans" pitchFamily="34" charset="-122"/>
                <a:cs typeface="Plus Jakarta Sans" pitchFamily="34" charset="-120"/>
              </a:rPr>
              <a:t>Thank You</a:t>
            </a:r>
            <a:endParaRPr lang="en-US" sz="6000" dirty="0"/>
          </a:p>
        </p:txBody>
      </p:sp>
      <p:sp>
        <p:nvSpPr>
          <p:cNvPr id="7" name="Text 2"/>
          <p:cNvSpPr txBox="1"/>
          <p:nvPr/>
        </p:nvSpPr>
        <p:spPr>
          <a:xfrm>
            <a:off x="0" y="3810000"/>
            <a:ext cx="12191695" cy="548640"/>
          </a:xfrm>
          <a:prstGeom prst="rect">
            <a:avLst/>
          </a:prstGeom>
          <a:noFill/>
          <a:ln/>
        </p:spPr>
        <p:txBody>
          <a:bodyPr wrap="square" lIns="0" tIns="0" rIns="0" bIns="0" rtlCol="0" anchor="t"/>
          <a:lstStyle/>
          <a:p>
            <a:pPr algn="ctr" indent="0" marL="0">
              <a:buNone/>
            </a:pPr>
            <a:r>
              <a:rPr lang="en-US" sz="2600" b="1" dirty="0">
                <a:solidFill>
                  <a:srgbClr val="F5D347"/>
                </a:solidFill>
                <a:latin typeface="Plus Jakarta Sans" pitchFamily="34" charset="0"/>
                <a:ea typeface="Plus Jakarta Sans" pitchFamily="34" charset="-122"/>
                <a:cs typeface="Plus Jakarta Sans" pitchFamily="34" charset="-120"/>
              </a:rPr>
              <a:t>#TerusTumbuh</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SawitPRO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Smallholder · 19 Oct – 31 Dec 2026</dc:title>
  <dc:subject>PptxGenJS Presentation</dc:subject>
  <dc:creator>PptxGenJS</dc:creator>
  <cp:lastModifiedBy>PptxGenJS</cp:lastModifiedBy>
  <cp:revision>1</cp:revision>
  <dcterms:created xsi:type="dcterms:W3CDTF">2026-10-19T08:46:39Z</dcterms:created>
  <dcterms:modified xsi:type="dcterms:W3CDTF">2026-10-19T08:46:39Z</dcterms:modified>
</cp:coreProperties>
</file>