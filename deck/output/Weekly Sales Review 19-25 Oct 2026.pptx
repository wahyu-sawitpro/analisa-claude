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Lst>
  <p:notesMasterIdLst>
    <p:notesMasterId r:id="rId6"/>
  </p:notesMasterIdLst>
  <p:sldIdLst>
    <p:sldId id="256" r:id="rId7"/>
    <p:sldId id="284" r:id="rId39"/>
    <p:sldId id="285" r:id="rId38"/>
    <p:sldId id="286" r:id="rId37"/>
    <p:sldId id="287" r:id="rId36"/>
    <p:sldId id="288" r:id="rId35"/>
    <p:sldId id="289" r:id="rId33"/>
    <p:sldId id="290" r:id="rId32"/>
    <p:sldId id="291" r:id="rId31"/>
    <p:sldId id="292" r:id="rId30"/>
    <p:sldId id="293" r:id="rId29"/>
    <p:sldId id="294" r:id="rId28"/>
    <p:sldId id="283" r:id="rId34"/>
  </p:sldIdLst>
  <p:sldSz cy="5143500" cx="9144000"/>
  <p:notesSz cx="6858000" cy="9144000"/>
  <p:embeddedFontLst>
    <p:embeddedFont>
      <p:font typeface="Plus Jakarta Sans ExtraBold"/>
      <p:bold r:id="rId40"/>
      <p:boldItalic r:id="rId41"/>
    </p:embeddedFont>
    <p:embeddedFont>
      <p:font typeface="Roboto"/>
      <p:regular r:id="rId42"/>
      <p:bold r:id="rId43"/>
      <p:italic r:id="rId44"/>
      <p:boldItalic r:id="rId45"/>
    </p:embeddedFont>
    <p:embeddedFont>
      <p:font typeface="Plus Jakarta Sans"/>
      <p:regular r:id="rId46"/>
      <p:bold r:id="rId47"/>
      <p:italic r:id="rId48"/>
      <p:boldItalic r:id="rId49"/>
    </p:embeddedFont>
    <p:embeddedFont>
      <p:font typeface="Fira Sans Extra Condensed Medium"/>
      <p:regular r:id="rId50"/>
      <p:bold r:id="rId51"/>
      <p:italic r:id="rId52"/>
      <p:boldItalic r:id="rId53"/>
    </p:embeddedFont>
    <p:embeddedFont>
      <p:font typeface="Plus Jakarta Sans SemiBold"/>
      <p:regular r:id="rId54"/>
      <p:bold r:id="rId55"/>
      <p:italic r:id="rId56"/>
      <p:boldItalic r:id="rId57"/>
    </p:embeddedFont>
    <p:embeddedFont>
      <p:font typeface="Plus Jakarta Sans Medium"/>
      <p:regular r:id="rId58"/>
      <p:bold r:id="rId59"/>
      <p:italic r:id="rId60"/>
      <p:boldItalic r:id="rId61"/>
    </p:embeddedFont>
    <p:embeddedFont>
      <p:font typeface="Plus Jakarta Sans Light"/>
      <p:regular r:id="rId62"/>
      <p:bold r:id="rId63"/>
      <p:italic r:id="rId64"/>
      <p:boldItalic r:id="rId65"/>
    </p:embeddedFont>
    <p:embeddedFont>
      <p:font typeface="Helvetica Neue Light"/>
      <p:regular r:id="rId66"/>
      <p:bold r:id="rId67"/>
      <p:italic r:id="rId68"/>
      <p:boldItalic r:id="rId69"/>
    </p:embeddedFont>
    <p:embeddedFont>
      <p:font typeface="Fira Sans Extra Condensed"/>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rya Rosar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28" Type="http://schemas.openxmlformats.org/officeDocument/2006/relationships/slide" Target="slides/slide13.xml"/><Relationship Id="rId29" Type="http://schemas.openxmlformats.org/officeDocument/2006/relationships/slide" Target="slides/slide12.xml"/><Relationship Id="rId30" Type="http://schemas.openxmlformats.org/officeDocument/2006/relationships/slide" Target="slides/slide11.xml"/><Relationship Id="rId31" Type="http://schemas.openxmlformats.org/officeDocument/2006/relationships/slide" Target="slides/slide10.xml"/><Relationship Id="rId32" Type="http://schemas.openxmlformats.org/officeDocument/2006/relationships/slide" Target="slides/slide9.xml"/><Relationship Id="rId33" Type="http://schemas.openxmlformats.org/officeDocument/2006/relationships/slide" Target="slides/slide8.xml"/><Relationship Id="rId34" Type="http://schemas.openxmlformats.org/officeDocument/2006/relationships/slide" Target="slides/slide28.xml"/><Relationship Id="rId35" Type="http://schemas.openxmlformats.org/officeDocument/2006/relationships/slide" Target="slides/slide7.xml"/><Relationship Id="rId36" Type="http://schemas.openxmlformats.org/officeDocument/2006/relationships/slide" Target="slides/slide6.xml"/><Relationship Id="rId37" Type="http://schemas.openxmlformats.org/officeDocument/2006/relationships/slide" Target="slides/slide5.xml"/><Relationship Id="rId38" Type="http://schemas.openxmlformats.org/officeDocument/2006/relationships/slide" Target="slides/slide4.xml"/><Relationship Id="rId39" Type="http://schemas.openxmlformats.org/officeDocument/2006/relationships/slide" Target="slides/slide3.xml"/><Relationship Id="rId40" Type="http://schemas.openxmlformats.org/officeDocument/2006/relationships/font" Target="fonts/PlusJakartaSansExtraBold-bold.fntdata"/><Relationship Id="rId41" Type="http://schemas.openxmlformats.org/officeDocument/2006/relationships/font" Target="fonts/PlusJakartaSansExtraBold-boldItalic.fntdata"/><Relationship Id="rId42" Type="http://schemas.openxmlformats.org/officeDocument/2006/relationships/font" Target="fonts/Roboto-regular.fntdata"/><Relationship Id="rId43" Type="http://schemas.openxmlformats.org/officeDocument/2006/relationships/font" Target="fonts/Roboto-bold.fntdata"/><Relationship Id="rId44" Type="http://schemas.openxmlformats.org/officeDocument/2006/relationships/font" Target="fonts/Roboto-italic.fntdata"/><Relationship Id="rId45" Type="http://schemas.openxmlformats.org/officeDocument/2006/relationships/font" Target="fonts/Roboto-boldItalic.fntdata"/><Relationship Id="rId46" Type="http://schemas.openxmlformats.org/officeDocument/2006/relationships/font" Target="fonts/PlusJakartaSans-regular.fntdata"/><Relationship Id="rId47" Type="http://schemas.openxmlformats.org/officeDocument/2006/relationships/font" Target="fonts/PlusJakartaSans-bold.fntdata"/><Relationship Id="rId48" Type="http://schemas.openxmlformats.org/officeDocument/2006/relationships/font" Target="fonts/PlusJakartaSans-italic.fntdata"/><Relationship Id="rId49" Type="http://schemas.openxmlformats.org/officeDocument/2006/relationships/font" Target="fonts/PlusJakartaSans-boldItalic.fntdata"/><Relationship Id="rId50" Type="http://schemas.openxmlformats.org/officeDocument/2006/relationships/font" Target="fonts/FiraSansExtraCondensedMedium-regular.fntdata"/><Relationship Id="rId51" Type="http://schemas.openxmlformats.org/officeDocument/2006/relationships/font" Target="fonts/FiraSansExtraCondensedMedium-bold.fntdata"/><Relationship Id="rId52" Type="http://schemas.openxmlformats.org/officeDocument/2006/relationships/font" Target="fonts/FiraSansExtraCondensedMedium-italic.fntdata"/><Relationship Id="rId53" Type="http://schemas.openxmlformats.org/officeDocument/2006/relationships/font" Target="fonts/FiraSansExtraCondensedMedium-boldItalic.fntdata"/><Relationship Id="rId54" Type="http://schemas.openxmlformats.org/officeDocument/2006/relationships/font" Target="fonts/PlusJakartaSansSemiBold-regular.fntdata"/><Relationship Id="rId55" Type="http://schemas.openxmlformats.org/officeDocument/2006/relationships/font" Target="fonts/PlusJakartaSansSemiBold-bold.fntdata"/><Relationship Id="rId56" Type="http://schemas.openxmlformats.org/officeDocument/2006/relationships/font" Target="fonts/PlusJakartaSansSemiBold-italic.fntdata"/><Relationship Id="rId57" Type="http://schemas.openxmlformats.org/officeDocument/2006/relationships/font" Target="fonts/PlusJakartaSansSemiBold-boldItalic.fntdata"/><Relationship Id="rId58" Type="http://schemas.openxmlformats.org/officeDocument/2006/relationships/font" Target="fonts/PlusJakartaSansMedium-regular.fntdata"/><Relationship Id="rId59" Type="http://schemas.openxmlformats.org/officeDocument/2006/relationships/font" Target="fonts/PlusJakartaSansMedium-bold.fntdata"/><Relationship Id="rId60" Type="http://schemas.openxmlformats.org/officeDocument/2006/relationships/font" Target="fonts/PlusJakartaSansMedium-italic.fntdata"/><Relationship Id="rId61" Type="http://schemas.openxmlformats.org/officeDocument/2006/relationships/font" Target="fonts/PlusJakartaSansMedium-boldItalic.fntdata"/><Relationship Id="rId62" Type="http://schemas.openxmlformats.org/officeDocument/2006/relationships/font" Target="fonts/PlusJakartaSansLight-regular.fntdata"/><Relationship Id="rId63" Type="http://schemas.openxmlformats.org/officeDocument/2006/relationships/font" Target="fonts/PlusJakartaSansLight-bold.fntdata"/><Relationship Id="rId64" Type="http://schemas.openxmlformats.org/officeDocument/2006/relationships/font" Target="fonts/PlusJakartaSansLight-italic.fntdata"/><Relationship Id="rId65" Type="http://schemas.openxmlformats.org/officeDocument/2006/relationships/font" Target="fonts/PlusJakartaSansLight-boldItalic.fntdata"/><Relationship Id="rId66" Type="http://schemas.openxmlformats.org/officeDocument/2006/relationships/font" Target="fonts/HelveticaNeueLight-regular.fntdata"/><Relationship Id="rId67" Type="http://schemas.openxmlformats.org/officeDocument/2006/relationships/font" Target="fonts/HelveticaNeueLight-bold.fntdata"/><Relationship Id="rId68" Type="http://schemas.openxmlformats.org/officeDocument/2006/relationships/font" Target="fonts/HelveticaNeueLight-italic.fntdata"/><Relationship Id="rId69" Type="http://schemas.openxmlformats.org/officeDocument/2006/relationships/font" Target="fonts/HelveticaNeueLight-boldItalic.fntdata"/><Relationship Id="rId70" Type="http://schemas.openxmlformats.org/officeDocument/2006/relationships/font" Target="fonts/FiraSansExtraCondensed-regular.fntdata"/><Relationship Id="rId71" Type="http://schemas.openxmlformats.org/officeDocument/2006/relationships/font" Target="fonts/FiraSansExtraCondensed-bold.fntdata"/><Relationship Id="rId72" Type="http://schemas.openxmlformats.org/officeDocument/2006/relationships/font" Target="fonts/FiraSansExtraCondensed-italic.fntdata"/><Relationship Id="rId73" Type="http://schemas.openxmlformats.org/officeDocument/2006/relationships/font" Target="fonts/FiraSansExtraCondensed-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Weeks run Monday to Sunday: 12-18 Oct vs 19-25 Oct (last order 24 Oct). Sales = the gmv column of the sales exports. 'Matching CRM success story' = success-story engagements found in the sales export by phone (Smallholder) or by lead name and region (Plantation).</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success-story engagement was matched to a sales order by phone number and the product it logged. Orders without any engagement in the success-story or rejection export are listed on the right.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TikTok live viewers = entries whose notes say the account joined a TikTok live; none has a phone number. Customers asking about an order = status 'Menanyakan Status Pesanan'. The barrier for real leads is read from the reason field first, then the discussion notes.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Potential sales is the CRM's potential field as logged. Needs are taken from the 'Fertilizer needs (kg)' field or the quantity the lead stated in the notes. Nothing is priced or estimated.</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PSEN-2293 matches order #B2C26748 by lead name and region (the phone in the CRM differs from the sales export). PSEN-2153 has no matching order in the sales export.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3dce0050f53137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h3dce0050f53137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jp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8">
  <p:cSld name="CUSTOM_17">
    <p:bg>
      <p:bgPr>
        <a:blipFill>
          <a:blip r:embed="rId2">
            <a:alphaModFix/>
          </a:blip>
          <a:stretch>
            <a:fillRect/>
          </a:stretch>
        </a:blipFill>
      </p:bgPr>
    </p:bg>
    <p:spTree>
      <p:nvGrpSpPr>
        <p:cNvPr id="10" name="Shape 10"/>
        <p:cNvGrpSpPr/>
        <p:nvPr/>
      </p:nvGrpSpPr>
      <p:grpSpPr>
        <a:xfrm>
          <a:off x="0" y="0"/>
          <a:ext cx="0" cy="0"/>
          <a:chOff x="0" y="0"/>
          <a:chExt cx="0" cy="0"/>
        </a:xfrm>
      </p:grpSpPr>
      <p:sp>
        <p:nvSpPr>
          <p:cNvPr id="11" name="Google Shape;11;p2"/>
          <p:cNvSpPr txBox="1"/>
          <p:nvPr>
            <p:ph type="title"/>
          </p:nvPr>
        </p:nvSpPr>
        <p:spPr>
          <a:xfrm>
            <a:off x="630450" y="920200"/>
            <a:ext cx="3057300" cy="84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Font typeface="Plus Jakarta Sans"/>
              <a:buNone/>
              <a:defRPr b="1">
                <a:latin typeface="Plus Jakarta Sans"/>
                <a:ea typeface="Plus Jakarta Sans"/>
                <a:cs typeface="Plus Jakarta Sans"/>
                <a:sym typeface="Plus Jakarta Sans"/>
              </a:defRPr>
            </a:lvl2pPr>
            <a:lvl3pPr lvl="2">
              <a:spcBef>
                <a:spcPts val="0"/>
              </a:spcBef>
              <a:spcAft>
                <a:spcPts val="0"/>
              </a:spcAft>
              <a:buSzPts val="1400"/>
              <a:buFont typeface="Plus Jakarta Sans"/>
              <a:buNone/>
              <a:defRPr b="1">
                <a:latin typeface="Plus Jakarta Sans"/>
                <a:ea typeface="Plus Jakarta Sans"/>
                <a:cs typeface="Plus Jakarta Sans"/>
                <a:sym typeface="Plus Jakarta Sans"/>
              </a:defRPr>
            </a:lvl3pPr>
            <a:lvl4pPr lvl="3">
              <a:spcBef>
                <a:spcPts val="0"/>
              </a:spcBef>
              <a:spcAft>
                <a:spcPts val="0"/>
              </a:spcAft>
              <a:buSzPts val="1400"/>
              <a:buFont typeface="Plus Jakarta Sans"/>
              <a:buNone/>
              <a:defRPr b="1">
                <a:latin typeface="Plus Jakarta Sans"/>
                <a:ea typeface="Plus Jakarta Sans"/>
                <a:cs typeface="Plus Jakarta Sans"/>
                <a:sym typeface="Plus Jakarta Sans"/>
              </a:defRPr>
            </a:lvl4pPr>
            <a:lvl5pPr lvl="4">
              <a:spcBef>
                <a:spcPts val="0"/>
              </a:spcBef>
              <a:spcAft>
                <a:spcPts val="0"/>
              </a:spcAft>
              <a:buSzPts val="1400"/>
              <a:buFont typeface="Plus Jakarta Sans"/>
              <a:buNone/>
              <a:defRPr b="1">
                <a:latin typeface="Plus Jakarta Sans"/>
                <a:ea typeface="Plus Jakarta Sans"/>
                <a:cs typeface="Plus Jakarta Sans"/>
                <a:sym typeface="Plus Jakarta Sans"/>
              </a:defRPr>
            </a:lvl5pPr>
            <a:lvl6pPr lvl="5">
              <a:spcBef>
                <a:spcPts val="0"/>
              </a:spcBef>
              <a:spcAft>
                <a:spcPts val="0"/>
              </a:spcAft>
              <a:buSzPts val="1400"/>
              <a:buFont typeface="Plus Jakarta Sans"/>
              <a:buNone/>
              <a:defRPr b="1">
                <a:latin typeface="Plus Jakarta Sans"/>
                <a:ea typeface="Plus Jakarta Sans"/>
                <a:cs typeface="Plus Jakarta Sans"/>
                <a:sym typeface="Plus Jakarta Sans"/>
              </a:defRPr>
            </a:lvl6pPr>
            <a:lvl7pPr lvl="6">
              <a:spcBef>
                <a:spcPts val="0"/>
              </a:spcBef>
              <a:spcAft>
                <a:spcPts val="0"/>
              </a:spcAft>
              <a:buSzPts val="1400"/>
              <a:buFont typeface="Plus Jakarta Sans"/>
              <a:buNone/>
              <a:defRPr b="1">
                <a:latin typeface="Plus Jakarta Sans"/>
                <a:ea typeface="Plus Jakarta Sans"/>
                <a:cs typeface="Plus Jakarta Sans"/>
                <a:sym typeface="Plus Jakarta Sans"/>
              </a:defRPr>
            </a:lvl7pPr>
            <a:lvl8pPr lvl="7">
              <a:spcBef>
                <a:spcPts val="0"/>
              </a:spcBef>
              <a:spcAft>
                <a:spcPts val="0"/>
              </a:spcAft>
              <a:buSzPts val="1400"/>
              <a:buFont typeface="Plus Jakarta Sans"/>
              <a:buNone/>
              <a:defRPr b="1">
                <a:latin typeface="Plus Jakarta Sans"/>
                <a:ea typeface="Plus Jakarta Sans"/>
                <a:cs typeface="Plus Jakarta Sans"/>
                <a:sym typeface="Plus Jakarta Sans"/>
              </a:defRPr>
            </a:lvl8pPr>
            <a:lvl9pPr lvl="8">
              <a:spcBef>
                <a:spcPts val="0"/>
              </a:spcBef>
              <a:spcAft>
                <a:spcPts val="0"/>
              </a:spcAft>
              <a:buSzPts val="1400"/>
              <a:buFont typeface="Plus Jakarta Sans"/>
              <a:buNone/>
              <a:defRPr b="1">
                <a:latin typeface="Plus Jakarta Sans"/>
                <a:ea typeface="Plus Jakarta Sans"/>
                <a:cs typeface="Plus Jakarta Sans"/>
                <a:sym typeface="Plus Jakarta Sans"/>
              </a:defRPr>
            </a:lvl9pPr>
          </a:lstStyle>
          <a:p/>
        </p:txBody>
      </p:sp>
      <p:sp>
        <p:nvSpPr>
          <p:cNvPr id="12" name="Google Shape;12;p2"/>
          <p:cNvSpPr txBox="1"/>
          <p:nvPr>
            <p:ph idx="1" type="subTitle"/>
          </p:nvPr>
        </p:nvSpPr>
        <p:spPr>
          <a:xfrm>
            <a:off x="4551025" y="956175"/>
            <a:ext cx="4109400" cy="14658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p:nvPr>
            <p:ph idx="2" type="pic"/>
          </p:nvPr>
        </p:nvSpPr>
        <p:spPr>
          <a:xfrm>
            <a:off x="747350" y="2502850"/>
            <a:ext cx="2526900" cy="1960200"/>
          </a:xfrm>
          <a:prstGeom prst="roundRect">
            <a:avLst>
              <a:gd fmla="val 16667" name="adj"/>
            </a:avLst>
          </a:prstGeom>
          <a:noFill/>
          <a:ln>
            <a:noFill/>
          </a:ln>
        </p:spPr>
      </p:sp>
      <p:sp>
        <p:nvSpPr>
          <p:cNvPr id="14" name="Google Shape;14;p2"/>
          <p:cNvSpPr/>
          <p:nvPr>
            <p:ph idx="3" type="pic"/>
          </p:nvPr>
        </p:nvSpPr>
        <p:spPr>
          <a:xfrm>
            <a:off x="6133525" y="2502850"/>
            <a:ext cx="2526900" cy="1960200"/>
          </a:xfrm>
          <a:prstGeom prst="roundRect">
            <a:avLst>
              <a:gd fmla="val 16667" name="adj"/>
            </a:avLst>
          </a:prstGeom>
          <a:noFill/>
          <a:ln>
            <a:noFill/>
          </a:ln>
        </p:spPr>
      </p:sp>
      <p:sp>
        <p:nvSpPr>
          <p:cNvPr id="15" name="Google Shape;15;p2"/>
          <p:cNvSpPr/>
          <p:nvPr>
            <p:ph idx="4" type="pic"/>
          </p:nvPr>
        </p:nvSpPr>
        <p:spPr>
          <a:xfrm>
            <a:off x="3471025" y="2502850"/>
            <a:ext cx="2526900" cy="1960200"/>
          </a:xfrm>
          <a:prstGeom prst="roundRect">
            <a:avLst>
              <a:gd fmla="val 16667" name="adj"/>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_35">
    <p:spTree>
      <p:nvGrpSpPr>
        <p:cNvPr id="16" name="Shape 16"/>
        <p:cNvGrpSpPr/>
        <p:nvPr/>
      </p:nvGrpSpPr>
      <p:grpSpPr>
        <a:xfrm>
          <a:off x="0" y="0"/>
          <a:ext cx="0" cy="0"/>
          <a:chOff x="0" y="0"/>
          <a:chExt cx="0" cy="0"/>
        </a:xfrm>
      </p:grpSpPr>
      <p:sp>
        <p:nvSpPr>
          <p:cNvPr id="17" name="Google Shape;17;p3"/>
          <p:cNvSpPr txBox="1"/>
          <p:nvPr>
            <p:ph type="title"/>
          </p:nvPr>
        </p:nvSpPr>
        <p:spPr>
          <a:xfrm>
            <a:off x="603475" y="920200"/>
            <a:ext cx="3246300" cy="836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nvSpPr>
        <p:spPr>
          <a:xfrm>
            <a:off x="4802800" y="920200"/>
            <a:ext cx="3812700" cy="1061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9" name="Google Shape;19;p3"/>
          <p:cNvSpPr/>
          <p:nvPr/>
        </p:nvSpPr>
        <p:spPr>
          <a:xfrm>
            <a:off x="1618500" y="2592775"/>
            <a:ext cx="576576" cy="521478"/>
          </a:xfrm>
          <a:custGeom>
            <a:rect b="b" l="l" r="r" t="t"/>
            <a:pathLst>
              <a:path extrusionOk="0" h="21542" w="21508">
                <a:moveTo>
                  <a:pt x="21409" y="5972"/>
                </a:moveTo>
                <a:lnTo>
                  <a:pt x="19763" y="8186"/>
                </a:lnTo>
                <a:lnTo>
                  <a:pt x="18666" y="10220"/>
                </a:lnTo>
                <a:cubicBezTo>
                  <a:pt x="18473" y="10526"/>
                  <a:pt x="18266" y="10760"/>
                  <a:pt x="18029" y="10994"/>
                </a:cubicBezTo>
                <a:cubicBezTo>
                  <a:pt x="17732" y="11282"/>
                  <a:pt x="17421" y="11498"/>
                  <a:pt x="17080" y="11678"/>
                </a:cubicBezTo>
                <a:cubicBezTo>
                  <a:pt x="16887" y="11768"/>
                  <a:pt x="16680" y="11840"/>
                  <a:pt x="16472" y="11894"/>
                </a:cubicBezTo>
                <a:cubicBezTo>
                  <a:pt x="16472" y="11894"/>
                  <a:pt x="16472" y="11894"/>
                  <a:pt x="16457" y="11894"/>
                </a:cubicBezTo>
                <a:cubicBezTo>
                  <a:pt x="16264" y="11930"/>
                  <a:pt x="16087" y="11984"/>
                  <a:pt x="15879" y="11984"/>
                </a:cubicBezTo>
                <a:cubicBezTo>
                  <a:pt x="16087" y="11984"/>
                  <a:pt x="16279" y="11930"/>
                  <a:pt x="16472" y="11894"/>
                </a:cubicBezTo>
                <a:cubicBezTo>
                  <a:pt x="16472" y="11894"/>
                  <a:pt x="16472" y="11894"/>
                  <a:pt x="16487" y="11894"/>
                </a:cubicBezTo>
                <a:lnTo>
                  <a:pt x="17273" y="12848"/>
                </a:lnTo>
                <a:cubicBezTo>
                  <a:pt x="17273" y="12848"/>
                  <a:pt x="17273" y="12866"/>
                  <a:pt x="17287" y="12866"/>
                </a:cubicBezTo>
                <a:cubicBezTo>
                  <a:pt x="17539" y="13172"/>
                  <a:pt x="17717" y="13586"/>
                  <a:pt x="17717" y="14054"/>
                </a:cubicBezTo>
                <a:cubicBezTo>
                  <a:pt x="17717" y="14972"/>
                  <a:pt x="17110" y="15692"/>
                  <a:pt x="16368" y="15692"/>
                </a:cubicBezTo>
                <a:cubicBezTo>
                  <a:pt x="16294" y="15692"/>
                  <a:pt x="16220" y="15692"/>
                  <a:pt x="16131" y="15674"/>
                </a:cubicBezTo>
                <a:cubicBezTo>
                  <a:pt x="16146" y="15782"/>
                  <a:pt x="16146" y="15872"/>
                  <a:pt x="16146" y="15980"/>
                </a:cubicBezTo>
                <a:cubicBezTo>
                  <a:pt x="16146" y="16898"/>
                  <a:pt x="15538" y="17618"/>
                  <a:pt x="14797" y="17618"/>
                </a:cubicBezTo>
                <a:cubicBezTo>
                  <a:pt x="14708" y="17618"/>
                  <a:pt x="14619" y="17618"/>
                  <a:pt x="14545" y="17600"/>
                </a:cubicBezTo>
                <a:cubicBezTo>
                  <a:pt x="14545" y="17690"/>
                  <a:pt x="14560" y="17780"/>
                  <a:pt x="14560" y="17888"/>
                </a:cubicBezTo>
                <a:cubicBezTo>
                  <a:pt x="14560" y="18788"/>
                  <a:pt x="13952" y="19526"/>
                  <a:pt x="13211" y="19526"/>
                </a:cubicBezTo>
                <a:cubicBezTo>
                  <a:pt x="13136" y="19526"/>
                  <a:pt x="13062" y="19526"/>
                  <a:pt x="12973" y="19508"/>
                </a:cubicBezTo>
                <a:cubicBezTo>
                  <a:pt x="12988" y="19616"/>
                  <a:pt x="12988" y="19706"/>
                  <a:pt x="12988" y="19814"/>
                </a:cubicBezTo>
                <a:cubicBezTo>
                  <a:pt x="12988" y="20714"/>
                  <a:pt x="12395" y="21452"/>
                  <a:pt x="11639" y="21452"/>
                </a:cubicBezTo>
                <a:cubicBezTo>
                  <a:pt x="11254" y="21452"/>
                  <a:pt x="10898" y="21236"/>
                  <a:pt x="10646" y="20912"/>
                </a:cubicBezTo>
                <a:cubicBezTo>
                  <a:pt x="10616" y="20894"/>
                  <a:pt x="10601" y="20876"/>
                  <a:pt x="10587" y="20858"/>
                </a:cubicBezTo>
                <a:lnTo>
                  <a:pt x="9430" y="19436"/>
                </a:lnTo>
                <a:lnTo>
                  <a:pt x="8215" y="20912"/>
                </a:lnTo>
                <a:cubicBezTo>
                  <a:pt x="7977" y="21308"/>
                  <a:pt x="7607" y="21542"/>
                  <a:pt x="7177" y="21542"/>
                </a:cubicBezTo>
                <a:cubicBezTo>
                  <a:pt x="6450" y="21542"/>
                  <a:pt x="5887" y="20822"/>
                  <a:pt x="5887" y="19958"/>
                </a:cubicBezTo>
                <a:cubicBezTo>
                  <a:pt x="5887" y="19832"/>
                  <a:pt x="5887" y="19706"/>
                  <a:pt x="5917" y="19580"/>
                </a:cubicBezTo>
                <a:cubicBezTo>
                  <a:pt x="5813" y="19598"/>
                  <a:pt x="5709" y="19616"/>
                  <a:pt x="5590" y="19616"/>
                </a:cubicBezTo>
                <a:cubicBezTo>
                  <a:pt x="4864" y="19616"/>
                  <a:pt x="4301" y="18896"/>
                  <a:pt x="4301" y="18032"/>
                </a:cubicBezTo>
                <a:cubicBezTo>
                  <a:pt x="4301" y="17906"/>
                  <a:pt x="4301" y="17798"/>
                  <a:pt x="4330" y="17690"/>
                </a:cubicBezTo>
                <a:cubicBezTo>
                  <a:pt x="4227" y="17708"/>
                  <a:pt x="4123" y="17726"/>
                  <a:pt x="4004" y="17726"/>
                </a:cubicBezTo>
                <a:cubicBezTo>
                  <a:pt x="3278" y="17726"/>
                  <a:pt x="2714" y="17024"/>
                  <a:pt x="2714" y="16160"/>
                </a:cubicBezTo>
                <a:cubicBezTo>
                  <a:pt x="2714" y="16016"/>
                  <a:pt x="2714" y="15890"/>
                  <a:pt x="2744" y="15782"/>
                </a:cubicBezTo>
                <a:cubicBezTo>
                  <a:pt x="2655" y="15800"/>
                  <a:pt x="2566" y="15800"/>
                  <a:pt x="2477" y="15800"/>
                </a:cubicBezTo>
                <a:cubicBezTo>
                  <a:pt x="1751" y="15800"/>
                  <a:pt x="1173" y="15098"/>
                  <a:pt x="1173" y="14234"/>
                </a:cubicBezTo>
                <a:cubicBezTo>
                  <a:pt x="1173" y="13910"/>
                  <a:pt x="1262" y="13586"/>
                  <a:pt x="1410" y="13316"/>
                </a:cubicBezTo>
                <a:cubicBezTo>
                  <a:pt x="1410" y="13298"/>
                  <a:pt x="1410" y="13280"/>
                  <a:pt x="1425" y="13280"/>
                </a:cubicBezTo>
                <a:cubicBezTo>
                  <a:pt x="1439" y="13262"/>
                  <a:pt x="1484" y="13208"/>
                  <a:pt x="1514" y="13172"/>
                </a:cubicBezTo>
                <a:cubicBezTo>
                  <a:pt x="1543" y="13118"/>
                  <a:pt x="1573" y="13064"/>
                  <a:pt x="1617" y="13028"/>
                </a:cubicBezTo>
                <a:cubicBezTo>
                  <a:pt x="1958" y="12578"/>
                  <a:pt x="2522" y="11930"/>
                  <a:pt x="2907" y="11480"/>
                </a:cubicBezTo>
                <a:lnTo>
                  <a:pt x="135" y="8150"/>
                </a:lnTo>
                <a:cubicBezTo>
                  <a:pt x="1" y="7970"/>
                  <a:pt x="-43" y="7736"/>
                  <a:pt x="46" y="7610"/>
                </a:cubicBezTo>
                <a:cubicBezTo>
                  <a:pt x="165" y="7502"/>
                  <a:pt x="342" y="7538"/>
                  <a:pt x="491" y="7718"/>
                </a:cubicBezTo>
                <a:lnTo>
                  <a:pt x="3263" y="11048"/>
                </a:lnTo>
                <a:cubicBezTo>
                  <a:pt x="3485" y="10742"/>
                  <a:pt x="3826" y="10544"/>
                  <a:pt x="4212" y="10544"/>
                </a:cubicBezTo>
                <a:cubicBezTo>
                  <a:pt x="4938" y="10544"/>
                  <a:pt x="5502" y="11264"/>
                  <a:pt x="5502" y="12128"/>
                </a:cubicBezTo>
                <a:cubicBezTo>
                  <a:pt x="5502" y="12254"/>
                  <a:pt x="5502" y="12380"/>
                  <a:pt x="5472" y="12488"/>
                </a:cubicBezTo>
                <a:cubicBezTo>
                  <a:pt x="5561" y="12470"/>
                  <a:pt x="5650" y="12470"/>
                  <a:pt x="5739" y="12470"/>
                </a:cubicBezTo>
                <a:cubicBezTo>
                  <a:pt x="6465" y="12470"/>
                  <a:pt x="7043" y="13190"/>
                  <a:pt x="7043" y="14054"/>
                </a:cubicBezTo>
                <a:cubicBezTo>
                  <a:pt x="7043" y="14180"/>
                  <a:pt x="7043" y="14288"/>
                  <a:pt x="6999" y="14396"/>
                </a:cubicBezTo>
                <a:cubicBezTo>
                  <a:pt x="7117" y="14378"/>
                  <a:pt x="7221" y="14360"/>
                  <a:pt x="7325" y="14360"/>
                </a:cubicBezTo>
                <a:cubicBezTo>
                  <a:pt x="8051" y="14360"/>
                  <a:pt x="8630" y="15080"/>
                  <a:pt x="8630" y="15944"/>
                </a:cubicBezTo>
                <a:cubicBezTo>
                  <a:pt x="8630" y="16070"/>
                  <a:pt x="8630" y="16196"/>
                  <a:pt x="8585" y="16322"/>
                </a:cubicBezTo>
                <a:cubicBezTo>
                  <a:pt x="8704" y="16304"/>
                  <a:pt x="8808" y="16286"/>
                  <a:pt x="8911" y="16286"/>
                </a:cubicBezTo>
                <a:cubicBezTo>
                  <a:pt x="9638" y="16286"/>
                  <a:pt x="10216" y="17006"/>
                  <a:pt x="10216" y="17870"/>
                </a:cubicBezTo>
                <a:cubicBezTo>
                  <a:pt x="10216" y="18230"/>
                  <a:pt x="10112" y="18608"/>
                  <a:pt x="9934" y="18860"/>
                </a:cubicBezTo>
                <a:cubicBezTo>
                  <a:pt x="9934" y="18860"/>
                  <a:pt x="9934" y="18878"/>
                  <a:pt x="9905" y="18878"/>
                </a:cubicBezTo>
                <a:lnTo>
                  <a:pt x="9816" y="18986"/>
                </a:lnTo>
                <a:lnTo>
                  <a:pt x="11002" y="20426"/>
                </a:lnTo>
                <a:cubicBezTo>
                  <a:pt x="11165" y="20678"/>
                  <a:pt x="11402" y="20822"/>
                  <a:pt x="11698" y="20822"/>
                </a:cubicBezTo>
                <a:cubicBezTo>
                  <a:pt x="12173" y="20822"/>
                  <a:pt x="12543" y="20354"/>
                  <a:pt x="12543" y="19796"/>
                </a:cubicBezTo>
                <a:cubicBezTo>
                  <a:pt x="12543" y="19508"/>
                  <a:pt x="12454" y="19256"/>
                  <a:pt x="12306" y="19076"/>
                </a:cubicBezTo>
                <a:cubicBezTo>
                  <a:pt x="12247" y="19040"/>
                  <a:pt x="12217" y="18968"/>
                  <a:pt x="12173" y="18896"/>
                </a:cubicBezTo>
                <a:lnTo>
                  <a:pt x="11565" y="18176"/>
                </a:lnTo>
                <a:lnTo>
                  <a:pt x="10142" y="16430"/>
                </a:lnTo>
                <a:cubicBezTo>
                  <a:pt x="10053" y="16322"/>
                  <a:pt x="10053" y="16124"/>
                  <a:pt x="10142" y="16016"/>
                </a:cubicBezTo>
                <a:cubicBezTo>
                  <a:pt x="10231" y="15908"/>
                  <a:pt x="10394" y="15908"/>
                  <a:pt x="10483" y="16016"/>
                </a:cubicBezTo>
                <a:lnTo>
                  <a:pt x="11876" y="17708"/>
                </a:lnTo>
                <a:lnTo>
                  <a:pt x="12425" y="18392"/>
                </a:lnTo>
                <a:lnTo>
                  <a:pt x="12529" y="18518"/>
                </a:lnTo>
                <a:cubicBezTo>
                  <a:pt x="12692" y="18770"/>
                  <a:pt x="12944" y="18932"/>
                  <a:pt x="13225" y="18932"/>
                </a:cubicBezTo>
                <a:cubicBezTo>
                  <a:pt x="13715" y="18932"/>
                  <a:pt x="14085" y="18446"/>
                  <a:pt x="14085" y="17888"/>
                </a:cubicBezTo>
                <a:cubicBezTo>
                  <a:pt x="14085" y="17600"/>
                  <a:pt x="13996" y="17348"/>
                  <a:pt x="13833" y="17168"/>
                </a:cubicBezTo>
                <a:cubicBezTo>
                  <a:pt x="13804" y="17132"/>
                  <a:pt x="13759" y="17078"/>
                  <a:pt x="13729" y="17042"/>
                </a:cubicBezTo>
                <a:lnTo>
                  <a:pt x="13077" y="16268"/>
                </a:lnTo>
                <a:lnTo>
                  <a:pt x="11713" y="14594"/>
                </a:lnTo>
                <a:cubicBezTo>
                  <a:pt x="11624" y="14486"/>
                  <a:pt x="11624" y="14288"/>
                  <a:pt x="11713" y="14180"/>
                </a:cubicBezTo>
                <a:cubicBezTo>
                  <a:pt x="11802" y="14072"/>
                  <a:pt x="11965" y="14072"/>
                  <a:pt x="12054" y="14180"/>
                </a:cubicBezTo>
                <a:lnTo>
                  <a:pt x="13418" y="15854"/>
                </a:lnTo>
                <a:lnTo>
                  <a:pt x="13996" y="16538"/>
                </a:lnTo>
                <a:lnTo>
                  <a:pt x="14085" y="16646"/>
                </a:lnTo>
                <a:cubicBezTo>
                  <a:pt x="14248" y="16916"/>
                  <a:pt x="14485" y="17060"/>
                  <a:pt x="14782" y="17060"/>
                </a:cubicBezTo>
                <a:cubicBezTo>
                  <a:pt x="15256" y="17060"/>
                  <a:pt x="15627" y="16592"/>
                  <a:pt x="15627" y="16016"/>
                </a:cubicBezTo>
                <a:cubicBezTo>
                  <a:pt x="15627" y="15746"/>
                  <a:pt x="15538" y="15476"/>
                  <a:pt x="15390" y="15314"/>
                </a:cubicBezTo>
                <a:cubicBezTo>
                  <a:pt x="15331" y="15260"/>
                  <a:pt x="15301" y="15206"/>
                  <a:pt x="15256" y="15134"/>
                </a:cubicBezTo>
                <a:lnTo>
                  <a:pt x="13314" y="12776"/>
                </a:lnTo>
                <a:cubicBezTo>
                  <a:pt x="13225" y="12668"/>
                  <a:pt x="13225" y="12470"/>
                  <a:pt x="13314" y="12362"/>
                </a:cubicBezTo>
                <a:cubicBezTo>
                  <a:pt x="13403" y="12254"/>
                  <a:pt x="13566" y="12254"/>
                  <a:pt x="13655" y="12362"/>
                </a:cubicBezTo>
                <a:lnTo>
                  <a:pt x="15597" y="14720"/>
                </a:lnTo>
                <a:lnTo>
                  <a:pt x="15627" y="14774"/>
                </a:lnTo>
                <a:cubicBezTo>
                  <a:pt x="15790" y="15026"/>
                  <a:pt x="16042" y="15188"/>
                  <a:pt x="16324" y="15188"/>
                </a:cubicBezTo>
                <a:cubicBezTo>
                  <a:pt x="16813" y="15188"/>
                  <a:pt x="17184" y="14702"/>
                  <a:pt x="17184" y="14144"/>
                </a:cubicBezTo>
                <a:cubicBezTo>
                  <a:pt x="17184" y="13874"/>
                  <a:pt x="17110" y="13640"/>
                  <a:pt x="16976" y="13478"/>
                </a:cubicBezTo>
                <a:lnTo>
                  <a:pt x="14901" y="10958"/>
                </a:lnTo>
                <a:cubicBezTo>
                  <a:pt x="14886" y="10940"/>
                  <a:pt x="14871" y="10886"/>
                  <a:pt x="14856" y="10868"/>
                </a:cubicBezTo>
                <a:lnTo>
                  <a:pt x="11787" y="7142"/>
                </a:lnTo>
                <a:lnTo>
                  <a:pt x="11298" y="6566"/>
                </a:lnTo>
                <a:cubicBezTo>
                  <a:pt x="11268" y="6512"/>
                  <a:pt x="11254" y="6476"/>
                  <a:pt x="11224" y="6440"/>
                </a:cubicBezTo>
                <a:cubicBezTo>
                  <a:pt x="11224" y="6404"/>
                  <a:pt x="11209" y="6386"/>
                  <a:pt x="11209" y="6368"/>
                </a:cubicBezTo>
                <a:cubicBezTo>
                  <a:pt x="10957" y="5738"/>
                  <a:pt x="10394" y="5324"/>
                  <a:pt x="9771" y="5324"/>
                </a:cubicBezTo>
                <a:cubicBezTo>
                  <a:pt x="9401" y="5324"/>
                  <a:pt x="9030" y="5504"/>
                  <a:pt x="8748" y="5756"/>
                </a:cubicBezTo>
                <a:lnTo>
                  <a:pt x="8748" y="5792"/>
                </a:lnTo>
                <a:lnTo>
                  <a:pt x="8215" y="8618"/>
                </a:lnTo>
                <a:cubicBezTo>
                  <a:pt x="8215" y="8690"/>
                  <a:pt x="8200" y="8744"/>
                  <a:pt x="8170" y="8816"/>
                </a:cubicBezTo>
                <a:cubicBezTo>
                  <a:pt x="8007" y="9392"/>
                  <a:pt x="7533" y="9824"/>
                  <a:pt x="6984" y="9824"/>
                </a:cubicBezTo>
                <a:cubicBezTo>
                  <a:pt x="6302" y="9824"/>
                  <a:pt x="5754" y="9158"/>
                  <a:pt x="5754" y="8330"/>
                </a:cubicBezTo>
                <a:cubicBezTo>
                  <a:pt x="5754" y="8258"/>
                  <a:pt x="5754" y="8150"/>
                  <a:pt x="5768" y="8060"/>
                </a:cubicBezTo>
                <a:cubicBezTo>
                  <a:pt x="5768" y="8042"/>
                  <a:pt x="5768" y="7988"/>
                  <a:pt x="5798" y="7952"/>
                </a:cubicBezTo>
                <a:cubicBezTo>
                  <a:pt x="6095" y="6386"/>
                  <a:pt x="6984" y="1670"/>
                  <a:pt x="6984" y="1670"/>
                </a:cubicBezTo>
                <a:cubicBezTo>
                  <a:pt x="6999" y="1580"/>
                  <a:pt x="7043" y="1472"/>
                  <a:pt x="7073" y="1418"/>
                </a:cubicBezTo>
                <a:cubicBezTo>
                  <a:pt x="7251" y="806"/>
                  <a:pt x="7740" y="374"/>
                  <a:pt x="8303" y="374"/>
                </a:cubicBezTo>
                <a:cubicBezTo>
                  <a:pt x="8481" y="374"/>
                  <a:pt x="8644" y="410"/>
                  <a:pt x="8808" y="500"/>
                </a:cubicBezTo>
                <a:lnTo>
                  <a:pt x="14574" y="2066"/>
                </a:lnTo>
                <a:lnTo>
                  <a:pt x="16012" y="158"/>
                </a:lnTo>
                <a:cubicBezTo>
                  <a:pt x="16176" y="-40"/>
                  <a:pt x="16413" y="-58"/>
                  <a:pt x="16576" y="140"/>
                </a:cubicBezTo>
                <a:lnTo>
                  <a:pt x="21335" y="5378"/>
                </a:lnTo>
                <a:cubicBezTo>
                  <a:pt x="21542" y="5468"/>
                  <a:pt x="21557" y="5756"/>
                  <a:pt x="21409" y="5972"/>
                </a:cubicBezTo>
              </a:path>
            </a:pathLst>
          </a:custGeom>
          <a:solidFill>
            <a:srgbClr val="3C5337"/>
          </a:solidFill>
          <a:ln>
            <a:noFill/>
          </a:ln>
        </p:spPr>
        <p:txBody>
          <a:bodyPr anchorCtr="0" anchor="ctr" bIns="26325" lIns="18500" spcFirstLastPara="1" rIns="18500" wrap="square" tIns="26325">
            <a:noAutofit/>
          </a:bodyPr>
          <a:lstStyle/>
          <a:p>
            <a:pPr indent="0" lvl="0" marL="0" marR="0" rtl="0" algn="l">
              <a:lnSpc>
                <a:spcPct val="93000"/>
              </a:lnSpc>
              <a:spcBef>
                <a:spcPts val="0"/>
              </a:spcBef>
              <a:spcAft>
                <a:spcPts val="0"/>
              </a:spcAft>
              <a:buNone/>
            </a:pPr>
            <a:r>
              <a:t/>
            </a:r>
            <a:endParaRPr sz="1383">
              <a:solidFill>
                <a:srgbClr val="000000"/>
              </a:solidFill>
              <a:latin typeface="Arial"/>
              <a:ea typeface="Arial"/>
              <a:cs typeface="Arial"/>
              <a:sym typeface="Arial"/>
            </a:endParaRPr>
          </a:p>
        </p:txBody>
      </p:sp>
      <p:pic>
        <p:nvPicPr>
          <p:cNvPr id="20" name="Google Shape;20;p3"/>
          <p:cNvPicPr preferRelativeResize="0"/>
          <p:nvPr/>
        </p:nvPicPr>
        <p:blipFill>
          <a:blip r:embed="rId2">
            <a:alphaModFix/>
          </a:blip>
          <a:stretch>
            <a:fillRect/>
          </a:stretch>
        </p:blipFill>
        <p:spPr>
          <a:xfrm>
            <a:off x="4212300" y="2448874"/>
            <a:ext cx="719399" cy="719399"/>
          </a:xfrm>
          <a:prstGeom prst="rect">
            <a:avLst/>
          </a:prstGeom>
          <a:noFill/>
          <a:ln>
            <a:noFill/>
          </a:ln>
        </p:spPr>
      </p:pic>
      <p:pic>
        <p:nvPicPr>
          <p:cNvPr id="21" name="Google Shape;21;p3"/>
          <p:cNvPicPr preferRelativeResize="0"/>
          <p:nvPr/>
        </p:nvPicPr>
        <p:blipFill>
          <a:blip r:embed="rId3">
            <a:alphaModFix/>
          </a:blip>
          <a:stretch>
            <a:fillRect/>
          </a:stretch>
        </p:blipFill>
        <p:spPr>
          <a:xfrm>
            <a:off x="6550250" y="2466863"/>
            <a:ext cx="683449" cy="683425"/>
          </a:xfrm>
          <a:prstGeom prst="rect">
            <a:avLst/>
          </a:prstGeom>
          <a:noFill/>
          <a:ln>
            <a:noFill/>
          </a:ln>
        </p:spPr>
      </p:pic>
      <p:sp>
        <p:nvSpPr>
          <p:cNvPr id="22" name="Google Shape;22;p3"/>
          <p:cNvSpPr txBox="1"/>
          <p:nvPr>
            <p:ph idx="1" type="subTitle"/>
          </p:nvPr>
        </p:nvSpPr>
        <p:spPr>
          <a:xfrm>
            <a:off x="917688" y="3330100"/>
            <a:ext cx="1978200" cy="800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300"/>
              <a:buNone/>
              <a:defRPr sz="1300"/>
            </a:lvl1pPr>
            <a:lvl2pPr lvl="1" algn="ctr">
              <a:spcBef>
                <a:spcPts val="0"/>
              </a:spcBef>
              <a:spcAft>
                <a:spcPts val="0"/>
              </a:spcAft>
              <a:buSzPts val="900"/>
              <a:buNone/>
              <a:defRPr sz="900"/>
            </a:lvl2pPr>
            <a:lvl3pPr lvl="2" algn="ctr">
              <a:spcBef>
                <a:spcPts val="0"/>
              </a:spcBef>
              <a:spcAft>
                <a:spcPts val="0"/>
              </a:spcAft>
              <a:buSzPts val="900"/>
              <a:buNone/>
              <a:defRPr sz="900"/>
            </a:lvl3pPr>
            <a:lvl4pPr lvl="3" algn="ctr">
              <a:spcBef>
                <a:spcPts val="0"/>
              </a:spcBef>
              <a:spcAft>
                <a:spcPts val="0"/>
              </a:spcAft>
              <a:buSzPts val="900"/>
              <a:buNone/>
              <a:defRPr sz="900"/>
            </a:lvl4pPr>
            <a:lvl5pPr lvl="4" algn="ctr">
              <a:spcBef>
                <a:spcPts val="0"/>
              </a:spcBef>
              <a:spcAft>
                <a:spcPts val="0"/>
              </a:spcAft>
              <a:buSzPts val="900"/>
              <a:buNone/>
              <a:defRPr sz="900"/>
            </a:lvl5pPr>
            <a:lvl6pPr lvl="5" algn="ctr">
              <a:spcBef>
                <a:spcPts val="0"/>
              </a:spcBef>
              <a:spcAft>
                <a:spcPts val="0"/>
              </a:spcAft>
              <a:buSzPts val="900"/>
              <a:buNone/>
              <a:defRPr sz="900"/>
            </a:lvl6pPr>
            <a:lvl7pPr lvl="6" algn="ctr">
              <a:spcBef>
                <a:spcPts val="0"/>
              </a:spcBef>
              <a:spcAft>
                <a:spcPts val="0"/>
              </a:spcAft>
              <a:buSzPts val="900"/>
              <a:buNone/>
              <a:defRPr sz="900"/>
            </a:lvl7pPr>
            <a:lvl8pPr lvl="7" algn="ctr">
              <a:spcBef>
                <a:spcPts val="0"/>
              </a:spcBef>
              <a:spcAft>
                <a:spcPts val="0"/>
              </a:spcAft>
              <a:buSzPts val="900"/>
              <a:buNone/>
              <a:defRPr sz="900"/>
            </a:lvl8pPr>
            <a:lvl9pPr lvl="8" algn="ctr">
              <a:spcBef>
                <a:spcPts val="0"/>
              </a:spcBef>
              <a:spcAft>
                <a:spcPts val="0"/>
              </a:spcAft>
              <a:buSzPts val="900"/>
              <a:buNone/>
              <a:defRPr sz="900"/>
            </a:lvl9pPr>
          </a:lstStyle>
          <a:p/>
        </p:txBody>
      </p:sp>
      <p:sp>
        <p:nvSpPr>
          <p:cNvPr id="23" name="Google Shape;23;p3"/>
          <p:cNvSpPr txBox="1"/>
          <p:nvPr>
            <p:ph idx="2" type="subTitle"/>
          </p:nvPr>
        </p:nvSpPr>
        <p:spPr>
          <a:xfrm>
            <a:off x="5997113" y="3330100"/>
            <a:ext cx="1978200" cy="800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300"/>
              <a:buNone/>
              <a:defRPr sz="1300"/>
            </a:lvl1pPr>
            <a:lvl2pPr lvl="1" algn="ctr">
              <a:spcBef>
                <a:spcPts val="0"/>
              </a:spcBef>
              <a:spcAft>
                <a:spcPts val="0"/>
              </a:spcAft>
              <a:buSzPts val="900"/>
              <a:buNone/>
              <a:defRPr sz="900"/>
            </a:lvl2pPr>
            <a:lvl3pPr lvl="2" algn="ctr">
              <a:spcBef>
                <a:spcPts val="0"/>
              </a:spcBef>
              <a:spcAft>
                <a:spcPts val="0"/>
              </a:spcAft>
              <a:buSzPts val="900"/>
              <a:buNone/>
              <a:defRPr sz="900"/>
            </a:lvl3pPr>
            <a:lvl4pPr lvl="3" algn="ctr">
              <a:spcBef>
                <a:spcPts val="0"/>
              </a:spcBef>
              <a:spcAft>
                <a:spcPts val="0"/>
              </a:spcAft>
              <a:buSzPts val="900"/>
              <a:buNone/>
              <a:defRPr sz="900"/>
            </a:lvl4pPr>
            <a:lvl5pPr lvl="4" algn="ctr">
              <a:spcBef>
                <a:spcPts val="0"/>
              </a:spcBef>
              <a:spcAft>
                <a:spcPts val="0"/>
              </a:spcAft>
              <a:buSzPts val="900"/>
              <a:buNone/>
              <a:defRPr sz="900"/>
            </a:lvl5pPr>
            <a:lvl6pPr lvl="5" algn="ctr">
              <a:spcBef>
                <a:spcPts val="0"/>
              </a:spcBef>
              <a:spcAft>
                <a:spcPts val="0"/>
              </a:spcAft>
              <a:buSzPts val="900"/>
              <a:buNone/>
              <a:defRPr sz="900"/>
            </a:lvl6pPr>
            <a:lvl7pPr lvl="6" algn="ctr">
              <a:spcBef>
                <a:spcPts val="0"/>
              </a:spcBef>
              <a:spcAft>
                <a:spcPts val="0"/>
              </a:spcAft>
              <a:buSzPts val="900"/>
              <a:buNone/>
              <a:defRPr sz="900"/>
            </a:lvl7pPr>
            <a:lvl8pPr lvl="7" algn="ctr">
              <a:spcBef>
                <a:spcPts val="0"/>
              </a:spcBef>
              <a:spcAft>
                <a:spcPts val="0"/>
              </a:spcAft>
              <a:buSzPts val="900"/>
              <a:buNone/>
              <a:defRPr sz="900"/>
            </a:lvl8pPr>
            <a:lvl9pPr lvl="8" algn="ctr">
              <a:spcBef>
                <a:spcPts val="0"/>
              </a:spcBef>
              <a:spcAft>
                <a:spcPts val="0"/>
              </a:spcAft>
              <a:buSzPts val="900"/>
              <a:buNone/>
              <a:defRPr sz="900"/>
            </a:lvl9pPr>
          </a:lstStyle>
          <a:p/>
        </p:txBody>
      </p:sp>
      <p:sp>
        <p:nvSpPr>
          <p:cNvPr id="24" name="Google Shape;24;p3"/>
          <p:cNvSpPr txBox="1"/>
          <p:nvPr>
            <p:ph idx="3" type="subTitle"/>
          </p:nvPr>
        </p:nvSpPr>
        <p:spPr>
          <a:xfrm>
            <a:off x="3582888" y="3378600"/>
            <a:ext cx="1978200" cy="8004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SzPts val="1300"/>
              <a:buNone/>
              <a:defRPr sz="1300"/>
            </a:lvl1pPr>
            <a:lvl2pPr lvl="1" algn="ctr">
              <a:spcBef>
                <a:spcPts val="0"/>
              </a:spcBef>
              <a:spcAft>
                <a:spcPts val="0"/>
              </a:spcAft>
              <a:buSzPts val="900"/>
              <a:buNone/>
              <a:defRPr sz="900"/>
            </a:lvl2pPr>
            <a:lvl3pPr lvl="2" algn="ctr">
              <a:spcBef>
                <a:spcPts val="0"/>
              </a:spcBef>
              <a:spcAft>
                <a:spcPts val="0"/>
              </a:spcAft>
              <a:buSzPts val="900"/>
              <a:buNone/>
              <a:defRPr sz="900"/>
            </a:lvl3pPr>
            <a:lvl4pPr lvl="3" algn="ctr">
              <a:spcBef>
                <a:spcPts val="0"/>
              </a:spcBef>
              <a:spcAft>
                <a:spcPts val="0"/>
              </a:spcAft>
              <a:buSzPts val="900"/>
              <a:buNone/>
              <a:defRPr sz="900"/>
            </a:lvl4pPr>
            <a:lvl5pPr lvl="4" algn="ctr">
              <a:spcBef>
                <a:spcPts val="0"/>
              </a:spcBef>
              <a:spcAft>
                <a:spcPts val="0"/>
              </a:spcAft>
              <a:buSzPts val="900"/>
              <a:buNone/>
              <a:defRPr sz="900"/>
            </a:lvl5pPr>
            <a:lvl6pPr lvl="5" algn="ctr">
              <a:spcBef>
                <a:spcPts val="0"/>
              </a:spcBef>
              <a:spcAft>
                <a:spcPts val="0"/>
              </a:spcAft>
              <a:buSzPts val="900"/>
              <a:buNone/>
              <a:defRPr sz="900"/>
            </a:lvl6pPr>
            <a:lvl7pPr lvl="6" algn="ctr">
              <a:spcBef>
                <a:spcPts val="0"/>
              </a:spcBef>
              <a:spcAft>
                <a:spcPts val="0"/>
              </a:spcAft>
              <a:buSzPts val="900"/>
              <a:buNone/>
              <a:defRPr sz="900"/>
            </a:lvl7pPr>
            <a:lvl8pPr lvl="7" algn="ctr">
              <a:spcBef>
                <a:spcPts val="0"/>
              </a:spcBef>
              <a:spcAft>
                <a:spcPts val="0"/>
              </a:spcAft>
              <a:buSzPts val="900"/>
              <a:buNone/>
              <a:defRPr sz="900"/>
            </a:lvl8pPr>
            <a:lvl9pPr lvl="8" algn="ctr">
              <a:spcBef>
                <a:spcPts val="0"/>
              </a:spcBef>
              <a:spcAft>
                <a:spcPts val="0"/>
              </a:spcAft>
              <a:buSzPts val="900"/>
              <a:buNone/>
              <a:defRPr sz="9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p:cSld name="CUSTOM_33">
    <p:spTree>
      <p:nvGrpSpPr>
        <p:cNvPr id="25" name="Shape 25"/>
        <p:cNvGrpSpPr/>
        <p:nvPr/>
      </p:nvGrpSpPr>
      <p:grpSpPr>
        <a:xfrm>
          <a:off x="0" y="0"/>
          <a:ext cx="0" cy="0"/>
          <a:chOff x="0" y="0"/>
          <a:chExt cx="0" cy="0"/>
        </a:xfrm>
      </p:grpSpPr>
      <p:sp>
        <p:nvSpPr>
          <p:cNvPr id="26" name="Google Shape;26;p4"/>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1">
  <p:cSld name="CUSTOM_33_1">
    <p:spTree>
      <p:nvGrpSpPr>
        <p:cNvPr id="28" name="Shape 28"/>
        <p:cNvGrpSpPr/>
        <p:nvPr/>
      </p:nvGrpSpPr>
      <p:grpSpPr>
        <a:xfrm>
          <a:off x="0" y="0"/>
          <a:ext cx="0" cy="0"/>
          <a:chOff x="0" y="0"/>
          <a:chExt cx="0" cy="0"/>
        </a:xfrm>
      </p:grpSpPr>
      <p:sp>
        <p:nvSpPr>
          <p:cNvPr id="29" name="Google Shape;29;p5"/>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p:nvPr>
            <p:ph idx="2" type="pic"/>
          </p:nvPr>
        </p:nvSpPr>
        <p:spPr>
          <a:xfrm>
            <a:off x="585600" y="768725"/>
            <a:ext cx="4235100" cy="3973200"/>
          </a:xfrm>
          <a:prstGeom prst="rect">
            <a:avLst/>
          </a:prstGeom>
          <a:noFill/>
          <a:ln>
            <a:noFill/>
          </a:ln>
        </p:spPr>
      </p:sp>
      <p:sp>
        <p:nvSpPr>
          <p:cNvPr id="31" name="Google Shape;31;p5"/>
          <p:cNvSpPr/>
          <p:nvPr/>
        </p:nvSpPr>
        <p:spPr>
          <a:xfrm>
            <a:off x="3065850" y="2664550"/>
            <a:ext cx="2328900" cy="1951500"/>
          </a:xfrm>
          <a:prstGeom prst="roundRect">
            <a:avLst>
              <a:gd fmla="val 16667" name="adj"/>
            </a:avLst>
          </a:prstGeom>
          <a:solidFill>
            <a:srgbClr val="FCD10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
        <p:nvSpPr>
          <p:cNvPr id="32" name="Google Shape;32;p5"/>
          <p:cNvSpPr txBox="1"/>
          <p:nvPr>
            <p:ph idx="3" type="title"/>
          </p:nvPr>
        </p:nvSpPr>
        <p:spPr>
          <a:xfrm>
            <a:off x="828275" y="1028100"/>
            <a:ext cx="2652600" cy="1079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subTitle"/>
          </p:nvPr>
        </p:nvSpPr>
        <p:spPr>
          <a:xfrm>
            <a:off x="6092100" y="9410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nvSpPr>
        <p:spPr>
          <a:xfrm>
            <a:off x="6092100" y="1169075"/>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consetetua this sadipscing elitroma.</a:t>
            </a:r>
            <a:endParaRPr sz="1800">
              <a:solidFill>
                <a:schemeClr val="dk2"/>
              </a:solidFill>
              <a:latin typeface="Plus Jakarta Sans"/>
              <a:ea typeface="Plus Jakarta Sans"/>
              <a:cs typeface="Plus Jakarta Sans"/>
              <a:sym typeface="Plus Jakarta Sans"/>
            </a:endParaRPr>
          </a:p>
        </p:txBody>
      </p:sp>
      <p:sp>
        <p:nvSpPr>
          <p:cNvPr id="35" name="Google Shape;35;p5"/>
          <p:cNvSpPr txBox="1"/>
          <p:nvPr>
            <p:ph idx="4" type="subTitle"/>
          </p:nvPr>
        </p:nvSpPr>
        <p:spPr>
          <a:xfrm>
            <a:off x="6092100" y="17417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nvSpPr>
        <p:spPr>
          <a:xfrm>
            <a:off x="6092100" y="2107200"/>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consetetur this sadipscing elitroma.</a:t>
            </a:r>
            <a:endParaRPr sz="1800">
              <a:solidFill>
                <a:schemeClr val="dk2"/>
              </a:solidFill>
              <a:latin typeface="Plus Jakarta Sans"/>
              <a:ea typeface="Plus Jakarta Sans"/>
              <a:cs typeface="Plus Jakarta Sans"/>
              <a:sym typeface="Plus Jakarta Sans"/>
            </a:endParaRPr>
          </a:p>
        </p:txBody>
      </p:sp>
      <p:sp>
        <p:nvSpPr>
          <p:cNvPr id="37" name="Google Shape;37;p5"/>
          <p:cNvSpPr txBox="1"/>
          <p:nvPr>
            <p:ph idx="5" type="subTitle"/>
          </p:nvPr>
        </p:nvSpPr>
        <p:spPr>
          <a:xfrm>
            <a:off x="6092100" y="25424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5"/>
          <p:cNvSpPr txBox="1"/>
          <p:nvPr/>
        </p:nvSpPr>
        <p:spPr>
          <a:xfrm>
            <a:off x="6092100" y="2770475"/>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consetetur this sadipscing elitroma.</a:t>
            </a:r>
            <a:endParaRPr sz="1800">
              <a:solidFill>
                <a:schemeClr val="dk2"/>
              </a:solidFill>
              <a:latin typeface="Plus Jakarta Sans"/>
              <a:ea typeface="Plus Jakarta Sans"/>
              <a:cs typeface="Plus Jakarta Sans"/>
              <a:sym typeface="Plus Jakarta Sans"/>
            </a:endParaRPr>
          </a:p>
        </p:txBody>
      </p:sp>
      <p:sp>
        <p:nvSpPr>
          <p:cNvPr id="39" name="Google Shape;39;p5"/>
          <p:cNvSpPr txBox="1"/>
          <p:nvPr>
            <p:ph idx="6" type="subTitle"/>
          </p:nvPr>
        </p:nvSpPr>
        <p:spPr>
          <a:xfrm>
            <a:off x="6092100" y="3343175"/>
            <a:ext cx="2652600" cy="2280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200"/>
              <a:buNone/>
              <a:defRPr b="1"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nvSpPr>
        <p:spPr>
          <a:xfrm>
            <a:off x="6092100" y="3571175"/>
            <a:ext cx="2265900" cy="5727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GB" sz="1100">
                <a:solidFill>
                  <a:srgbClr val="595457"/>
                </a:solidFill>
                <a:latin typeface="Plus Jakarta Sans"/>
                <a:ea typeface="Plus Jakarta Sans"/>
                <a:cs typeface="Plus Jakarta Sans"/>
                <a:sym typeface="Plus Jakarta Sans"/>
              </a:rPr>
              <a:t>Deras consetetur this sadipscing elitroma.</a:t>
            </a:r>
            <a:endParaRPr sz="1800">
              <a:solidFill>
                <a:schemeClr val="dk2"/>
              </a:solidFill>
              <a:latin typeface="Plus Jakarta Sans"/>
              <a:ea typeface="Plus Jakarta Sans"/>
              <a:cs typeface="Plus Jakarta Sans"/>
              <a:sym typeface="Plus Jakarta Sans"/>
            </a:endParaRPr>
          </a:p>
        </p:txBody>
      </p:sp>
      <p:pic>
        <p:nvPicPr>
          <p:cNvPr id="41" name="Google Shape;41;p5"/>
          <p:cNvPicPr preferRelativeResize="0"/>
          <p:nvPr/>
        </p:nvPicPr>
        <p:blipFill>
          <a:blip r:embed="rId2">
            <a:alphaModFix/>
          </a:blip>
          <a:stretch>
            <a:fillRect/>
          </a:stretch>
        </p:blipFill>
        <p:spPr>
          <a:xfrm>
            <a:off x="5561826" y="1111527"/>
            <a:ext cx="494021" cy="494024"/>
          </a:xfrm>
          <a:prstGeom prst="rect">
            <a:avLst/>
          </a:prstGeom>
          <a:noFill/>
          <a:ln>
            <a:noFill/>
          </a:ln>
        </p:spPr>
      </p:pic>
      <p:pic>
        <p:nvPicPr>
          <p:cNvPr id="42" name="Google Shape;42;p5"/>
          <p:cNvPicPr preferRelativeResize="0"/>
          <p:nvPr/>
        </p:nvPicPr>
        <p:blipFill>
          <a:blip r:embed="rId3">
            <a:alphaModFix/>
          </a:blip>
          <a:stretch>
            <a:fillRect/>
          </a:stretch>
        </p:blipFill>
        <p:spPr>
          <a:xfrm>
            <a:off x="5561825" y="3474983"/>
            <a:ext cx="494021" cy="494024"/>
          </a:xfrm>
          <a:prstGeom prst="rect">
            <a:avLst/>
          </a:prstGeom>
          <a:noFill/>
          <a:ln>
            <a:noFill/>
          </a:ln>
        </p:spPr>
      </p:pic>
      <p:pic>
        <p:nvPicPr>
          <p:cNvPr id="43" name="Google Shape;43;p5"/>
          <p:cNvPicPr preferRelativeResize="0"/>
          <p:nvPr/>
        </p:nvPicPr>
        <p:blipFill>
          <a:blip r:embed="rId4">
            <a:alphaModFix/>
          </a:blip>
          <a:stretch>
            <a:fillRect/>
          </a:stretch>
        </p:blipFill>
        <p:spPr>
          <a:xfrm>
            <a:off x="5561826" y="2703006"/>
            <a:ext cx="494024" cy="494012"/>
          </a:xfrm>
          <a:prstGeom prst="rect">
            <a:avLst/>
          </a:prstGeom>
          <a:noFill/>
          <a:ln>
            <a:noFill/>
          </a:ln>
        </p:spPr>
      </p:pic>
      <p:pic>
        <p:nvPicPr>
          <p:cNvPr id="44" name="Google Shape;44;p5"/>
          <p:cNvPicPr preferRelativeResize="0"/>
          <p:nvPr/>
        </p:nvPicPr>
        <p:blipFill>
          <a:blip r:embed="rId5">
            <a:alphaModFix/>
          </a:blip>
          <a:stretch>
            <a:fillRect/>
          </a:stretch>
        </p:blipFill>
        <p:spPr>
          <a:xfrm>
            <a:off x="5541264" y="1886696"/>
            <a:ext cx="535148" cy="53514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1 1">
  <p:cSld name="CUSTOM_33_1_1">
    <p:spTree>
      <p:nvGrpSpPr>
        <p:cNvPr id="45" name="Shape 45"/>
        <p:cNvGrpSpPr/>
        <p:nvPr/>
      </p:nvGrpSpPr>
      <p:grpSpPr>
        <a:xfrm>
          <a:off x="0" y="0"/>
          <a:ext cx="0" cy="0"/>
          <a:chOff x="0" y="0"/>
          <a:chExt cx="0" cy="0"/>
        </a:xfrm>
      </p:grpSpPr>
      <p:sp>
        <p:nvSpPr>
          <p:cNvPr id="46" name="Google Shape;46;p6"/>
          <p:cNvSpPr txBox="1"/>
          <p:nvPr>
            <p:ph type="title"/>
          </p:nvPr>
        </p:nvSpPr>
        <p:spPr>
          <a:xfrm>
            <a:off x="576500" y="929175"/>
            <a:ext cx="3138300" cy="836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4 1 1 1">
  <p:cSld name="CUSTOM_33_1_1_1">
    <p:spTree>
      <p:nvGrpSpPr>
        <p:cNvPr id="48" name="Shape 48"/>
        <p:cNvGrpSpPr/>
        <p:nvPr/>
      </p:nvGrpSpPr>
      <p:grpSpPr>
        <a:xfrm>
          <a:off x="0" y="0"/>
          <a:ext cx="0" cy="0"/>
          <a:chOff x="0" y="0"/>
          <a:chExt cx="0" cy="0"/>
        </a:xfrm>
      </p:grpSpPr>
      <p:sp>
        <p:nvSpPr>
          <p:cNvPr id="49" name="Google Shape;49;p7"/>
          <p:cNvSpPr txBox="1"/>
          <p:nvPr>
            <p:ph type="title"/>
          </p:nvPr>
        </p:nvSpPr>
        <p:spPr>
          <a:xfrm>
            <a:off x="576500" y="929175"/>
            <a:ext cx="3156000" cy="836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subTitle"/>
          </p:nvPr>
        </p:nvSpPr>
        <p:spPr>
          <a:xfrm>
            <a:off x="576500" y="185542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600"/>
              <a:buNone/>
              <a:defRPr sz="16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
  <p:cSld name="CUSTOM_36">
    <p:spTree>
      <p:nvGrpSpPr>
        <p:cNvPr id="51" name="Shape 51"/>
        <p:cNvGrpSpPr/>
        <p:nvPr/>
      </p:nvGrpSpPr>
      <p:grpSpPr>
        <a:xfrm>
          <a:off x="0" y="0"/>
          <a:ext cx="0" cy="0"/>
          <a:chOff x="0" y="0"/>
          <a:chExt cx="0" cy="0"/>
        </a:xfrm>
      </p:grpSpPr>
      <p:sp>
        <p:nvSpPr>
          <p:cNvPr id="52" name="Google Shape;52;p8"/>
          <p:cNvSpPr txBox="1"/>
          <p:nvPr>
            <p:ph type="title"/>
          </p:nvPr>
        </p:nvSpPr>
        <p:spPr>
          <a:xfrm>
            <a:off x="581475" y="768725"/>
            <a:ext cx="53184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8"/>
          <p:cNvSpPr/>
          <p:nvPr/>
        </p:nvSpPr>
        <p:spPr>
          <a:xfrm>
            <a:off x="747408" y="1582342"/>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54" name="Google Shape;54;p8"/>
          <p:cNvSpPr txBox="1"/>
          <p:nvPr/>
        </p:nvSpPr>
        <p:spPr>
          <a:xfrm>
            <a:off x="1008119" y="1564411"/>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55" name="Google Shape;55;p8"/>
          <p:cNvSpPr txBox="1"/>
          <p:nvPr>
            <p:ph idx="1" type="subTitle"/>
          </p:nvPr>
        </p:nvSpPr>
        <p:spPr>
          <a:xfrm>
            <a:off x="1017112" y="1729460"/>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6" name="Google Shape;56;p8"/>
          <p:cNvSpPr/>
          <p:nvPr/>
        </p:nvSpPr>
        <p:spPr>
          <a:xfrm>
            <a:off x="747408" y="2322817"/>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57" name="Google Shape;57;p8"/>
          <p:cNvSpPr txBox="1"/>
          <p:nvPr/>
        </p:nvSpPr>
        <p:spPr>
          <a:xfrm>
            <a:off x="1008119" y="2304886"/>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58" name="Google Shape;58;p8"/>
          <p:cNvSpPr txBox="1"/>
          <p:nvPr>
            <p:ph idx="2" type="subTitle"/>
          </p:nvPr>
        </p:nvSpPr>
        <p:spPr>
          <a:xfrm>
            <a:off x="1017112" y="2469935"/>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59" name="Google Shape;59;p8"/>
          <p:cNvSpPr/>
          <p:nvPr/>
        </p:nvSpPr>
        <p:spPr>
          <a:xfrm>
            <a:off x="747408" y="2912242"/>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60" name="Google Shape;60;p8"/>
          <p:cNvSpPr txBox="1"/>
          <p:nvPr/>
        </p:nvSpPr>
        <p:spPr>
          <a:xfrm>
            <a:off x="1008119" y="2894311"/>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61" name="Google Shape;61;p8"/>
          <p:cNvSpPr txBox="1"/>
          <p:nvPr>
            <p:ph idx="3" type="subTitle"/>
          </p:nvPr>
        </p:nvSpPr>
        <p:spPr>
          <a:xfrm>
            <a:off x="1017112" y="3059360"/>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None/>
              <a:defRPr sz="1100"/>
            </a:lvl2pPr>
            <a:lvl3pPr lvl="2">
              <a:spcBef>
                <a:spcPts val="0"/>
              </a:spcBef>
              <a:spcAft>
                <a:spcPts val="0"/>
              </a:spcAft>
              <a:buSzPts val="1100"/>
              <a:buNone/>
              <a:defRPr sz="1100"/>
            </a:lvl3pPr>
            <a:lvl4pPr lvl="3">
              <a:spcBef>
                <a:spcPts val="0"/>
              </a:spcBef>
              <a:spcAft>
                <a:spcPts val="0"/>
              </a:spcAft>
              <a:buSzPts val="1100"/>
              <a:buNone/>
              <a:defRPr sz="1100"/>
            </a:lvl4pPr>
            <a:lvl5pPr lvl="4">
              <a:spcBef>
                <a:spcPts val="0"/>
              </a:spcBef>
              <a:spcAft>
                <a:spcPts val="0"/>
              </a:spcAft>
              <a:buSzPts val="1100"/>
              <a:buNone/>
              <a:defRPr sz="1100"/>
            </a:lvl5pPr>
            <a:lvl6pPr lvl="5">
              <a:spcBef>
                <a:spcPts val="0"/>
              </a:spcBef>
              <a:spcAft>
                <a:spcPts val="0"/>
              </a:spcAft>
              <a:buSzPts val="1100"/>
              <a:buNone/>
              <a:defRPr sz="1100"/>
            </a:lvl6pPr>
            <a:lvl7pPr lvl="6">
              <a:spcBef>
                <a:spcPts val="0"/>
              </a:spcBef>
              <a:spcAft>
                <a:spcPts val="0"/>
              </a:spcAft>
              <a:buSzPts val="1100"/>
              <a:buNone/>
              <a:defRPr sz="1100"/>
            </a:lvl7pPr>
            <a:lvl8pPr lvl="7">
              <a:spcBef>
                <a:spcPts val="0"/>
              </a:spcBef>
              <a:spcAft>
                <a:spcPts val="0"/>
              </a:spcAft>
              <a:buSzPts val="1100"/>
              <a:buNone/>
              <a:defRPr sz="1100"/>
            </a:lvl8pPr>
            <a:lvl9pPr lvl="8">
              <a:spcBef>
                <a:spcPts val="0"/>
              </a:spcBef>
              <a:spcAft>
                <a:spcPts val="0"/>
              </a:spcAft>
              <a:buSzPts val="1100"/>
              <a:buNone/>
              <a:defRPr sz="1100"/>
            </a:lvl9pPr>
          </a:lstStyle>
          <a:p/>
        </p:txBody>
      </p:sp>
      <p:sp>
        <p:nvSpPr>
          <p:cNvPr id="62" name="Google Shape;62;p8"/>
          <p:cNvSpPr/>
          <p:nvPr/>
        </p:nvSpPr>
        <p:spPr>
          <a:xfrm>
            <a:off x="747408" y="3469267"/>
            <a:ext cx="242726" cy="183123"/>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3C5337"/>
          </a:solidFill>
          <a:ln>
            <a:noFill/>
          </a:ln>
        </p:spPr>
        <p:txBody>
          <a:bodyPr anchorCtr="0" anchor="ctr" bIns="177775" lIns="177775" spcFirstLastPara="1" rIns="177775" wrap="square" tIns="177775">
            <a:noAutofit/>
          </a:bodyPr>
          <a:lstStyle/>
          <a:p>
            <a:pPr indent="0" lvl="0" marL="0" rtl="0" algn="l">
              <a:spcBef>
                <a:spcPts val="0"/>
              </a:spcBef>
              <a:spcAft>
                <a:spcPts val="0"/>
              </a:spcAft>
              <a:buNone/>
            </a:pPr>
            <a:r>
              <a:t/>
            </a:r>
            <a:endParaRPr/>
          </a:p>
        </p:txBody>
      </p:sp>
      <p:sp>
        <p:nvSpPr>
          <p:cNvPr id="63" name="Google Shape;63;p8"/>
          <p:cNvSpPr txBox="1"/>
          <p:nvPr/>
        </p:nvSpPr>
        <p:spPr>
          <a:xfrm>
            <a:off x="1008119" y="3451336"/>
            <a:ext cx="20592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GB" sz="1100">
                <a:solidFill>
                  <a:schemeClr val="dk2"/>
                </a:solidFill>
                <a:latin typeface="Plus Jakarta Sans"/>
                <a:ea typeface="Plus Jakarta Sans"/>
                <a:cs typeface="Plus Jakarta Sans"/>
                <a:sym typeface="Plus Jakarta Sans"/>
              </a:rPr>
              <a:t>YOUR TITLE HERE</a:t>
            </a:r>
            <a:endParaRPr b="1" sz="1100">
              <a:solidFill>
                <a:schemeClr val="dk2"/>
              </a:solidFill>
              <a:latin typeface="Plus Jakarta Sans"/>
              <a:ea typeface="Plus Jakarta Sans"/>
              <a:cs typeface="Plus Jakarta Sans"/>
              <a:sym typeface="Plus Jakarta Sans"/>
            </a:endParaRPr>
          </a:p>
        </p:txBody>
      </p:sp>
      <p:sp>
        <p:nvSpPr>
          <p:cNvPr id="64" name="Google Shape;64;p8"/>
          <p:cNvSpPr txBox="1"/>
          <p:nvPr>
            <p:ph idx="4" type="subTitle"/>
          </p:nvPr>
        </p:nvSpPr>
        <p:spPr>
          <a:xfrm>
            <a:off x="1017112" y="3616385"/>
            <a:ext cx="6123600" cy="368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100"/>
              <a:buFont typeface="Plus Jakarta Sans"/>
              <a:buNone/>
              <a:defRPr sz="1100">
                <a:latin typeface="Plus Jakarta Sans"/>
                <a:ea typeface="Plus Jakarta Sans"/>
                <a:cs typeface="Plus Jakarta Sans"/>
                <a:sym typeface="Plus Jakarta Sans"/>
              </a:defRPr>
            </a:lvl1pPr>
            <a:lvl2pPr lvl="1">
              <a:spcBef>
                <a:spcPts val="0"/>
              </a:spcBef>
              <a:spcAft>
                <a:spcPts val="0"/>
              </a:spcAft>
              <a:buSzPts val="1100"/>
              <a:buFont typeface="Plus Jakarta Sans"/>
              <a:buNone/>
              <a:defRPr sz="1100">
                <a:latin typeface="Plus Jakarta Sans"/>
                <a:ea typeface="Plus Jakarta Sans"/>
                <a:cs typeface="Plus Jakarta Sans"/>
                <a:sym typeface="Plus Jakarta Sans"/>
              </a:defRPr>
            </a:lvl2pPr>
            <a:lvl3pPr lvl="2">
              <a:spcBef>
                <a:spcPts val="0"/>
              </a:spcBef>
              <a:spcAft>
                <a:spcPts val="0"/>
              </a:spcAft>
              <a:buSzPts val="1100"/>
              <a:buFont typeface="Plus Jakarta Sans"/>
              <a:buNone/>
              <a:defRPr sz="1100">
                <a:latin typeface="Plus Jakarta Sans"/>
                <a:ea typeface="Plus Jakarta Sans"/>
                <a:cs typeface="Plus Jakarta Sans"/>
                <a:sym typeface="Plus Jakarta Sans"/>
              </a:defRPr>
            </a:lvl3pPr>
            <a:lvl4pPr lvl="3">
              <a:spcBef>
                <a:spcPts val="0"/>
              </a:spcBef>
              <a:spcAft>
                <a:spcPts val="0"/>
              </a:spcAft>
              <a:buSzPts val="1100"/>
              <a:buFont typeface="Plus Jakarta Sans"/>
              <a:buNone/>
              <a:defRPr sz="1100">
                <a:latin typeface="Plus Jakarta Sans"/>
                <a:ea typeface="Plus Jakarta Sans"/>
                <a:cs typeface="Plus Jakarta Sans"/>
                <a:sym typeface="Plus Jakarta Sans"/>
              </a:defRPr>
            </a:lvl4pPr>
            <a:lvl5pPr lvl="4">
              <a:spcBef>
                <a:spcPts val="0"/>
              </a:spcBef>
              <a:spcAft>
                <a:spcPts val="0"/>
              </a:spcAft>
              <a:buSzPts val="1100"/>
              <a:buFont typeface="Plus Jakarta Sans"/>
              <a:buNone/>
              <a:defRPr sz="1100">
                <a:latin typeface="Plus Jakarta Sans"/>
                <a:ea typeface="Plus Jakarta Sans"/>
                <a:cs typeface="Plus Jakarta Sans"/>
                <a:sym typeface="Plus Jakarta Sans"/>
              </a:defRPr>
            </a:lvl5pPr>
            <a:lvl6pPr lvl="5">
              <a:spcBef>
                <a:spcPts val="0"/>
              </a:spcBef>
              <a:spcAft>
                <a:spcPts val="0"/>
              </a:spcAft>
              <a:buSzPts val="1100"/>
              <a:buFont typeface="Plus Jakarta Sans"/>
              <a:buNone/>
              <a:defRPr sz="1100">
                <a:latin typeface="Plus Jakarta Sans"/>
                <a:ea typeface="Plus Jakarta Sans"/>
                <a:cs typeface="Plus Jakarta Sans"/>
                <a:sym typeface="Plus Jakarta Sans"/>
              </a:defRPr>
            </a:lvl6pPr>
            <a:lvl7pPr lvl="6">
              <a:spcBef>
                <a:spcPts val="0"/>
              </a:spcBef>
              <a:spcAft>
                <a:spcPts val="0"/>
              </a:spcAft>
              <a:buSzPts val="1100"/>
              <a:buFont typeface="Plus Jakarta Sans"/>
              <a:buNone/>
              <a:defRPr sz="1100">
                <a:latin typeface="Plus Jakarta Sans"/>
                <a:ea typeface="Plus Jakarta Sans"/>
                <a:cs typeface="Plus Jakarta Sans"/>
                <a:sym typeface="Plus Jakarta Sans"/>
              </a:defRPr>
            </a:lvl7pPr>
            <a:lvl8pPr lvl="7">
              <a:spcBef>
                <a:spcPts val="0"/>
              </a:spcBef>
              <a:spcAft>
                <a:spcPts val="0"/>
              </a:spcAft>
              <a:buSzPts val="1100"/>
              <a:buFont typeface="Plus Jakarta Sans"/>
              <a:buNone/>
              <a:defRPr sz="1100">
                <a:latin typeface="Plus Jakarta Sans"/>
                <a:ea typeface="Plus Jakarta Sans"/>
                <a:cs typeface="Plus Jakarta Sans"/>
                <a:sym typeface="Plus Jakarta Sans"/>
              </a:defRPr>
            </a:lvl8pPr>
            <a:lvl9pPr lvl="8">
              <a:spcBef>
                <a:spcPts val="0"/>
              </a:spcBef>
              <a:spcAft>
                <a:spcPts val="0"/>
              </a:spcAft>
              <a:buSzPts val="1100"/>
              <a:buFont typeface="Plus Jakarta Sans"/>
              <a:buNone/>
              <a:defRPr sz="1100">
                <a:latin typeface="Plus Jakarta Sans"/>
                <a:ea typeface="Plus Jakarta Sans"/>
                <a:cs typeface="Plus Jakarta Sans"/>
                <a:sym typeface="Plus Jakarta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37">
    <p:spTree>
      <p:nvGrpSpPr>
        <p:cNvPr id="65" name="Shape 65"/>
        <p:cNvGrpSpPr/>
        <p:nvPr/>
      </p:nvGrpSpPr>
      <p:grpSpPr>
        <a:xfrm>
          <a:off x="0" y="0"/>
          <a:ext cx="0" cy="0"/>
          <a:chOff x="0" y="0"/>
          <a:chExt cx="0" cy="0"/>
        </a:xfrm>
      </p:grpSpPr>
      <p:sp>
        <p:nvSpPr>
          <p:cNvPr id="66" name="Google Shape;66;p9"/>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txBox="1"/>
          <p:nvPr/>
        </p:nvSpPr>
        <p:spPr>
          <a:xfrm>
            <a:off x="4569000" y="857250"/>
            <a:ext cx="3974400" cy="1034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Forem esoma ipsum dolor sit amet, derasd thr esdo</a:t>
            </a:r>
            <a:endParaRPr sz="500">
              <a:solidFill>
                <a:schemeClr val="dk1"/>
              </a:solidFill>
              <a:latin typeface="Plus Jakarta Sans"/>
              <a:ea typeface="Plus Jakarta Sans"/>
              <a:cs typeface="Plus Jakarta Sans"/>
              <a:sym typeface="Plus Jakarta Sans"/>
            </a:endParaRPr>
          </a:p>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fronding elitromas. Sed diam nots dne nor nonumy eirmod tempor invidunt the indoc mago. Atmo vero eos et accusam eto drer justo dresma.</a:t>
            </a:r>
            <a:endParaRPr sz="500">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68" name="Google Shape;68;p9"/>
          <p:cNvSpPr/>
          <p:nvPr>
            <p:ph idx="2" type="pic"/>
          </p:nvPr>
        </p:nvSpPr>
        <p:spPr>
          <a:xfrm>
            <a:off x="777788" y="2098150"/>
            <a:ext cx="1791600" cy="2274900"/>
          </a:xfrm>
          <a:prstGeom prst="roundRect">
            <a:avLst>
              <a:gd fmla="val 16667" name="adj"/>
            </a:avLst>
          </a:prstGeom>
          <a:noFill/>
          <a:ln>
            <a:noFill/>
          </a:ln>
        </p:spPr>
      </p:sp>
      <p:sp>
        <p:nvSpPr>
          <p:cNvPr id="69" name="Google Shape;69;p9"/>
          <p:cNvSpPr/>
          <p:nvPr>
            <p:ph idx="3" type="pic"/>
          </p:nvPr>
        </p:nvSpPr>
        <p:spPr>
          <a:xfrm>
            <a:off x="2710062" y="2098150"/>
            <a:ext cx="1791600" cy="2274900"/>
          </a:xfrm>
          <a:prstGeom prst="roundRect">
            <a:avLst>
              <a:gd fmla="val 16667" name="adj"/>
            </a:avLst>
          </a:prstGeom>
          <a:noFill/>
          <a:ln>
            <a:noFill/>
          </a:ln>
        </p:spPr>
      </p:sp>
      <p:sp>
        <p:nvSpPr>
          <p:cNvPr id="70" name="Google Shape;70;p9"/>
          <p:cNvSpPr/>
          <p:nvPr>
            <p:ph idx="4" type="pic"/>
          </p:nvPr>
        </p:nvSpPr>
        <p:spPr>
          <a:xfrm>
            <a:off x="4642336" y="2098150"/>
            <a:ext cx="1791600" cy="2274900"/>
          </a:xfrm>
          <a:prstGeom prst="roundRect">
            <a:avLst>
              <a:gd fmla="val 16667" name="adj"/>
            </a:avLst>
          </a:prstGeom>
          <a:noFill/>
          <a:ln>
            <a:noFill/>
          </a:ln>
        </p:spPr>
      </p:sp>
      <p:sp>
        <p:nvSpPr>
          <p:cNvPr id="71" name="Google Shape;71;p9"/>
          <p:cNvSpPr/>
          <p:nvPr>
            <p:ph idx="5" type="pic"/>
          </p:nvPr>
        </p:nvSpPr>
        <p:spPr>
          <a:xfrm>
            <a:off x="6574611" y="2098150"/>
            <a:ext cx="1791600" cy="2274900"/>
          </a:xfrm>
          <a:prstGeom prst="roundRect">
            <a:avLst>
              <a:gd fmla="val 16667" name="adj"/>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4">
  <p:cSld name="CUSTOM_38">
    <p:spTree>
      <p:nvGrpSpPr>
        <p:cNvPr id="72" name="Shape 72"/>
        <p:cNvGrpSpPr/>
        <p:nvPr/>
      </p:nvGrpSpPr>
      <p:grpSpPr>
        <a:xfrm>
          <a:off x="0" y="0"/>
          <a:ext cx="0" cy="0"/>
          <a:chOff x="0" y="0"/>
          <a:chExt cx="0" cy="0"/>
        </a:xfrm>
      </p:grpSpPr>
      <p:sp>
        <p:nvSpPr>
          <p:cNvPr id="73" name="Google Shape;73;p10"/>
          <p:cNvSpPr txBox="1"/>
          <p:nvPr>
            <p:ph type="title"/>
          </p:nvPr>
        </p:nvSpPr>
        <p:spPr>
          <a:xfrm>
            <a:off x="5994750" y="911200"/>
            <a:ext cx="27108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
          <p:cNvSpPr/>
          <p:nvPr>
            <p:ph idx="2" type="pic"/>
          </p:nvPr>
        </p:nvSpPr>
        <p:spPr>
          <a:xfrm>
            <a:off x="594475" y="938200"/>
            <a:ext cx="2472900" cy="3543000"/>
          </a:xfrm>
          <a:prstGeom prst="rect">
            <a:avLst/>
          </a:prstGeom>
          <a:noFill/>
          <a:ln>
            <a:noFill/>
          </a:ln>
        </p:spPr>
      </p:sp>
      <p:sp>
        <p:nvSpPr>
          <p:cNvPr id="75" name="Google Shape;75;p10"/>
          <p:cNvSpPr/>
          <p:nvPr>
            <p:ph idx="3" type="pic"/>
          </p:nvPr>
        </p:nvSpPr>
        <p:spPr>
          <a:xfrm>
            <a:off x="3184225" y="938200"/>
            <a:ext cx="2274900" cy="1735500"/>
          </a:xfrm>
          <a:prstGeom prst="rect">
            <a:avLst/>
          </a:prstGeom>
          <a:noFill/>
          <a:ln>
            <a:noFill/>
          </a:ln>
        </p:spPr>
      </p:sp>
      <p:sp>
        <p:nvSpPr>
          <p:cNvPr id="76" name="Google Shape;76;p10"/>
          <p:cNvSpPr/>
          <p:nvPr>
            <p:ph idx="4" type="pic"/>
          </p:nvPr>
        </p:nvSpPr>
        <p:spPr>
          <a:xfrm>
            <a:off x="3184225" y="2745700"/>
            <a:ext cx="2274900" cy="1735500"/>
          </a:xfrm>
          <a:prstGeom prst="rect">
            <a:avLst/>
          </a:prstGeom>
          <a:noFill/>
          <a:ln>
            <a:noFill/>
          </a:ln>
        </p:spPr>
      </p:sp>
      <p:sp>
        <p:nvSpPr>
          <p:cNvPr id="77" name="Google Shape;77;p10"/>
          <p:cNvSpPr txBox="1"/>
          <p:nvPr/>
        </p:nvSpPr>
        <p:spPr>
          <a:xfrm>
            <a:off x="5994750" y="2799725"/>
            <a:ext cx="2472900" cy="13398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Clr>
                <a:srgbClr val="595457"/>
              </a:buClr>
              <a:buSzPts val="300"/>
              <a:buFont typeface="Montserrat Light"/>
              <a:buNone/>
            </a:pPr>
            <a:r>
              <a:rPr lang="en-GB" sz="1100">
                <a:solidFill>
                  <a:srgbClr val="595457"/>
                </a:solidFill>
                <a:latin typeface="Plus Jakarta Sans"/>
                <a:ea typeface="Plus Jakarta Sans"/>
                <a:cs typeface="Plus Jakarta Sans"/>
                <a:sym typeface="Plus Jakarta Sans"/>
              </a:rPr>
              <a:t>Nosotra sod seada dero meram takimata sanctus est Lorem sus At vero eos eta accusam eton justo fosduom dolores etomda jam rebum. Steot clita kuasd gubergren.</a:t>
            </a:r>
            <a:endParaRPr sz="500">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78" name="Google Shape;78;p10"/>
          <p:cNvSpPr txBox="1"/>
          <p:nvPr>
            <p:ph idx="1" type="subTitle"/>
          </p:nvPr>
        </p:nvSpPr>
        <p:spPr>
          <a:xfrm>
            <a:off x="5994750" y="2134150"/>
            <a:ext cx="2472900" cy="42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Plus Jakarta Sans"/>
              <a:buNone/>
              <a:defRPr sz="1400">
                <a:latin typeface="Plus Jakarta Sans"/>
                <a:ea typeface="Plus Jakarta Sans"/>
                <a:cs typeface="Plus Jakarta Sans"/>
                <a:sym typeface="Plus Jakart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5">
  <p:cSld name="CUSTOM_39">
    <p:spTree>
      <p:nvGrpSpPr>
        <p:cNvPr id="79" name="Shape 79"/>
        <p:cNvGrpSpPr/>
        <p:nvPr/>
      </p:nvGrpSpPr>
      <p:grpSpPr>
        <a:xfrm>
          <a:off x="0" y="0"/>
          <a:ext cx="0" cy="0"/>
          <a:chOff x="0" y="0"/>
          <a:chExt cx="0" cy="0"/>
        </a:xfrm>
      </p:grpSpPr>
      <p:sp>
        <p:nvSpPr>
          <p:cNvPr id="80" name="Google Shape;80;p11"/>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
          <p:cNvSpPr txBox="1"/>
          <p:nvPr/>
        </p:nvSpPr>
        <p:spPr>
          <a:xfrm>
            <a:off x="4468850" y="929175"/>
            <a:ext cx="4209600" cy="9711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82" name="Google Shape;82;p11"/>
          <p:cNvSpPr/>
          <p:nvPr>
            <p:ph idx="2" type="pic"/>
          </p:nvPr>
        </p:nvSpPr>
        <p:spPr>
          <a:xfrm>
            <a:off x="701538" y="1900275"/>
            <a:ext cx="1780500" cy="2140200"/>
          </a:xfrm>
          <a:prstGeom prst="roundRect">
            <a:avLst>
              <a:gd fmla="val 16667" name="adj"/>
            </a:avLst>
          </a:prstGeom>
          <a:noFill/>
          <a:ln>
            <a:noFill/>
          </a:ln>
        </p:spPr>
      </p:sp>
      <p:sp>
        <p:nvSpPr>
          <p:cNvPr id="83" name="Google Shape;83;p11"/>
          <p:cNvSpPr/>
          <p:nvPr>
            <p:ph idx="3" type="pic"/>
          </p:nvPr>
        </p:nvSpPr>
        <p:spPr>
          <a:xfrm>
            <a:off x="6661963" y="1900275"/>
            <a:ext cx="1780500" cy="2140200"/>
          </a:xfrm>
          <a:prstGeom prst="roundRect">
            <a:avLst>
              <a:gd fmla="val 16667" name="adj"/>
            </a:avLst>
          </a:prstGeom>
          <a:noFill/>
          <a:ln>
            <a:noFill/>
          </a:ln>
        </p:spPr>
      </p:sp>
      <p:sp>
        <p:nvSpPr>
          <p:cNvPr id="84" name="Google Shape;84;p11"/>
          <p:cNvSpPr/>
          <p:nvPr>
            <p:ph idx="4" type="pic"/>
          </p:nvPr>
        </p:nvSpPr>
        <p:spPr>
          <a:xfrm>
            <a:off x="4675163" y="1900275"/>
            <a:ext cx="1780500" cy="2140200"/>
          </a:xfrm>
          <a:prstGeom prst="roundRect">
            <a:avLst>
              <a:gd fmla="val 16667" name="adj"/>
            </a:avLst>
          </a:prstGeom>
          <a:noFill/>
          <a:ln>
            <a:noFill/>
          </a:ln>
        </p:spPr>
      </p:sp>
      <p:sp>
        <p:nvSpPr>
          <p:cNvPr id="85" name="Google Shape;85;p11"/>
          <p:cNvSpPr/>
          <p:nvPr>
            <p:ph idx="5" type="pic"/>
          </p:nvPr>
        </p:nvSpPr>
        <p:spPr>
          <a:xfrm>
            <a:off x="2688350" y="1900275"/>
            <a:ext cx="1780500" cy="2140200"/>
          </a:xfrm>
          <a:prstGeom prst="roundRect">
            <a:avLst>
              <a:gd fmla="val 16667" name="adj"/>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6">
  <p:cSld name="CUSTOM_40">
    <p:spTree>
      <p:nvGrpSpPr>
        <p:cNvPr id="86" name="Shape 86"/>
        <p:cNvGrpSpPr/>
        <p:nvPr/>
      </p:nvGrpSpPr>
      <p:grpSpPr>
        <a:xfrm>
          <a:off x="0" y="0"/>
          <a:ext cx="0" cy="0"/>
          <a:chOff x="0" y="0"/>
          <a:chExt cx="0" cy="0"/>
        </a:xfrm>
      </p:grpSpPr>
      <p:sp>
        <p:nvSpPr>
          <p:cNvPr id="87" name="Google Shape;87;p12"/>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subTitle"/>
          </p:nvPr>
        </p:nvSpPr>
        <p:spPr>
          <a:xfrm>
            <a:off x="518500" y="1752972"/>
            <a:ext cx="3228300" cy="323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7">
  <p:cSld name="CUSTOM_41">
    <p:spTree>
      <p:nvGrpSpPr>
        <p:cNvPr id="89" name="Shape 89"/>
        <p:cNvGrpSpPr/>
        <p:nvPr/>
      </p:nvGrpSpPr>
      <p:grpSpPr>
        <a:xfrm>
          <a:off x="0" y="0"/>
          <a:ext cx="0" cy="0"/>
          <a:chOff x="0" y="0"/>
          <a:chExt cx="0" cy="0"/>
        </a:xfrm>
      </p:grpSpPr>
      <p:sp>
        <p:nvSpPr>
          <p:cNvPr id="90" name="Google Shape;90;p13"/>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13"/>
          <p:cNvSpPr txBox="1"/>
          <p:nvPr>
            <p:ph idx="1" type="subTitle"/>
          </p:nvPr>
        </p:nvSpPr>
        <p:spPr>
          <a:xfrm>
            <a:off x="4631950" y="839300"/>
            <a:ext cx="4028100" cy="251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8">
  <p:cSld name="CUSTOM_42">
    <p:spTree>
      <p:nvGrpSpPr>
        <p:cNvPr id="92" name="Shape 92"/>
        <p:cNvGrpSpPr/>
        <p:nvPr/>
      </p:nvGrpSpPr>
      <p:grpSpPr>
        <a:xfrm>
          <a:off x="0" y="0"/>
          <a:ext cx="0" cy="0"/>
          <a:chOff x="0" y="0"/>
          <a:chExt cx="0" cy="0"/>
        </a:xfrm>
      </p:grpSpPr>
      <p:sp>
        <p:nvSpPr>
          <p:cNvPr id="93" name="Google Shape;93;p14"/>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9">
  <p:cSld name="CUSTOM_43">
    <p:spTree>
      <p:nvGrpSpPr>
        <p:cNvPr id="94" name="Shape 94"/>
        <p:cNvGrpSpPr/>
        <p:nvPr/>
      </p:nvGrpSpPr>
      <p:grpSpPr>
        <a:xfrm>
          <a:off x="0" y="0"/>
          <a:ext cx="0" cy="0"/>
          <a:chOff x="0" y="0"/>
          <a:chExt cx="0" cy="0"/>
        </a:xfrm>
      </p:grpSpPr>
      <p:sp>
        <p:nvSpPr>
          <p:cNvPr id="95" name="Google Shape;95;p15"/>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0">
  <p:cSld name="CUSTOM_44">
    <p:spTree>
      <p:nvGrpSpPr>
        <p:cNvPr id="96" name="Shape 96"/>
        <p:cNvGrpSpPr/>
        <p:nvPr/>
      </p:nvGrpSpPr>
      <p:grpSpPr>
        <a:xfrm>
          <a:off x="0" y="0"/>
          <a:ext cx="0" cy="0"/>
          <a:chOff x="0" y="0"/>
          <a:chExt cx="0" cy="0"/>
        </a:xfrm>
      </p:grpSpPr>
      <p:sp>
        <p:nvSpPr>
          <p:cNvPr id="97" name="Google Shape;97;p16"/>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6"/>
          <p:cNvSpPr/>
          <p:nvPr>
            <p:ph idx="2" type="pic"/>
          </p:nvPr>
        </p:nvSpPr>
        <p:spPr>
          <a:xfrm>
            <a:off x="4599450" y="1124475"/>
            <a:ext cx="2480400" cy="2986800"/>
          </a:xfrm>
          <a:prstGeom prst="roundRect">
            <a:avLst>
              <a:gd fmla="val 16667" name="adj"/>
            </a:avLst>
          </a:prstGeom>
          <a:noFill/>
          <a:ln>
            <a:noFill/>
          </a:ln>
        </p:spPr>
      </p:sp>
      <p:sp>
        <p:nvSpPr>
          <p:cNvPr id="99" name="Google Shape;99;p16"/>
          <p:cNvSpPr/>
          <p:nvPr>
            <p:ph idx="3" type="pic"/>
          </p:nvPr>
        </p:nvSpPr>
        <p:spPr>
          <a:xfrm>
            <a:off x="7354325" y="2136500"/>
            <a:ext cx="942600" cy="1875300"/>
          </a:xfrm>
          <a:prstGeom prst="roundRect">
            <a:avLst>
              <a:gd fmla="val 16667" name="adj"/>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2">
  <p:cSld name="CUSTOM_45">
    <p:spTree>
      <p:nvGrpSpPr>
        <p:cNvPr id="100" name="Shape 100"/>
        <p:cNvGrpSpPr/>
        <p:nvPr/>
      </p:nvGrpSpPr>
      <p:grpSpPr>
        <a:xfrm>
          <a:off x="0" y="0"/>
          <a:ext cx="0" cy="0"/>
          <a:chOff x="0" y="0"/>
          <a:chExt cx="0" cy="0"/>
        </a:xfrm>
      </p:grpSpPr>
      <p:sp>
        <p:nvSpPr>
          <p:cNvPr id="101" name="Google Shape;101;p17"/>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17"/>
          <p:cNvSpPr txBox="1"/>
          <p:nvPr/>
        </p:nvSpPr>
        <p:spPr>
          <a:xfrm>
            <a:off x="4601322" y="908425"/>
            <a:ext cx="4018500" cy="6204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
        <p:nvSpPr>
          <p:cNvPr id="103" name="Google Shape;103;p17"/>
          <p:cNvSpPr/>
          <p:nvPr/>
        </p:nvSpPr>
        <p:spPr>
          <a:xfrm>
            <a:off x="593250" y="2077000"/>
            <a:ext cx="7957500" cy="2014200"/>
          </a:xfrm>
          <a:prstGeom prst="roundRect">
            <a:avLst>
              <a:gd fmla="val 16667" name="adj"/>
            </a:avLst>
          </a:prstGeom>
          <a:solidFill>
            <a:srgbClr val="DFDFD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lus Jakarta Sans"/>
              <a:ea typeface="Plus Jakarta Sans"/>
              <a:cs typeface="Plus Jakarta Sans"/>
              <a:sym typeface="Plus Jakarta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3">
  <p:cSld name="CUSTOM_46">
    <p:spTree>
      <p:nvGrpSpPr>
        <p:cNvPr id="104" name="Shape 104"/>
        <p:cNvGrpSpPr/>
        <p:nvPr/>
      </p:nvGrpSpPr>
      <p:grpSpPr>
        <a:xfrm>
          <a:off x="0" y="0"/>
          <a:ext cx="0" cy="0"/>
          <a:chOff x="0" y="0"/>
          <a:chExt cx="0" cy="0"/>
        </a:xfrm>
      </p:grpSpPr>
      <p:sp>
        <p:nvSpPr>
          <p:cNvPr id="105" name="Google Shape;105;p18"/>
          <p:cNvSpPr txBox="1"/>
          <p:nvPr>
            <p:ph type="title"/>
          </p:nvPr>
        </p:nvSpPr>
        <p:spPr>
          <a:xfrm>
            <a:off x="518500" y="768725"/>
            <a:ext cx="5337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4">
  <p:cSld name="CUSTOM_47">
    <p:spTree>
      <p:nvGrpSpPr>
        <p:cNvPr id="106" name="Shape 106"/>
        <p:cNvGrpSpPr/>
        <p:nvPr/>
      </p:nvGrpSpPr>
      <p:grpSpPr>
        <a:xfrm>
          <a:off x="0" y="0"/>
          <a:ext cx="0" cy="0"/>
          <a:chOff x="0" y="0"/>
          <a:chExt cx="0" cy="0"/>
        </a:xfrm>
      </p:grpSpPr>
      <p:sp>
        <p:nvSpPr>
          <p:cNvPr id="107" name="Google Shape;107;p19"/>
          <p:cNvSpPr txBox="1"/>
          <p:nvPr>
            <p:ph type="title"/>
          </p:nvPr>
        </p:nvSpPr>
        <p:spPr>
          <a:xfrm>
            <a:off x="518500" y="768725"/>
            <a:ext cx="54054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5">
  <p:cSld name="CUSTOM_48">
    <p:spTree>
      <p:nvGrpSpPr>
        <p:cNvPr id="108" name="Shape 108"/>
        <p:cNvGrpSpPr/>
        <p:nvPr/>
      </p:nvGrpSpPr>
      <p:grpSpPr>
        <a:xfrm>
          <a:off x="0" y="0"/>
          <a:ext cx="0" cy="0"/>
          <a:chOff x="0" y="0"/>
          <a:chExt cx="0" cy="0"/>
        </a:xfrm>
      </p:grpSpPr>
      <p:sp>
        <p:nvSpPr>
          <p:cNvPr id="109" name="Google Shape;109;p20"/>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6">
  <p:cSld name="CUSTOM_49">
    <p:spTree>
      <p:nvGrpSpPr>
        <p:cNvPr id="110" name="Shape 110"/>
        <p:cNvGrpSpPr/>
        <p:nvPr/>
      </p:nvGrpSpPr>
      <p:grpSpPr>
        <a:xfrm>
          <a:off x="0" y="0"/>
          <a:ext cx="0" cy="0"/>
          <a:chOff x="0" y="0"/>
          <a:chExt cx="0" cy="0"/>
        </a:xfrm>
      </p:grpSpPr>
      <p:sp>
        <p:nvSpPr>
          <p:cNvPr id="111" name="Google Shape;111;p21"/>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21"/>
          <p:cNvSpPr txBox="1"/>
          <p:nvPr/>
        </p:nvSpPr>
        <p:spPr>
          <a:xfrm>
            <a:off x="4564322" y="914200"/>
            <a:ext cx="4018500" cy="620400"/>
          </a:xfrm>
          <a:prstGeom prst="rect">
            <a:avLst/>
          </a:prstGeom>
          <a:noFill/>
          <a:ln>
            <a:noFill/>
          </a:ln>
        </p:spPr>
        <p:txBody>
          <a:bodyPr anchorCtr="0" anchor="ctr" bIns="91425" lIns="91425" spcFirstLastPara="1" rIns="91425" wrap="square" tIns="91425">
            <a:noAutofit/>
          </a:bodyPr>
          <a:lstStyle/>
          <a:p>
            <a:pPr indent="0" lvl="0" marL="0" rtl="0" algn="l">
              <a:lnSpc>
                <a:spcPct val="120000"/>
              </a:lnSpc>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7">
  <p:cSld name="CUSTOM_50">
    <p:spTree>
      <p:nvGrpSpPr>
        <p:cNvPr id="113" name="Shape 113"/>
        <p:cNvGrpSpPr/>
        <p:nvPr/>
      </p:nvGrpSpPr>
      <p:grpSpPr>
        <a:xfrm>
          <a:off x="0" y="0"/>
          <a:ext cx="0" cy="0"/>
          <a:chOff x="0" y="0"/>
          <a:chExt cx="0" cy="0"/>
        </a:xfrm>
      </p:grpSpPr>
      <p:sp>
        <p:nvSpPr>
          <p:cNvPr id="114" name="Google Shape;114;p22"/>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9">
  <p:cSld name="CUSTOM_51">
    <p:spTree>
      <p:nvGrpSpPr>
        <p:cNvPr id="115" name="Shape 115"/>
        <p:cNvGrpSpPr/>
        <p:nvPr/>
      </p:nvGrpSpPr>
      <p:grpSpPr>
        <a:xfrm>
          <a:off x="0" y="0"/>
          <a:ext cx="0" cy="0"/>
          <a:chOff x="0" y="0"/>
          <a:chExt cx="0" cy="0"/>
        </a:xfrm>
      </p:grpSpPr>
      <p:sp>
        <p:nvSpPr>
          <p:cNvPr id="116" name="Google Shape;116;p23"/>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0">
  <p:cSld name="CUSTOM_52">
    <p:spTree>
      <p:nvGrpSpPr>
        <p:cNvPr id="117" name="Shape 117"/>
        <p:cNvGrpSpPr/>
        <p:nvPr/>
      </p:nvGrpSpPr>
      <p:grpSpPr>
        <a:xfrm>
          <a:off x="0" y="0"/>
          <a:ext cx="0" cy="0"/>
          <a:chOff x="0" y="0"/>
          <a:chExt cx="0" cy="0"/>
        </a:xfrm>
      </p:grpSpPr>
      <p:sp>
        <p:nvSpPr>
          <p:cNvPr id="118" name="Google Shape;118;p24"/>
          <p:cNvSpPr txBox="1"/>
          <p:nvPr>
            <p:ph type="title"/>
          </p:nvPr>
        </p:nvSpPr>
        <p:spPr>
          <a:xfrm>
            <a:off x="518500" y="768725"/>
            <a:ext cx="34209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24"/>
          <p:cNvSpPr txBox="1"/>
          <p:nvPr>
            <p:ph idx="1" type="subTitle"/>
          </p:nvPr>
        </p:nvSpPr>
        <p:spPr>
          <a:xfrm>
            <a:off x="614800" y="1812650"/>
            <a:ext cx="3324600" cy="69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24"/>
          <p:cNvSpPr txBox="1"/>
          <p:nvPr/>
        </p:nvSpPr>
        <p:spPr>
          <a:xfrm>
            <a:off x="567100" y="2635250"/>
            <a:ext cx="3324600" cy="165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Plus Jakarta Sans"/>
              <a:ea typeface="Plus Jakarta Sans"/>
              <a:cs typeface="Plus Jakarta Sans"/>
              <a:sym typeface="Plus Jakarta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21">
  <p:cSld name="CUSTOM_53">
    <p:spTree>
      <p:nvGrpSpPr>
        <p:cNvPr id="121" name="Shape 121"/>
        <p:cNvGrpSpPr/>
        <p:nvPr/>
      </p:nvGrpSpPr>
      <p:grpSpPr>
        <a:xfrm>
          <a:off x="0" y="0"/>
          <a:ext cx="0" cy="0"/>
          <a:chOff x="0" y="0"/>
          <a:chExt cx="0" cy="0"/>
        </a:xfrm>
      </p:grpSpPr>
      <p:sp>
        <p:nvSpPr>
          <p:cNvPr id="122" name="Google Shape;122;p25"/>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 name="Google Shape;123;p25"/>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2">
  <p:cSld name="CUSTOM_18">
    <p:spTree>
      <p:nvGrpSpPr>
        <p:cNvPr id="124" name="Shape 124"/>
        <p:cNvGrpSpPr/>
        <p:nvPr/>
      </p:nvGrpSpPr>
      <p:grpSpPr>
        <a:xfrm>
          <a:off x="0" y="0"/>
          <a:ext cx="0" cy="0"/>
          <a:chOff x="0" y="0"/>
          <a:chExt cx="0" cy="0"/>
        </a:xfrm>
      </p:grpSpPr>
      <p:pic>
        <p:nvPicPr>
          <p:cNvPr id="125" name="Google Shape;125;p26" title="Lembar Kerja 4.png"/>
          <p:cNvPicPr preferRelativeResize="0"/>
          <p:nvPr/>
        </p:nvPicPr>
        <p:blipFill>
          <a:blip r:embed="rId2">
            <a:alphaModFix/>
          </a:blip>
          <a:stretch>
            <a:fillRect/>
          </a:stretch>
        </p:blipFill>
        <p:spPr>
          <a:xfrm>
            <a:off x="0" y="0"/>
            <a:ext cx="9136072" cy="5143501"/>
          </a:xfrm>
          <a:prstGeom prst="rect">
            <a:avLst/>
          </a:prstGeom>
          <a:noFill/>
          <a:ln>
            <a:noFill/>
          </a:ln>
        </p:spPr>
      </p:pic>
      <p:pic>
        <p:nvPicPr>
          <p:cNvPr id="126" name="Google Shape;126;p26" title="Footer-editable-05.png"/>
          <p:cNvPicPr preferRelativeResize="0"/>
          <p:nvPr/>
        </p:nvPicPr>
        <p:blipFill rotWithShape="1">
          <a:blip r:embed="rId3">
            <a:alphaModFix/>
          </a:blip>
          <a:srcRect b="86928" l="76861" r="3147" t="0"/>
          <a:stretch/>
        </p:blipFill>
        <p:spPr>
          <a:xfrm>
            <a:off x="7026101" y="0"/>
            <a:ext cx="1826550" cy="67234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p:cSld name="CUSTOM_29">
    <p:spTree>
      <p:nvGrpSpPr>
        <p:cNvPr id="127" name="Shape 127"/>
        <p:cNvGrpSpPr/>
        <p:nvPr/>
      </p:nvGrpSpPr>
      <p:grpSpPr>
        <a:xfrm>
          <a:off x="0" y="0"/>
          <a:ext cx="0" cy="0"/>
          <a:chOff x="0" y="0"/>
          <a:chExt cx="0" cy="0"/>
        </a:xfrm>
      </p:grpSpPr>
      <p:pic>
        <p:nvPicPr>
          <p:cNvPr id="128" name="Google Shape;128;p27" title="Lembar Kerja 2.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1">
  <p:cSld name="CUSTOM_27">
    <p:spTree>
      <p:nvGrpSpPr>
        <p:cNvPr id="129" name="Shape 129"/>
        <p:cNvGrpSpPr/>
        <p:nvPr/>
      </p:nvGrpSpPr>
      <p:grpSpPr>
        <a:xfrm>
          <a:off x="0" y="0"/>
          <a:ext cx="0" cy="0"/>
          <a:chOff x="0" y="0"/>
          <a:chExt cx="0" cy="0"/>
        </a:xfrm>
      </p:grpSpPr>
      <p:pic>
        <p:nvPicPr>
          <p:cNvPr id="130" name="Google Shape;130;p28" title="Lembar Kerja 1.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2">
  <p:cSld name="CUSTOM_26">
    <p:spTree>
      <p:nvGrpSpPr>
        <p:cNvPr id="131" name="Shape 131"/>
        <p:cNvGrpSpPr/>
        <p:nvPr/>
      </p:nvGrpSpPr>
      <p:grpSpPr>
        <a:xfrm>
          <a:off x="0" y="0"/>
          <a:ext cx="0" cy="0"/>
          <a:chOff x="0" y="0"/>
          <a:chExt cx="0" cy="0"/>
        </a:xfrm>
      </p:grpSpPr>
      <p:pic>
        <p:nvPicPr>
          <p:cNvPr id="132" name="Google Shape;132;p29" title="Lembar Kerja 3.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1">
  <p:cSld name="CUSTOM_24">
    <p:spTree>
      <p:nvGrpSpPr>
        <p:cNvPr id="133" name="Shape 133"/>
        <p:cNvGrpSpPr/>
        <p:nvPr/>
      </p:nvGrpSpPr>
      <p:grpSpPr>
        <a:xfrm>
          <a:off x="0" y="0"/>
          <a:ext cx="0" cy="0"/>
          <a:chOff x="0" y="0"/>
          <a:chExt cx="0" cy="0"/>
        </a:xfrm>
      </p:grpSpPr>
      <p:sp>
        <p:nvSpPr>
          <p:cNvPr id="134" name="Google Shape;134;p30"/>
          <p:cNvSpPr txBox="1"/>
          <p:nvPr>
            <p:ph type="title"/>
          </p:nvPr>
        </p:nvSpPr>
        <p:spPr>
          <a:xfrm>
            <a:off x="576500" y="929175"/>
            <a:ext cx="3138300" cy="836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5" name="Google Shape;135;p30"/>
          <p:cNvSpPr txBox="1"/>
          <p:nvPr>
            <p:ph idx="1" type="subTitle"/>
          </p:nvPr>
        </p:nvSpPr>
        <p:spPr>
          <a:xfrm>
            <a:off x="576500" y="1765575"/>
            <a:ext cx="3570000" cy="6384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36" name="Google Shape;136;p30" title="Lembar Kerja 7.png"/>
          <p:cNvPicPr preferRelativeResize="0"/>
          <p:nvPr/>
        </p:nvPicPr>
        <p:blipFill>
          <a:blip r:embed="rId2">
            <a:alphaModFix/>
          </a:blip>
          <a:stretch>
            <a:fillRect/>
          </a:stretch>
        </p:blipFill>
        <p:spPr>
          <a:xfrm>
            <a:off x="0" y="-2225"/>
            <a:ext cx="9144003" cy="5147946"/>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2">
  <p:cSld name="CUSTOM_25">
    <p:spTree>
      <p:nvGrpSpPr>
        <p:cNvPr id="137" name="Shape 137"/>
        <p:cNvGrpSpPr/>
        <p:nvPr/>
      </p:nvGrpSpPr>
      <p:grpSpPr>
        <a:xfrm>
          <a:off x="0" y="0"/>
          <a:ext cx="0" cy="0"/>
          <a:chOff x="0" y="0"/>
          <a:chExt cx="0" cy="0"/>
        </a:xfrm>
      </p:grpSpPr>
      <p:pic>
        <p:nvPicPr>
          <p:cNvPr id="138" name="Google Shape;138;p31" title="Lembar Kerja 6.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1">
  <p:cSld name="CUSTOM_30">
    <p:spTree>
      <p:nvGrpSpPr>
        <p:cNvPr id="139" name="Shape 139"/>
        <p:cNvGrpSpPr/>
        <p:nvPr/>
      </p:nvGrpSpPr>
      <p:grpSpPr>
        <a:xfrm>
          <a:off x="0" y="0"/>
          <a:ext cx="0" cy="0"/>
          <a:chOff x="0" y="0"/>
          <a:chExt cx="0" cy="0"/>
        </a:xfrm>
      </p:grpSpPr>
      <p:pic>
        <p:nvPicPr>
          <p:cNvPr id="140" name="Google Shape;140;p32" title="Lembar Kerja 5.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3">
  <p:cSld name="CUSTOM_34">
    <p:bg>
      <p:bgPr>
        <a:blipFill>
          <a:blip r:embed="rId2">
            <a:alphaModFix/>
          </a:blip>
          <a:stretch>
            <a:fillRect/>
          </a:stretch>
        </a:blipFill>
      </p:bgPr>
    </p:bg>
    <p:spTree>
      <p:nvGrpSpPr>
        <p:cNvPr id="141" name="Shape 141"/>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1">
  <p:cSld name="CUSTOM_54">
    <p:spTree>
      <p:nvGrpSpPr>
        <p:cNvPr id="142" name="Shape 142"/>
        <p:cNvGrpSpPr/>
        <p:nvPr/>
      </p:nvGrpSpPr>
      <p:grpSpPr>
        <a:xfrm>
          <a:off x="0" y="0"/>
          <a:ext cx="0" cy="0"/>
          <a:chOff x="0" y="0"/>
          <a:chExt cx="0" cy="0"/>
        </a:xfrm>
      </p:grpSpPr>
      <p:pic>
        <p:nvPicPr>
          <p:cNvPr id="143" name="Google Shape;143;p34" title="Lembar Kerja 1.png"/>
          <p:cNvPicPr preferRelativeResize="0"/>
          <p:nvPr/>
        </p:nvPicPr>
        <p:blipFill>
          <a:blip r:embed="rId2">
            <a:alphaModFix/>
          </a:blip>
          <a:stretch>
            <a:fillRect/>
          </a:stretch>
        </p:blipFill>
        <p:spPr>
          <a:xfrm>
            <a:off x="0" y="0"/>
            <a:ext cx="9136072"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Relationship Id="rId16" Type="http://schemas.openxmlformats.org/officeDocument/2006/relationships/slideLayout" Target="../slideLayouts/slideLayout13.xml"/><Relationship Id="rId17" Type="http://schemas.openxmlformats.org/officeDocument/2006/relationships/slideLayout" Target="../slideLayouts/slideLayout14.xml"/><Relationship Id="rId18" Type="http://schemas.openxmlformats.org/officeDocument/2006/relationships/slideLayout" Target="../slideLayouts/slideLayout15.xml"/><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 Id="rId23" Type="http://schemas.openxmlformats.org/officeDocument/2006/relationships/slideLayout" Target="../slideLayouts/slideLayout20.xml"/><Relationship Id="rId24" Type="http://schemas.openxmlformats.org/officeDocument/2006/relationships/slideLayout" Target="../slideLayouts/slideLayout21.xml"/><Relationship Id="rId25" Type="http://schemas.openxmlformats.org/officeDocument/2006/relationships/slideLayout" Target="../slideLayouts/slideLayout22.xml"/><Relationship Id="rId26" Type="http://schemas.openxmlformats.org/officeDocument/2006/relationships/slideLayout" Target="../slideLayouts/slideLayout23.xml"/><Relationship Id="rId27" Type="http://schemas.openxmlformats.org/officeDocument/2006/relationships/slideLayout" Target="../slideLayouts/slideLayout24.xml"/><Relationship Id="rId28" Type="http://schemas.openxmlformats.org/officeDocument/2006/relationships/slideLayout" Target="../slideLayouts/slideLayout25.xml"/><Relationship Id="rId29" Type="http://schemas.openxmlformats.org/officeDocument/2006/relationships/slideLayout" Target="../slideLayouts/slideLayout26.xml"/><Relationship Id="rId30" Type="http://schemas.openxmlformats.org/officeDocument/2006/relationships/slideLayout" Target="../slideLayouts/slideLayout27.xml"/><Relationship Id="rId31" Type="http://schemas.openxmlformats.org/officeDocument/2006/relationships/slideLayout" Target="../slideLayouts/slideLayout28.xml"/><Relationship Id="rId32" Type="http://schemas.openxmlformats.org/officeDocument/2006/relationships/slideLayout" Target="../slideLayouts/slideLayout29.xml"/><Relationship Id="rId33" Type="http://schemas.openxmlformats.org/officeDocument/2006/relationships/slideLayout" Target="../slideLayouts/slideLayout30.xml"/><Relationship Id="rId34" Type="http://schemas.openxmlformats.org/officeDocument/2006/relationships/slideLayout" Target="../slideLayouts/slideLayout31.xml"/><Relationship Id="rId35" Type="http://schemas.openxmlformats.org/officeDocument/2006/relationships/slideLayout" Target="../slideLayouts/slideLayout32.xml"/><Relationship Id="rId36" Type="http://schemas.openxmlformats.org/officeDocument/2006/relationships/slideLayout" Target="../slideLayouts/slideLayout33.xml"/><Relationship Id="rId3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pic>
        <p:nvPicPr>
          <p:cNvPr id="7" name="Google Shape;7;p1" title="Lembar Kerja 8.png"/>
          <p:cNvPicPr preferRelativeResize="0"/>
          <p:nvPr/>
        </p:nvPicPr>
        <p:blipFill>
          <a:blip r:embed="rId1">
            <a:alphaModFix/>
          </a:blip>
          <a:stretch>
            <a:fillRect/>
          </a:stretch>
        </p:blipFill>
        <p:spPr>
          <a:xfrm>
            <a:off x="0" y="0"/>
            <a:ext cx="9144003" cy="5147975"/>
          </a:xfrm>
          <a:prstGeom prst="rect">
            <a:avLst/>
          </a:prstGeom>
          <a:noFill/>
          <a:ln>
            <a:noFill/>
          </a:ln>
        </p:spPr>
      </p:pic>
      <p:pic>
        <p:nvPicPr>
          <p:cNvPr id="8" name="Google Shape;8;p1" title="Footer-editable-01.png"/>
          <p:cNvPicPr preferRelativeResize="0"/>
          <p:nvPr/>
        </p:nvPicPr>
        <p:blipFill>
          <a:blip r:embed="rId2">
            <a:alphaModFix/>
          </a:blip>
          <a:stretch>
            <a:fillRect/>
          </a:stretch>
        </p:blipFill>
        <p:spPr>
          <a:xfrm>
            <a:off x="3965" y="2238"/>
            <a:ext cx="9136072" cy="5143501"/>
          </a:xfrm>
          <a:prstGeom prst="rect">
            <a:avLst/>
          </a:prstGeom>
          <a:noFill/>
          <a:ln>
            <a:noFill/>
          </a:ln>
        </p:spPr>
      </p:pic>
      <p:pic>
        <p:nvPicPr>
          <p:cNvPr id="9" name="Google Shape;9;p1" title="Footer-editable-05.png"/>
          <p:cNvPicPr preferRelativeResize="0"/>
          <p:nvPr/>
        </p:nvPicPr>
        <p:blipFill rotWithShape="1">
          <a:blip r:embed="rId3">
            <a:alphaModFix/>
          </a:blip>
          <a:srcRect b="86928" l="76861" r="3147" t="0"/>
          <a:stretch/>
        </p:blipFill>
        <p:spPr>
          <a:xfrm>
            <a:off x="7026101" y="0"/>
            <a:ext cx="1826550" cy="67234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4"/>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1" r:id="rId17"/>
    <p:sldLayoutId id="2147483662" r:id="rId18"/>
    <p:sldLayoutId id="2147483663" r:id="rId19"/>
    <p:sldLayoutId id="2147483664" r:id="rId20"/>
    <p:sldLayoutId id="2147483665" r:id="rId21"/>
    <p:sldLayoutId id="2147483666" r:id="rId22"/>
    <p:sldLayoutId id="2147483667" r:id="rId23"/>
    <p:sldLayoutId id="2147483668" r:id="rId24"/>
    <p:sldLayoutId id="2147483669" r:id="rId25"/>
    <p:sldLayoutId id="2147483670" r:id="rId26"/>
    <p:sldLayoutId id="2147483671" r:id="rId27"/>
    <p:sldLayoutId id="2147483672" r:id="rId28"/>
    <p:sldLayoutId id="2147483673" r:id="rId29"/>
    <p:sldLayoutId id="2147483674" r:id="rId30"/>
    <p:sldLayoutId id="2147483675" r:id="rId31"/>
    <p:sldLayoutId id="2147483676" r:id="rId32"/>
    <p:sldLayoutId id="2147483677" r:id="rId33"/>
    <p:sldLayoutId id="2147483678" r:id="rId34"/>
    <p:sldLayoutId id="2147483679" r:id="rId35"/>
    <p:sldLayoutId id="2147483680" r:id="rId3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5"/>
          <p:cNvSpPr txBox="1"/>
          <p:nvPr/>
        </p:nvSpPr>
        <p:spPr>
          <a:xfrm>
            <a:off x="462375" y="1428950"/>
            <a:ext cx="7048200" cy="797100"/>
          </a:xfrm>
          <a:prstGeom prst="rect">
            <a:avLst/>
          </a:prstGeom>
          <a:noFill/>
          <a:ln>
            <a:noFill/>
          </a:ln>
        </p:spPr>
        <p:txBody>
          <a:bodyPr anchorCtr="0" anchor="t" bIns="115475" lIns="115475" spcFirstLastPara="1" rIns="115475" wrap="square" tIns="115475">
            <a:spAutoFit/>
          </a:bodyPr>
          <a:lstStyle/>
          <a:p>
            <a:pPr indent="0" lvl="0" marL="0" rtl="0" algn="l">
              <a:lnSpc>
                <a:spcPct val="115000"/>
              </a:lnSpc>
              <a:spcBef>
                <a:spcPts val="0"/>
              </a:spcBef>
              <a:spcAft>
                <a:spcPts val="0"/>
              </a:spcAft>
              <a:buNone/>
            </a:pPr>
            <a:r>
              <a:rPr lang="en-GB" sz="3400">
                <a:solidFill>
                  <a:srgbClr val="141414"/>
                </a:solidFill>
                <a:latin typeface="Plus Jakarta Sans ExtraBold"/>
                <a:ea typeface="Plus Jakarta Sans ExtraBold"/>
                <a:cs typeface="Plus Jakarta Sans ExtraBold"/>
                <a:sym typeface="Plus Jakarta Sans ExtraBold"/>
              </a:rPr>
              <a:t>Weekly Sales Review</a:t>
            </a:r>
            <a:endParaRPr sz="3664">
              <a:solidFill>
                <a:srgbClr val="141414"/>
              </a:solidFill>
              <a:latin typeface="Plus Jakarta Sans ExtraBold"/>
              <a:ea typeface="Plus Jakarta Sans ExtraBold"/>
              <a:cs typeface="Plus Jakarta Sans ExtraBold"/>
              <a:sym typeface="Plus Jakarta Sans ExtraBold"/>
            </a:endParaRPr>
          </a:p>
        </p:txBody>
      </p:sp>
      <p:sp>
        <p:nvSpPr>
          <p:cNvPr id="149" name="Google Shape;149;p35"/>
          <p:cNvSpPr txBox="1"/>
          <p:nvPr/>
        </p:nvSpPr>
        <p:spPr>
          <a:xfrm>
            <a:off x="2298900" y="180675"/>
            <a:ext cx="4546200" cy="42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GB" sz="1200">
                <a:solidFill>
                  <a:srgbClr val="141414"/>
                </a:solidFill>
                <a:latin typeface="Plus Jakarta Sans"/>
                <a:ea typeface="Plus Jakarta Sans"/>
                <a:cs typeface="Plus Jakarta Sans"/>
                <a:sym typeface="Plus Jakarta Sans"/>
              </a:rPr>
              <a:t>Smallholder &amp; Plantation teams</a:t>
            </a:r>
            <a:endParaRPr b="1" i="1">
              <a:solidFill>
                <a:srgbClr val="141414"/>
              </a:solidFill>
              <a:latin typeface="Plus Jakarta Sans"/>
              <a:ea typeface="Plus Jakarta Sans"/>
              <a:cs typeface="Plus Jakarta Sans"/>
              <a:sym typeface="Plus Jakarta Sans"/>
            </a:endParaRPr>
          </a:p>
        </p:txBody>
      </p:sp>
      <p:sp>
        <p:nvSpPr>
          <p:cNvPr id="150" name="Google Shape;150;p35"/>
          <p:cNvSpPr txBox="1"/>
          <p:nvPr/>
        </p:nvSpPr>
        <p:spPr>
          <a:xfrm>
            <a:off x="462375" y="2187295"/>
            <a:ext cx="7048200" cy="651300"/>
          </a:xfrm>
          <a:prstGeom prst="rect">
            <a:avLst/>
          </a:prstGeom>
          <a:noFill/>
          <a:ln>
            <a:noFill/>
          </a:ln>
        </p:spPr>
        <p:txBody>
          <a:bodyPr anchorCtr="0" anchor="t" bIns="115475" lIns="115475" spcFirstLastPara="1" rIns="115475" wrap="square" tIns="115475">
            <a:spAutoFit/>
          </a:bodyPr>
          <a:lstStyle/>
          <a:p>
            <a:pPr indent="0" lvl="0" marL="0" rtl="0" algn="l">
              <a:spcBef>
                <a:spcPts val="0"/>
              </a:spcBef>
              <a:spcAft>
                <a:spcPts val="0"/>
              </a:spcAft>
              <a:buNone/>
            </a:pPr>
            <a:r>
              <a:rPr b="1" lang="en-GB" sz="1200">
                <a:solidFill>
                  <a:schemeClr val="dk1"/>
                </a:solidFill>
                <a:latin typeface="Plus Jakarta Sans"/>
                <a:ea typeface="Plus Jakarta Sans"/>
                <a:cs typeface="Plus Jakarta Sans"/>
                <a:sym typeface="Plus Jakarta Sans"/>
              </a:rPr>
              <a:t>Week of 19–25 Oct 2026, compared with 12–18 Oct</a:t>
            </a:r>
            <a:endParaRPr b="1" sz="1516">
              <a:solidFill>
                <a:schemeClr val="dk1"/>
              </a:solidFill>
              <a:latin typeface="Plus Jakarta Sans"/>
              <a:ea typeface="Plus Jakarta Sans"/>
              <a:cs typeface="Plus Jakarta Sans"/>
              <a:sym typeface="Plus Jakarta Sans"/>
            </a:endParaRPr>
          </a:p>
          <a:p>
            <a:pPr indent="0" lvl="0" marL="0" rtl="0" algn="l">
              <a:spcBef>
                <a:spcPts val="0"/>
              </a:spcBef>
              <a:spcAft>
                <a:spcPts val="0"/>
              </a:spcAft>
              <a:buNone/>
            </a:pPr>
            <a:r>
              <a:rPr b="0" lang="en-GB" sz="744">
                <a:solidFill>
                  <a:schemeClr val="dk1"/>
                </a:solidFill>
                <a:latin typeface="Plus Jakarta Sans"/>
                <a:ea typeface="Plus Jakarta Sans"/>
                <a:cs typeface="Plus Jakarta Sans"/>
                <a:sym typeface="Plus Jakarta Sans"/>
              </a:rPr>
              <a:t>Sales exports, CRM success stories and rejection reasons · data to 24 Oct 2026</a:t>
            </a:r>
            <a:endParaRPr b="1" sz="1516">
              <a:solidFill>
                <a:schemeClr val="dk1"/>
              </a:solidFill>
              <a:latin typeface="Plus Jakarta Sans"/>
              <a:ea typeface="Plus Jakarta Sans"/>
              <a:cs typeface="Plus Jakarta Sans"/>
              <a:sym typeface="Plus Jakarta Sans"/>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Rp655M in sales (+58%), carried by a few big orders</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EXECUTIVE SUMMARY</a:t>
            </a:r>
          </a:p>
        </p:txBody>
      </p:sp>
      <p:sp>
        <p:nvSpPr>
          <p:cNvPr id="4" name="Rounded Rectangle 3"/>
          <p:cNvSpPr/>
          <p:nvPr/>
        </p:nvSpPr>
        <p:spPr>
          <a:xfrm>
            <a:off x="384048" y="987552"/>
            <a:ext cx="1993392" cy="786384"/>
          </a:xfrm>
          <a:prstGeom prst="roundRect">
            <a:avLst>
              <a:gd name="adj" fmla="val 6976"/>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1737360" cy="329184"/>
          </a:xfrm>
          <a:prstGeom prst="rect">
            <a:avLst/>
          </a:prstGeom>
          <a:noFill/>
        </p:spPr>
        <p:txBody>
          <a:bodyPr wrap="square" anchor="t" lIns="0" rIns="0" tIns="0" bIns="0">
            <a:spAutoFit/>
          </a:bodyPr>
          <a:lstStyle/>
          <a:p>
            <a:pPr algn="l"/>
            <a:r>
              <a:rPr sz="1700" b="1">
                <a:solidFill>
                  <a:srgbClr val="FFFFFF"/>
                </a:solidFill>
                <a:latin typeface="Plus Jakarta Sans ExtraBold"/>
              </a:rPr>
              <a:t>Rp655M</a:t>
            </a:r>
          </a:p>
        </p:txBody>
      </p:sp>
      <p:sp>
        <p:nvSpPr>
          <p:cNvPr id="6" name="TextBox 5"/>
          <p:cNvSpPr txBox="1"/>
          <p:nvPr/>
        </p:nvSpPr>
        <p:spPr>
          <a:xfrm>
            <a:off x="512064" y="1426464"/>
            <a:ext cx="1737360" cy="292607"/>
          </a:xfrm>
          <a:prstGeom prst="rect">
            <a:avLst/>
          </a:prstGeom>
          <a:noFill/>
        </p:spPr>
        <p:txBody>
          <a:bodyPr wrap="square" anchor="t" lIns="0" rIns="0" tIns="0" bIns="0">
            <a:spAutoFit/>
          </a:bodyPr>
          <a:lstStyle/>
          <a:p>
            <a:pPr algn="l"/>
            <a:r>
              <a:rPr sz="800" b="0">
                <a:solidFill>
                  <a:srgbClr val="FFFFFF"/>
                </a:solidFill>
                <a:latin typeface="Plus Jakarta Sans"/>
              </a:rPr>
              <a:t>Total sales, 19–25 Oct (▲ 58% from Rp415M)</a:t>
            </a:r>
          </a:p>
        </p:txBody>
      </p:sp>
      <p:sp>
        <p:nvSpPr>
          <p:cNvPr id="7" name="Rounded Rectangle 6"/>
          <p:cNvSpPr/>
          <p:nvPr/>
        </p:nvSpPr>
        <p:spPr>
          <a:xfrm>
            <a:off x="2487168" y="987552"/>
            <a:ext cx="1993392" cy="786384"/>
          </a:xfrm>
          <a:prstGeom prst="roundRect">
            <a:avLst>
              <a:gd name="adj" fmla="val 697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15184" y="1078992"/>
            <a:ext cx="1737360" cy="329184"/>
          </a:xfrm>
          <a:prstGeom prst="rect">
            <a:avLst/>
          </a:prstGeom>
          <a:noFill/>
        </p:spPr>
        <p:txBody>
          <a:bodyPr wrap="square" anchor="t" lIns="0" rIns="0" tIns="0" bIns="0">
            <a:spAutoFit/>
          </a:bodyPr>
          <a:lstStyle/>
          <a:p>
            <a:pPr algn="l"/>
            <a:r>
              <a:rPr sz="1700" b="1">
                <a:solidFill>
                  <a:srgbClr val="007200"/>
                </a:solidFill>
                <a:latin typeface="Plus Jakarta Sans ExtraBold"/>
              </a:rPr>
              <a:t>Rp515M</a:t>
            </a:r>
          </a:p>
        </p:txBody>
      </p:sp>
      <p:sp>
        <p:nvSpPr>
          <p:cNvPr id="9" name="TextBox 8"/>
          <p:cNvSpPr txBox="1"/>
          <p:nvPr/>
        </p:nvSpPr>
        <p:spPr>
          <a:xfrm>
            <a:off x="2615184" y="1426464"/>
            <a:ext cx="1737360" cy="292607"/>
          </a:xfrm>
          <a:prstGeom prst="rect">
            <a:avLst/>
          </a:prstGeom>
          <a:noFill/>
        </p:spPr>
        <p:txBody>
          <a:bodyPr wrap="square" anchor="t" lIns="0" rIns="0" tIns="0" bIns="0">
            <a:spAutoFit/>
          </a:bodyPr>
          <a:lstStyle/>
          <a:p>
            <a:pPr algn="l"/>
            <a:r>
              <a:rPr sz="800" b="0">
                <a:solidFill>
                  <a:srgbClr val="5C665C"/>
                </a:solidFill>
                <a:latin typeface="Plus Jakarta Sans"/>
              </a:rPr>
              <a:t>Smallholder, 11 orders (▲ 37%)</a:t>
            </a:r>
          </a:p>
        </p:txBody>
      </p:sp>
      <p:sp>
        <p:nvSpPr>
          <p:cNvPr id="10" name="Rounded Rectangle 9"/>
          <p:cNvSpPr/>
          <p:nvPr/>
        </p:nvSpPr>
        <p:spPr>
          <a:xfrm>
            <a:off x="4590288" y="987552"/>
            <a:ext cx="1993392" cy="786384"/>
          </a:xfrm>
          <a:prstGeom prst="roundRect">
            <a:avLst>
              <a:gd name="adj" fmla="val 697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3" y="1078992"/>
            <a:ext cx="1737360" cy="329184"/>
          </a:xfrm>
          <a:prstGeom prst="rect">
            <a:avLst/>
          </a:prstGeom>
          <a:noFill/>
        </p:spPr>
        <p:txBody>
          <a:bodyPr wrap="square" anchor="t" lIns="0" rIns="0" tIns="0" bIns="0">
            <a:spAutoFit/>
          </a:bodyPr>
          <a:lstStyle/>
          <a:p>
            <a:pPr algn="l"/>
            <a:r>
              <a:rPr sz="1700" b="1">
                <a:solidFill>
                  <a:srgbClr val="007200"/>
                </a:solidFill>
                <a:latin typeface="Plus Jakarta Sans ExtraBold"/>
              </a:rPr>
              <a:t>Rp140M</a:t>
            </a:r>
          </a:p>
        </p:txBody>
      </p:sp>
      <p:sp>
        <p:nvSpPr>
          <p:cNvPr id="12" name="TextBox 11"/>
          <p:cNvSpPr txBox="1"/>
          <p:nvPr/>
        </p:nvSpPr>
        <p:spPr>
          <a:xfrm>
            <a:off x="4718303" y="1426464"/>
            <a:ext cx="1737360" cy="292607"/>
          </a:xfrm>
          <a:prstGeom prst="rect">
            <a:avLst/>
          </a:prstGeom>
          <a:noFill/>
        </p:spPr>
        <p:txBody>
          <a:bodyPr wrap="square" anchor="t" lIns="0" rIns="0" tIns="0" bIns="0">
            <a:spAutoFit/>
          </a:bodyPr>
          <a:lstStyle/>
          <a:p>
            <a:pPr algn="l"/>
            <a:r>
              <a:rPr sz="800" b="0">
                <a:solidFill>
                  <a:srgbClr val="5C665C"/>
                </a:solidFill>
                <a:latin typeface="Plus Jakarta Sans"/>
              </a:rPr>
              <a:t>Plantation, 9 orders (▲ 259%)</a:t>
            </a:r>
          </a:p>
        </p:txBody>
      </p:sp>
      <p:sp>
        <p:nvSpPr>
          <p:cNvPr id="13" name="Rounded Rectangle 12"/>
          <p:cNvSpPr/>
          <p:nvPr/>
        </p:nvSpPr>
        <p:spPr>
          <a:xfrm>
            <a:off x="6693408" y="987552"/>
            <a:ext cx="1993392" cy="786384"/>
          </a:xfrm>
          <a:prstGeom prst="roundRect">
            <a:avLst>
              <a:gd name="adj" fmla="val 697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21424" y="1078992"/>
            <a:ext cx="1737360" cy="329184"/>
          </a:xfrm>
          <a:prstGeom prst="rect">
            <a:avLst/>
          </a:prstGeom>
          <a:noFill/>
        </p:spPr>
        <p:txBody>
          <a:bodyPr wrap="square" anchor="t" lIns="0" rIns="0" tIns="0" bIns="0">
            <a:spAutoFit/>
          </a:bodyPr>
          <a:lstStyle/>
          <a:p>
            <a:pPr algn="l"/>
            <a:r>
              <a:rPr sz="1700" b="1">
                <a:solidFill>
                  <a:srgbClr val="007200"/>
                </a:solidFill>
                <a:latin typeface="Plus Jakarta Sans ExtraBold"/>
              </a:rPr>
              <a:t>13%</a:t>
            </a:r>
          </a:p>
        </p:txBody>
      </p:sp>
      <p:sp>
        <p:nvSpPr>
          <p:cNvPr id="15" name="TextBox 14"/>
          <p:cNvSpPr txBox="1"/>
          <p:nvPr/>
        </p:nvSpPr>
        <p:spPr>
          <a:xfrm>
            <a:off x="6821424" y="1426464"/>
            <a:ext cx="1737360" cy="292607"/>
          </a:xfrm>
          <a:prstGeom prst="rect">
            <a:avLst/>
          </a:prstGeom>
          <a:noFill/>
        </p:spPr>
        <p:txBody>
          <a:bodyPr wrap="square" anchor="t" lIns="0" rIns="0" tIns="0" bIns="0">
            <a:spAutoFit/>
          </a:bodyPr>
          <a:lstStyle/>
          <a:p>
            <a:pPr algn="l"/>
            <a:r>
              <a:rPr sz="800" b="0">
                <a:solidFill>
                  <a:srgbClr val="5C665C"/>
                </a:solidFill>
                <a:latin typeface="Plus Jakarta Sans"/>
              </a:rPr>
              <a:t>of sales has a matching CRM success story</a:t>
            </a:r>
          </a:p>
        </p:txBody>
      </p:sp>
      <p:sp>
        <p:nvSpPr>
          <p:cNvPr id="16" name="Rectangle 15"/>
          <p:cNvSpPr/>
          <p:nvPr/>
        </p:nvSpPr>
        <p:spPr>
          <a:xfrm>
            <a:off x="384048" y="1975104"/>
            <a:ext cx="91440" cy="91440"/>
          </a:xfrm>
          <a:prstGeom prst="rect">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1920240"/>
            <a:ext cx="5120640" cy="640080"/>
          </a:xfrm>
          <a:prstGeom prst="rect">
            <a:avLst/>
          </a:prstGeom>
          <a:noFill/>
        </p:spPr>
        <p:txBody>
          <a:bodyPr wrap="square" anchor="t" lIns="0" rIns="0" tIns="0" bIns="0">
            <a:spAutoFit/>
          </a:bodyPr>
          <a:lstStyle/>
          <a:p>
            <a:pPr algn="l">
              <a:spcAft>
                <a:spcPts val="100"/>
              </a:spcAft>
            </a:pPr>
            <a:r>
              <a:rPr sz="880" b="1">
                <a:solidFill>
                  <a:srgbClr val="141414"/>
                </a:solidFill>
                <a:latin typeface="Plus Jakarta Sans"/>
              </a:rPr>
              <a:t>Smallholder rode on two wholesale KCL orders.</a:t>
            </a:r>
          </a:p>
          <a:p>
            <a:pPr algn="l">
              <a:spcAft>
                <a:spcPts val="100"/>
              </a:spcAft>
            </a:pPr>
            <a:r>
              <a:rPr sz="880" b="0">
                <a:solidFill>
                  <a:srgbClr val="5C665C"/>
                </a:solidFill>
                <a:latin typeface="Plus Jakarta Sans"/>
              </a:rPr>
              <a:t>Rp357M of Rp515M (69%); orders fell 25 → 11. Without each week's largest order, sales are down 7%.</a:t>
            </a:r>
          </a:p>
        </p:txBody>
      </p:sp>
      <p:sp>
        <p:nvSpPr>
          <p:cNvPr id="18" name="Rectangle 17"/>
          <p:cNvSpPr/>
          <p:nvPr/>
        </p:nvSpPr>
        <p:spPr>
          <a:xfrm>
            <a:off x="384048" y="2633472"/>
            <a:ext cx="91440" cy="91440"/>
          </a:xfrm>
          <a:prstGeom prst="rect">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2578608"/>
            <a:ext cx="5120640" cy="640080"/>
          </a:xfrm>
          <a:prstGeom prst="rect">
            <a:avLst/>
          </a:prstGeom>
          <a:noFill/>
        </p:spPr>
        <p:txBody>
          <a:bodyPr wrap="square" anchor="t" lIns="0" rIns="0" tIns="0" bIns="0">
            <a:spAutoFit/>
          </a:bodyPr>
          <a:lstStyle/>
          <a:p>
            <a:pPr algn="l">
              <a:spcAft>
                <a:spcPts val="100"/>
              </a:spcAft>
            </a:pPr>
            <a:r>
              <a:rPr sz="880" b="1">
                <a:solidFill>
                  <a:srgbClr val="141414"/>
                </a:solidFill>
                <a:latin typeface="Plus Jakarta Sans"/>
              </a:rPr>
              <a:t>77% of Smallholder “rejections” are TikTok live viewers.</a:t>
            </a:r>
          </a:p>
          <a:p>
            <a:pPr algn="l">
              <a:spcAft>
                <a:spcPts val="100"/>
              </a:spcAft>
            </a:pPr>
            <a:r>
              <a:rPr sz="880" b="0">
                <a:solidFill>
                  <a:srgbClr val="5C665C"/>
                </a:solidFill>
                <a:latin typeface="Plus Jakarta Sans"/>
              </a:rPr>
              <a:t>218 of 284 entries are accounts that joined a live, with no phone number. 58 are real leads.</a:t>
            </a:r>
          </a:p>
        </p:txBody>
      </p:sp>
      <p:sp>
        <p:nvSpPr>
          <p:cNvPr id="20" name="Rectangle 19"/>
          <p:cNvSpPr/>
          <p:nvPr/>
        </p:nvSpPr>
        <p:spPr>
          <a:xfrm>
            <a:off x="384048" y="3291840"/>
            <a:ext cx="91440" cy="91440"/>
          </a:xfrm>
          <a:prstGeom prst="rect">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236976"/>
            <a:ext cx="5120640" cy="640080"/>
          </a:xfrm>
          <a:prstGeom prst="rect">
            <a:avLst/>
          </a:prstGeom>
          <a:noFill/>
        </p:spPr>
        <p:txBody>
          <a:bodyPr wrap="square" anchor="t" lIns="0" rIns="0" tIns="0" bIns="0">
            <a:spAutoFit/>
          </a:bodyPr>
          <a:lstStyle/>
          <a:p>
            <a:pPr algn="l">
              <a:spcAft>
                <a:spcPts val="100"/>
              </a:spcAft>
            </a:pPr>
            <a:r>
              <a:rPr sz="880" b="1">
                <a:solidFill>
                  <a:srgbClr val="141414"/>
                </a:solidFill>
                <a:latin typeface="Plus Jakarta Sans"/>
              </a:rPr>
              <a:t>Real leads named Rp111M and ~36 t of demand.</a:t>
            </a:r>
          </a:p>
          <a:p>
            <a:pPr algn="l">
              <a:spcAft>
                <a:spcPts val="100"/>
              </a:spcAft>
            </a:pPr>
            <a:r>
              <a:rPr sz="880" b="0">
                <a:solidFill>
                  <a:srgbClr val="5C665C"/>
                </a:solidFill>
                <a:latin typeface="Plus Jakarta Sans"/>
              </a:rPr>
              <a:t>2 leads logged a potential sales value; 5 stated a volume. Payment terms, mobile-shop routes and shipping cost hold them back.</a:t>
            </a:r>
          </a:p>
        </p:txBody>
      </p:sp>
      <p:sp>
        <p:nvSpPr>
          <p:cNvPr id="22" name="Rectangle 21"/>
          <p:cNvSpPr/>
          <p:nvPr/>
        </p:nvSpPr>
        <p:spPr>
          <a:xfrm>
            <a:off x="384048" y="3950207"/>
            <a:ext cx="91440" cy="91440"/>
          </a:xfrm>
          <a:prstGeom prst="rect">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3895344"/>
            <a:ext cx="5120640" cy="640080"/>
          </a:xfrm>
          <a:prstGeom prst="rect">
            <a:avLst/>
          </a:prstGeom>
          <a:noFill/>
        </p:spPr>
        <p:txBody>
          <a:bodyPr wrap="square" anchor="t" lIns="0" rIns="0" tIns="0" bIns="0">
            <a:spAutoFit/>
          </a:bodyPr>
          <a:lstStyle/>
          <a:p>
            <a:pPr algn="l">
              <a:spcAft>
                <a:spcPts val="100"/>
              </a:spcAft>
            </a:pPr>
            <a:r>
              <a:rPr sz="880" b="1">
                <a:solidFill>
                  <a:srgbClr val="141414"/>
                </a:solidFill>
                <a:latin typeface="Plus Jakarta Sans"/>
              </a:rPr>
              <a:t>Plantation: Topaz seeds are 83% of sales; CRM can't explain it.</a:t>
            </a:r>
          </a:p>
          <a:p>
            <a:pPr algn="l">
              <a:spcAft>
                <a:spcPts val="100"/>
              </a:spcAft>
            </a:pPr>
            <a:r>
              <a:rPr sz="880" b="0">
                <a:solidFill>
                  <a:srgbClr val="5C665C"/>
                </a:solidFill>
                <a:latin typeface="Plus Jakarta Sans"/>
              </a:rPr>
              <a:t>One buyer placed two identical Rp47.5M orders. All 96 rejection entries carry one templated reason and no potential.</a:t>
            </a:r>
          </a:p>
        </p:txBody>
      </p:sp>
      <p:sp>
        <p:nvSpPr>
          <p:cNvPr id="24" name="Rounded Rectangle 23"/>
          <p:cNvSpPr/>
          <p:nvPr/>
        </p:nvSpPr>
        <p:spPr>
          <a:xfrm>
            <a:off x="5897880" y="1901952"/>
            <a:ext cx="2788920" cy="2633472"/>
          </a:xfrm>
          <a:prstGeom prst="roundRect">
            <a:avLst>
              <a:gd name="adj" fmla="val 2083"/>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80760" y="2029968"/>
            <a:ext cx="2468880" cy="182880"/>
          </a:xfrm>
          <a:prstGeom prst="rect">
            <a:avLst/>
          </a:prstGeom>
          <a:noFill/>
        </p:spPr>
        <p:txBody>
          <a:bodyPr wrap="square" anchor="t" lIns="0" rIns="0" tIns="0" bIns="0">
            <a:spAutoFit/>
          </a:bodyPr>
          <a:lstStyle/>
          <a:p>
            <a:pPr algn="l"/>
            <a:r>
              <a:rPr sz="750" b="1">
                <a:solidFill>
                  <a:srgbClr val="FCD102"/>
                </a:solidFill>
                <a:latin typeface="Plus Jakarta Sans"/>
              </a:rPr>
              <a:t>BOTTOM LINE</a:t>
            </a:r>
          </a:p>
        </p:txBody>
      </p:sp>
      <p:sp>
        <p:nvSpPr>
          <p:cNvPr id="26" name="TextBox 25"/>
          <p:cNvSpPr txBox="1"/>
          <p:nvPr/>
        </p:nvSpPr>
        <p:spPr>
          <a:xfrm>
            <a:off x="6080760" y="2249424"/>
            <a:ext cx="2468880" cy="1188720"/>
          </a:xfrm>
          <a:prstGeom prst="rect">
            <a:avLst/>
          </a:prstGeom>
          <a:noFill/>
        </p:spPr>
        <p:txBody>
          <a:bodyPr wrap="square" anchor="t" lIns="0" rIns="0" tIns="0" bIns="0">
            <a:spAutoFit/>
          </a:bodyPr>
          <a:lstStyle/>
          <a:p>
            <a:pPr algn="l"/>
            <a:r>
              <a:rPr sz="1050" b="1">
                <a:solidFill>
                  <a:srgbClr val="FFFFFF"/>
                </a:solidFill>
                <a:latin typeface="Plus Jakarta Sans"/>
              </a:rPr>
              <a:t>This week's sales came from a few large orders the CRM never saw. The pipeline logged this week is thin: work the 7 leads with named volume and stop logging live viewers as leads.</a:t>
            </a:r>
          </a:p>
        </p:txBody>
      </p:sp>
      <p:sp>
        <p:nvSpPr>
          <p:cNvPr id="27" name="TextBox 26"/>
          <p:cNvSpPr txBox="1"/>
          <p:nvPr/>
        </p:nvSpPr>
        <p:spPr>
          <a:xfrm>
            <a:off x="6080760" y="3611880"/>
            <a:ext cx="2468880" cy="822960"/>
          </a:xfrm>
          <a:prstGeom prst="rect">
            <a:avLst/>
          </a:prstGeom>
          <a:noFill/>
        </p:spPr>
        <p:txBody>
          <a:bodyPr wrap="square" anchor="t" lIns="0" rIns="0" tIns="0" bIns="0">
            <a:spAutoFit/>
          </a:bodyPr>
          <a:lstStyle/>
          <a:p>
            <a:pPr algn="l"/>
            <a:r>
              <a:rPr sz="800" b="0">
                <a:solidFill>
                  <a:srgbClr val="E6F2E6"/>
                </a:solidFill>
                <a:latin typeface="Plus Jakarta Sans"/>
              </a:rPr>
              <a:t>Collect Rp179M still unpaid on 3 Smallholder orders, and check the duplicate Rp47.5M Topaz order in Plantation.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Smallholder ▲ 37% to Rp515M; one order is 52% of it</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SMALLHOLDER · SALES VS THE WEEK BEFORE</a:t>
            </a:r>
          </a:p>
        </p:txBody>
      </p:sp>
      <p:sp>
        <p:nvSpPr>
          <p:cNvPr id="4" name="Rounded Rectangle 3"/>
          <p:cNvSpPr/>
          <p:nvPr/>
        </p:nvSpPr>
        <p:spPr>
          <a:xfrm>
            <a:off x="384048" y="987552"/>
            <a:ext cx="4206240" cy="2514600"/>
          </a:xfrm>
          <a:prstGeom prst="roundRect">
            <a:avLst>
              <a:gd name="adj" fmla="val 2181"/>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3950207" cy="201168"/>
          </a:xfrm>
          <a:prstGeom prst="rect">
            <a:avLst/>
          </a:prstGeom>
          <a:noFill/>
        </p:spPr>
        <p:txBody>
          <a:bodyPr wrap="square" anchor="t" lIns="0" rIns="0" tIns="0" bIns="0">
            <a:spAutoFit/>
          </a:bodyPr>
          <a:lstStyle/>
          <a:p>
            <a:pPr algn="l"/>
            <a:r>
              <a:rPr sz="1000" b="1">
                <a:solidFill>
                  <a:srgbClr val="141414"/>
                </a:solidFill>
                <a:latin typeface="Plus Jakarta Sans"/>
              </a:rPr>
              <a:t>Week of 19 Oct vs week of 12 Oct</a:t>
            </a:r>
          </a:p>
        </p:txBody>
      </p:sp>
      <p:sp>
        <p:nvSpPr>
          <p:cNvPr id="6" name="TextBox 5"/>
          <p:cNvSpPr txBox="1"/>
          <p:nvPr/>
        </p:nvSpPr>
        <p:spPr>
          <a:xfrm>
            <a:off x="512064" y="1271016"/>
            <a:ext cx="3950207" cy="182880"/>
          </a:xfrm>
          <a:prstGeom prst="rect">
            <a:avLst/>
          </a:prstGeom>
          <a:noFill/>
        </p:spPr>
        <p:txBody>
          <a:bodyPr wrap="square" anchor="t" lIns="0" rIns="0" tIns="0" bIns="0">
            <a:spAutoFit/>
          </a:bodyPr>
          <a:lstStyle/>
          <a:p>
            <a:pPr algn="l"/>
            <a:r>
              <a:rPr sz="750" b="0">
                <a:solidFill>
                  <a:srgbClr val="5C665C"/>
                </a:solidFill>
                <a:latin typeface="Plus Jakarta Sans"/>
              </a:rPr>
              <a:t>Each pair scaled on its own</a:t>
            </a:r>
          </a:p>
        </p:txBody>
      </p:sp>
      <p:sp>
        <p:nvSpPr>
          <p:cNvPr id="7" name="Rectangle 6"/>
          <p:cNvSpPr/>
          <p:nvPr/>
        </p:nvSpPr>
        <p:spPr>
          <a:xfrm>
            <a:off x="715518" y="2204247"/>
            <a:ext cx="291465" cy="923000"/>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6918" y="2021367"/>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Rp376M</a:t>
            </a:r>
          </a:p>
        </p:txBody>
      </p:sp>
      <p:sp>
        <p:nvSpPr>
          <p:cNvPr id="9" name="Rectangle 8"/>
          <p:cNvSpPr/>
          <p:nvPr/>
        </p:nvSpPr>
        <p:spPr>
          <a:xfrm>
            <a:off x="1061847" y="1865376"/>
            <a:ext cx="291465" cy="126187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247" y="1682496"/>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Rp515M</a:t>
            </a:r>
          </a:p>
        </p:txBody>
      </p:sp>
      <p:sp>
        <p:nvSpPr>
          <p:cNvPr id="11" name="TextBox 10"/>
          <p:cNvSpPr txBox="1"/>
          <p:nvPr/>
        </p:nvSpPr>
        <p:spPr>
          <a:xfrm>
            <a:off x="548640" y="3172968"/>
            <a:ext cx="971550" cy="164592"/>
          </a:xfrm>
          <a:prstGeom prst="rect">
            <a:avLst/>
          </a:prstGeom>
          <a:noFill/>
        </p:spPr>
        <p:txBody>
          <a:bodyPr wrap="square" anchor="t" lIns="0" rIns="0" tIns="0" bIns="0">
            <a:spAutoFit/>
          </a:bodyPr>
          <a:lstStyle/>
          <a:p>
            <a:pPr algn="ctr"/>
            <a:r>
              <a:rPr sz="800" b="0">
                <a:solidFill>
                  <a:srgbClr val="5C665C"/>
                </a:solidFill>
                <a:latin typeface="Plus Jakarta Sans"/>
              </a:rPr>
              <a:t>Sales</a:t>
            </a:r>
          </a:p>
        </p:txBody>
      </p:sp>
      <p:sp>
        <p:nvSpPr>
          <p:cNvPr id="12" name="TextBox 11"/>
          <p:cNvSpPr txBox="1"/>
          <p:nvPr/>
        </p:nvSpPr>
        <p:spPr>
          <a:xfrm>
            <a:off x="548640" y="3310128"/>
            <a:ext cx="971550" cy="146304"/>
          </a:xfrm>
          <a:prstGeom prst="rect">
            <a:avLst/>
          </a:prstGeom>
          <a:noFill/>
        </p:spPr>
        <p:txBody>
          <a:bodyPr wrap="square" anchor="t" lIns="0" rIns="0" tIns="0" bIns="0">
            <a:spAutoFit/>
          </a:bodyPr>
          <a:lstStyle/>
          <a:p>
            <a:pPr algn="ctr"/>
            <a:r>
              <a:rPr sz="750" b="1">
                <a:solidFill>
                  <a:srgbClr val="007200"/>
                </a:solidFill>
                <a:latin typeface="Plus Jakarta Sans"/>
              </a:rPr>
              <a:t>▲ 37%</a:t>
            </a:r>
          </a:p>
        </p:txBody>
      </p:sp>
      <p:sp>
        <p:nvSpPr>
          <p:cNvPr id="13" name="Rectangle 12"/>
          <p:cNvSpPr/>
          <p:nvPr/>
        </p:nvSpPr>
        <p:spPr>
          <a:xfrm>
            <a:off x="1687068" y="1865376"/>
            <a:ext cx="291465" cy="1261872"/>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58468" y="1682496"/>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25</a:t>
            </a:r>
          </a:p>
        </p:txBody>
      </p:sp>
      <p:sp>
        <p:nvSpPr>
          <p:cNvPr id="15" name="Rectangle 14"/>
          <p:cNvSpPr/>
          <p:nvPr/>
        </p:nvSpPr>
        <p:spPr>
          <a:xfrm>
            <a:off x="2033397" y="2572024"/>
            <a:ext cx="291465" cy="555223"/>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04797" y="2389144"/>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11</a:t>
            </a:r>
          </a:p>
        </p:txBody>
      </p:sp>
      <p:sp>
        <p:nvSpPr>
          <p:cNvPr id="17" name="TextBox 16"/>
          <p:cNvSpPr txBox="1"/>
          <p:nvPr/>
        </p:nvSpPr>
        <p:spPr>
          <a:xfrm>
            <a:off x="1520190" y="3172968"/>
            <a:ext cx="971550" cy="164592"/>
          </a:xfrm>
          <a:prstGeom prst="rect">
            <a:avLst/>
          </a:prstGeom>
          <a:noFill/>
        </p:spPr>
        <p:txBody>
          <a:bodyPr wrap="square" anchor="t" lIns="0" rIns="0" tIns="0" bIns="0">
            <a:spAutoFit/>
          </a:bodyPr>
          <a:lstStyle/>
          <a:p>
            <a:pPr algn="ctr"/>
            <a:r>
              <a:rPr sz="800" b="0">
                <a:solidFill>
                  <a:srgbClr val="5C665C"/>
                </a:solidFill>
                <a:latin typeface="Plus Jakarta Sans"/>
              </a:rPr>
              <a:t>Orders</a:t>
            </a:r>
          </a:p>
        </p:txBody>
      </p:sp>
      <p:sp>
        <p:nvSpPr>
          <p:cNvPr id="18" name="TextBox 17"/>
          <p:cNvSpPr txBox="1"/>
          <p:nvPr/>
        </p:nvSpPr>
        <p:spPr>
          <a:xfrm>
            <a:off x="1520190" y="3310128"/>
            <a:ext cx="971550" cy="146304"/>
          </a:xfrm>
          <a:prstGeom prst="rect">
            <a:avLst/>
          </a:prstGeom>
          <a:noFill/>
        </p:spPr>
        <p:txBody>
          <a:bodyPr wrap="square" anchor="t" lIns="0" rIns="0" tIns="0" bIns="0">
            <a:spAutoFit/>
          </a:bodyPr>
          <a:lstStyle/>
          <a:p>
            <a:pPr algn="ctr"/>
            <a:r>
              <a:rPr sz="750" b="1">
                <a:solidFill>
                  <a:srgbClr val="B23A3A"/>
                </a:solidFill>
                <a:latin typeface="Plus Jakarta Sans"/>
              </a:rPr>
              <a:t>▼ 56%</a:t>
            </a:r>
          </a:p>
        </p:txBody>
      </p:sp>
      <p:sp>
        <p:nvSpPr>
          <p:cNvPr id="19" name="Rectangle 18"/>
          <p:cNvSpPr/>
          <p:nvPr/>
        </p:nvSpPr>
        <p:spPr>
          <a:xfrm>
            <a:off x="2658618" y="1865376"/>
            <a:ext cx="291465" cy="1261872"/>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30018" y="1682496"/>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24</a:t>
            </a:r>
          </a:p>
        </p:txBody>
      </p:sp>
      <p:sp>
        <p:nvSpPr>
          <p:cNvPr id="21" name="Rectangle 20"/>
          <p:cNvSpPr/>
          <p:nvPr/>
        </p:nvSpPr>
        <p:spPr>
          <a:xfrm>
            <a:off x="3004947" y="2601468"/>
            <a:ext cx="291465" cy="52578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776347" y="2418588"/>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10</a:t>
            </a:r>
          </a:p>
        </p:txBody>
      </p:sp>
      <p:sp>
        <p:nvSpPr>
          <p:cNvPr id="23" name="TextBox 22"/>
          <p:cNvSpPr txBox="1"/>
          <p:nvPr/>
        </p:nvSpPr>
        <p:spPr>
          <a:xfrm>
            <a:off x="2491740" y="3172968"/>
            <a:ext cx="971550" cy="164592"/>
          </a:xfrm>
          <a:prstGeom prst="rect">
            <a:avLst/>
          </a:prstGeom>
          <a:noFill/>
        </p:spPr>
        <p:txBody>
          <a:bodyPr wrap="square" anchor="t" lIns="0" rIns="0" tIns="0" bIns="0">
            <a:spAutoFit/>
          </a:bodyPr>
          <a:lstStyle/>
          <a:p>
            <a:pPr algn="ctr"/>
            <a:r>
              <a:rPr sz="800" b="0">
                <a:solidFill>
                  <a:srgbClr val="5C665C"/>
                </a:solidFill>
                <a:latin typeface="Plus Jakarta Sans"/>
              </a:rPr>
              <a:t>Customers</a:t>
            </a:r>
          </a:p>
        </p:txBody>
      </p:sp>
      <p:sp>
        <p:nvSpPr>
          <p:cNvPr id="24" name="TextBox 23"/>
          <p:cNvSpPr txBox="1"/>
          <p:nvPr/>
        </p:nvSpPr>
        <p:spPr>
          <a:xfrm>
            <a:off x="2491740" y="3310128"/>
            <a:ext cx="971550" cy="146304"/>
          </a:xfrm>
          <a:prstGeom prst="rect">
            <a:avLst/>
          </a:prstGeom>
          <a:noFill/>
        </p:spPr>
        <p:txBody>
          <a:bodyPr wrap="square" anchor="t" lIns="0" rIns="0" tIns="0" bIns="0">
            <a:spAutoFit/>
          </a:bodyPr>
          <a:lstStyle/>
          <a:p>
            <a:pPr algn="ctr"/>
            <a:r>
              <a:rPr sz="750" b="1">
                <a:solidFill>
                  <a:srgbClr val="B23A3A"/>
                </a:solidFill>
                <a:latin typeface="Plus Jakarta Sans"/>
              </a:rPr>
              <a:t>▼ 58%</a:t>
            </a:r>
          </a:p>
        </p:txBody>
      </p:sp>
      <p:sp>
        <p:nvSpPr>
          <p:cNvPr id="25" name="Rectangle 24"/>
          <p:cNvSpPr/>
          <p:nvPr/>
        </p:nvSpPr>
        <p:spPr>
          <a:xfrm>
            <a:off x="3630168" y="2251360"/>
            <a:ext cx="291465" cy="875887"/>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01568" y="2068480"/>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38 t</a:t>
            </a:r>
          </a:p>
        </p:txBody>
      </p:sp>
      <p:sp>
        <p:nvSpPr>
          <p:cNvPr id="27" name="Rectangle 26"/>
          <p:cNvSpPr/>
          <p:nvPr/>
        </p:nvSpPr>
        <p:spPr>
          <a:xfrm>
            <a:off x="3976497" y="1865376"/>
            <a:ext cx="291465" cy="126187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47897" y="1682496"/>
            <a:ext cx="748665" cy="164592"/>
          </a:xfrm>
          <a:prstGeom prst="rect">
            <a:avLst/>
          </a:prstGeom>
          <a:noFill/>
        </p:spPr>
        <p:txBody>
          <a:bodyPr wrap="square" anchor="t" lIns="0" rIns="0" tIns="0" bIns="0">
            <a:spAutoFit/>
          </a:bodyPr>
          <a:lstStyle/>
          <a:p>
            <a:pPr algn="ctr"/>
            <a:r>
              <a:rPr sz="750" b="1">
                <a:solidFill>
                  <a:srgbClr val="141414"/>
                </a:solidFill>
                <a:latin typeface="Plus Jakarta Sans"/>
              </a:rPr>
              <a:t>55 t</a:t>
            </a:r>
          </a:p>
        </p:txBody>
      </p:sp>
      <p:sp>
        <p:nvSpPr>
          <p:cNvPr id="29" name="TextBox 28"/>
          <p:cNvSpPr txBox="1"/>
          <p:nvPr/>
        </p:nvSpPr>
        <p:spPr>
          <a:xfrm>
            <a:off x="3463290" y="3172968"/>
            <a:ext cx="971550" cy="164592"/>
          </a:xfrm>
          <a:prstGeom prst="rect">
            <a:avLst/>
          </a:prstGeom>
          <a:noFill/>
        </p:spPr>
        <p:txBody>
          <a:bodyPr wrap="square" anchor="t" lIns="0" rIns="0" tIns="0" bIns="0">
            <a:spAutoFit/>
          </a:bodyPr>
          <a:lstStyle/>
          <a:p>
            <a:pPr algn="ctr"/>
            <a:r>
              <a:rPr sz="800" b="0">
                <a:solidFill>
                  <a:srgbClr val="5C665C"/>
                </a:solidFill>
                <a:latin typeface="Plus Jakarta Sans"/>
              </a:rPr>
              <a:t>Tonnes</a:t>
            </a:r>
          </a:p>
        </p:txBody>
      </p:sp>
      <p:sp>
        <p:nvSpPr>
          <p:cNvPr id="30" name="TextBox 29"/>
          <p:cNvSpPr txBox="1"/>
          <p:nvPr/>
        </p:nvSpPr>
        <p:spPr>
          <a:xfrm>
            <a:off x="3463290" y="3310128"/>
            <a:ext cx="971550" cy="146304"/>
          </a:xfrm>
          <a:prstGeom prst="rect">
            <a:avLst/>
          </a:prstGeom>
          <a:noFill/>
        </p:spPr>
        <p:txBody>
          <a:bodyPr wrap="square" anchor="t" lIns="0" rIns="0" tIns="0" bIns="0">
            <a:spAutoFit/>
          </a:bodyPr>
          <a:lstStyle/>
          <a:p>
            <a:pPr algn="ctr"/>
            <a:r>
              <a:rPr sz="750" b="1">
                <a:solidFill>
                  <a:srgbClr val="007200"/>
                </a:solidFill>
                <a:latin typeface="Plus Jakarta Sans"/>
              </a:rPr>
              <a:t>▲ 44%</a:t>
            </a:r>
          </a:p>
        </p:txBody>
      </p:sp>
      <p:sp>
        <p:nvSpPr>
          <p:cNvPr id="31" name="Rectangle 30"/>
          <p:cNvSpPr/>
          <p:nvPr/>
        </p:nvSpPr>
        <p:spPr>
          <a:xfrm>
            <a:off x="548640" y="1499616"/>
            <a:ext cx="109728" cy="109728"/>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1481328"/>
            <a:ext cx="1188720" cy="146304"/>
          </a:xfrm>
          <a:prstGeom prst="rect">
            <a:avLst/>
          </a:prstGeom>
          <a:noFill/>
        </p:spPr>
        <p:txBody>
          <a:bodyPr wrap="square" anchor="t" lIns="0" rIns="0" tIns="0" bIns="0">
            <a:spAutoFit/>
          </a:bodyPr>
          <a:lstStyle/>
          <a:p>
            <a:pPr algn="l"/>
            <a:r>
              <a:rPr sz="750" b="0">
                <a:solidFill>
                  <a:srgbClr val="5C665C"/>
                </a:solidFill>
                <a:latin typeface="Plus Jakarta Sans"/>
              </a:rPr>
              <a:t>Week of 12 Oct</a:t>
            </a:r>
          </a:p>
        </p:txBody>
      </p:sp>
      <p:sp>
        <p:nvSpPr>
          <p:cNvPr id="33" name="Rectangle 32"/>
          <p:cNvSpPr/>
          <p:nvPr/>
        </p:nvSpPr>
        <p:spPr>
          <a:xfrm>
            <a:off x="1874519" y="1499616"/>
            <a:ext cx="109728" cy="109728"/>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29967" y="1481328"/>
            <a:ext cx="1188720" cy="146304"/>
          </a:xfrm>
          <a:prstGeom prst="rect">
            <a:avLst/>
          </a:prstGeom>
          <a:noFill/>
        </p:spPr>
        <p:txBody>
          <a:bodyPr wrap="square" anchor="t" lIns="0" rIns="0" tIns="0" bIns="0">
            <a:spAutoFit/>
          </a:bodyPr>
          <a:lstStyle/>
          <a:p>
            <a:pPr algn="l"/>
            <a:r>
              <a:rPr sz="750" b="0">
                <a:solidFill>
                  <a:srgbClr val="5C665C"/>
                </a:solidFill>
                <a:latin typeface="Plus Jakarta Sans"/>
              </a:rPr>
              <a:t>Week of 19 Oct</a:t>
            </a:r>
          </a:p>
        </p:txBody>
      </p:sp>
      <p:sp>
        <p:nvSpPr>
          <p:cNvPr id="35" name="Rounded Rectangle 34"/>
          <p:cNvSpPr/>
          <p:nvPr/>
        </p:nvSpPr>
        <p:spPr>
          <a:xfrm>
            <a:off x="4727448" y="987552"/>
            <a:ext cx="3959352" cy="2514600"/>
          </a:xfrm>
          <a:prstGeom prst="roundRect">
            <a:avLst>
              <a:gd name="adj" fmla="val 2181"/>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55464" y="1078992"/>
            <a:ext cx="3703320" cy="201168"/>
          </a:xfrm>
          <a:prstGeom prst="rect">
            <a:avLst/>
          </a:prstGeom>
          <a:noFill/>
        </p:spPr>
        <p:txBody>
          <a:bodyPr wrap="square" anchor="t" lIns="0" rIns="0" tIns="0" bIns="0">
            <a:spAutoFit/>
          </a:bodyPr>
          <a:lstStyle/>
          <a:p>
            <a:pPr algn="l"/>
            <a:r>
              <a:rPr sz="1000" b="1">
                <a:solidFill>
                  <a:srgbClr val="141414"/>
                </a:solidFill>
                <a:latin typeface="Plus Jakarta Sans"/>
              </a:rPr>
              <a:t>What moved sales</a:t>
            </a:r>
          </a:p>
        </p:txBody>
      </p:sp>
      <p:sp>
        <p:nvSpPr>
          <p:cNvPr id="37" name="TextBox 36"/>
          <p:cNvSpPr txBox="1"/>
          <p:nvPr/>
        </p:nvSpPr>
        <p:spPr>
          <a:xfrm>
            <a:off x="4855464" y="1271016"/>
            <a:ext cx="3703320" cy="182880"/>
          </a:xfrm>
          <a:prstGeom prst="rect">
            <a:avLst/>
          </a:prstGeom>
          <a:noFill/>
        </p:spPr>
        <p:txBody>
          <a:bodyPr wrap="square" anchor="t" lIns="0" rIns="0" tIns="0" bIns="0">
            <a:spAutoFit/>
          </a:bodyPr>
          <a:lstStyle/>
          <a:p>
            <a:pPr algn="l"/>
            <a:r>
              <a:rPr sz="750" b="0">
                <a:solidFill>
                  <a:srgbClr val="5C665C"/>
                </a:solidFill>
                <a:latin typeface="Plus Jakarta Sans"/>
              </a:rPr>
              <a:t>Change by product category</a:t>
            </a:r>
          </a:p>
        </p:txBody>
      </p:sp>
      <p:sp>
        <p:nvSpPr>
          <p:cNvPr id="38" name="Rectangle 37"/>
          <p:cNvSpPr/>
          <p:nvPr/>
        </p:nvSpPr>
        <p:spPr>
          <a:xfrm>
            <a:off x="7232903" y="1499616"/>
            <a:ext cx="9144" cy="1645919"/>
          </a:xfrm>
          <a:prstGeom prst="rect">
            <a:avLst/>
          </a:prstGeom>
          <a:solidFill>
            <a:srgbClr val="9A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55464" y="1499616"/>
            <a:ext cx="978407" cy="329184"/>
          </a:xfrm>
          <a:prstGeom prst="rect">
            <a:avLst/>
          </a:prstGeom>
          <a:noFill/>
        </p:spPr>
        <p:txBody>
          <a:bodyPr wrap="square" anchor="ctr" lIns="0" rIns="0" tIns="0" bIns="0">
            <a:spAutoFit/>
          </a:bodyPr>
          <a:lstStyle/>
          <a:p>
            <a:pPr algn="l"/>
            <a:r>
              <a:rPr sz="800" b="0">
                <a:solidFill>
                  <a:srgbClr val="141414"/>
                </a:solidFill>
                <a:latin typeface="Plus Jakarta Sans"/>
              </a:rPr>
              <a:t>Pupuk Grosir</a:t>
            </a:r>
          </a:p>
        </p:txBody>
      </p:sp>
      <p:sp>
        <p:nvSpPr>
          <p:cNvPr id="40" name="Rectangle 39"/>
          <p:cNvSpPr/>
          <p:nvPr/>
        </p:nvSpPr>
        <p:spPr>
          <a:xfrm>
            <a:off x="7232903" y="1581912"/>
            <a:ext cx="822959" cy="16459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1583" y="1499616"/>
            <a:ext cx="548640" cy="329184"/>
          </a:xfrm>
          <a:prstGeom prst="rect">
            <a:avLst/>
          </a:prstGeom>
          <a:noFill/>
        </p:spPr>
        <p:txBody>
          <a:bodyPr wrap="square" anchor="ctr" lIns="0" rIns="0" tIns="0" bIns="0">
            <a:spAutoFit/>
          </a:bodyPr>
          <a:lstStyle/>
          <a:p>
            <a:pPr algn="l"/>
            <a:r>
              <a:rPr sz="750" b="1">
                <a:solidFill>
                  <a:srgbClr val="007200"/>
                </a:solidFill>
                <a:latin typeface="Plus Jakarta Sans"/>
              </a:rPr>
              <a:t>+Rp357M</a:t>
            </a:r>
          </a:p>
        </p:txBody>
      </p:sp>
      <p:sp>
        <p:nvSpPr>
          <p:cNvPr id="42" name="TextBox 41"/>
          <p:cNvSpPr txBox="1"/>
          <p:nvPr/>
        </p:nvSpPr>
        <p:spPr>
          <a:xfrm>
            <a:off x="4855464" y="1828800"/>
            <a:ext cx="978407" cy="329184"/>
          </a:xfrm>
          <a:prstGeom prst="rect">
            <a:avLst/>
          </a:prstGeom>
          <a:noFill/>
        </p:spPr>
        <p:txBody>
          <a:bodyPr wrap="square" anchor="ctr" lIns="0" rIns="0" tIns="0" bIns="0">
            <a:spAutoFit/>
          </a:bodyPr>
          <a:lstStyle/>
          <a:p>
            <a:pPr algn="l"/>
            <a:r>
              <a:rPr sz="800" b="0">
                <a:solidFill>
                  <a:srgbClr val="141414"/>
                </a:solidFill>
                <a:latin typeface="Plus Jakarta Sans"/>
              </a:rPr>
              <a:t>Pupuk</a:t>
            </a:r>
          </a:p>
        </p:txBody>
      </p:sp>
      <p:sp>
        <p:nvSpPr>
          <p:cNvPr id="43" name="Rectangle 42"/>
          <p:cNvSpPr/>
          <p:nvPr/>
        </p:nvSpPr>
        <p:spPr>
          <a:xfrm>
            <a:off x="7232903" y="1911095"/>
            <a:ext cx="73533" cy="16459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52157" y="1828800"/>
            <a:ext cx="548640" cy="329184"/>
          </a:xfrm>
          <a:prstGeom prst="rect">
            <a:avLst/>
          </a:prstGeom>
          <a:noFill/>
        </p:spPr>
        <p:txBody>
          <a:bodyPr wrap="square" anchor="ctr" lIns="0" rIns="0" tIns="0" bIns="0">
            <a:spAutoFit/>
          </a:bodyPr>
          <a:lstStyle/>
          <a:p>
            <a:pPr algn="l"/>
            <a:r>
              <a:rPr sz="750" b="1">
                <a:solidFill>
                  <a:srgbClr val="007200"/>
                </a:solidFill>
                <a:latin typeface="Plus Jakarta Sans"/>
              </a:rPr>
              <a:t>+Rp31.9M</a:t>
            </a:r>
          </a:p>
        </p:txBody>
      </p:sp>
      <p:sp>
        <p:nvSpPr>
          <p:cNvPr id="45" name="TextBox 44"/>
          <p:cNvSpPr txBox="1"/>
          <p:nvPr/>
        </p:nvSpPr>
        <p:spPr>
          <a:xfrm>
            <a:off x="4855464" y="2157984"/>
            <a:ext cx="978407" cy="329184"/>
          </a:xfrm>
          <a:prstGeom prst="rect">
            <a:avLst/>
          </a:prstGeom>
          <a:noFill/>
        </p:spPr>
        <p:txBody>
          <a:bodyPr wrap="square" anchor="ctr" lIns="0" rIns="0" tIns="0" bIns="0">
            <a:spAutoFit/>
          </a:bodyPr>
          <a:lstStyle/>
          <a:p>
            <a:pPr algn="l"/>
            <a:r>
              <a:rPr sz="800" b="0">
                <a:solidFill>
                  <a:srgbClr val="141414"/>
                </a:solidFill>
                <a:latin typeface="Plus Jakarta Sans"/>
              </a:rPr>
              <a:t>Toling</a:t>
            </a:r>
          </a:p>
        </p:txBody>
      </p:sp>
      <p:sp>
        <p:nvSpPr>
          <p:cNvPr id="46" name="Rectangle 45"/>
          <p:cNvSpPr/>
          <p:nvPr/>
        </p:nvSpPr>
        <p:spPr>
          <a:xfrm>
            <a:off x="7229052" y="2240280"/>
            <a:ext cx="18288" cy="164592"/>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34692" y="2157984"/>
            <a:ext cx="548640" cy="329184"/>
          </a:xfrm>
          <a:prstGeom prst="rect">
            <a:avLst/>
          </a:prstGeom>
          <a:noFill/>
        </p:spPr>
        <p:txBody>
          <a:bodyPr wrap="square" anchor="ctr" lIns="0" rIns="0" tIns="0" bIns="0">
            <a:spAutoFit/>
          </a:bodyPr>
          <a:lstStyle/>
          <a:p>
            <a:pPr algn="r"/>
            <a:r>
              <a:rPr sz="750" b="1">
                <a:solidFill>
                  <a:srgbClr val="B23A3A"/>
                </a:solidFill>
                <a:latin typeface="Plus Jakarta Sans"/>
              </a:rPr>
              <a:t>−Rp1.7M</a:t>
            </a:r>
          </a:p>
        </p:txBody>
      </p:sp>
      <p:sp>
        <p:nvSpPr>
          <p:cNvPr id="48" name="TextBox 47"/>
          <p:cNvSpPr txBox="1"/>
          <p:nvPr/>
        </p:nvSpPr>
        <p:spPr>
          <a:xfrm>
            <a:off x="4855464" y="2487168"/>
            <a:ext cx="978407" cy="329184"/>
          </a:xfrm>
          <a:prstGeom prst="rect">
            <a:avLst/>
          </a:prstGeom>
          <a:noFill/>
        </p:spPr>
        <p:txBody>
          <a:bodyPr wrap="square" anchor="ctr" lIns="0" rIns="0" tIns="0" bIns="0">
            <a:spAutoFit/>
          </a:bodyPr>
          <a:lstStyle/>
          <a:p>
            <a:pPr algn="l"/>
            <a:r>
              <a:rPr sz="800" b="0">
                <a:solidFill>
                  <a:srgbClr val="141414"/>
                </a:solidFill>
                <a:latin typeface="Plus Jakarta Sans"/>
              </a:rPr>
              <a:t>Benih</a:t>
            </a:r>
          </a:p>
        </p:txBody>
      </p:sp>
      <p:sp>
        <p:nvSpPr>
          <p:cNvPr id="49" name="Rectangle 48"/>
          <p:cNvSpPr/>
          <p:nvPr/>
        </p:nvSpPr>
        <p:spPr>
          <a:xfrm>
            <a:off x="7203961" y="2569464"/>
            <a:ext cx="28942" cy="164592"/>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09601" y="2487168"/>
            <a:ext cx="548640" cy="329184"/>
          </a:xfrm>
          <a:prstGeom prst="rect">
            <a:avLst/>
          </a:prstGeom>
          <a:noFill/>
        </p:spPr>
        <p:txBody>
          <a:bodyPr wrap="square" anchor="ctr" lIns="0" rIns="0" tIns="0" bIns="0">
            <a:spAutoFit/>
          </a:bodyPr>
          <a:lstStyle/>
          <a:p>
            <a:pPr algn="r"/>
            <a:r>
              <a:rPr sz="750" b="1">
                <a:solidFill>
                  <a:srgbClr val="B23A3A"/>
                </a:solidFill>
                <a:latin typeface="Plus Jakarta Sans"/>
              </a:rPr>
              <a:t>−Rp12.6M</a:t>
            </a:r>
          </a:p>
        </p:txBody>
      </p:sp>
      <p:sp>
        <p:nvSpPr>
          <p:cNvPr id="51" name="TextBox 50"/>
          <p:cNvSpPr txBox="1"/>
          <p:nvPr/>
        </p:nvSpPr>
        <p:spPr>
          <a:xfrm>
            <a:off x="4855464" y="2816352"/>
            <a:ext cx="978407" cy="329184"/>
          </a:xfrm>
          <a:prstGeom prst="rect">
            <a:avLst/>
          </a:prstGeom>
          <a:noFill/>
        </p:spPr>
        <p:txBody>
          <a:bodyPr wrap="square" anchor="ctr" lIns="0" rIns="0" tIns="0" bIns="0">
            <a:spAutoFit/>
          </a:bodyPr>
          <a:lstStyle/>
          <a:p>
            <a:pPr algn="l"/>
            <a:r>
              <a:rPr sz="800" b="0">
                <a:solidFill>
                  <a:srgbClr val="141414"/>
                </a:solidFill>
                <a:latin typeface="Plus Jakarta Sans"/>
              </a:rPr>
              <a:t>Khusus Petani</a:t>
            </a:r>
          </a:p>
        </p:txBody>
      </p:sp>
      <p:sp>
        <p:nvSpPr>
          <p:cNvPr id="52" name="Rectangle 51"/>
          <p:cNvSpPr/>
          <p:nvPr/>
        </p:nvSpPr>
        <p:spPr>
          <a:xfrm>
            <a:off x="6687736" y="2898648"/>
            <a:ext cx="545167" cy="164592"/>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093376" y="2816352"/>
            <a:ext cx="548640" cy="329184"/>
          </a:xfrm>
          <a:prstGeom prst="rect">
            <a:avLst/>
          </a:prstGeom>
          <a:noFill/>
        </p:spPr>
        <p:txBody>
          <a:bodyPr wrap="square" anchor="ctr" lIns="0" rIns="0" tIns="0" bIns="0">
            <a:spAutoFit/>
          </a:bodyPr>
          <a:lstStyle/>
          <a:p>
            <a:pPr algn="r"/>
            <a:r>
              <a:rPr sz="750" b="1">
                <a:solidFill>
                  <a:srgbClr val="B23A3A"/>
                </a:solidFill>
                <a:latin typeface="Plus Jakarta Sans"/>
              </a:rPr>
              <a:t>−Rp237M</a:t>
            </a:r>
          </a:p>
        </p:txBody>
      </p:sp>
      <p:sp>
        <p:nvSpPr>
          <p:cNvPr id="54" name="Rounded Rectangle 53"/>
          <p:cNvSpPr/>
          <p:nvPr/>
        </p:nvSpPr>
        <p:spPr>
          <a:xfrm>
            <a:off x="384048" y="3611880"/>
            <a:ext cx="8302752" cy="960120"/>
          </a:xfrm>
          <a:prstGeom prst="roundRect">
            <a:avLst>
              <a:gd name="adj" fmla="val 5714"/>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30352" y="3703320"/>
            <a:ext cx="8010144" cy="813816"/>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Bigger orders, fewer of them:</a:t>
            </a:r>
            <a:r>
              <a:rPr sz="850" b="0">
                <a:solidFill>
                  <a:srgbClr val="141414"/>
                </a:solidFill>
                <a:latin typeface="Plus Jakarta Sans"/>
              </a:rPr>
              <a:t> average order Rp15.1M → Rp46.8M; volume 38 t → 55 t.</a:t>
            </a:r>
          </a:p>
          <a:p>
            <a:pPr algn="l">
              <a:spcAft>
                <a:spcPts val="300"/>
              </a:spcAft>
            </a:pPr>
            <a:r>
              <a:rPr sz="850" b="1">
                <a:solidFill>
                  <a:srgbClr val="141414"/>
                </a:solidFill>
                <a:latin typeface="Plus Jakarta Sans"/>
              </a:rPr>
              <a:t>One order changes the picture:</a:t>
            </a:r>
            <a:r>
              <a:rPr sz="850" b="0">
                <a:solidFill>
                  <a:srgbClr val="141414"/>
                </a:solidFill>
                <a:latin typeface="Plus Jakarta Sans"/>
              </a:rPr>
              <a:t> #B2C26732 (Rp267M, 622 sacks KCL Mentari, Muhammad Abdul Wahab). Without each week's largest order, sales are Rp266M → Rp248M (−7%).</a:t>
            </a:r>
          </a:p>
          <a:p>
            <a:pPr algn="l">
              <a:spcAft>
                <a:spcPts val="300"/>
              </a:spcAft>
            </a:pPr>
            <a:r>
              <a:rPr sz="850" b="1">
                <a:solidFill>
                  <a:srgbClr val="141414"/>
                </a:solidFill>
                <a:latin typeface="Plus Jakarta Sans"/>
              </a:rPr>
              <a:t>Khusus Petani almost disappeared:</a:t>
            </a:r>
            <a:r>
              <a:rPr sz="850" b="0">
                <a:solidFill>
                  <a:srgbClr val="141414"/>
                </a:solidFill>
                <a:latin typeface="Plus Jakarta Sans"/>
              </a:rPr>
              <a:t> Rp247M → Rp9.8M; last week's Rp110M Bungo group order did not repeat, and 22 of last week's 24 customers did not reorder.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6 of 11 Smallholder orders (Rp432M) have no CRM record</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SMALLHOLDER · ORDERS THIS WEEK</a:t>
            </a:r>
          </a:p>
        </p:txBody>
      </p:sp>
      <p:graphicFrame>
        <p:nvGraphicFramePr>
          <p:cNvPr id="4" name="Table 3"/>
          <p:cNvGraphicFramePr>
            <a:graphicFrameLocks noGrp="1"/>
          </p:cNvGraphicFramePr>
          <p:nvPr/>
        </p:nvGraphicFramePr>
        <p:xfrm>
          <a:off x="384048" y="987552"/>
          <a:ext cx="5989317" cy="2962656"/>
        </p:xfrm>
        <a:graphic>
          <a:graphicData uri="http://schemas.openxmlformats.org/drawingml/2006/table">
            <a:tbl>
              <a:tblPr firstRow="1" bandRow="1">
                <a:tableStyleId>{5C22544A-7EE6-4342-B048-85BDC9FD1C3A}</a:tableStyleId>
              </a:tblPr>
              <a:tblGrid>
                <a:gridCol w="791042"/>
                <a:gridCol w="1167729"/>
                <a:gridCol w="1431409"/>
                <a:gridCol w="565030"/>
                <a:gridCol w="527361"/>
                <a:gridCol w="565030"/>
                <a:gridCol w="527361"/>
                <a:gridCol w="414355"/>
              </a:tblGrid>
              <a:tr h="246888">
                <a:tc>
                  <a:txBody>
                    <a:bodyPr wrap="square"/>
                    <a:lstStyle/>
                    <a:p>
                      <a:pPr algn="l"/>
                      <a:r>
                        <a:rPr sz="700" b="1">
                          <a:solidFill>
                            <a:srgbClr val="FFFFFF"/>
                          </a:solidFill>
                          <a:latin typeface="Plus Jakarta Sans"/>
                        </a:rPr>
                        <a:t>Order</a:t>
                      </a:r>
                    </a:p>
                  </a:txBody>
                  <a:tcPr marL="45720" marR="45720" marT="18288" marB="18288" anchor="ctr">
                    <a:solidFill>
                      <a:srgbClr val="007200"/>
                    </a:solidFill>
                  </a:tcPr>
                </a:tc>
                <a:tc>
                  <a:txBody>
                    <a:bodyPr wrap="square"/>
                    <a:lstStyle/>
                    <a:p>
                      <a:pPr algn="l"/>
                      <a:r>
                        <a:rPr sz="700" b="1">
                          <a:solidFill>
                            <a:srgbClr val="FFFFFF"/>
                          </a:solidFill>
                          <a:latin typeface="Plus Jakarta Sans"/>
                        </a:rPr>
                        <a:t>PIC</a:t>
                      </a:r>
                    </a:p>
                  </a:txBody>
                  <a:tcPr marL="45720" marR="45720" marT="18288" marB="18288" anchor="ctr">
                    <a:solidFill>
                      <a:srgbClr val="007200"/>
                    </a:solidFill>
                  </a:tcPr>
                </a:tc>
                <a:tc>
                  <a:txBody>
                    <a:bodyPr wrap="square"/>
                    <a:lstStyle/>
                    <a:p>
                      <a:pPr algn="l"/>
                      <a:r>
                        <a:rPr sz="700" b="1">
                          <a:solidFill>
                            <a:srgbClr val="FFFFFF"/>
                          </a:solidFill>
                          <a:latin typeface="Plus Jakarta Sans"/>
                        </a:rPr>
                        <a:t>Products</a:t>
                      </a:r>
                    </a:p>
                  </a:txBody>
                  <a:tcPr marL="45720" marR="45720" marT="18288" marB="18288" anchor="ctr">
                    <a:solidFill>
                      <a:srgbClr val="007200"/>
                    </a:solidFill>
                  </a:tcPr>
                </a:tc>
                <a:tc>
                  <a:txBody>
                    <a:bodyPr wrap="square"/>
                    <a:lstStyle/>
                    <a:p>
                      <a:pPr algn="r"/>
                      <a:r>
                        <a:rPr sz="700" b="1">
                          <a:solidFill>
                            <a:srgbClr val="FFFFFF"/>
                          </a:solidFill>
                          <a:latin typeface="Plus Jakarta Sans"/>
                        </a:rPr>
                        <a:t>Qty</a:t>
                      </a:r>
                    </a:p>
                  </a:txBody>
                  <a:tcPr marL="45720" marR="45720" marT="18288" marB="18288" anchor="ctr">
                    <a:solidFill>
                      <a:srgbClr val="007200"/>
                    </a:solidFill>
                  </a:tcPr>
                </a:tc>
                <a:tc>
                  <a:txBody>
                    <a:bodyPr wrap="square"/>
                    <a:lstStyle/>
                    <a:p>
                      <a:pPr algn="r"/>
                      <a:r>
                        <a:rPr sz="700" b="1">
                          <a:solidFill>
                            <a:srgbClr val="FFFFFF"/>
                          </a:solidFill>
                          <a:latin typeface="Plus Jakarta Sans"/>
                        </a:rPr>
                        <a:t>Sales</a:t>
                      </a:r>
                    </a:p>
                  </a:txBody>
                  <a:tcPr marL="45720" marR="45720" marT="18288" marB="18288" anchor="ctr">
                    <a:solidFill>
                      <a:srgbClr val="007200"/>
                    </a:solidFill>
                  </a:tcPr>
                </a:tc>
                <a:tc>
                  <a:txBody>
                    <a:bodyPr wrap="square"/>
                    <a:lstStyle/>
                    <a:p>
                      <a:pPr algn="l"/>
                      <a:r>
                        <a:rPr sz="700" b="1">
                          <a:solidFill>
                            <a:srgbClr val="FFFFFF"/>
                          </a:solidFill>
                          <a:latin typeface="Plus Jakarta Sans"/>
                        </a:rPr>
                        <a:t>Payment</a:t>
                      </a:r>
                    </a:p>
                  </a:txBody>
                  <a:tcPr marL="45720" marR="45720" marT="18288" marB="18288" anchor="ctr">
                    <a:solidFill>
                      <a:srgbClr val="007200"/>
                    </a:solidFill>
                  </a:tcPr>
                </a:tc>
                <a:tc>
                  <a:txBody>
                    <a:bodyPr wrap="square"/>
                    <a:lstStyle/>
                    <a:p>
                      <a:pPr algn="l"/>
                      <a:r>
                        <a:rPr sz="700" b="1">
                          <a:solidFill>
                            <a:srgbClr val="FFFFFF"/>
                          </a:solidFill>
                          <a:latin typeface="Plus Jakarta Sans"/>
                        </a:rPr>
                        <a:t>Status</a:t>
                      </a:r>
                    </a:p>
                  </a:txBody>
                  <a:tcPr marL="45720" marR="45720" marT="18288" marB="18288" anchor="ctr">
                    <a:solidFill>
                      <a:srgbClr val="007200"/>
                    </a:solidFill>
                  </a:tcPr>
                </a:tc>
                <a:tc>
                  <a:txBody>
                    <a:bodyPr wrap="square"/>
                    <a:lstStyle/>
                    <a:p>
                      <a:pPr algn="l"/>
                      <a:r>
                        <a:rPr sz="700" b="1">
                          <a:solidFill>
                            <a:srgbClr val="FFFFFF"/>
                          </a:solidFill>
                          <a:latin typeface="Plus Jakarta Sans"/>
                        </a:rPr>
                        <a:t>In CRM</a:t>
                      </a:r>
                    </a:p>
                  </a:txBody>
                  <a:tcPr marL="45720" marR="45720" marT="18288" marB="18288" anchor="ctr">
                    <a:solidFill>
                      <a:srgbClr val="007200"/>
                    </a:solidFill>
                  </a:tcPr>
                </a:tc>
              </a:tr>
              <a:tr h="246888">
                <a:tc>
                  <a:txBody>
                    <a:bodyPr wrap="square"/>
                    <a:lstStyle/>
                    <a:p>
                      <a:pPr algn="l"/>
                      <a:r>
                        <a:rPr sz="700" b="0">
                          <a:solidFill>
                            <a:srgbClr val="141414"/>
                          </a:solidFill>
                          <a:latin typeface="Plus Jakarta Sans"/>
                        </a:rPr>
                        <a:t>#B2C26732</a:t>
                      </a:r>
                    </a:p>
                  </a:txBody>
                  <a:tcPr marL="45720" marR="45720" marT="18288" marB="18288" anchor="ctr">
                    <a:solidFill>
                      <a:srgbClr val="FFFFFF"/>
                    </a:solidFill>
                  </a:tcPr>
                </a:tc>
                <a:tc>
                  <a:txBody>
                    <a:bodyPr wrap="square"/>
                    <a:lstStyle/>
                    <a:p>
                      <a:pPr algn="l"/>
                      <a:r>
                        <a:rPr sz="700" b="0">
                          <a:solidFill>
                            <a:srgbClr val="141414"/>
                          </a:solidFill>
                          <a:latin typeface="Plus Jakarta Sans"/>
                        </a:rPr>
                        <a:t>Muhammad Abdul Wahab</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Mentari</a:t>
                      </a:r>
                    </a:p>
                  </a:txBody>
                  <a:tcPr marL="45720" marR="45720" marT="18288" marB="18288" anchor="ctr">
                    <a:solidFill>
                      <a:srgbClr val="FFFFFF"/>
                    </a:solidFill>
                  </a:tcPr>
                </a:tc>
                <a:tc>
                  <a:txBody>
                    <a:bodyPr wrap="square"/>
                    <a:lstStyle/>
                    <a:p>
                      <a:pPr algn="r"/>
                      <a:r>
                        <a:rPr sz="700" b="0">
                          <a:solidFill>
                            <a:srgbClr val="141414"/>
                          </a:solidFill>
                          <a:latin typeface="Plus Jakarta Sans"/>
                        </a:rPr>
                        <a:t>622 sacks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Rp267M</a:t>
                      </a:r>
                    </a:p>
                  </a:txBody>
                  <a:tcPr marL="45720" marR="45720" marT="18288" marB="18288" anchor="ctr">
                    <a:solidFill>
                      <a:srgbClr val="FFFFFF"/>
                    </a:solidFill>
                  </a:tcPr>
                </a:tc>
                <a:tc>
                  <a:txBody>
                    <a:bodyPr wrap="square"/>
                    <a:lstStyle/>
                    <a:p>
                      <a:pPr algn="l"/>
                      <a:r>
                        <a:rPr sz="700" b="0">
                          <a:solidFill>
                            <a:srgbClr val="141414"/>
                          </a:solidFill>
                          <a:latin typeface="Plus Jakarta Sans"/>
                        </a:rPr>
                        <a:t>Partly paid</a:t>
                      </a:r>
                    </a:p>
                  </a:txBody>
                  <a:tcPr marL="45720" marR="45720" marT="18288" marB="18288" anchor="ctr">
                    <a:solidFill>
                      <a:srgbClr val="FFFFFF"/>
                    </a:solidFill>
                  </a:tcPr>
                </a:tc>
                <a:tc>
                  <a:txBody>
                    <a:bodyPr wrap="square"/>
                    <a:lstStyle/>
                    <a:p>
                      <a:pPr algn="l"/>
                      <a:r>
                        <a:rPr sz="700" b="0">
                          <a:solidFill>
                            <a:srgbClr val="141414"/>
                          </a:solidFill>
                          <a:latin typeface="Plus Jakarta Sans"/>
                        </a:rPr>
                        <a:t>Open</a:t>
                      </a:r>
                    </a:p>
                  </a:txBody>
                  <a:tcPr marL="45720" marR="45720" marT="18288" marB="18288" anchor="ctr">
                    <a:solidFill>
                      <a:srgbClr val="FFFFFF"/>
                    </a:solidFill>
                  </a:tcPr>
                </a:tc>
                <a:tc>
                  <a:txBody>
                    <a:bodyPr wrap="square"/>
                    <a:lstStyle/>
                    <a:p>
                      <a:pPr algn="l"/>
                      <a:r>
                        <a:rPr sz="700" b="0">
                          <a:solidFill>
                            <a:srgbClr val="141414"/>
                          </a:solidFill>
                          <a:latin typeface="Plus Jakarta Sans"/>
                        </a:rPr>
                        <a:t>No</a:t>
                      </a:r>
                    </a:p>
                  </a:txBody>
                  <a:tcPr marL="45720" marR="45720" marT="18288" marB="18288" anchor="ctr">
                    <a:solidFill>
                      <a:srgbClr val="FFF6D6"/>
                    </a:solidFill>
                  </a:tcPr>
                </a:tc>
              </a:tr>
              <a:tr h="246888">
                <a:tc>
                  <a:txBody>
                    <a:bodyPr wrap="square"/>
                    <a:lstStyle/>
                    <a:p>
                      <a:pPr algn="l"/>
                      <a:r>
                        <a:rPr sz="700" b="0">
                          <a:solidFill>
                            <a:srgbClr val="141414"/>
                          </a:solidFill>
                          <a:latin typeface="Plus Jakarta Sans"/>
                        </a:rPr>
                        <a:t>#B2C26764</a:t>
                      </a:r>
                    </a:p>
                  </a:txBody>
                  <a:tcPr marL="45720" marR="45720" marT="18288" marB="18288" anchor="ctr">
                    <a:solidFill>
                      <a:srgbClr val="F6F8F6"/>
                    </a:solidFill>
                  </a:tcPr>
                </a:tc>
                <a:tc>
                  <a:txBody>
                    <a:bodyPr wrap="square"/>
                    <a:lstStyle/>
                    <a:p>
                      <a:pPr algn="l"/>
                      <a:r>
                        <a:rPr sz="700" b="0">
                          <a:solidFill>
                            <a:srgbClr val="141414"/>
                          </a:solidFill>
                          <a:latin typeface="Plus Jakarta Sans"/>
                        </a:rPr>
                        <a:t>Simon Sutrado Simanjuntak</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Mahkota</a:t>
                      </a:r>
                    </a:p>
                  </a:txBody>
                  <a:tcPr marL="45720" marR="45720" marT="18288" marB="18288" anchor="ctr">
                    <a:solidFill>
                      <a:srgbClr val="F6F8F6"/>
                    </a:solidFill>
                  </a:tcPr>
                </a:tc>
                <a:tc>
                  <a:txBody>
                    <a:bodyPr wrap="square"/>
                    <a:lstStyle/>
                    <a:p>
                      <a:pPr algn="r"/>
                      <a:r>
                        <a:rPr sz="700" b="0">
                          <a:solidFill>
                            <a:srgbClr val="141414"/>
                          </a:solidFill>
                          <a:latin typeface="Plus Jakarta Sans"/>
                        </a:rPr>
                        <a:t>200 sacks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Rp90.8M</a:t>
                      </a:r>
                    </a:p>
                  </a:txBody>
                  <a:tcPr marL="45720" marR="45720" marT="18288" marB="18288" anchor="ctr">
                    <a:solidFill>
                      <a:srgbClr val="F6F8F6"/>
                    </a:solidFill>
                  </a:tcPr>
                </a:tc>
                <a:tc>
                  <a:txBody>
                    <a:bodyPr wrap="square"/>
                    <a:lstStyle/>
                    <a:p>
                      <a:pPr algn="l"/>
                      <a:r>
                        <a:rPr sz="700" b="0">
                          <a:solidFill>
                            <a:srgbClr val="141414"/>
                          </a:solidFill>
                          <a:latin typeface="Plus Jakarta Sans"/>
                        </a:rPr>
                        <a:t>Paid</a:t>
                      </a:r>
                    </a:p>
                  </a:txBody>
                  <a:tcPr marL="45720" marR="45720" marT="18288" marB="18288" anchor="ctr">
                    <a:solidFill>
                      <a:srgbClr val="F6F8F6"/>
                    </a:solidFill>
                  </a:tcPr>
                </a:tc>
                <a:tc>
                  <a:txBody>
                    <a:bodyPr wrap="square"/>
                    <a:lstStyle/>
                    <a:p>
                      <a:pPr algn="l"/>
                      <a:r>
                        <a:rPr sz="700" b="0">
                          <a:solidFill>
                            <a:srgbClr val="141414"/>
                          </a:solidFill>
                          <a:latin typeface="Plus Jakarta Sans"/>
                        </a:rPr>
                        <a:t>Open</a:t>
                      </a:r>
                    </a:p>
                  </a:txBody>
                  <a:tcPr marL="45720" marR="45720" marT="18288" marB="18288" anchor="ctr">
                    <a:solidFill>
                      <a:srgbClr val="F6F8F6"/>
                    </a:solidFill>
                  </a:tcPr>
                </a:tc>
                <a:tc>
                  <a:txBody>
                    <a:bodyPr wrap="square"/>
                    <a:lstStyle/>
                    <a:p>
                      <a:pPr algn="l"/>
                      <a:r>
                        <a:rPr sz="700" b="0">
                          <a:solidFill>
                            <a:srgbClr val="141414"/>
                          </a:solidFill>
                          <a:latin typeface="Plus Jakarta Sans"/>
                        </a:rPr>
                        <a:t>No</a:t>
                      </a:r>
                    </a:p>
                  </a:txBody>
                  <a:tcPr marL="45720" marR="45720" marT="18288" marB="18288" anchor="ctr">
                    <a:solidFill>
                      <a:srgbClr val="FFF6D6"/>
                    </a:solidFill>
                  </a:tcPr>
                </a:tc>
              </a:tr>
              <a:tr h="246888">
                <a:tc>
                  <a:txBody>
                    <a:bodyPr wrap="square"/>
                    <a:lstStyle/>
                    <a:p>
                      <a:pPr algn="l"/>
                      <a:r>
                        <a:rPr sz="700" b="0">
                          <a:solidFill>
                            <a:srgbClr val="141414"/>
                          </a:solidFill>
                          <a:latin typeface="Plus Jakarta Sans"/>
                        </a:rPr>
                        <a:t>#B2C26804</a:t>
                      </a:r>
                    </a:p>
                  </a:txBody>
                  <a:tcPr marL="45720" marR="45720" marT="18288" marB="18288" anchor="ctr">
                    <a:solidFill>
                      <a:srgbClr val="FFFFFF"/>
                    </a:solidFill>
                  </a:tcPr>
                </a:tc>
                <a:tc>
                  <a:txBody>
                    <a:bodyPr wrap="square"/>
                    <a:lstStyle/>
                    <a:p>
                      <a:pPr algn="l"/>
                      <a:r>
                        <a:rPr sz="700" b="0">
                          <a:solidFill>
                            <a:srgbClr val="141414"/>
                          </a:solidFill>
                          <a:latin typeface="Plus Jakarta Sans"/>
                        </a:rPr>
                        <a:t>Joko Prestiwo</a:t>
                      </a:r>
                    </a:p>
                  </a:txBody>
                  <a:tcPr marL="45720" marR="45720" marT="18288" marB="18288" anchor="ctr">
                    <a:solidFill>
                      <a:srgbClr val="FFFFFF"/>
                    </a:solidFill>
                  </a:tcPr>
                </a:tc>
                <a:tc>
                  <a:txBody>
                    <a:bodyPr wrap="square"/>
                    <a:lstStyle/>
                    <a:p>
                      <a:pPr algn="l"/>
                      <a:r>
                        <a:rPr sz="700" b="0">
                          <a:solidFill>
                            <a:srgbClr val="141414"/>
                          </a:solidFill>
                          <a:latin typeface="Plus Jakarta Sans"/>
                        </a:rPr>
                        <a:t>NPK Sawit 13-8-27 Pak Tani</a:t>
                      </a:r>
                    </a:p>
                  </a:txBody>
                  <a:tcPr marL="45720" marR="45720" marT="18288" marB="18288" anchor="ctr">
                    <a:solidFill>
                      <a:srgbClr val="FFFFFF"/>
                    </a:solidFill>
                  </a:tcPr>
                </a:tc>
                <a:tc>
                  <a:txBody>
                    <a:bodyPr wrap="square"/>
                    <a:lstStyle/>
                    <a:p>
                      <a:pPr algn="r"/>
                      <a:r>
                        <a:rPr sz="700" b="0">
                          <a:solidFill>
                            <a:srgbClr val="141414"/>
                          </a:solidFill>
                          <a:latin typeface="Plus Jakarta Sans"/>
                        </a:rPr>
                        <a:t>90 sacks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Rp57M</a:t>
                      </a:r>
                    </a:p>
                  </a:txBody>
                  <a:tcPr marL="45720" marR="45720" marT="18288" marB="18288" anchor="ctr">
                    <a:solidFill>
                      <a:srgbClr val="FFFFFF"/>
                    </a:solidFill>
                  </a:tcPr>
                </a:tc>
                <a:tc>
                  <a:txBody>
                    <a:bodyPr wrap="square"/>
                    <a:lstStyle/>
                    <a:p>
                      <a:pPr algn="l"/>
                      <a:r>
                        <a:rPr sz="700" b="0">
                          <a:solidFill>
                            <a:srgbClr val="141414"/>
                          </a:solidFill>
                          <a:latin typeface="Plus Jakarta Sans"/>
                        </a:rPr>
                        <a:t>Partly paid</a:t>
                      </a:r>
                    </a:p>
                  </a:txBody>
                  <a:tcPr marL="45720" marR="45720" marT="18288" marB="18288" anchor="ctr">
                    <a:solidFill>
                      <a:srgbClr val="FFFFFF"/>
                    </a:solidFill>
                  </a:tcPr>
                </a:tc>
                <a:tc>
                  <a:txBody>
                    <a:bodyPr wrap="square"/>
                    <a:lstStyle/>
                    <a:p>
                      <a:pPr algn="l"/>
                      <a:r>
                        <a:rPr sz="700" b="0">
                          <a:solidFill>
                            <a:srgbClr val="141414"/>
                          </a:solidFill>
                          <a:latin typeface="Plus Jakarta Sans"/>
                        </a:rPr>
                        <a:t>Open</a:t>
                      </a:r>
                    </a:p>
                  </a:txBody>
                  <a:tcPr marL="45720" marR="45720" marT="18288" marB="18288" anchor="ctr">
                    <a:solidFill>
                      <a:srgbClr val="FFFFFF"/>
                    </a:solidFill>
                  </a:tcPr>
                </a:tc>
                <a:tc>
                  <a:txBody>
                    <a:bodyPr wrap="square"/>
                    <a:lstStyle/>
                    <a:p>
                      <a:pPr algn="l"/>
                      <a:r>
                        <a:rPr sz="700" b="0">
                          <a:solidFill>
                            <a:srgbClr val="141414"/>
                          </a:solidFill>
                          <a:latin typeface="Plus Jakarta Sans"/>
                        </a:rPr>
                        <a:t>No</a:t>
                      </a:r>
                    </a:p>
                  </a:txBody>
                  <a:tcPr marL="45720" marR="45720" marT="18288" marB="18288" anchor="ctr">
                    <a:solidFill>
                      <a:srgbClr val="FFF6D6"/>
                    </a:solidFill>
                  </a:tcPr>
                </a:tc>
              </a:tr>
              <a:tr h="246888">
                <a:tc>
                  <a:txBody>
                    <a:bodyPr wrap="square"/>
                    <a:lstStyle/>
                    <a:p>
                      <a:pPr algn="l"/>
                      <a:r>
                        <a:rPr sz="700" b="0">
                          <a:solidFill>
                            <a:srgbClr val="141414"/>
                          </a:solidFill>
                          <a:latin typeface="Plus Jakarta Sans"/>
                        </a:rPr>
                        <a:t>#B2C26992</a:t>
                      </a:r>
                    </a:p>
                  </a:txBody>
                  <a:tcPr marL="45720" marR="45720" marT="18288" marB="18288" anchor="ctr">
                    <a:solidFill>
                      <a:srgbClr val="F6F8F6"/>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6F8F6"/>
                    </a:solidFill>
                  </a:tcPr>
                </a:tc>
                <a:tc>
                  <a:txBody>
                    <a:bodyPr wrap="square"/>
                    <a:lstStyle/>
                    <a:p>
                      <a:pPr algn="l"/>
                      <a:r>
                        <a:rPr sz="700" b="0">
                          <a:solidFill>
                            <a:srgbClr val="141414"/>
                          </a:solidFill>
                          <a:latin typeface="Plus Jakarta Sans"/>
                        </a:rPr>
                        <a:t>NPK DGW 13-8-27 TE</a:t>
                      </a:r>
                    </a:p>
                  </a:txBody>
                  <a:tcPr marL="45720" marR="45720" marT="18288" marB="18288" anchor="ctr">
                    <a:solidFill>
                      <a:srgbClr val="F6F8F6"/>
                    </a:solidFill>
                  </a:tcPr>
                </a:tc>
                <a:tc>
                  <a:txBody>
                    <a:bodyPr wrap="square"/>
                    <a:lstStyle/>
                    <a:p>
                      <a:pPr algn="r"/>
                      <a:r>
                        <a:rPr sz="700" b="0">
                          <a:solidFill>
                            <a:srgbClr val="141414"/>
                          </a:solidFill>
                          <a:latin typeface="Plus Jakarta Sans"/>
                        </a:rPr>
                        <a:t>79 sacks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Rp42.7M</a:t>
                      </a:r>
                    </a:p>
                  </a:txBody>
                  <a:tcPr marL="45720" marR="45720" marT="18288" marB="18288" anchor="ctr">
                    <a:solidFill>
                      <a:srgbClr val="F6F8F6"/>
                    </a:solidFill>
                  </a:tcPr>
                </a:tc>
                <a:tc>
                  <a:txBody>
                    <a:bodyPr wrap="square"/>
                    <a:lstStyle/>
                    <a:p>
                      <a:pPr algn="l"/>
                      <a:r>
                        <a:rPr sz="700" b="0">
                          <a:solidFill>
                            <a:srgbClr val="141414"/>
                          </a:solidFill>
                          <a:latin typeface="Plus Jakarta Sans"/>
                        </a:rPr>
                        <a:t>Paid</a:t>
                      </a:r>
                    </a:p>
                  </a:txBody>
                  <a:tcPr marL="45720" marR="45720" marT="18288" marB="18288" anchor="ctr">
                    <a:solidFill>
                      <a:srgbClr val="F6F8F6"/>
                    </a:solidFill>
                  </a:tcPr>
                </a:tc>
                <a:tc>
                  <a:txBody>
                    <a:bodyPr wrap="square"/>
                    <a:lstStyle/>
                    <a:p>
                      <a:pPr algn="l"/>
                      <a:r>
                        <a:rPr sz="700" b="0">
                          <a:solidFill>
                            <a:srgbClr val="141414"/>
                          </a:solidFill>
                          <a:latin typeface="Plus Jakarta Sans"/>
                        </a:rPr>
                        <a:t>Open</a:t>
                      </a:r>
                    </a:p>
                  </a:txBody>
                  <a:tcPr marL="45720" marR="45720" marT="18288" marB="18288" anchor="ctr">
                    <a:solidFill>
                      <a:srgbClr val="F6F8F6"/>
                    </a:solidFill>
                  </a:tcPr>
                </a:tc>
                <a:tc>
                  <a:txBody>
                    <a:bodyPr wrap="square"/>
                    <a:lstStyle/>
                    <a:p>
                      <a:pPr algn="l"/>
                      <a:r>
                        <a:rPr sz="700" b="0">
                          <a:solidFill>
                            <a:srgbClr val="141414"/>
                          </a:solidFill>
                          <a:latin typeface="Plus Jakarta Sans"/>
                        </a:rPr>
                        <a:t>Yes</a:t>
                      </a:r>
                    </a:p>
                  </a:txBody>
                  <a:tcPr marL="45720" marR="45720" marT="18288" marB="18288" anchor="ctr">
                    <a:solidFill>
                      <a:srgbClr val="F6F8F6"/>
                    </a:solidFill>
                  </a:tcPr>
                </a:tc>
              </a:tr>
              <a:tr h="246888">
                <a:tc>
                  <a:txBody>
                    <a:bodyPr wrap="square"/>
                    <a:lstStyle/>
                    <a:p>
                      <a:pPr algn="l"/>
                      <a:r>
                        <a:rPr sz="700" b="0">
                          <a:solidFill>
                            <a:srgbClr val="141414"/>
                          </a:solidFill>
                          <a:latin typeface="Plus Jakarta Sans"/>
                        </a:rPr>
                        <a:t>#B2C26851</a:t>
                      </a:r>
                    </a:p>
                  </a:txBody>
                  <a:tcPr marL="45720" marR="45720" marT="18288" marB="18288" anchor="ctr">
                    <a:solidFill>
                      <a:srgbClr val="FFFFFF"/>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Mahkota, RP Mahkota, NPK Saw…</a:t>
                      </a:r>
                    </a:p>
                  </a:txBody>
                  <a:tcPr marL="45720" marR="45720" marT="18288" marB="18288" anchor="ctr">
                    <a:solidFill>
                      <a:srgbClr val="FFFFFF"/>
                    </a:solidFill>
                  </a:tcPr>
                </a:tc>
                <a:tc>
                  <a:txBody>
                    <a:bodyPr wrap="square"/>
                    <a:lstStyle/>
                    <a:p>
                      <a:pPr algn="r"/>
                      <a:r>
                        <a:rPr sz="700" b="0">
                          <a:solidFill>
                            <a:srgbClr val="141414"/>
                          </a:solidFill>
                          <a:latin typeface="Plus Jakarta Sans"/>
                        </a:rPr>
                        <a:t>45 sacks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Rp19.5M</a:t>
                      </a:r>
                    </a:p>
                  </a:txBody>
                  <a:tcPr marL="45720" marR="45720" marT="18288" marB="18288" anchor="ctr">
                    <a:solidFill>
                      <a:srgbClr val="FFFFFF"/>
                    </a:solidFill>
                  </a:tcPr>
                </a:tc>
                <a:tc>
                  <a:txBody>
                    <a:bodyPr wrap="square"/>
                    <a:lstStyle/>
                    <a:p>
                      <a:pPr algn="l"/>
                      <a:r>
                        <a:rPr sz="700" b="0">
                          <a:solidFill>
                            <a:srgbClr val="141414"/>
                          </a:solidFill>
                          <a:latin typeface="Plus Jakarta Sans"/>
                        </a:rPr>
                        <a:t>Paid</a:t>
                      </a:r>
                    </a:p>
                  </a:txBody>
                  <a:tcPr marL="45720" marR="45720" marT="18288" marB="18288" anchor="ctr">
                    <a:solidFill>
                      <a:srgbClr val="FFFFFF"/>
                    </a:solidFill>
                  </a:tcPr>
                </a:tc>
                <a:tc>
                  <a:txBody>
                    <a:bodyPr wrap="square"/>
                    <a:lstStyle/>
                    <a:p>
                      <a:pPr algn="l"/>
                      <a:r>
                        <a:rPr sz="700" b="0">
                          <a:solidFill>
                            <a:srgbClr val="141414"/>
                          </a:solidFill>
                          <a:latin typeface="Plus Jakarta Sans"/>
                        </a:rPr>
                        <a:t>Completed</a:t>
                      </a:r>
                    </a:p>
                  </a:txBody>
                  <a:tcPr marL="45720" marR="45720" marT="18288" marB="18288" anchor="ctr">
                    <a:solidFill>
                      <a:srgbClr val="FFFFFF"/>
                    </a:solidFill>
                  </a:tcPr>
                </a:tc>
                <a:tc>
                  <a:txBody>
                    <a:bodyPr wrap="square"/>
                    <a:lstStyle/>
                    <a:p>
                      <a:pPr algn="l"/>
                      <a:r>
                        <a:rPr sz="700" b="0">
                          <a:solidFill>
                            <a:srgbClr val="141414"/>
                          </a:solidFill>
                          <a:latin typeface="Plus Jakarta Sans"/>
                        </a:rPr>
                        <a:t>Yes</a:t>
                      </a:r>
                    </a:p>
                  </a:txBody>
                  <a:tcPr marL="45720" marR="45720" marT="18288" marB="18288" anchor="ctr">
                    <a:solidFill>
                      <a:srgbClr val="FFFFFF"/>
                    </a:solidFill>
                  </a:tcPr>
                </a:tc>
              </a:tr>
              <a:tr h="246888">
                <a:tc>
                  <a:txBody>
                    <a:bodyPr wrap="square"/>
                    <a:lstStyle/>
                    <a:p>
                      <a:pPr algn="l"/>
                      <a:r>
                        <a:rPr sz="700" b="0">
                          <a:solidFill>
                            <a:srgbClr val="141414"/>
                          </a:solidFill>
                          <a:latin typeface="Plus Jakarta Sans"/>
                        </a:rPr>
                        <a:t>#B2C26784</a:t>
                      </a:r>
                    </a:p>
                  </a:txBody>
                  <a:tcPr marL="45720" marR="45720" marT="18288" marB="18288" anchor="ctr">
                    <a:solidFill>
                      <a:srgbClr val="F6F8F6"/>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Mahkota</a:t>
                      </a:r>
                    </a:p>
                  </a:txBody>
                  <a:tcPr marL="45720" marR="45720" marT="18288" marB="18288" anchor="ctr">
                    <a:solidFill>
                      <a:srgbClr val="F6F8F6"/>
                    </a:solidFill>
                  </a:tcPr>
                </a:tc>
                <a:tc>
                  <a:txBody>
                    <a:bodyPr wrap="square"/>
                    <a:lstStyle/>
                    <a:p>
                      <a:pPr algn="r"/>
                      <a:r>
                        <a:rPr sz="700" b="0">
                          <a:solidFill>
                            <a:srgbClr val="141414"/>
                          </a:solidFill>
                          <a:latin typeface="Plus Jakarta Sans"/>
                        </a:rPr>
                        <a:t>30 sacks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Rp12.6M</a:t>
                      </a:r>
                    </a:p>
                  </a:txBody>
                  <a:tcPr marL="45720" marR="45720" marT="18288" marB="18288" anchor="ctr">
                    <a:solidFill>
                      <a:srgbClr val="F6F8F6"/>
                    </a:solidFill>
                  </a:tcPr>
                </a:tc>
                <a:tc>
                  <a:txBody>
                    <a:bodyPr wrap="square"/>
                    <a:lstStyle/>
                    <a:p>
                      <a:pPr algn="l"/>
                      <a:r>
                        <a:rPr sz="700" b="0">
                          <a:solidFill>
                            <a:srgbClr val="141414"/>
                          </a:solidFill>
                          <a:latin typeface="Plus Jakarta Sans"/>
                        </a:rPr>
                        <a:t>Paid</a:t>
                      </a:r>
                    </a:p>
                  </a:txBody>
                  <a:tcPr marL="45720" marR="45720" marT="18288" marB="18288" anchor="ctr">
                    <a:solidFill>
                      <a:srgbClr val="F6F8F6"/>
                    </a:solidFill>
                  </a:tcPr>
                </a:tc>
                <a:tc>
                  <a:txBody>
                    <a:bodyPr wrap="square"/>
                    <a:lstStyle/>
                    <a:p>
                      <a:pPr algn="l"/>
                      <a:r>
                        <a:rPr sz="700" b="0">
                          <a:solidFill>
                            <a:srgbClr val="141414"/>
                          </a:solidFill>
                          <a:latin typeface="Plus Jakarta Sans"/>
                        </a:rPr>
                        <a:t>Completed</a:t>
                      </a:r>
                    </a:p>
                  </a:txBody>
                  <a:tcPr marL="45720" marR="45720" marT="18288" marB="18288" anchor="ctr">
                    <a:solidFill>
                      <a:srgbClr val="F6F8F6"/>
                    </a:solidFill>
                  </a:tcPr>
                </a:tc>
                <a:tc>
                  <a:txBody>
                    <a:bodyPr wrap="square"/>
                    <a:lstStyle/>
                    <a:p>
                      <a:pPr algn="l"/>
                      <a:r>
                        <a:rPr sz="700" b="0">
                          <a:solidFill>
                            <a:srgbClr val="141414"/>
                          </a:solidFill>
                          <a:latin typeface="Plus Jakarta Sans"/>
                        </a:rPr>
                        <a:t>Yes</a:t>
                      </a:r>
                    </a:p>
                  </a:txBody>
                  <a:tcPr marL="45720" marR="45720" marT="18288" marB="18288" anchor="ctr">
                    <a:solidFill>
                      <a:srgbClr val="F6F8F6"/>
                    </a:solidFill>
                  </a:tcPr>
                </a:tc>
              </a:tr>
              <a:tr h="246888">
                <a:tc>
                  <a:txBody>
                    <a:bodyPr wrap="square"/>
                    <a:lstStyle/>
                    <a:p>
                      <a:pPr algn="l"/>
                      <a:r>
                        <a:rPr sz="700" b="0">
                          <a:solidFill>
                            <a:srgbClr val="141414"/>
                          </a:solidFill>
                          <a:latin typeface="Plus Jakarta Sans"/>
                        </a:rPr>
                        <a:t>#B2C26877</a:t>
                      </a:r>
                    </a:p>
                  </a:txBody>
                  <a:tcPr marL="45720" marR="45720" marT="18288" marB="18288" anchor="ctr">
                    <a:solidFill>
                      <a:srgbClr val="FFFFFF"/>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Sasco</a:t>
                      </a:r>
                    </a:p>
                  </a:txBody>
                  <a:tcPr marL="45720" marR="45720" marT="18288" marB="18288" anchor="ctr">
                    <a:solidFill>
                      <a:srgbClr val="FFFFFF"/>
                    </a:solidFill>
                  </a:tcPr>
                </a:tc>
                <a:tc>
                  <a:txBody>
                    <a:bodyPr wrap="square"/>
                    <a:lstStyle/>
                    <a:p>
                      <a:pPr algn="r"/>
                      <a:r>
                        <a:rPr sz="700" b="0">
                          <a:solidFill>
                            <a:srgbClr val="141414"/>
                          </a:solidFill>
                          <a:latin typeface="Plus Jakarta Sans"/>
                        </a:rPr>
                        <a:t>24 sacks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Rp9.8M</a:t>
                      </a:r>
                    </a:p>
                  </a:txBody>
                  <a:tcPr marL="45720" marR="45720" marT="18288" marB="18288" anchor="ctr">
                    <a:solidFill>
                      <a:srgbClr val="FFFFFF"/>
                    </a:solidFill>
                  </a:tcPr>
                </a:tc>
                <a:tc>
                  <a:txBody>
                    <a:bodyPr wrap="square"/>
                    <a:lstStyle/>
                    <a:p>
                      <a:pPr algn="l"/>
                      <a:r>
                        <a:rPr sz="700" b="0">
                          <a:solidFill>
                            <a:srgbClr val="141414"/>
                          </a:solidFill>
                          <a:latin typeface="Plus Jakarta Sans"/>
                        </a:rPr>
                        <a:t>Partly paid</a:t>
                      </a:r>
                    </a:p>
                  </a:txBody>
                  <a:tcPr marL="45720" marR="45720" marT="18288" marB="18288" anchor="ctr">
                    <a:solidFill>
                      <a:srgbClr val="FFFFFF"/>
                    </a:solidFill>
                  </a:tcPr>
                </a:tc>
                <a:tc>
                  <a:txBody>
                    <a:bodyPr wrap="square"/>
                    <a:lstStyle/>
                    <a:p>
                      <a:pPr algn="l"/>
                      <a:r>
                        <a:rPr sz="700" b="0">
                          <a:solidFill>
                            <a:srgbClr val="141414"/>
                          </a:solidFill>
                          <a:latin typeface="Plus Jakarta Sans"/>
                        </a:rPr>
                        <a:t>Open</a:t>
                      </a:r>
                    </a:p>
                  </a:txBody>
                  <a:tcPr marL="45720" marR="45720" marT="18288" marB="18288" anchor="ctr">
                    <a:solidFill>
                      <a:srgbClr val="FFFFFF"/>
                    </a:solidFill>
                  </a:tcPr>
                </a:tc>
                <a:tc>
                  <a:txBody>
                    <a:bodyPr wrap="square"/>
                    <a:lstStyle/>
                    <a:p>
                      <a:pPr algn="l"/>
                      <a:r>
                        <a:rPr sz="700" b="0">
                          <a:solidFill>
                            <a:srgbClr val="141414"/>
                          </a:solidFill>
                          <a:latin typeface="Plus Jakarta Sans"/>
                        </a:rPr>
                        <a:t>No</a:t>
                      </a:r>
                    </a:p>
                  </a:txBody>
                  <a:tcPr marL="45720" marR="45720" marT="18288" marB="18288" anchor="ctr">
                    <a:solidFill>
                      <a:srgbClr val="FFF6D6"/>
                    </a:solidFill>
                  </a:tcPr>
                </a:tc>
              </a:tr>
              <a:tr h="246888">
                <a:tc>
                  <a:txBody>
                    <a:bodyPr wrap="square"/>
                    <a:lstStyle/>
                    <a:p>
                      <a:pPr algn="l"/>
                      <a:r>
                        <a:rPr sz="700" b="0">
                          <a:solidFill>
                            <a:srgbClr val="141414"/>
                          </a:solidFill>
                          <a:latin typeface="Plus Jakarta Sans"/>
                        </a:rPr>
                        <a:t>#B2C26876</a:t>
                      </a:r>
                    </a:p>
                  </a:txBody>
                  <a:tcPr marL="45720" marR="45720" marT="18288" marB="18288" anchor="ctr">
                    <a:solidFill>
                      <a:srgbClr val="F6F8F6"/>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Mahkota</a:t>
                      </a:r>
                    </a:p>
                  </a:txBody>
                  <a:tcPr marL="45720" marR="45720" marT="18288" marB="18288" anchor="ctr">
                    <a:solidFill>
                      <a:srgbClr val="F6F8F6"/>
                    </a:solidFill>
                  </a:tcPr>
                </a:tc>
                <a:tc>
                  <a:txBody>
                    <a:bodyPr wrap="square"/>
                    <a:lstStyle/>
                    <a:p>
                      <a:pPr algn="r"/>
                      <a:r>
                        <a:rPr sz="700" b="0">
                          <a:solidFill>
                            <a:srgbClr val="141414"/>
                          </a:solidFill>
                          <a:latin typeface="Plus Jakarta Sans"/>
                        </a:rPr>
                        <a:t>15 sacks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Rp6.3M</a:t>
                      </a:r>
                    </a:p>
                  </a:txBody>
                  <a:tcPr marL="45720" marR="45720" marT="18288" marB="18288" anchor="ctr">
                    <a:solidFill>
                      <a:srgbClr val="F6F8F6"/>
                    </a:solidFill>
                  </a:tcPr>
                </a:tc>
                <a:tc>
                  <a:txBody>
                    <a:bodyPr wrap="square"/>
                    <a:lstStyle/>
                    <a:p>
                      <a:pPr algn="l"/>
                      <a:r>
                        <a:rPr sz="700" b="0">
                          <a:solidFill>
                            <a:srgbClr val="141414"/>
                          </a:solidFill>
                          <a:latin typeface="Plus Jakarta Sans"/>
                        </a:rPr>
                        <a:t>Paid</a:t>
                      </a:r>
                    </a:p>
                  </a:txBody>
                  <a:tcPr marL="45720" marR="45720" marT="18288" marB="18288" anchor="ctr">
                    <a:solidFill>
                      <a:srgbClr val="F6F8F6"/>
                    </a:solidFill>
                  </a:tcPr>
                </a:tc>
                <a:tc>
                  <a:txBody>
                    <a:bodyPr wrap="square"/>
                    <a:lstStyle/>
                    <a:p>
                      <a:pPr algn="l"/>
                      <a:r>
                        <a:rPr sz="700" b="0">
                          <a:solidFill>
                            <a:srgbClr val="141414"/>
                          </a:solidFill>
                          <a:latin typeface="Plus Jakarta Sans"/>
                        </a:rPr>
                        <a:t>Completed</a:t>
                      </a:r>
                    </a:p>
                  </a:txBody>
                  <a:tcPr marL="45720" marR="45720" marT="18288" marB="18288" anchor="ctr">
                    <a:solidFill>
                      <a:srgbClr val="F6F8F6"/>
                    </a:solidFill>
                  </a:tcPr>
                </a:tc>
                <a:tc>
                  <a:txBody>
                    <a:bodyPr wrap="square"/>
                    <a:lstStyle/>
                    <a:p>
                      <a:pPr algn="l"/>
                      <a:r>
                        <a:rPr sz="700" b="0">
                          <a:solidFill>
                            <a:srgbClr val="141414"/>
                          </a:solidFill>
                          <a:latin typeface="Plus Jakarta Sans"/>
                        </a:rPr>
                        <a:t>Yes</a:t>
                      </a:r>
                    </a:p>
                  </a:txBody>
                  <a:tcPr marL="45720" marR="45720" marT="18288" marB="18288" anchor="ctr">
                    <a:solidFill>
                      <a:srgbClr val="F6F8F6"/>
                    </a:solidFill>
                  </a:tcPr>
                </a:tc>
              </a:tr>
              <a:tr h="246888">
                <a:tc>
                  <a:txBody>
                    <a:bodyPr wrap="square"/>
                    <a:lstStyle/>
                    <a:p>
                      <a:pPr algn="l"/>
                      <a:r>
                        <a:rPr sz="700" b="0">
                          <a:solidFill>
                            <a:srgbClr val="141414"/>
                          </a:solidFill>
                          <a:latin typeface="Plus Jakarta Sans"/>
                        </a:rPr>
                        <a:t>#B2C26761</a:t>
                      </a:r>
                    </a:p>
                  </a:txBody>
                  <a:tcPr marL="45720" marR="45720" marT="18288" marB="18288" anchor="ctr">
                    <a:solidFill>
                      <a:srgbClr val="FFFFFF"/>
                    </a:solidFill>
                  </a:tcPr>
                </a:tc>
                <a:tc>
                  <a:txBody>
                    <a:bodyPr wrap="square"/>
                    <a:lstStyle/>
                    <a:p>
                      <a:pPr algn="l"/>
                      <a:r>
                        <a:rPr sz="700" b="0">
                          <a:solidFill>
                            <a:srgbClr val="141414"/>
                          </a:solidFill>
                          <a:latin typeface="Plus Jakarta Sans"/>
                        </a:rPr>
                        <a:t>Muhammad Abdul Wahab</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FFFFF"/>
                    </a:solidFill>
                  </a:tcPr>
                </a:tc>
                <a:tc>
                  <a:txBody>
                    <a:bodyPr wrap="square"/>
                    <a:lstStyle/>
                    <a:p>
                      <a:pPr algn="r"/>
                      <a:r>
                        <a:rPr sz="700" b="0">
                          <a:solidFill>
                            <a:srgbClr val="141414"/>
                          </a:solidFill>
                          <a:latin typeface="Plus Jakarta Sans"/>
                        </a:rPr>
                        <a:t>5 packs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Rp6.1M</a:t>
                      </a:r>
                    </a:p>
                  </a:txBody>
                  <a:tcPr marL="45720" marR="45720" marT="18288" marB="18288" anchor="ctr">
                    <a:solidFill>
                      <a:srgbClr val="FFFFFF"/>
                    </a:solidFill>
                  </a:tcPr>
                </a:tc>
                <a:tc>
                  <a:txBody>
                    <a:bodyPr wrap="square"/>
                    <a:lstStyle/>
                    <a:p>
                      <a:pPr algn="l"/>
                      <a:r>
                        <a:rPr sz="700" b="0">
                          <a:solidFill>
                            <a:srgbClr val="141414"/>
                          </a:solidFill>
                          <a:latin typeface="Plus Jakarta Sans"/>
                        </a:rPr>
                        <a:t>Paid</a:t>
                      </a:r>
                    </a:p>
                  </a:txBody>
                  <a:tcPr marL="45720" marR="45720" marT="18288" marB="18288" anchor="ctr">
                    <a:solidFill>
                      <a:srgbClr val="FFFFFF"/>
                    </a:solidFill>
                  </a:tcPr>
                </a:tc>
                <a:tc>
                  <a:txBody>
                    <a:bodyPr wrap="square"/>
                    <a:lstStyle/>
                    <a:p>
                      <a:pPr algn="l"/>
                      <a:r>
                        <a:rPr sz="700" b="0">
                          <a:solidFill>
                            <a:srgbClr val="141414"/>
                          </a:solidFill>
                          <a:latin typeface="Plus Jakarta Sans"/>
                        </a:rPr>
                        <a:t>Open</a:t>
                      </a:r>
                    </a:p>
                  </a:txBody>
                  <a:tcPr marL="45720" marR="45720" marT="18288" marB="18288" anchor="ctr">
                    <a:solidFill>
                      <a:srgbClr val="FFFFFF"/>
                    </a:solidFill>
                  </a:tcPr>
                </a:tc>
                <a:tc>
                  <a:txBody>
                    <a:bodyPr wrap="square"/>
                    <a:lstStyle/>
                    <a:p>
                      <a:pPr algn="l"/>
                      <a:r>
                        <a:rPr sz="700" b="0">
                          <a:solidFill>
                            <a:srgbClr val="141414"/>
                          </a:solidFill>
                          <a:latin typeface="Plus Jakarta Sans"/>
                        </a:rPr>
                        <a:t>No</a:t>
                      </a:r>
                    </a:p>
                  </a:txBody>
                  <a:tcPr marL="45720" marR="45720" marT="18288" marB="18288" anchor="ctr">
                    <a:solidFill>
                      <a:srgbClr val="FFF6D6"/>
                    </a:solidFill>
                  </a:tcPr>
                </a:tc>
              </a:tr>
              <a:tr h="246888">
                <a:tc>
                  <a:txBody>
                    <a:bodyPr wrap="square"/>
                    <a:lstStyle/>
                    <a:p>
                      <a:pPr algn="l"/>
                      <a:r>
                        <a:rPr sz="700" b="0">
                          <a:solidFill>
                            <a:srgbClr val="141414"/>
                          </a:solidFill>
                          <a:latin typeface="Plus Jakarta Sans"/>
                        </a:rPr>
                        <a:t>#B2C26862</a:t>
                      </a:r>
                    </a:p>
                  </a:txBody>
                  <a:tcPr marL="45720" marR="45720" marT="18288" marB="18288" anchor="ctr">
                    <a:solidFill>
                      <a:srgbClr val="F6F8F6"/>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6F8F6"/>
                    </a:solidFill>
                  </a:tcPr>
                </a:tc>
                <a:tc>
                  <a:txBody>
                    <a:bodyPr wrap="square"/>
                    <a:lstStyle/>
                    <a:p>
                      <a:pPr algn="l"/>
                      <a:r>
                        <a:rPr sz="700" b="0">
                          <a:solidFill>
                            <a:srgbClr val="141414"/>
                          </a:solidFill>
                          <a:latin typeface="Plus Jakarta Sans"/>
                        </a:rPr>
                        <a:t>Elang 480 SL</a:t>
                      </a:r>
                    </a:p>
                  </a:txBody>
                  <a:tcPr marL="45720" marR="45720" marT="18288" marB="18288" anchor="ctr">
                    <a:solidFill>
                      <a:srgbClr val="F6F8F6"/>
                    </a:solidFill>
                  </a:tcPr>
                </a:tc>
                <a:tc>
                  <a:txBody>
                    <a:bodyPr wrap="square"/>
                    <a:lstStyle/>
                    <a:p>
                      <a:pPr algn="r"/>
                      <a:r>
                        <a:rPr sz="700" b="0">
                          <a:solidFill>
                            <a:srgbClr val="141414"/>
                          </a:solidFill>
                          <a:latin typeface="Plus Jakarta Sans"/>
                        </a:rPr>
                        <a:t>2 units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Rp2M</a:t>
                      </a:r>
                    </a:p>
                  </a:txBody>
                  <a:tcPr marL="45720" marR="45720" marT="18288" marB="18288" anchor="ctr">
                    <a:solidFill>
                      <a:srgbClr val="F6F8F6"/>
                    </a:solidFill>
                  </a:tcPr>
                </a:tc>
                <a:tc>
                  <a:txBody>
                    <a:bodyPr wrap="square"/>
                    <a:lstStyle/>
                    <a:p>
                      <a:pPr algn="l"/>
                      <a:r>
                        <a:rPr sz="700" b="0">
                          <a:solidFill>
                            <a:srgbClr val="141414"/>
                          </a:solidFill>
                          <a:latin typeface="Plus Jakarta Sans"/>
                        </a:rPr>
                        <a:t>Paid</a:t>
                      </a:r>
                    </a:p>
                  </a:txBody>
                  <a:tcPr marL="45720" marR="45720" marT="18288" marB="18288" anchor="ctr">
                    <a:solidFill>
                      <a:srgbClr val="F6F8F6"/>
                    </a:solidFill>
                  </a:tcPr>
                </a:tc>
                <a:tc>
                  <a:txBody>
                    <a:bodyPr wrap="square"/>
                    <a:lstStyle/>
                    <a:p>
                      <a:pPr algn="l"/>
                      <a:r>
                        <a:rPr sz="700" b="0">
                          <a:solidFill>
                            <a:srgbClr val="141414"/>
                          </a:solidFill>
                          <a:latin typeface="Plus Jakarta Sans"/>
                        </a:rPr>
                        <a:t>Open</a:t>
                      </a:r>
                    </a:p>
                  </a:txBody>
                  <a:tcPr marL="45720" marR="45720" marT="18288" marB="18288" anchor="ctr">
                    <a:solidFill>
                      <a:srgbClr val="F6F8F6"/>
                    </a:solidFill>
                  </a:tcPr>
                </a:tc>
                <a:tc>
                  <a:txBody>
                    <a:bodyPr wrap="square"/>
                    <a:lstStyle/>
                    <a:p>
                      <a:pPr algn="l"/>
                      <a:r>
                        <a:rPr sz="700" b="0">
                          <a:solidFill>
                            <a:srgbClr val="141414"/>
                          </a:solidFill>
                          <a:latin typeface="Plus Jakarta Sans"/>
                        </a:rPr>
                        <a:t>No</a:t>
                      </a:r>
                    </a:p>
                  </a:txBody>
                  <a:tcPr marL="45720" marR="45720" marT="18288" marB="18288" anchor="ctr">
                    <a:solidFill>
                      <a:srgbClr val="FFF6D6"/>
                    </a:solidFill>
                  </a:tcPr>
                </a:tc>
              </a:tr>
              <a:tr h="246888">
                <a:tc>
                  <a:txBody>
                    <a:bodyPr wrap="square"/>
                    <a:lstStyle/>
                    <a:p>
                      <a:pPr algn="l"/>
                      <a:r>
                        <a:rPr sz="700" b="0">
                          <a:solidFill>
                            <a:srgbClr val="141414"/>
                          </a:solidFill>
                          <a:latin typeface="Plus Jakarta Sans"/>
                        </a:rPr>
                        <a:t>#B2C26785</a:t>
                      </a:r>
                    </a:p>
                  </a:txBody>
                  <a:tcPr marL="45720" marR="45720" marT="18288" marB="18288" anchor="ctr">
                    <a:solidFill>
                      <a:srgbClr val="FFFFFF"/>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FFFFF"/>
                    </a:solidFill>
                  </a:tcPr>
                </a:tc>
                <a:tc>
                  <a:txBody>
                    <a:bodyPr wrap="square"/>
                    <a:lstStyle/>
                    <a:p>
                      <a:pPr algn="l"/>
                      <a:r>
                        <a:rPr sz="700" b="0">
                          <a:solidFill>
                            <a:srgbClr val="141414"/>
                          </a:solidFill>
                          <a:latin typeface="Plus Jakarta Sans"/>
                        </a:rPr>
                        <a:t>Bom Up 520 SL</a:t>
                      </a:r>
                    </a:p>
                  </a:txBody>
                  <a:tcPr marL="45720" marR="45720" marT="18288" marB="18288" anchor="ctr">
                    <a:solidFill>
                      <a:srgbClr val="FFFFFF"/>
                    </a:solidFill>
                  </a:tcPr>
                </a:tc>
                <a:tc>
                  <a:txBody>
                    <a:bodyPr wrap="square"/>
                    <a:lstStyle/>
                    <a:p>
                      <a:pPr algn="r"/>
                      <a:r>
                        <a:rPr sz="700" b="0">
                          <a:solidFill>
                            <a:srgbClr val="141414"/>
                          </a:solidFill>
                          <a:latin typeface="Plus Jakarta Sans"/>
                        </a:rPr>
                        <a:t>1 unit</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Rp1.1M</a:t>
                      </a:r>
                    </a:p>
                  </a:txBody>
                  <a:tcPr marL="45720" marR="45720" marT="18288" marB="18288" anchor="ctr">
                    <a:solidFill>
                      <a:srgbClr val="FFFFFF"/>
                    </a:solidFill>
                  </a:tcPr>
                </a:tc>
                <a:tc>
                  <a:txBody>
                    <a:bodyPr wrap="square"/>
                    <a:lstStyle/>
                    <a:p>
                      <a:pPr algn="l"/>
                      <a:r>
                        <a:rPr sz="700" b="0">
                          <a:solidFill>
                            <a:srgbClr val="141414"/>
                          </a:solidFill>
                          <a:latin typeface="Plus Jakarta Sans"/>
                        </a:rPr>
                        <a:t>Paid</a:t>
                      </a:r>
                    </a:p>
                  </a:txBody>
                  <a:tcPr marL="45720" marR="45720" marT="18288" marB="18288" anchor="ctr">
                    <a:solidFill>
                      <a:srgbClr val="FFFFFF"/>
                    </a:solidFill>
                  </a:tcPr>
                </a:tc>
                <a:tc>
                  <a:txBody>
                    <a:bodyPr wrap="square"/>
                    <a:lstStyle/>
                    <a:p>
                      <a:pPr algn="l"/>
                      <a:r>
                        <a:rPr sz="700" b="0">
                          <a:solidFill>
                            <a:srgbClr val="141414"/>
                          </a:solidFill>
                          <a:latin typeface="Plus Jakarta Sans"/>
                        </a:rPr>
                        <a:t>Completed</a:t>
                      </a:r>
                    </a:p>
                  </a:txBody>
                  <a:tcPr marL="45720" marR="45720" marT="18288" marB="18288" anchor="ctr">
                    <a:solidFill>
                      <a:srgbClr val="FFFFFF"/>
                    </a:solidFill>
                  </a:tcPr>
                </a:tc>
                <a:tc>
                  <a:txBody>
                    <a:bodyPr wrap="square"/>
                    <a:lstStyle/>
                    <a:p>
                      <a:pPr algn="l"/>
                      <a:r>
                        <a:rPr sz="700" b="0">
                          <a:solidFill>
                            <a:srgbClr val="141414"/>
                          </a:solidFill>
                          <a:latin typeface="Plus Jakarta Sans"/>
                        </a:rPr>
                        <a:t>Yes</a:t>
                      </a:r>
                    </a:p>
                  </a:txBody>
                  <a:tcPr marL="45720" marR="45720" marT="18288" marB="18288" anchor="ctr">
                    <a:solidFill>
                      <a:srgbClr val="FFFFFF"/>
                    </a:solidFill>
                  </a:tcPr>
                </a:tc>
              </a:tr>
            </a:tbl>
          </a:graphicData>
        </a:graphic>
      </p:graphicFrame>
      <p:sp>
        <p:nvSpPr>
          <p:cNvPr id="5" name="Rounded Rectangle 4"/>
          <p:cNvSpPr/>
          <p:nvPr/>
        </p:nvSpPr>
        <p:spPr>
          <a:xfrm>
            <a:off x="6510528" y="987552"/>
            <a:ext cx="2176272" cy="822960"/>
          </a:xfrm>
          <a:prstGeom prst="roundRect">
            <a:avLst>
              <a:gd name="adj" fmla="val 6666"/>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38544" y="1078992"/>
            <a:ext cx="1920239" cy="329184"/>
          </a:xfrm>
          <a:prstGeom prst="rect">
            <a:avLst/>
          </a:prstGeom>
          <a:noFill/>
        </p:spPr>
        <p:txBody>
          <a:bodyPr wrap="square" anchor="t" lIns="0" rIns="0" tIns="0" bIns="0">
            <a:spAutoFit/>
          </a:bodyPr>
          <a:lstStyle/>
          <a:p>
            <a:pPr algn="l"/>
            <a:r>
              <a:rPr sz="1700" b="1">
                <a:solidFill>
                  <a:srgbClr val="FFFFFF"/>
                </a:solidFill>
                <a:latin typeface="Plus Jakarta Sans ExtraBold"/>
              </a:rPr>
              <a:t>Rp179M</a:t>
            </a:r>
          </a:p>
        </p:txBody>
      </p:sp>
      <p:sp>
        <p:nvSpPr>
          <p:cNvPr id="7" name="TextBox 6"/>
          <p:cNvSpPr txBox="1"/>
          <p:nvPr/>
        </p:nvSpPr>
        <p:spPr>
          <a:xfrm>
            <a:off x="6638544" y="1426464"/>
            <a:ext cx="1920239" cy="329184"/>
          </a:xfrm>
          <a:prstGeom prst="rect">
            <a:avLst/>
          </a:prstGeom>
          <a:noFill/>
        </p:spPr>
        <p:txBody>
          <a:bodyPr wrap="square" anchor="t" lIns="0" rIns="0" tIns="0" bIns="0">
            <a:spAutoFit/>
          </a:bodyPr>
          <a:lstStyle/>
          <a:p>
            <a:pPr algn="l"/>
            <a:r>
              <a:rPr sz="800" b="0">
                <a:solidFill>
                  <a:srgbClr val="FFFFFF"/>
                </a:solidFill>
                <a:latin typeface="Plus Jakarta Sans"/>
              </a:rPr>
              <a:t>still to collect on 3 partly paid orders (Rp333M sales)</a:t>
            </a:r>
          </a:p>
        </p:txBody>
      </p:sp>
      <p:sp>
        <p:nvSpPr>
          <p:cNvPr id="8" name="Rounded Rectangle 7"/>
          <p:cNvSpPr/>
          <p:nvPr/>
        </p:nvSpPr>
        <p:spPr>
          <a:xfrm>
            <a:off x="6510528" y="1901952"/>
            <a:ext cx="2176272" cy="822960"/>
          </a:xfrm>
          <a:prstGeom prst="roundRect">
            <a:avLst>
              <a:gd name="adj" fmla="val 666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38544" y="1993392"/>
            <a:ext cx="1920239" cy="329184"/>
          </a:xfrm>
          <a:prstGeom prst="rect">
            <a:avLst/>
          </a:prstGeom>
          <a:noFill/>
        </p:spPr>
        <p:txBody>
          <a:bodyPr wrap="square" anchor="t" lIns="0" rIns="0" tIns="0" bIns="0">
            <a:spAutoFit/>
          </a:bodyPr>
          <a:lstStyle/>
          <a:p>
            <a:pPr algn="l"/>
            <a:r>
              <a:rPr sz="1700" b="1">
                <a:solidFill>
                  <a:srgbClr val="007200"/>
                </a:solidFill>
                <a:latin typeface="Plus Jakarta Sans ExtraBold"/>
              </a:rPr>
              <a:t>7/11</a:t>
            </a:r>
          </a:p>
        </p:txBody>
      </p:sp>
      <p:sp>
        <p:nvSpPr>
          <p:cNvPr id="10" name="TextBox 9"/>
          <p:cNvSpPr txBox="1"/>
          <p:nvPr/>
        </p:nvSpPr>
        <p:spPr>
          <a:xfrm>
            <a:off x="6638544" y="2340864"/>
            <a:ext cx="1920239" cy="329184"/>
          </a:xfrm>
          <a:prstGeom prst="rect">
            <a:avLst/>
          </a:prstGeom>
          <a:noFill/>
        </p:spPr>
        <p:txBody>
          <a:bodyPr wrap="square" anchor="t" lIns="0" rIns="0" tIns="0" bIns="0">
            <a:spAutoFit/>
          </a:bodyPr>
          <a:lstStyle/>
          <a:p>
            <a:pPr algn="l"/>
            <a:r>
              <a:rPr sz="800" b="0">
                <a:solidFill>
                  <a:srgbClr val="5C665C"/>
                </a:solidFill>
                <a:latin typeface="Plus Jakarta Sans"/>
              </a:rPr>
              <a:t>orders still open (not completed)</a:t>
            </a:r>
          </a:p>
        </p:txBody>
      </p:sp>
      <p:sp>
        <p:nvSpPr>
          <p:cNvPr id="11" name="Rounded Rectangle 10"/>
          <p:cNvSpPr/>
          <p:nvPr/>
        </p:nvSpPr>
        <p:spPr>
          <a:xfrm>
            <a:off x="6510528" y="2816352"/>
            <a:ext cx="2176272" cy="822960"/>
          </a:xfrm>
          <a:prstGeom prst="roundRect">
            <a:avLst>
              <a:gd name="adj" fmla="val 666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38544" y="2907792"/>
            <a:ext cx="1920239" cy="329184"/>
          </a:xfrm>
          <a:prstGeom prst="rect">
            <a:avLst/>
          </a:prstGeom>
          <a:noFill/>
        </p:spPr>
        <p:txBody>
          <a:bodyPr wrap="square" anchor="t" lIns="0" rIns="0" tIns="0" bIns="0">
            <a:spAutoFit/>
          </a:bodyPr>
          <a:lstStyle/>
          <a:p>
            <a:pPr algn="l"/>
            <a:r>
              <a:rPr sz="1700" b="1">
                <a:solidFill>
                  <a:srgbClr val="007200"/>
                </a:solidFill>
                <a:latin typeface="Plus Jakarta Sans ExtraBold"/>
              </a:rPr>
              <a:t>69%</a:t>
            </a:r>
          </a:p>
        </p:txBody>
      </p:sp>
      <p:sp>
        <p:nvSpPr>
          <p:cNvPr id="13" name="TextBox 12"/>
          <p:cNvSpPr txBox="1"/>
          <p:nvPr/>
        </p:nvSpPr>
        <p:spPr>
          <a:xfrm>
            <a:off x="6638544" y="3255264"/>
            <a:ext cx="1920239" cy="329184"/>
          </a:xfrm>
          <a:prstGeom prst="rect">
            <a:avLst/>
          </a:prstGeom>
          <a:noFill/>
        </p:spPr>
        <p:txBody>
          <a:bodyPr wrap="square" anchor="t" lIns="0" rIns="0" tIns="0" bIns="0">
            <a:spAutoFit/>
          </a:bodyPr>
          <a:lstStyle/>
          <a:p>
            <a:pPr algn="l"/>
            <a:r>
              <a:rPr sz="800" b="0">
                <a:solidFill>
                  <a:srgbClr val="5C665C"/>
                </a:solidFill>
                <a:latin typeface="Plus Jakarta Sans"/>
              </a:rPr>
              <a:t>of sales is Pupuk Grosir (2 wholesale KCL orders)</a:t>
            </a:r>
          </a:p>
        </p:txBody>
      </p:sp>
      <p:sp>
        <p:nvSpPr>
          <p:cNvPr id="14" name="TextBox 13"/>
          <p:cNvSpPr txBox="1"/>
          <p:nvPr/>
        </p:nvSpPr>
        <p:spPr>
          <a:xfrm>
            <a:off x="6510528" y="3749039"/>
            <a:ext cx="2176272" cy="822960"/>
          </a:xfrm>
          <a:prstGeom prst="rect">
            <a:avLst/>
          </a:prstGeom>
          <a:noFill/>
        </p:spPr>
        <p:txBody>
          <a:bodyPr wrap="square" anchor="t" lIns="0" rIns="0" tIns="0" bIns="0">
            <a:spAutoFit/>
          </a:bodyPr>
          <a:lstStyle/>
          <a:p>
            <a:pPr algn="l"/>
            <a:r>
              <a:rPr sz="800" b="0">
                <a:solidFill>
                  <a:srgbClr val="5C665C"/>
                </a:solidFill>
                <a:latin typeface="Plus Jakarta Sans"/>
              </a:rPr>
              <a:t>Wholesale, Topaz and the Mandailing Natal NPK order came from PICs who logged nothing in the CRM this week.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CRM covers Rp82.2M of sales; Rp432M has no record</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SMALLHOLDER · SUCCESS STORY</a:t>
            </a:r>
          </a:p>
        </p:txBody>
      </p:sp>
      <p:sp>
        <p:nvSpPr>
          <p:cNvPr id="4" name="Rounded Rectangle 3"/>
          <p:cNvSpPr/>
          <p:nvPr/>
        </p:nvSpPr>
        <p:spPr>
          <a:xfrm>
            <a:off x="384048" y="987552"/>
            <a:ext cx="4096512" cy="2560320"/>
          </a:xfrm>
          <a:prstGeom prst="roundRect">
            <a:avLst>
              <a:gd name="adj" fmla="val 2142"/>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3840480" cy="201168"/>
          </a:xfrm>
          <a:prstGeom prst="rect">
            <a:avLst/>
          </a:prstGeom>
          <a:noFill/>
        </p:spPr>
        <p:txBody>
          <a:bodyPr wrap="square" anchor="t" lIns="0" rIns="0" tIns="0" bIns="0">
            <a:spAutoFit/>
          </a:bodyPr>
          <a:lstStyle/>
          <a:p>
            <a:pPr algn="l"/>
            <a:r>
              <a:rPr sz="1000" b="1">
                <a:solidFill>
                  <a:srgbClr val="141414"/>
                </a:solidFill>
                <a:latin typeface="Plus Jakarta Sans"/>
              </a:rPr>
              <a:t>CRM success stories (5)</a:t>
            </a:r>
          </a:p>
        </p:txBody>
      </p:sp>
      <p:sp>
        <p:nvSpPr>
          <p:cNvPr id="6" name="TextBox 5"/>
          <p:cNvSpPr txBox="1"/>
          <p:nvPr/>
        </p:nvSpPr>
        <p:spPr>
          <a:xfrm>
            <a:off x="512064" y="1271016"/>
            <a:ext cx="3840480" cy="182880"/>
          </a:xfrm>
          <a:prstGeom prst="rect">
            <a:avLst/>
          </a:prstGeom>
          <a:noFill/>
        </p:spPr>
        <p:txBody>
          <a:bodyPr wrap="square" anchor="t" lIns="0" rIns="0" tIns="0" bIns="0">
            <a:spAutoFit/>
          </a:bodyPr>
          <a:lstStyle/>
          <a:p>
            <a:pPr algn="l"/>
            <a:r>
              <a:rPr sz="750" b="0">
                <a:solidFill>
                  <a:srgbClr val="5C665C"/>
                </a:solidFill>
                <a:latin typeface="Plus Jakarta Sans"/>
              </a:rPr>
              <a:t>Checked against the sales export by phone and product</a:t>
            </a:r>
          </a:p>
        </p:txBody>
      </p:sp>
      <p:graphicFrame>
        <p:nvGraphicFramePr>
          <p:cNvPr id="7" name="Table 6"/>
          <p:cNvGraphicFramePr>
            <a:graphicFrameLocks noGrp="1"/>
          </p:cNvGraphicFramePr>
          <p:nvPr/>
        </p:nvGraphicFramePr>
        <p:xfrm>
          <a:off x="512064" y="1499616"/>
          <a:ext cx="3840477" cy="1645920"/>
        </p:xfrm>
        <a:graphic>
          <a:graphicData uri="http://schemas.openxmlformats.org/drawingml/2006/table">
            <a:tbl>
              <a:tblPr firstRow="1" bandRow="1">
                <a:tableStyleId>{5C22544A-7EE6-4342-B048-85BDC9FD1C3A}</a:tableStyleId>
              </a:tblPr>
              <a:tblGrid>
                <a:gridCol w="735411"/>
                <a:gridCol w="1021404"/>
                <a:gridCol w="694554"/>
                <a:gridCol w="449417"/>
                <a:gridCol w="939691"/>
              </a:tblGrid>
              <a:tr h="274320">
                <a:tc>
                  <a:txBody>
                    <a:bodyPr wrap="square"/>
                    <a:lstStyle/>
                    <a:p>
                      <a:pPr algn="l"/>
                      <a:r>
                        <a:rPr sz="700" b="1">
                          <a:solidFill>
                            <a:srgbClr val="FFFFFF"/>
                          </a:solidFill>
                          <a:latin typeface="Plus Jakarta Sans"/>
                        </a:rPr>
                        <a:t>CRM ID</a:t>
                      </a:r>
                    </a:p>
                  </a:txBody>
                  <a:tcPr marL="45720" marR="45720" marT="18288" marB="18288" anchor="ctr">
                    <a:solidFill>
                      <a:srgbClr val="007200"/>
                    </a:solidFill>
                  </a:tcPr>
                </a:tc>
                <a:tc>
                  <a:txBody>
                    <a:bodyPr wrap="square"/>
                    <a:lstStyle/>
                    <a:p>
                      <a:pPr algn="l"/>
                      <a:r>
                        <a:rPr sz="700" b="1">
                          <a:solidFill>
                            <a:srgbClr val="FFFFFF"/>
                          </a:solidFill>
                          <a:latin typeface="Plus Jakarta Sans"/>
                        </a:rPr>
                        <a:t>Logged</a:t>
                      </a:r>
                    </a:p>
                  </a:txBody>
                  <a:tcPr marL="45720" marR="45720" marT="18288" marB="18288" anchor="ctr">
                    <a:solidFill>
                      <a:srgbClr val="007200"/>
                    </a:solidFill>
                  </a:tcPr>
                </a:tc>
                <a:tc>
                  <a:txBody>
                    <a:bodyPr wrap="square"/>
                    <a:lstStyle/>
                    <a:p>
                      <a:pPr algn="l"/>
                      <a:r>
                        <a:rPr sz="700" b="1">
                          <a:solidFill>
                            <a:srgbClr val="FFFFFF"/>
                          </a:solidFill>
                          <a:latin typeface="Plus Jakarta Sans"/>
                        </a:rPr>
                        <a:t>Order</a:t>
                      </a:r>
                    </a:p>
                  </a:txBody>
                  <a:tcPr marL="45720" marR="45720" marT="18288" marB="18288" anchor="ctr">
                    <a:solidFill>
                      <a:srgbClr val="007200"/>
                    </a:solidFill>
                  </a:tcPr>
                </a:tc>
                <a:tc>
                  <a:txBody>
                    <a:bodyPr wrap="square"/>
                    <a:lstStyle/>
                    <a:p>
                      <a:pPr algn="r"/>
                      <a:r>
                        <a:rPr sz="700" b="1">
                          <a:solidFill>
                            <a:srgbClr val="FFFFFF"/>
                          </a:solidFill>
                          <a:latin typeface="Plus Jakarta Sans"/>
                        </a:rPr>
                        <a:t>Sales</a:t>
                      </a:r>
                    </a:p>
                  </a:txBody>
                  <a:tcPr marL="45720" marR="45720" marT="18288" marB="18288" anchor="ctr">
                    <a:solidFill>
                      <a:srgbClr val="007200"/>
                    </a:solidFill>
                  </a:tcPr>
                </a:tc>
                <a:tc>
                  <a:txBody>
                    <a:bodyPr wrap="square"/>
                    <a:lstStyle/>
                    <a:p>
                      <a:pPr algn="l"/>
                      <a:r>
                        <a:rPr sz="700" b="1">
                          <a:solidFill>
                            <a:srgbClr val="FFFFFF"/>
                          </a:solidFill>
                          <a:latin typeface="Plus Jakarta Sans"/>
                        </a:rPr>
                        <a:t>Note</a:t>
                      </a:r>
                    </a:p>
                  </a:txBody>
                  <a:tcPr marL="45720" marR="45720" marT="18288" marB="18288" anchor="ctr">
                    <a:solidFill>
                      <a:srgbClr val="007200"/>
                    </a:solidFill>
                  </a:tcPr>
                </a:tc>
              </a:tr>
              <a:tr h="274320">
                <a:tc>
                  <a:txBody>
                    <a:bodyPr wrap="square"/>
                    <a:lstStyle/>
                    <a:p>
                      <a:pPr algn="l"/>
                      <a:r>
                        <a:rPr sz="700" b="0">
                          <a:solidFill>
                            <a:srgbClr val="141414"/>
                          </a:solidFill>
                          <a:latin typeface="Plus Jakarta Sans"/>
                        </a:rPr>
                        <a:t>SMEN-42749</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Mahkota</a:t>
                      </a:r>
                    </a:p>
                  </a:txBody>
                  <a:tcPr marL="45720" marR="45720" marT="18288" marB="18288" anchor="ctr">
                    <a:solidFill>
                      <a:srgbClr val="FFFFFF"/>
                    </a:solidFill>
                  </a:tcPr>
                </a:tc>
                <a:tc>
                  <a:txBody>
                    <a:bodyPr wrap="square"/>
                    <a:lstStyle/>
                    <a:p>
                      <a:pPr algn="l"/>
                      <a:r>
                        <a:rPr sz="700" b="0">
                          <a:solidFill>
                            <a:srgbClr val="141414"/>
                          </a:solidFill>
                          <a:latin typeface="Plus Jakarta Sans"/>
                        </a:rPr>
                        <a:t>#B2C26784</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Rp12.6M</a:t>
                      </a:r>
                    </a:p>
                  </a:txBody>
                  <a:tcPr marL="45720" marR="45720" marT="18288" marB="18288" anchor="ctr">
                    <a:solidFill>
                      <a:srgbClr val="FFFFFF"/>
                    </a:solidFill>
                  </a:tcPr>
                </a:tc>
                <a:tc>
                  <a:txBody>
                    <a:bodyPr wrap="square"/>
                    <a:lstStyle/>
                    <a:p>
                      <a:pPr algn="l"/>
                      <a:r>
                        <a:rPr sz="700" b="0">
                          <a:solidFill>
                            <a:srgbClr val="141414"/>
                          </a:solidFill>
                          <a:latin typeface="Plus Jakarta Sans"/>
                        </a:rPr>
                        <a:t>Matched in sales</a:t>
                      </a:r>
                    </a:p>
                  </a:txBody>
                  <a:tcPr marL="45720" marR="45720" marT="18288" marB="18288" anchor="ctr">
                    <a:solidFill>
                      <a:srgbClr val="FFFFFF"/>
                    </a:solidFill>
                  </a:tcPr>
                </a:tc>
              </a:tr>
              <a:tr h="274320">
                <a:tc>
                  <a:txBody>
                    <a:bodyPr wrap="square"/>
                    <a:lstStyle/>
                    <a:p>
                      <a:pPr algn="l"/>
                      <a:r>
                        <a:rPr sz="700" b="0">
                          <a:solidFill>
                            <a:srgbClr val="141414"/>
                          </a:solidFill>
                          <a:latin typeface="Plus Jakarta Sans"/>
                        </a:rPr>
                        <a:t>SMEN-42750</a:t>
                      </a:r>
                    </a:p>
                  </a:txBody>
                  <a:tcPr marL="45720" marR="45720" marT="18288" marB="18288" anchor="ctr">
                    <a:solidFill>
                      <a:srgbClr val="F6F8F6"/>
                    </a:solidFill>
                  </a:tcPr>
                </a:tc>
                <a:tc>
                  <a:txBody>
                    <a:bodyPr wrap="square"/>
                    <a:lstStyle/>
                    <a:p>
                      <a:pPr algn="l"/>
                      <a:r>
                        <a:rPr sz="700" b="0">
                          <a:solidFill>
                            <a:srgbClr val="141414"/>
                          </a:solidFill>
                          <a:latin typeface="Plus Jakarta Sans"/>
                        </a:rPr>
                        <a:t>Bom Up 520 SL</a:t>
                      </a:r>
                    </a:p>
                  </a:txBody>
                  <a:tcPr marL="45720" marR="45720" marT="18288" marB="18288" anchor="ctr">
                    <a:solidFill>
                      <a:srgbClr val="F6F8F6"/>
                    </a:solidFill>
                  </a:tcPr>
                </a:tc>
                <a:tc>
                  <a:txBody>
                    <a:bodyPr wrap="square"/>
                    <a:lstStyle/>
                    <a:p>
                      <a:pPr algn="l"/>
                      <a:r>
                        <a:rPr sz="700" b="0">
                          <a:solidFill>
                            <a:srgbClr val="141414"/>
                          </a:solidFill>
                          <a:latin typeface="Plus Jakarta Sans"/>
                        </a:rPr>
                        <a:t>#B2C26785</a:t>
                      </a:r>
                    </a:p>
                  </a:txBody>
                  <a:tcPr marL="45720" marR="45720" marT="18288" marB="18288" anchor="ctr">
                    <a:solidFill>
                      <a:srgbClr val="F6F8F6"/>
                    </a:solidFill>
                  </a:tcPr>
                </a:tc>
                <a:tc>
                  <a:txBody>
                    <a:bodyPr wrap="square"/>
                    <a:lstStyle/>
                    <a:p>
                      <a:pPr algn="r"/>
                      <a:r>
                        <a:rPr sz="700" b="0">
                          <a:solidFill>
                            <a:srgbClr val="141414"/>
                          </a:solidFill>
                          <a:latin typeface="Plus Jakarta Sans"/>
                        </a:rPr>
                        <a:t>Rp1.1M</a:t>
                      </a:r>
                    </a:p>
                  </a:txBody>
                  <a:tcPr marL="45720" marR="45720" marT="18288" marB="18288" anchor="ctr">
                    <a:solidFill>
                      <a:srgbClr val="F6F8F6"/>
                    </a:solidFill>
                  </a:tcPr>
                </a:tc>
                <a:tc>
                  <a:txBody>
                    <a:bodyPr wrap="square"/>
                    <a:lstStyle/>
                    <a:p>
                      <a:pPr algn="l"/>
                      <a:r>
                        <a:rPr sz="700" b="0">
                          <a:solidFill>
                            <a:srgbClr val="141414"/>
                          </a:solidFill>
                          <a:latin typeface="Plus Jakarta Sans"/>
                        </a:rPr>
                        <a:t>Matched in sales</a:t>
                      </a:r>
                    </a:p>
                  </a:txBody>
                  <a:tcPr marL="45720" marR="45720" marT="18288" marB="18288" anchor="ctr">
                    <a:solidFill>
                      <a:srgbClr val="F6F8F6"/>
                    </a:solidFill>
                  </a:tcPr>
                </a:tc>
              </a:tr>
              <a:tr h="274320">
                <a:tc>
                  <a:txBody>
                    <a:bodyPr wrap="square"/>
                    <a:lstStyle/>
                    <a:p>
                      <a:pPr algn="l"/>
                      <a:r>
                        <a:rPr sz="700" b="0">
                          <a:solidFill>
                            <a:srgbClr val="141414"/>
                          </a:solidFill>
                          <a:latin typeface="Plus Jakarta Sans"/>
                        </a:rPr>
                        <a:t>SMEN-42751</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NPK, RP (in notes)</a:t>
                      </a:r>
                    </a:p>
                  </a:txBody>
                  <a:tcPr marL="45720" marR="45720" marT="18288" marB="18288" anchor="ctr">
                    <a:solidFill>
                      <a:srgbClr val="FFFFFF"/>
                    </a:solidFill>
                  </a:tcPr>
                </a:tc>
                <a:tc>
                  <a:txBody>
                    <a:bodyPr wrap="square"/>
                    <a:lstStyle/>
                    <a:p>
                      <a:pPr algn="l"/>
                      <a:r>
                        <a:rPr sz="700" b="0">
                          <a:solidFill>
                            <a:srgbClr val="141414"/>
                          </a:solidFill>
                          <a:latin typeface="Plus Jakarta Sans"/>
                        </a:rPr>
                        <a:t>#B2C26851</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Rp19.5M</a:t>
                      </a:r>
                    </a:p>
                  </a:txBody>
                  <a:tcPr marL="45720" marR="45720" marT="18288" marB="18288" anchor="ctr">
                    <a:solidFill>
                      <a:srgbClr val="FFFFFF"/>
                    </a:solidFill>
                  </a:tcPr>
                </a:tc>
                <a:tc>
                  <a:txBody>
                    <a:bodyPr wrap="square"/>
                    <a:lstStyle/>
                    <a:p>
                      <a:pPr algn="l"/>
                      <a:r>
                        <a:rPr sz="700" b="0">
                          <a:solidFill>
                            <a:srgbClr val="141414"/>
                          </a:solidFill>
                          <a:latin typeface="Plus Jakarta Sans"/>
                        </a:rPr>
                        <a:t>Matched in sales</a:t>
                      </a:r>
                    </a:p>
                  </a:txBody>
                  <a:tcPr marL="45720" marR="45720" marT="18288" marB="18288" anchor="ctr">
                    <a:solidFill>
                      <a:srgbClr val="FFFFFF"/>
                    </a:solidFill>
                  </a:tcPr>
                </a:tc>
              </a:tr>
              <a:tr h="274320">
                <a:tc>
                  <a:txBody>
                    <a:bodyPr wrap="square"/>
                    <a:lstStyle/>
                    <a:p>
                      <a:pPr algn="l"/>
                      <a:r>
                        <a:rPr sz="700" b="0">
                          <a:solidFill>
                            <a:srgbClr val="141414"/>
                          </a:solidFill>
                          <a:latin typeface="Plus Jakarta Sans"/>
                        </a:rPr>
                        <a:t>SMEN-42753</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Mahkota</a:t>
                      </a:r>
                    </a:p>
                  </a:txBody>
                  <a:tcPr marL="45720" marR="45720" marT="18288" marB="18288" anchor="ctr">
                    <a:solidFill>
                      <a:srgbClr val="F6F8F6"/>
                    </a:solidFill>
                  </a:tcPr>
                </a:tc>
                <a:tc>
                  <a:txBody>
                    <a:bodyPr wrap="square"/>
                    <a:lstStyle/>
                    <a:p>
                      <a:pPr algn="l"/>
                      <a:r>
                        <a:rPr sz="700" b="0">
                          <a:solidFill>
                            <a:srgbClr val="141414"/>
                          </a:solidFill>
                          <a:latin typeface="Plus Jakarta Sans"/>
                        </a:rPr>
                        <a:t>#B2C26876</a:t>
                      </a:r>
                    </a:p>
                  </a:txBody>
                  <a:tcPr marL="45720" marR="45720" marT="18288" marB="18288" anchor="ctr">
                    <a:solidFill>
                      <a:srgbClr val="F6F8F6"/>
                    </a:solidFill>
                  </a:tcPr>
                </a:tc>
                <a:tc>
                  <a:txBody>
                    <a:bodyPr wrap="square"/>
                    <a:lstStyle/>
                    <a:p>
                      <a:pPr algn="r"/>
                      <a:r>
                        <a:rPr sz="700" b="0">
                          <a:solidFill>
                            <a:srgbClr val="141414"/>
                          </a:solidFill>
                          <a:latin typeface="Plus Jakarta Sans"/>
                        </a:rPr>
                        <a:t>Rp6.3M</a:t>
                      </a:r>
                    </a:p>
                  </a:txBody>
                  <a:tcPr marL="45720" marR="45720" marT="18288" marB="18288" anchor="ctr">
                    <a:solidFill>
                      <a:srgbClr val="F6F8F6"/>
                    </a:solidFill>
                  </a:tcPr>
                </a:tc>
                <a:tc>
                  <a:txBody>
                    <a:bodyPr wrap="square"/>
                    <a:lstStyle/>
                    <a:p>
                      <a:pPr algn="l"/>
                      <a:r>
                        <a:rPr sz="700" b="0">
                          <a:solidFill>
                            <a:srgbClr val="141414"/>
                          </a:solidFill>
                          <a:latin typeface="Plus Jakarta Sans"/>
                        </a:rPr>
                        <a:t>Matched in sales</a:t>
                      </a:r>
                    </a:p>
                  </a:txBody>
                  <a:tcPr marL="45720" marR="45720" marT="18288" marB="18288" anchor="ctr">
                    <a:solidFill>
                      <a:srgbClr val="F6F8F6"/>
                    </a:solidFill>
                  </a:tcPr>
                </a:tc>
              </a:tr>
              <a:tr h="274320">
                <a:tc>
                  <a:txBody>
                    <a:bodyPr wrap="square"/>
                    <a:lstStyle/>
                    <a:p>
                      <a:pPr algn="l"/>
                      <a:r>
                        <a:rPr sz="700" b="0">
                          <a:solidFill>
                            <a:srgbClr val="141414"/>
                          </a:solidFill>
                          <a:latin typeface="Plus Jakarta Sans"/>
                        </a:rPr>
                        <a:t>SMEN-42757</a:t>
                      </a:r>
                    </a:p>
                  </a:txBody>
                  <a:tcPr marL="45720" marR="45720" marT="18288" marB="18288" anchor="ctr">
                    <a:solidFill>
                      <a:srgbClr val="FFFFFF"/>
                    </a:solidFill>
                  </a:tcPr>
                </a:tc>
                <a:tc>
                  <a:txBody>
                    <a:bodyPr wrap="square"/>
                    <a:lstStyle/>
                    <a:p>
                      <a:pPr algn="l"/>
                      <a:r>
                        <a:rPr sz="700" b="0">
                          <a:solidFill>
                            <a:srgbClr val="141414"/>
                          </a:solidFill>
                          <a:latin typeface="Plus Jakarta Sans"/>
                        </a:rPr>
                        <a:t>NPK DGW 13-8-27 TE</a:t>
                      </a:r>
                    </a:p>
                  </a:txBody>
                  <a:tcPr marL="45720" marR="45720" marT="18288" marB="18288" anchor="ctr">
                    <a:solidFill>
                      <a:srgbClr val="FFFFFF"/>
                    </a:solidFill>
                  </a:tcPr>
                </a:tc>
                <a:tc>
                  <a:txBody>
                    <a:bodyPr wrap="square"/>
                    <a:lstStyle/>
                    <a:p>
                      <a:pPr algn="l"/>
                      <a:r>
                        <a:rPr sz="700" b="0">
                          <a:solidFill>
                            <a:srgbClr val="141414"/>
                          </a:solidFill>
                          <a:latin typeface="Plus Jakarta Sans"/>
                        </a:rPr>
                        <a:t>#B2C26992</a:t>
                      </a:r>
                    </a:p>
                  </a:txBody>
                  <a:tcPr marL="45720" marR="45720" marT="18288" marB="18288" anchor="ctr">
                    <a:solidFill>
                      <a:srgbClr val="FFFFFF"/>
                    </a:solidFill>
                  </a:tcPr>
                </a:tc>
                <a:tc>
                  <a:txBody>
                    <a:bodyPr wrap="square"/>
                    <a:lstStyle/>
                    <a:p>
                      <a:pPr algn="r"/>
                      <a:r>
                        <a:rPr sz="700" b="0">
                          <a:solidFill>
                            <a:srgbClr val="141414"/>
                          </a:solidFill>
                          <a:latin typeface="Plus Jakarta Sans"/>
                        </a:rPr>
                        <a:t>Rp42.7M</a:t>
                      </a:r>
                    </a:p>
                  </a:txBody>
                  <a:tcPr marL="45720" marR="45720" marT="18288" marB="18288" anchor="ctr">
                    <a:solidFill>
                      <a:srgbClr val="FFFFFF"/>
                    </a:solidFill>
                  </a:tcPr>
                </a:tc>
                <a:tc>
                  <a:txBody>
                    <a:bodyPr wrap="square"/>
                    <a:lstStyle/>
                    <a:p>
                      <a:pPr algn="l"/>
                      <a:r>
                        <a:rPr sz="700" b="0">
                          <a:solidFill>
                            <a:srgbClr val="141414"/>
                          </a:solidFill>
                          <a:latin typeface="Plus Jakarta Sans"/>
                        </a:rPr>
                        <a:t>Matched in sales</a:t>
                      </a:r>
                    </a:p>
                  </a:txBody>
                  <a:tcPr marL="45720" marR="45720" marT="18288" marB="18288" anchor="ctr">
                    <a:solidFill>
                      <a:srgbClr val="FFFFFF"/>
                    </a:solidFill>
                  </a:tcPr>
                </a:tc>
              </a:tr>
            </a:tbl>
          </a:graphicData>
        </a:graphic>
      </p:graphicFrame>
      <p:sp>
        <p:nvSpPr>
          <p:cNvPr id="8" name="Rounded Rectangle 7"/>
          <p:cNvSpPr/>
          <p:nvPr/>
        </p:nvSpPr>
        <p:spPr>
          <a:xfrm>
            <a:off x="4590288" y="987552"/>
            <a:ext cx="4096512" cy="2560320"/>
          </a:xfrm>
          <a:prstGeom prst="roundRect">
            <a:avLst>
              <a:gd name="adj" fmla="val 2142"/>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18303" y="1078992"/>
            <a:ext cx="3840480" cy="201168"/>
          </a:xfrm>
          <a:prstGeom prst="rect">
            <a:avLst/>
          </a:prstGeom>
          <a:noFill/>
        </p:spPr>
        <p:txBody>
          <a:bodyPr wrap="square" anchor="t" lIns="0" rIns="0" tIns="0" bIns="0">
            <a:spAutoFit/>
          </a:bodyPr>
          <a:lstStyle/>
          <a:p>
            <a:pPr algn="l"/>
            <a:r>
              <a:rPr sz="1000" b="1">
                <a:solidFill>
                  <a:srgbClr val="141414"/>
                </a:solidFill>
                <a:latin typeface="Plus Jakarta Sans"/>
              </a:rPr>
              <a:t>In sales, not in the CRM (6)</a:t>
            </a:r>
          </a:p>
        </p:txBody>
      </p:sp>
      <p:sp>
        <p:nvSpPr>
          <p:cNvPr id="10" name="TextBox 9"/>
          <p:cNvSpPr txBox="1"/>
          <p:nvPr/>
        </p:nvSpPr>
        <p:spPr>
          <a:xfrm>
            <a:off x="4718303" y="1271016"/>
            <a:ext cx="3840480" cy="182880"/>
          </a:xfrm>
          <a:prstGeom prst="rect">
            <a:avLst/>
          </a:prstGeom>
          <a:noFill/>
        </p:spPr>
        <p:txBody>
          <a:bodyPr wrap="square" anchor="t" lIns="0" rIns="0" tIns="0" bIns="0">
            <a:spAutoFit/>
          </a:bodyPr>
          <a:lstStyle/>
          <a:p>
            <a:pPr algn="l"/>
            <a:r>
              <a:rPr sz="750" b="0">
                <a:solidFill>
                  <a:srgbClr val="5C665C"/>
                </a:solidFill>
                <a:latin typeface="Plus Jakarta Sans"/>
              </a:rPr>
              <a:t>Sales recorded; no CRM engagement logged</a:t>
            </a:r>
          </a:p>
        </p:txBody>
      </p:sp>
      <p:graphicFrame>
        <p:nvGraphicFramePr>
          <p:cNvPr id="11" name="Table 10"/>
          <p:cNvGraphicFramePr>
            <a:graphicFrameLocks noGrp="1"/>
          </p:cNvGraphicFramePr>
          <p:nvPr/>
        </p:nvGraphicFramePr>
        <p:xfrm>
          <a:off x="4718304" y="1499616"/>
          <a:ext cx="3840478" cy="1920240"/>
        </p:xfrm>
        <a:graphic>
          <a:graphicData uri="http://schemas.openxmlformats.org/drawingml/2006/table">
            <a:tbl>
              <a:tblPr firstRow="1" bandRow="1">
                <a:tableStyleId>{5C22544A-7EE6-4342-B048-85BDC9FD1C3A}</a:tableStyleId>
              </a:tblPr>
              <a:tblGrid>
                <a:gridCol w="848478"/>
                <a:gridCol w="1384359"/>
                <a:gridCol w="1071761"/>
                <a:gridCol w="535880"/>
              </a:tblGrid>
              <a:tr h="274320">
                <a:tc>
                  <a:txBody>
                    <a:bodyPr wrap="square"/>
                    <a:lstStyle/>
                    <a:p>
                      <a:pPr algn="l"/>
                      <a:r>
                        <a:rPr sz="700" b="1">
                          <a:solidFill>
                            <a:srgbClr val="FFFFFF"/>
                          </a:solidFill>
                          <a:latin typeface="Plus Jakarta Sans"/>
                        </a:rPr>
                        <a:t>Order</a:t>
                      </a:r>
                    </a:p>
                  </a:txBody>
                  <a:tcPr marL="45720" marR="45720" marT="18288" marB="18288" anchor="ctr">
                    <a:solidFill>
                      <a:srgbClr val="007200"/>
                    </a:solidFill>
                  </a:tcPr>
                </a:tc>
                <a:tc>
                  <a:txBody>
                    <a:bodyPr wrap="square"/>
                    <a:lstStyle/>
                    <a:p>
                      <a:pPr algn="l"/>
                      <a:r>
                        <a:rPr sz="700" b="1">
                          <a:solidFill>
                            <a:srgbClr val="FFFFFF"/>
                          </a:solidFill>
                          <a:latin typeface="Plus Jakarta Sans"/>
                        </a:rPr>
                        <a:t>PIC</a:t>
                      </a:r>
                    </a:p>
                  </a:txBody>
                  <a:tcPr marL="45720" marR="45720" marT="18288" marB="18288" anchor="ctr">
                    <a:solidFill>
                      <a:srgbClr val="007200"/>
                    </a:solidFill>
                  </a:tcPr>
                </a:tc>
                <a:tc>
                  <a:txBody>
                    <a:bodyPr wrap="square"/>
                    <a:lstStyle/>
                    <a:p>
                      <a:pPr algn="l"/>
                      <a:r>
                        <a:rPr sz="700" b="1">
                          <a:solidFill>
                            <a:srgbClr val="FFFFFF"/>
                          </a:solidFill>
                          <a:latin typeface="Plus Jakarta Sans"/>
                        </a:rPr>
                        <a:t>Product</a:t>
                      </a:r>
                    </a:p>
                  </a:txBody>
                  <a:tcPr marL="45720" marR="45720" marT="18288" marB="18288" anchor="ctr">
                    <a:solidFill>
                      <a:srgbClr val="007200"/>
                    </a:solidFill>
                  </a:tcPr>
                </a:tc>
                <a:tc>
                  <a:txBody>
                    <a:bodyPr wrap="square"/>
                    <a:lstStyle/>
                    <a:p>
                      <a:pPr algn="r"/>
                      <a:r>
                        <a:rPr sz="700" b="1">
                          <a:solidFill>
                            <a:srgbClr val="FFFFFF"/>
                          </a:solidFill>
                          <a:latin typeface="Plus Jakarta Sans"/>
                        </a:rPr>
                        <a:t>Sales</a:t>
                      </a:r>
                    </a:p>
                  </a:txBody>
                  <a:tcPr marL="45720" marR="45720" marT="18288" marB="18288" anchor="ctr">
                    <a:solidFill>
                      <a:srgbClr val="007200"/>
                    </a:solidFill>
                  </a:tcPr>
                </a:tc>
              </a:tr>
              <a:tr h="274320">
                <a:tc>
                  <a:txBody>
                    <a:bodyPr wrap="square"/>
                    <a:lstStyle/>
                    <a:p>
                      <a:pPr algn="l"/>
                      <a:r>
                        <a:rPr sz="700" b="0">
                          <a:solidFill>
                            <a:srgbClr val="141414"/>
                          </a:solidFill>
                          <a:latin typeface="Plus Jakarta Sans"/>
                        </a:rPr>
                        <a:t>#B2C26732</a:t>
                      </a:r>
                    </a:p>
                  </a:txBody>
                  <a:tcPr marL="45720" marR="45720" marT="18288" marB="18288" anchor="ctr">
                    <a:solidFill>
                      <a:srgbClr val="FFFFFF"/>
                    </a:solidFill>
                  </a:tcPr>
                </a:tc>
                <a:tc>
                  <a:txBody>
                    <a:bodyPr wrap="square"/>
                    <a:lstStyle/>
                    <a:p>
                      <a:pPr algn="l"/>
                      <a:r>
                        <a:rPr sz="700" b="0">
                          <a:solidFill>
                            <a:srgbClr val="141414"/>
                          </a:solidFill>
                          <a:latin typeface="Plus Jakarta Sans"/>
                        </a:rPr>
                        <a:t>Muhammad Abdul Wahab</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Mentari</a:t>
                      </a:r>
                    </a:p>
                  </a:txBody>
                  <a:tcPr marL="45720" marR="45720" marT="18288" marB="18288" anchor="ctr">
                    <a:solidFill>
                      <a:srgbClr val="FFFFFF"/>
                    </a:solidFill>
                  </a:tcPr>
                </a:tc>
                <a:tc>
                  <a:txBody>
                    <a:bodyPr wrap="square"/>
                    <a:lstStyle/>
                    <a:p>
                      <a:pPr algn="r"/>
                      <a:r>
                        <a:rPr sz="700" b="0">
                          <a:solidFill>
                            <a:srgbClr val="141414"/>
                          </a:solidFill>
                          <a:latin typeface="Plus Jakarta Sans"/>
                        </a:rPr>
                        <a:t>Rp267M</a:t>
                      </a:r>
                    </a:p>
                  </a:txBody>
                  <a:tcPr marL="45720" marR="45720" marT="18288" marB="18288" anchor="ctr">
                    <a:solidFill>
                      <a:srgbClr val="FFFFFF"/>
                    </a:solidFill>
                  </a:tcPr>
                </a:tc>
              </a:tr>
              <a:tr h="274320">
                <a:tc>
                  <a:txBody>
                    <a:bodyPr wrap="square"/>
                    <a:lstStyle/>
                    <a:p>
                      <a:pPr algn="l"/>
                      <a:r>
                        <a:rPr sz="700" b="0">
                          <a:solidFill>
                            <a:srgbClr val="141414"/>
                          </a:solidFill>
                          <a:latin typeface="Plus Jakarta Sans"/>
                        </a:rPr>
                        <a:t>#B2C26764</a:t>
                      </a:r>
                    </a:p>
                  </a:txBody>
                  <a:tcPr marL="45720" marR="45720" marT="18288" marB="18288" anchor="ctr">
                    <a:solidFill>
                      <a:srgbClr val="F6F8F6"/>
                    </a:solidFill>
                  </a:tcPr>
                </a:tc>
                <a:tc>
                  <a:txBody>
                    <a:bodyPr wrap="square"/>
                    <a:lstStyle/>
                    <a:p>
                      <a:pPr algn="l"/>
                      <a:r>
                        <a:rPr sz="700" b="0">
                          <a:solidFill>
                            <a:srgbClr val="141414"/>
                          </a:solidFill>
                          <a:latin typeface="Plus Jakarta Sans"/>
                        </a:rPr>
                        <a:t>Simon Sutrado Simanjuntak</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Mahkota</a:t>
                      </a:r>
                    </a:p>
                  </a:txBody>
                  <a:tcPr marL="45720" marR="45720" marT="18288" marB="18288" anchor="ctr">
                    <a:solidFill>
                      <a:srgbClr val="F6F8F6"/>
                    </a:solidFill>
                  </a:tcPr>
                </a:tc>
                <a:tc>
                  <a:txBody>
                    <a:bodyPr wrap="square"/>
                    <a:lstStyle/>
                    <a:p>
                      <a:pPr algn="r"/>
                      <a:r>
                        <a:rPr sz="700" b="0">
                          <a:solidFill>
                            <a:srgbClr val="141414"/>
                          </a:solidFill>
                          <a:latin typeface="Plus Jakarta Sans"/>
                        </a:rPr>
                        <a:t>Rp90.8M</a:t>
                      </a:r>
                    </a:p>
                  </a:txBody>
                  <a:tcPr marL="45720" marR="45720" marT="18288" marB="18288" anchor="ctr">
                    <a:solidFill>
                      <a:srgbClr val="F6F8F6"/>
                    </a:solidFill>
                  </a:tcPr>
                </a:tc>
              </a:tr>
              <a:tr h="274320">
                <a:tc>
                  <a:txBody>
                    <a:bodyPr wrap="square"/>
                    <a:lstStyle/>
                    <a:p>
                      <a:pPr algn="l"/>
                      <a:r>
                        <a:rPr sz="700" b="0">
                          <a:solidFill>
                            <a:srgbClr val="141414"/>
                          </a:solidFill>
                          <a:latin typeface="Plus Jakarta Sans"/>
                        </a:rPr>
                        <a:t>#B2C26804</a:t>
                      </a:r>
                    </a:p>
                  </a:txBody>
                  <a:tcPr marL="45720" marR="45720" marT="18288" marB="18288" anchor="ctr">
                    <a:solidFill>
                      <a:srgbClr val="FFFFFF"/>
                    </a:solidFill>
                  </a:tcPr>
                </a:tc>
                <a:tc>
                  <a:txBody>
                    <a:bodyPr wrap="square"/>
                    <a:lstStyle/>
                    <a:p>
                      <a:pPr algn="l"/>
                      <a:r>
                        <a:rPr sz="700" b="0">
                          <a:solidFill>
                            <a:srgbClr val="141414"/>
                          </a:solidFill>
                          <a:latin typeface="Plus Jakarta Sans"/>
                        </a:rPr>
                        <a:t>Joko Prestiwo</a:t>
                      </a:r>
                    </a:p>
                  </a:txBody>
                  <a:tcPr marL="45720" marR="45720" marT="18288" marB="18288" anchor="ctr">
                    <a:solidFill>
                      <a:srgbClr val="FFFFFF"/>
                    </a:solidFill>
                  </a:tcPr>
                </a:tc>
                <a:tc>
                  <a:txBody>
                    <a:bodyPr wrap="square"/>
                    <a:lstStyle/>
                    <a:p>
                      <a:pPr algn="l"/>
                      <a:r>
                        <a:rPr sz="700" b="0">
                          <a:solidFill>
                            <a:srgbClr val="141414"/>
                          </a:solidFill>
                          <a:latin typeface="Plus Jakarta Sans"/>
                        </a:rPr>
                        <a:t>NPK Sawit 13-8-27 Pak Tani</a:t>
                      </a:r>
                    </a:p>
                  </a:txBody>
                  <a:tcPr marL="45720" marR="45720" marT="18288" marB="18288" anchor="ctr">
                    <a:solidFill>
                      <a:srgbClr val="FFFFFF"/>
                    </a:solidFill>
                  </a:tcPr>
                </a:tc>
                <a:tc>
                  <a:txBody>
                    <a:bodyPr wrap="square"/>
                    <a:lstStyle/>
                    <a:p>
                      <a:pPr algn="r"/>
                      <a:r>
                        <a:rPr sz="700" b="0">
                          <a:solidFill>
                            <a:srgbClr val="141414"/>
                          </a:solidFill>
                          <a:latin typeface="Plus Jakarta Sans"/>
                        </a:rPr>
                        <a:t>Rp57M</a:t>
                      </a:r>
                    </a:p>
                  </a:txBody>
                  <a:tcPr marL="45720" marR="45720" marT="18288" marB="18288" anchor="ctr">
                    <a:solidFill>
                      <a:srgbClr val="FFFFFF"/>
                    </a:solidFill>
                  </a:tcPr>
                </a:tc>
              </a:tr>
              <a:tr h="274320">
                <a:tc>
                  <a:txBody>
                    <a:bodyPr wrap="square"/>
                    <a:lstStyle/>
                    <a:p>
                      <a:pPr algn="l"/>
                      <a:r>
                        <a:rPr sz="700" b="0">
                          <a:solidFill>
                            <a:srgbClr val="141414"/>
                          </a:solidFill>
                          <a:latin typeface="Plus Jakarta Sans"/>
                        </a:rPr>
                        <a:t>#B2C26877</a:t>
                      </a:r>
                    </a:p>
                  </a:txBody>
                  <a:tcPr marL="45720" marR="45720" marT="18288" marB="18288" anchor="ctr">
                    <a:solidFill>
                      <a:srgbClr val="F6F8F6"/>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Sasco</a:t>
                      </a:r>
                    </a:p>
                  </a:txBody>
                  <a:tcPr marL="45720" marR="45720" marT="18288" marB="18288" anchor="ctr">
                    <a:solidFill>
                      <a:srgbClr val="F6F8F6"/>
                    </a:solidFill>
                  </a:tcPr>
                </a:tc>
                <a:tc>
                  <a:txBody>
                    <a:bodyPr wrap="square"/>
                    <a:lstStyle/>
                    <a:p>
                      <a:pPr algn="r"/>
                      <a:r>
                        <a:rPr sz="700" b="0">
                          <a:solidFill>
                            <a:srgbClr val="141414"/>
                          </a:solidFill>
                          <a:latin typeface="Plus Jakarta Sans"/>
                        </a:rPr>
                        <a:t>Rp9.8M</a:t>
                      </a:r>
                    </a:p>
                  </a:txBody>
                  <a:tcPr marL="45720" marR="45720" marT="18288" marB="18288" anchor="ctr">
                    <a:solidFill>
                      <a:srgbClr val="F6F8F6"/>
                    </a:solidFill>
                  </a:tcPr>
                </a:tc>
              </a:tr>
              <a:tr h="274320">
                <a:tc>
                  <a:txBody>
                    <a:bodyPr wrap="square"/>
                    <a:lstStyle/>
                    <a:p>
                      <a:pPr algn="l"/>
                      <a:r>
                        <a:rPr sz="700" b="0">
                          <a:solidFill>
                            <a:srgbClr val="141414"/>
                          </a:solidFill>
                          <a:latin typeface="Plus Jakarta Sans"/>
                        </a:rPr>
                        <a:t>#B2C26761</a:t>
                      </a:r>
                    </a:p>
                  </a:txBody>
                  <a:tcPr marL="45720" marR="45720" marT="18288" marB="18288" anchor="ctr">
                    <a:solidFill>
                      <a:srgbClr val="FFFFFF"/>
                    </a:solidFill>
                  </a:tcPr>
                </a:tc>
                <a:tc>
                  <a:txBody>
                    <a:bodyPr wrap="square"/>
                    <a:lstStyle/>
                    <a:p>
                      <a:pPr algn="l"/>
                      <a:r>
                        <a:rPr sz="700" b="0">
                          <a:solidFill>
                            <a:srgbClr val="141414"/>
                          </a:solidFill>
                          <a:latin typeface="Plus Jakarta Sans"/>
                        </a:rPr>
                        <a:t>Muhammad Abdul Wahab</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Rp6.1M</a:t>
                      </a:r>
                    </a:p>
                  </a:txBody>
                  <a:tcPr marL="45720" marR="45720" marT="18288" marB="18288" anchor="ctr">
                    <a:solidFill>
                      <a:srgbClr val="FFFFFF"/>
                    </a:solidFill>
                  </a:tcPr>
                </a:tc>
              </a:tr>
              <a:tr h="274320">
                <a:tc>
                  <a:txBody>
                    <a:bodyPr wrap="square"/>
                    <a:lstStyle/>
                    <a:p>
                      <a:pPr algn="l"/>
                      <a:r>
                        <a:rPr sz="700" b="0">
                          <a:solidFill>
                            <a:srgbClr val="141414"/>
                          </a:solidFill>
                          <a:latin typeface="Plus Jakarta Sans"/>
                        </a:rPr>
                        <a:t>#B2C26862</a:t>
                      </a:r>
                    </a:p>
                  </a:txBody>
                  <a:tcPr marL="45720" marR="45720" marT="18288" marB="18288" anchor="ctr">
                    <a:solidFill>
                      <a:srgbClr val="F6F8F6"/>
                    </a:solidFill>
                  </a:tcPr>
                </a:tc>
                <a:tc>
                  <a:txBody>
                    <a:bodyPr wrap="square"/>
                    <a:lstStyle/>
                    <a:p>
                      <a:pPr algn="l"/>
                      <a:r>
                        <a:rPr sz="700" b="0">
                          <a:solidFill>
                            <a:srgbClr val="141414"/>
                          </a:solidFill>
                          <a:latin typeface="Plus Jakarta Sans"/>
                        </a:rPr>
                        <a:t>Rudi Nirwana</a:t>
                      </a:r>
                    </a:p>
                  </a:txBody>
                  <a:tcPr marL="45720" marR="45720" marT="18288" marB="18288" anchor="ctr">
                    <a:solidFill>
                      <a:srgbClr val="F6F8F6"/>
                    </a:solidFill>
                  </a:tcPr>
                </a:tc>
                <a:tc>
                  <a:txBody>
                    <a:bodyPr wrap="square"/>
                    <a:lstStyle/>
                    <a:p>
                      <a:pPr algn="l"/>
                      <a:r>
                        <a:rPr sz="700" b="0">
                          <a:solidFill>
                            <a:srgbClr val="141414"/>
                          </a:solidFill>
                          <a:latin typeface="Plus Jakarta Sans"/>
                        </a:rPr>
                        <a:t>Elang 480 SL</a:t>
                      </a:r>
                    </a:p>
                  </a:txBody>
                  <a:tcPr marL="45720" marR="45720" marT="18288" marB="18288" anchor="ctr">
                    <a:solidFill>
                      <a:srgbClr val="F6F8F6"/>
                    </a:solidFill>
                  </a:tcPr>
                </a:tc>
                <a:tc>
                  <a:txBody>
                    <a:bodyPr wrap="square"/>
                    <a:lstStyle/>
                    <a:p>
                      <a:pPr algn="r"/>
                      <a:r>
                        <a:rPr sz="700" b="0">
                          <a:solidFill>
                            <a:srgbClr val="141414"/>
                          </a:solidFill>
                          <a:latin typeface="Plus Jakarta Sans"/>
                        </a:rPr>
                        <a:t>Rp2M</a:t>
                      </a:r>
                    </a:p>
                  </a:txBody>
                  <a:tcPr marL="45720" marR="45720" marT="18288" marB="18288" anchor="ctr">
                    <a:solidFill>
                      <a:srgbClr val="F6F8F6"/>
                    </a:solidFill>
                  </a:tcPr>
                </a:tc>
              </a:tr>
            </a:tbl>
          </a:graphicData>
        </a:graphic>
      </p:graphicFrame>
      <p:sp>
        <p:nvSpPr>
          <p:cNvPr id="12" name="Rounded Rectangle 11"/>
          <p:cNvSpPr/>
          <p:nvPr/>
        </p:nvSpPr>
        <p:spPr>
          <a:xfrm>
            <a:off x="384048" y="3657600"/>
            <a:ext cx="8302752" cy="914400"/>
          </a:xfrm>
          <a:prstGeom prst="roundRect">
            <a:avLst>
              <a:gd name="adj" fmla="val 6000"/>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3749039"/>
            <a:ext cx="8010144" cy="768096"/>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The CRM sees 16% of sales:</a:t>
            </a:r>
            <a:r>
              <a:rPr sz="850" b="0">
                <a:solidFill>
                  <a:srgbClr val="141414"/>
                </a:solidFill>
                <a:latin typeface="Plus Jakarta Sans"/>
              </a:rPr>
              <a:t> Rp82.2M of Rp515M. All 5 stories are Rudi Nirwana's mobile-shop (toko keliling) sales, logged on the day of the sale.</a:t>
            </a:r>
          </a:p>
          <a:p>
            <a:pPr algn="l">
              <a:spcAft>
                <a:spcPts val="300"/>
              </a:spcAft>
            </a:pPr>
            <a:r>
              <a:rPr sz="850" b="1">
                <a:solidFill>
                  <a:srgbClr val="141414"/>
                </a:solidFill>
                <a:latin typeface="Plus Jakarta Sans"/>
              </a:rPr>
              <a:t>The big orders are invisible:</a:t>
            </a:r>
            <a:r>
              <a:rPr sz="850" b="0">
                <a:solidFill>
                  <a:srgbClr val="141414"/>
                </a:solidFill>
                <a:latin typeface="Plus Jakarta Sans"/>
              </a:rPr>
              <a:t> Rp421M of it comes from Muhammad Abdul Wahab, Simon Sutrado Simanjuntak and Joko Prestiwo, who logged no engagement, so we can't see how these customers were won or when they will reorder.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218 of 284 “rejections” are TikTok live viewers, not leads</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SMALLHOLDER · REJECTION REASONS</a:t>
            </a:r>
          </a:p>
        </p:txBody>
      </p:sp>
      <p:sp>
        <p:nvSpPr>
          <p:cNvPr id="4" name="Rounded Rectangle 3"/>
          <p:cNvSpPr/>
          <p:nvPr/>
        </p:nvSpPr>
        <p:spPr>
          <a:xfrm>
            <a:off x="384048" y="987552"/>
            <a:ext cx="3886200" cy="2697480"/>
          </a:xfrm>
          <a:prstGeom prst="roundRect">
            <a:avLst>
              <a:gd name="adj" fmla="val 2033"/>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3630168" cy="201168"/>
          </a:xfrm>
          <a:prstGeom prst="rect">
            <a:avLst/>
          </a:prstGeom>
          <a:noFill/>
        </p:spPr>
        <p:txBody>
          <a:bodyPr wrap="square" anchor="t" lIns="0" rIns="0" tIns="0" bIns="0">
            <a:spAutoFit/>
          </a:bodyPr>
          <a:lstStyle/>
          <a:p>
            <a:pPr algn="l"/>
            <a:r>
              <a:rPr sz="1000" b="1">
                <a:solidFill>
                  <a:srgbClr val="141414"/>
                </a:solidFill>
                <a:latin typeface="Plus Jakarta Sans"/>
              </a:rPr>
              <a:t>What the rejection export holds</a:t>
            </a:r>
          </a:p>
        </p:txBody>
      </p:sp>
      <p:sp>
        <p:nvSpPr>
          <p:cNvPr id="6" name="TextBox 5"/>
          <p:cNvSpPr txBox="1"/>
          <p:nvPr/>
        </p:nvSpPr>
        <p:spPr>
          <a:xfrm>
            <a:off x="512064" y="1271016"/>
            <a:ext cx="3630168" cy="182880"/>
          </a:xfrm>
          <a:prstGeom prst="rect">
            <a:avLst/>
          </a:prstGeom>
          <a:noFill/>
        </p:spPr>
        <p:txBody>
          <a:bodyPr wrap="square" anchor="t" lIns="0" rIns="0" tIns="0" bIns="0">
            <a:spAutoFit/>
          </a:bodyPr>
          <a:lstStyle/>
          <a:p>
            <a:pPr algn="l"/>
            <a:r>
              <a:rPr sz="750" b="0">
                <a:solidFill>
                  <a:srgbClr val="5C665C"/>
                </a:solidFill>
                <a:latin typeface="Plus Jakarta Sans"/>
              </a:rPr>
              <a:t>284 entries, 19–23 Oct</a:t>
            </a:r>
          </a:p>
        </p:txBody>
      </p:sp>
      <p:sp>
        <p:nvSpPr>
          <p:cNvPr id="7" name="TextBox 6"/>
          <p:cNvSpPr txBox="1"/>
          <p:nvPr/>
        </p:nvSpPr>
        <p:spPr>
          <a:xfrm>
            <a:off x="512064" y="1527048"/>
            <a:ext cx="1618488" cy="329184"/>
          </a:xfrm>
          <a:prstGeom prst="rect">
            <a:avLst/>
          </a:prstGeom>
          <a:noFill/>
        </p:spPr>
        <p:txBody>
          <a:bodyPr wrap="square" anchor="ctr" lIns="0" rIns="0" tIns="0" bIns="0">
            <a:spAutoFit/>
          </a:bodyPr>
          <a:lstStyle/>
          <a:p>
            <a:pPr algn="l"/>
            <a:r>
              <a:rPr sz="800" b="0">
                <a:solidFill>
                  <a:srgbClr val="141414"/>
                </a:solidFill>
                <a:latin typeface="Plus Jakarta Sans"/>
              </a:rPr>
              <a:t>TikTok live viewers (no phone)</a:t>
            </a:r>
          </a:p>
        </p:txBody>
      </p:sp>
      <p:sp>
        <p:nvSpPr>
          <p:cNvPr id="8" name="Rectangle 7"/>
          <p:cNvSpPr/>
          <p:nvPr/>
        </p:nvSpPr>
        <p:spPr>
          <a:xfrm>
            <a:off x="2203704" y="1619219"/>
            <a:ext cx="1554480" cy="14484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03704" y="1619219"/>
            <a:ext cx="1554480" cy="144840"/>
          </a:xfrm>
          <a:prstGeom prst="rect">
            <a:avLst/>
          </a:prstGeom>
          <a:solidFill>
            <a:srgbClr val="9A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13047" y="1527048"/>
            <a:ext cx="310896" cy="329184"/>
          </a:xfrm>
          <a:prstGeom prst="rect">
            <a:avLst/>
          </a:prstGeom>
          <a:noFill/>
        </p:spPr>
        <p:txBody>
          <a:bodyPr wrap="square" anchor="ctr" lIns="0" rIns="0" tIns="0" bIns="0">
            <a:spAutoFit/>
          </a:bodyPr>
          <a:lstStyle/>
          <a:p>
            <a:pPr algn="l"/>
            <a:r>
              <a:rPr sz="800" b="1">
                <a:solidFill>
                  <a:srgbClr val="141414"/>
                </a:solidFill>
                <a:latin typeface="Plus Jakarta Sans"/>
              </a:rPr>
              <a:t>218</a:t>
            </a:r>
          </a:p>
        </p:txBody>
      </p:sp>
      <p:sp>
        <p:nvSpPr>
          <p:cNvPr id="11" name="TextBox 10"/>
          <p:cNvSpPr txBox="1"/>
          <p:nvPr/>
        </p:nvSpPr>
        <p:spPr>
          <a:xfrm>
            <a:off x="512064" y="1856232"/>
            <a:ext cx="1618488" cy="329184"/>
          </a:xfrm>
          <a:prstGeom prst="rect">
            <a:avLst/>
          </a:prstGeom>
          <a:noFill/>
        </p:spPr>
        <p:txBody>
          <a:bodyPr wrap="square" anchor="ctr" lIns="0" rIns="0" tIns="0" bIns="0">
            <a:spAutoFit/>
          </a:bodyPr>
          <a:lstStyle/>
          <a:p>
            <a:pPr algn="l"/>
            <a:r>
              <a:rPr sz="800" b="0">
                <a:solidFill>
                  <a:srgbClr val="141414"/>
                </a:solidFill>
                <a:latin typeface="Plus Jakarta Sans"/>
              </a:rPr>
              <a:t>Customers asking about an order</a:t>
            </a:r>
          </a:p>
        </p:txBody>
      </p:sp>
      <p:sp>
        <p:nvSpPr>
          <p:cNvPr id="12" name="Rectangle 11"/>
          <p:cNvSpPr/>
          <p:nvPr/>
        </p:nvSpPr>
        <p:spPr>
          <a:xfrm>
            <a:off x="2203704" y="1948403"/>
            <a:ext cx="1554480" cy="14484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203704" y="1948403"/>
            <a:ext cx="57045" cy="144840"/>
          </a:xfrm>
          <a:prstGeom prst="rect">
            <a:avLst/>
          </a:prstGeom>
          <a:solidFill>
            <a:srgbClr val="FCA5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3047" y="1856232"/>
            <a:ext cx="310896" cy="329184"/>
          </a:xfrm>
          <a:prstGeom prst="rect">
            <a:avLst/>
          </a:prstGeom>
          <a:noFill/>
        </p:spPr>
        <p:txBody>
          <a:bodyPr wrap="square" anchor="ctr" lIns="0" rIns="0" tIns="0" bIns="0">
            <a:spAutoFit/>
          </a:bodyPr>
          <a:lstStyle/>
          <a:p>
            <a:pPr algn="l"/>
            <a:r>
              <a:rPr sz="800" b="1">
                <a:solidFill>
                  <a:srgbClr val="141414"/>
                </a:solidFill>
                <a:latin typeface="Plus Jakarta Sans"/>
              </a:rPr>
              <a:t>8</a:t>
            </a:r>
          </a:p>
        </p:txBody>
      </p:sp>
      <p:sp>
        <p:nvSpPr>
          <p:cNvPr id="15" name="TextBox 14"/>
          <p:cNvSpPr txBox="1"/>
          <p:nvPr/>
        </p:nvSpPr>
        <p:spPr>
          <a:xfrm>
            <a:off x="512064" y="2185416"/>
            <a:ext cx="1618488" cy="329184"/>
          </a:xfrm>
          <a:prstGeom prst="rect">
            <a:avLst/>
          </a:prstGeom>
          <a:noFill/>
        </p:spPr>
        <p:txBody>
          <a:bodyPr wrap="square" anchor="ctr" lIns="0" rIns="0" tIns="0" bIns="0">
            <a:spAutoFit/>
          </a:bodyPr>
          <a:lstStyle/>
          <a:p>
            <a:pPr algn="l"/>
            <a:r>
              <a:rPr sz="800" b="0">
                <a:solidFill>
                  <a:srgbClr val="141414"/>
                </a:solidFill>
                <a:latin typeface="Plus Jakarta Sans"/>
              </a:rPr>
              <a:t>Real leads</a:t>
            </a:r>
          </a:p>
        </p:txBody>
      </p:sp>
      <p:sp>
        <p:nvSpPr>
          <p:cNvPr id="16" name="Rectangle 15"/>
          <p:cNvSpPr/>
          <p:nvPr/>
        </p:nvSpPr>
        <p:spPr>
          <a:xfrm>
            <a:off x="2203704" y="2277587"/>
            <a:ext cx="1554480" cy="14484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203704" y="2277587"/>
            <a:ext cx="413577" cy="14484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813047" y="2185416"/>
            <a:ext cx="310896" cy="329184"/>
          </a:xfrm>
          <a:prstGeom prst="rect">
            <a:avLst/>
          </a:prstGeom>
          <a:noFill/>
        </p:spPr>
        <p:txBody>
          <a:bodyPr wrap="square" anchor="ctr" lIns="0" rIns="0" tIns="0" bIns="0">
            <a:spAutoFit/>
          </a:bodyPr>
          <a:lstStyle/>
          <a:p>
            <a:pPr algn="l"/>
            <a:r>
              <a:rPr sz="800" b="1">
                <a:solidFill>
                  <a:srgbClr val="141414"/>
                </a:solidFill>
                <a:latin typeface="Plus Jakarta Sans"/>
              </a:rPr>
              <a:t>58</a:t>
            </a:r>
          </a:p>
        </p:txBody>
      </p:sp>
      <p:sp>
        <p:nvSpPr>
          <p:cNvPr id="19" name="TextBox 18"/>
          <p:cNvSpPr txBox="1"/>
          <p:nvPr/>
        </p:nvSpPr>
        <p:spPr>
          <a:xfrm>
            <a:off x="512064" y="2624328"/>
            <a:ext cx="3611880" cy="1005840"/>
          </a:xfrm>
          <a:prstGeom prst="rect">
            <a:avLst/>
          </a:prstGeom>
          <a:noFill/>
        </p:spPr>
        <p:txBody>
          <a:bodyPr wrap="square" anchor="t" lIns="0" rIns="0" tIns="0" bIns="0">
            <a:spAutoFit/>
          </a:bodyPr>
          <a:lstStyle/>
          <a:p>
            <a:pPr algn="l"/>
            <a:r>
              <a:rPr sz="780" b="1">
                <a:solidFill>
                  <a:srgbClr val="5C665C"/>
                </a:solidFill>
                <a:latin typeface="Plus Jakarta Sans"/>
              </a:rPr>
              <a:t>Live sessions logged: </a:t>
            </a:r>
            <a:r>
              <a:rPr sz="780" b="0">
                <a:solidFill>
                  <a:srgbClr val="5C665C"/>
                </a:solidFill>
                <a:latin typeface="Plus Jakarta Sans"/>
              </a:rPr>
              <a:t>Desa Gobah, Tambang 62; Desa Sei Putih, Tapung 59; Desa Hangtuah, Perhentian Raja 44; Tokling 1 Kampar 33; Tokling 2 Kampar 20. </a:t>
            </a:r>
            <a:r>
              <a:rPr sz="780" b="0">
                <a:solidFill>
                  <a:srgbClr val="5C665C"/>
                </a:solidFill>
                <a:latin typeface="Plus Jakarta Sans"/>
              </a:rPr>
              <a:t>Every viewer is logged as “considering”, by Merita, Deby and Alyssa, with an account name and no phone number.</a:t>
            </a:r>
          </a:p>
        </p:txBody>
      </p:sp>
      <p:sp>
        <p:nvSpPr>
          <p:cNvPr id="20" name="Rounded Rectangle 19"/>
          <p:cNvSpPr/>
          <p:nvPr/>
        </p:nvSpPr>
        <p:spPr>
          <a:xfrm>
            <a:off x="4389120" y="987552"/>
            <a:ext cx="4297680" cy="2697480"/>
          </a:xfrm>
          <a:prstGeom prst="roundRect">
            <a:avLst>
              <a:gd name="adj" fmla="val 2033"/>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17136" y="1078992"/>
            <a:ext cx="4041648" cy="201168"/>
          </a:xfrm>
          <a:prstGeom prst="rect">
            <a:avLst/>
          </a:prstGeom>
          <a:noFill/>
        </p:spPr>
        <p:txBody>
          <a:bodyPr wrap="square" anchor="t" lIns="0" rIns="0" tIns="0" bIns="0">
            <a:spAutoFit/>
          </a:bodyPr>
          <a:lstStyle/>
          <a:p>
            <a:pPr algn="l"/>
            <a:r>
              <a:rPr sz="1000" b="1">
                <a:solidFill>
                  <a:srgbClr val="141414"/>
                </a:solidFill>
                <a:latin typeface="Plus Jakarta Sans"/>
              </a:rPr>
              <a:t>Why the 58 real leads didn't buy</a:t>
            </a:r>
          </a:p>
        </p:txBody>
      </p:sp>
      <p:sp>
        <p:nvSpPr>
          <p:cNvPr id="22" name="TextBox 21"/>
          <p:cNvSpPr txBox="1"/>
          <p:nvPr/>
        </p:nvSpPr>
        <p:spPr>
          <a:xfrm>
            <a:off x="4517136" y="1271016"/>
            <a:ext cx="4041648" cy="182880"/>
          </a:xfrm>
          <a:prstGeom prst="rect">
            <a:avLst/>
          </a:prstGeom>
          <a:noFill/>
        </p:spPr>
        <p:txBody>
          <a:bodyPr wrap="square" anchor="t" lIns="0" rIns="0" tIns="0" bIns="0">
            <a:spAutoFit/>
          </a:bodyPr>
          <a:lstStyle/>
          <a:p>
            <a:pPr algn="l"/>
            <a:r>
              <a:rPr sz="750" b="0">
                <a:solidFill>
                  <a:srgbClr val="5C665C"/>
                </a:solidFill>
                <a:latin typeface="Plus Jakarta Sans"/>
              </a:rPr>
              <a:t>Read from the reason field and the discussion notes</a:t>
            </a:r>
          </a:p>
        </p:txBody>
      </p:sp>
      <p:sp>
        <p:nvSpPr>
          <p:cNvPr id="23" name="TextBox 22"/>
          <p:cNvSpPr txBox="1"/>
          <p:nvPr/>
        </p:nvSpPr>
        <p:spPr>
          <a:xfrm>
            <a:off x="4517136" y="1499616"/>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Just asking / catalogue sent</a:t>
            </a:r>
          </a:p>
        </p:txBody>
      </p:sp>
      <p:sp>
        <p:nvSpPr>
          <p:cNvPr id="24" name="Rectangle 23"/>
          <p:cNvSpPr/>
          <p:nvPr/>
        </p:nvSpPr>
        <p:spPr>
          <a:xfrm>
            <a:off x="6483096" y="1564904"/>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83096" y="1564904"/>
            <a:ext cx="1755647"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1499616"/>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30</a:t>
            </a:r>
          </a:p>
        </p:txBody>
      </p:sp>
      <p:sp>
        <p:nvSpPr>
          <p:cNvPr id="27" name="TextBox 26"/>
          <p:cNvSpPr txBox="1"/>
          <p:nvPr/>
        </p:nvSpPr>
        <p:spPr>
          <a:xfrm>
            <a:off x="4517136" y="1732788"/>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Price or shipping cost</a:t>
            </a:r>
          </a:p>
        </p:txBody>
      </p:sp>
      <p:sp>
        <p:nvSpPr>
          <p:cNvPr id="28" name="Rectangle 27"/>
          <p:cNvSpPr/>
          <p:nvPr/>
        </p:nvSpPr>
        <p:spPr>
          <a:xfrm>
            <a:off x="6483096" y="1798076"/>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83096" y="1798076"/>
            <a:ext cx="409651"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1732788"/>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7</a:t>
            </a:r>
          </a:p>
        </p:txBody>
      </p:sp>
      <p:sp>
        <p:nvSpPr>
          <p:cNvPr id="31" name="TextBox 30"/>
          <p:cNvSpPr txBox="1"/>
          <p:nvPr/>
        </p:nvSpPr>
        <p:spPr>
          <a:xfrm>
            <a:off x="4517136" y="1965960"/>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No mobile-shop route or long wait</a:t>
            </a:r>
          </a:p>
        </p:txBody>
      </p:sp>
      <p:sp>
        <p:nvSpPr>
          <p:cNvPr id="32" name="Rectangle 31"/>
          <p:cNvSpPr/>
          <p:nvPr/>
        </p:nvSpPr>
        <p:spPr>
          <a:xfrm>
            <a:off x="6483096" y="2031248"/>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83096" y="2031248"/>
            <a:ext cx="234086"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93608" y="1965960"/>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4</a:t>
            </a:r>
          </a:p>
        </p:txBody>
      </p:sp>
      <p:sp>
        <p:nvSpPr>
          <p:cNvPr id="35" name="TextBox 34"/>
          <p:cNvSpPr txBox="1"/>
          <p:nvPr/>
        </p:nvSpPr>
        <p:spPr>
          <a:xfrm>
            <a:off x="4517136" y="2199132"/>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Tied to a KUD or agent</a:t>
            </a:r>
          </a:p>
        </p:txBody>
      </p:sp>
      <p:sp>
        <p:nvSpPr>
          <p:cNvPr id="36" name="Rectangle 35"/>
          <p:cNvSpPr/>
          <p:nvPr/>
        </p:nvSpPr>
        <p:spPr>
          <a:xfrm>
            <a:off x="6483096" y="2264420"/>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83096" y="2264420"/>
            <a:ext cx="234086"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93608" y="2199132"/>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4</a:t>
            </a:r>
          </a:p>
        </p:txBody>
      </p:sp>
      <p:sp>
        <p:nvSpPr>
          <p:cNvPr id="39" name="TextBox 38"/>
          <p:cNvSpPr txBox="1"/>
          <p:nvPr/>
        </p:nvSpPr>
        <p:spPr>
          <a:xfrm>
            <a:off x="4517136" y="2432304"/>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Wants warehouse pick-up</a:t>
            </a:r>
          </a:p>
        </p:txBody>
      </p:sp>
      <p:sp>
        <p:nvSpPr>
          <p:cNvPr id="40" name="Rectangle 39"/>
          <p:cNvSpPr/>
          <p:nvPr/>
        </p:nvSpPr>
        <p:spPr>
          <a:xfrm>
            <a:off x="6483096" y="2497592"/>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483096" y="2497592"/>
            <a:ext cx="234086"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93608" y="2432304"/>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4</a:t>
            </a:r>
          </a:p>
        </p:txBody>
      </p:sp>
      <p:sp>
        <p:nvSpPr>
          <p:cNvPr id="43" name="TextBox 42"/>
          <p:cNvSpPr txBox="1"/>
          <p:nvPr/>
        </p:nvSpPr>
        <p:spPr>
          <a:xfrm>
            <a:off x="4517136" y="2665476"/>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Payment terms (COD / tempo)</a:t>
            </a:r>
          </a:p>
        </p:txBody>
      </p:sp>
      <p:sp>
        <p:nvSpPr>
          <p:cNvPr id="44" name="Rectangle 43"/>
          <p:cNvSpPr/>
          <p:nvPr/>
        </p:nvSpPr>
        <p:spPr>
          <a:xfrm>
            <a:off x="6483096" y="2730764"/>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83096" y="2730764"/>
            <a:ext cx="175564"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93608" y="2665476"/>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3</a:t>
            </a:r>
          </a:p>
        </p:txBody>
      </p:sp>
      <p:sp>
        <p:nvSpPr>
          <p:cNvPr id="47" name="TextBox 46"/>
          <p:cNvSpPr txBox="1"/>
          <p:nvPr/>
        </p:nvSpPr>
        <p:spPr>
          <a:xfrm>
            <a:off x="4517136" y="2898648"/>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Topaz rules or documents</a:t>
            </a:r>
          </a:p>
        </p:txBody>
      </p:sp>
      <p:sp>
        <p:nvSpPr>
          <p:cNvPr id="48" name="Rectangle 47"/>
          <p:cNvSpPr/>
          <p:nvPr/>
        </p:nvSpPr>
        <p:spPr>
          <a:xfrm>
            <a:off x="6483096" y="2963936"/>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83096" y="2963936"/>
            <a:ext cx="117043"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93608" y="2898648"/>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2</a:t>
            </a:r>
          </a:p>
        </p:txBody>
      </p:sp>
      <p:sp>
        <p:nvSpPr>
          <p:cNvPr id="51" name="TextBox 50"/>
          <p:cNvSpPr txBox="1"/>
          <p:nvPr/>
        </p:nvSpPr>
        <p:spPr>
          <a:xfrm>
            <a:off x="4517136" y="3131820"/>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No need yet</a:t>
            </a:r>
          </a:p>
        </p:txBody>
      </p:sp>
      <p:sp>
        <p:nvSpPr>
          <p:cNvPr id="52" name="Rectangle 51"/>
          <p:cNvSpPr/>
          <p:nvPr/>
        </p:nvSpPr>
        <p:spPr>
          <a:xfrm>
            <a:off x="6483096" y="3197108"/>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483096" y="3197108"/>
            <a:ext cx="117043"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93608" y="3131820"/>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2</a:t>
            </a:r>
          </a:p>
        </p:txBody>
      </p:sp>
      <p:sp>
        <p:nvSpPr>
          <p:cNvPr id="55" name="TextBox 54"/>
          <p:cNvSpPr txBox="1"/>
          <p:nvPr/>
        </p:nvSpPr>
        <p:spPr>
          <a:xfrm>
            <a:off x="4517136" y="3364992"/>
            <a:ext cx="1892807" cy="233172"/>
          </a:xfrm>
          <a:prstGeom prst="rect">
            <a:avLst/>
          </a:prstGeom>
          <a:noFill/>
        </p:spPr>
        <p:txBody>
          <a:bodyPr wrap="square" anchor="ctr" lIns="0" rIns="0" tIns="0" bIns="0">
            <a:spAutoFit/>
          </a:bodyPr>
          <a:lstStyle/>
          <a:p>
            <a:pPr algn="l"/>
            <a:r>
              <a:rPr sz="800" b="0">
                <a:solidFill>
                  <a:srgbClr val="141414"/>
                </a:solidFill>
                <a:latin typeface="Plus Jakarta Sans"/>
              </a:rPr>
              <a:t>Decision by family</a:t>
            </a:r>
          </a:p>
        </p:txBody>
      </p:sp>
      <p:sp>
        <p:nvSpPr>
          <p:cNvPr id="56" name="Rectangle 55"/>
          <p:cNvSpPr/>
          <p:nvPr/>
        </p:nvSpPr>
        <p:spPr>
          <a:xfrm>
            <a:off x="6483096" y="3430280"/>
            <a:ext cx="1755648" cy="102595"/>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83096" y="3430280"/>
            <a:ext cx="117043" cy="102595"/>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93608" y="3364992"/>
            <a:ext cx="265176" cy="233172"/>
          </a:xfrm>
          <a:prstGeom prst="rect">
            <a:avLst/>
          </a:prstGeom>
          <a:noFill/>
        </p:spPr>
        <p:txBody>
          <a:bodyPr wrap="square" anchor="ctr" lIns="0" rIns="0" tIns="0" bIns="0">
            <a:spAutoFit/>
          </a:bodyPr>
          <a:lstStyle/>
          <a:p>
            <a:pPr algn="l"/>
            <a:r>
              <a:rPr sz="800" b="1">
                <a:solidFill>
                  <a:srgbClr val="141414"/>
                </a:solidFill>
                <a:latin typeface="Plus Jakarta Sans"/>
              </a:rPr>
              <a:t>2</a:t>
            </a:r>
          </a:p>
        </p:txBody>
      </p:sp>
      <p:sp>
        <p:nvSpPr>
          <p:cNvPr id="59" name="Rounded Rectangle 58"/>
          <p:cNvSpPr/>
          <p:nvPr/>
        </p:nvSpPr>
        <p:spPr>
          <a:xfrm>
            <a:off x="384048" y="3794760"/>
            <a:ext cx="8302752" cy="777240"/>
          </a:xfrm>
          <a:prstGeom prst="roundRect">
            <a:avLst>
              <a:gd name="adj" fmla="val 7058"/>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30352" y="3886200"/>
            <a:ext cx="8010144" cy="630936"/>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Most real leads never said what they need:</a:t>
            </a:r>
            <a:r>
              <a:rPr sz="850" b="0">
                <a:solidFill>
                  <a:srgbClr val="141414"/>
                </a:solidFill>
                <a:latin typeface="Plus Jakarta Sans"/>
              </a:rPr>
              <a:t> 30 of 58 only asked prices or got the catalogue; 8 are Deby's database calls logged “will think about it”.</a:t>
            </a:r>
          </a:p>
          <a:p>
            <a:pPr algn="l">
              <a:spcAft>
                <a:spcPts val="300"/>
              </a:spcAft>
            </a:pPr>
            <a:r>
              <a:rPr sz="850" b="1">
                <a:solidFill>
                  <a:srgbClr val="141414"/>
                </a:solidFill>
                <a:latin typeface="Plus Jakarta Sans"/>
              </a:rPr>
              <a:t>KUD ties come only from database calls:</a:t>
            </a:r>
            <a:r>
              <a:rPr sz="850" b="0">
                <a:solidFill>
                  <a:srgbClr val="141414"/>
                </a:solidFill>
                <a:latin typeface="Plus Jakarta Sans"/>
              </a:rPr>
              <a:t> all 4 leads tied to a KUD or agent were called from the database list; TikTok leads ask about price, shipping and the warehouse.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Real leads logged Rp111M of potential sales and named ~36 t more</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SMALLHOLDER · REJECTION REASONS · POTENTIAL</a:t>
            </a:r>
          </a:p>
        </p:txBody>
      </p:sp>
      <p:sp>
        <p:nvSpPr>
          <p:cNvPr id="4" name="Rounded Rectangle 3"/>
          <p:cNvSpPr/>
          <p:nvPr/>
        </p:nvSpPr>
        <p:spPr>
          <a:xfrm>
            <a:off x="384048" y="987552"/>
            <a:ext cx="1993392" cy="786384"/>
          </a:xfrm>
          <a:prstGeom prst="roundRect">
            <a:avLst>
              <a:gd name="adj" fmla="val 6976"/>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1737360" cy="329184"/>
          </a:xfrm>
          <a:prstGeom prst="rect">
            <a:avLst/>
          </a:prstGeom>
          <a:noFill/>
        </p:spPr>
        <p:txBody>
          <a:bodyPr wrap="square" anchor="t" lIns="0" rIns="0" tIns="0" bIns="0">
            <a:spAutoFit/>
          </a:bodyPr>
          <a:lstStyle/>
          <a:p>
            <a:pPr algn="l"/>
            <a:r>
              <a:rPr sz="1700" b="1">
                <a:solidFill>
                  <a:srgbClr val="FFFFFF"/>
                </a:solidFill>
                <a:latin typeface="Plus Jakarta Sans ExtraBold"/>
              </a:rPr>
              <a:t>Rp111M</a:t>
            </a:r>
          </a:p>
        </p:txBody>
      </p:sp>
      <p:sp>
        <p:nvSpPr>
          <p:cNvPr id="6" name="TextBox 5"/>
          <p:cNvSpPr txBox="1"/>
          <p:nvPr/>
        </p:nvSpPr>
        <p:spPr>
          <a:xfrm>
            <a:off x="512064" y="1426464"/>
            <a:ext cx="1737360" cy="292607"/>
          </a:xfrm>
          <a:prstGeom prst="rect">
            <a:avLst/>
          </a:prstGeom>
          <a:noFill/>
        </p:spPr>
        <p:txBody>
          <a:bodyPr wrap="square" anchor="t" lIns="0" rIns="0" tIns="0" bIns="0">
            <a:spAutoFit/>
          </a:bodyPr>
          <a:lstStyle/>
          <a:p>
            <a:pPr algn="l"/>
            <a:r>
              <a:rPr sz="800" b="0">
                <a:solidFill>
                  <a:srgbClr val="FFFFFF"/>
                </a:solidFill>
                <a:latin typeface="Plus Jakarta Sans"/>
              </a:rPr>
              <a:t>potential sales logged in the CRM (2 leads)</a:t>
            </a:r>
          </a:p>
        </p:txBody>
      </p:sp>
      <p:sp>
        <p:nvSpPr>
          <p:cNvPr id="7" name="Rounded Rectangle 6"/>
          <p:cNvSpPr/>
          <p:nvPr/>
        </p:nvSpPr>
        <p:spPr>
          <a:xfrm>
            <a:off x="2487168" y="987552"/>
            <a:ext cx="1993392" cy="786384"/>
          </a:xfrm>
          <a:prstGeom prst="roundRect">
            <a:avLst>
              <a:gd name="adj" fmla="val 697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15184" y="1078992"/>
            <a:ext cx="1737360" cy="329184"/>
          </a:xfrm>
          <a:prstGeom prst="rect">
            <a:avLst/>
          </a:prstGeom>
          <a:noFill/>
        </p:spPr>
        <p:txBody>
          <a:bodyPr wrap="square" anchor="t" lIns="0" rIns="0" tIns="0" bIns="0">
            <a:spAutoFit/>
          </a:bodyPr>
          <a:lstStyle/>
          <a:p>
            <a:pPr algn="l"/>
            <a:r>
              <a:rPr sz="1700" b="1">
                <a:solidFill>
                  <a:srgbClr val="007200"/>
                </a:solidFill>
                <a:latin typeface="Plus Jakarta Sans ExtraBold"/>
              </a:rPr>
              <a:t>~36 t</a:t>
            </a:r>
          </a:p>
        </p:txBody>
      </p:sp>
      <p:sp>
        <p:nvSpPr>
          <p:cNvPr id="9" name="TextBox 8"/>
          <p:cNvSpPr txBox="1"/>
          <p:nvPr/>
        </p:nvSpPr>
        <p:spPr>
          <a:xfrm>
            <a:off x="2615184" y="1426464"/>
            <a:ext cx="1737360" cy="292607"/>
          </a:xfrm>
          <a:prstGeom prst="rect">
            <a:avLst/>
          </a:prstGeom>
          <a:noFill/>
        </p:spPr>
        <p:txBody>
          <a:bodyPr wrap="square" anchor="t" lIns="0" rIns="0" tIns="0" bIns="0">
            <a:spAutoFit/>
          </a:bodyPr>
          <a:lstStyle/>
          <a:p>
            <a:pPr algn="l"/>
            <a:r>
              <a:rPr sz="800" b="0">
                <a:solidFill>
                  <a:srgbClr val="5C665C"/>
                </a:solidFill>
                <a:latin typeface="Plus Jakarta Sans"/>
              </a:rPr>
              <a:t>fertilizer need stated by 5 more leads</a:t>
            </a:r>
          </a:p>
        </p:txBody>
      </p:sp>
      <p:sp>
        <p:nvSpPr>
          <p:cNvPr id="10" name="Rounded Rectangle 9"/>
          <p:cNvSpPr/>
          <p:nvPr/>
        </p:nvSpPr>
        <p:spPr>
          <a:xfrm>
            <a:off x="4590288" y="987552"/>
            <a:ext cx="1993392" cy="786384"/>
          </a:xfrm>
          <a:prstGeom prst="roundRect">
            <a:avLst>
              <a:gd name="adj" fmla="val 697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18303" y="1078992"/>
            <a:ext cx="1737360" cy="329184"/>
          </a:xfrm>
          <a:prstGeom prst="rect">
            <a:avLst/>
          </a:prstGeom>
          <a:noFill/>
        </p:spPr>
        <p:txBody>
          <a:bodyPr wrap="square" anchor="t" lIns="0" rIns="0" tIns="0" bIns="0">
            <a:spAutoFit/>
          </a:bodyPr>
          <a:lstStyle/>
          <a:p>
            <a:pPr algn="l"/>
            <a:r>
              <a:rPr sz="1700" b="1">
                <a:solidFill>
                  <a:srgbClr val="007200"/>
                </a:solidFill>
                <a:latin typeface="Plus Jakarta Sans ExtraBold"/>
              </a:rPr>
              <a:t>300</a:t>
            </a:r>
          </a:p>
        </p:txBody>
      </p:sp>
      <p:sp>
        <p:nvSpPr>
          <p:cNvPr id="12" name="TextBox 11"/>
          <p:cNvSpPr txBox="1"/>
          <p:nvPr/>
        </p:nvSpPr>
        <p:spPr>
          <a:xfrm>
            <a:off x="4718303" y="1426464"/>
            <a:ext cx="1737360" cy="292607"/>
          </a:xfrm>
          <a:prstGeom prst="rect">
            <a:avLst/>
          </a:prstGeom>
          <a:noFill/>
        </p:spPr>
        <p:txBody>
          <a:bodyPr wrap="square" anchor="t" lIns="0" rIns="0" tIns="0" bIns="0">
            <a:spAutoFit/>
          </a:bodyPr>
          <a:lstStyle/>
          <a:p>
            <a:pPr algn="l"/>
            <a:r>
              <a:rPr sz="800" b="0">
                <a:solidFill>
                  <a:srgbClr val="5C665C"/>
                </a:solidFill>
                <a:latin typeface="Plus Jakarta Sans"/>
              </a:rPr>
              <a:t>Topaz seeds requested by 1 lead</a:t>
            </a:r>
          </a:p>
        </p:txBody>
      </p:sp>
      <p:sp>
        <p:nvSpPr>
          <p:cNvPr id="13" name="Rounded Rectangle 12"/>
          <p:cNvSpPr/>
          <p:nvPr/>
        </p:nvSpPr>
        <p:spPr>
          <a:xfrm>
            <a:off x="6693408" y="987552"/>
            <a:ext cx="1993392" cy="786384"/>
          </a:xfrm>
          <a:prstGeom prst="roundRect">
            <a:avLst>
              <a:gd name="adj" fmla="val 6976"/>
            </a:avLst>
          </a:prstGeom>
          <a:solidFill>
            <a:srgbClr val="F6F8F6"/>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21424" y="1078992"/>
            <a:ext cx="1737360" cy="329184"/>
          </a:xfrm>
          <a:prstGeom prst="rect">
            <a:avLst/>
          </a:prstGeom>
          <a:noFill/>
        </p:spPr>
        <p:txBody>
          <a:bodyPr wrap="square" anchor="t" lIns="0" rIns="0" tIns="0" bIns="0">
            <a:spAutoFit/>
          </a:bodyPr>
          <a:lstStyle/>
          <a:p>
            <a:pPr algn="l"/>
            <a:r>
              <a:rPr sz="1700" b="1">
                <a:solidFill>
                  <a:srgbClr val="007200"/>
                </a:solidFill>
                <a:latin typeface="Plus Jakarta Sans ExtraBold"/>
              </a:rPr>
              <a:t>51/58</a:t>
            </a:r>
          </a:p>
        </p:txBody>
      </p:sp>
      <p:sp>
        <p:nvSpPr>
          <p:cNvPr id="15" name="TextBox 14"/>
          <p:cNvSpPr txBox="1"/>
          <p:nvPr/>
        </p:nvSpPr>
        <p:spPr>
          <a:xfrm>
            <a:off x="6821424" y="1426464"/>
            <a:ext cx="1737360" cy="292607"/>
          </a:xfrm>
          <a:prstGeom prst="rect">
            <a:avLst/>
          </a:prstGeom>
          <a:noFill/>
        </p:spPr>
        <p:txBody>
          <a:bodyPr wrap="square" anchor="t" lIns="0" rIns="0" tIns="0" bIns="0">
            <a:spAutoFit/>
          </a:bodyPr>
          <a:lstStyle/>
          <a:p>
            <a:pPr algn="l"/>
            <a:r>
              <a:rPr sz="800" b="0">
                <a:solidFill>
                  <a:srgbClr val="5C665C"/>
                </a:solidFill>
                <a:latin typeface="Plus Jakarta Sans"/>
              </a:rPr>
              <a:t>real leads with no potential or quantity logged</a:t>
            </a:r>
          </a:p>
        </p:txBody>
      </p:sp>
      <p:graphicFrame>
        <p:nvGraphicFramePr>
          <p:cNvPr id="16" name="Table 15"/>
          <p:cNvGraphicFramePr>
            <a:graphicFrameLocks noGrp="1"/>
          </p:cNvGraphicFramePr>
          <p:nvPr/>
        </p:nvGraphicFramePr>
        <p:xfrm>
          <a:off x="384048" y="1901952"/>
          <a:ext cx="8302748" cy="2267712"/>
        </p:xfrm>
        <a:graphic>
          <a:graphicData uri="http://schemas.openxmlformats.org/drawingml/2006/table">
            <a:tbl>
              <a:tblPr firstRow="1" bandRow="1">
                <a:tableStyleId>{5C22544A-7EE6-4342-B048-85BDC9FD1C3A}</a:tableStyleId>
              </a:tblPr>
              <a:tblGrid>
                <a:gridCol w="733944"/>
                <a:gridCol w="1055045"/>
                <a:gridCol w="1330275"/>
                <a:gridCol w="733944"/>
                <a:gridCol w="1100917"/>
                <a:gridCol w="1422018"/>
                <a:gridCol w="1926605"/>
              </a:tblGrid>
              <a:tr h="283464">
                <a:tc>
                  <a:txBody>
                    <a:bodyPr wrap="square"/>
                    <a:lstStyle/>
                    <a:p>
                      <a:pPr algn="l"/>
                      <a:r>
                        <a:rPr sz="700" b="1">
                          <a:solidFill>
                            <a:srgbClr val="FFFFFF"/>
                          </a:solidFill>
                          <a:latin typeface="Plus Jakarta Sans"/>
                        </a:rPr>
                        <a:t>CRM ID</a:t>
                      </a:r>
                    </a:p>
                  </a:txBody>
                  <a:tcPr marL="45720" marR="45720" marT="18288" marB="18288" anchor="ctr">
                    <a:solidFill>
                      <a:srgbClr val="007200"/>
                    </a:solidFill>
                  </a:tcPr>
                </a:tc>
                <a:tc>
                  <a:txBody>
                    <a:bodyPr wrap="square"/>
                    <a:lstStyle/>
                    <a:p>
                      <a:pPr algn="l"/>
                      <a:r>
                        <a:rPr sz="700" b="1">
                          <a:solidFill>
                            <a:srgbClr val="FFFFFF"/>
                          </a:solidFill>
                          <a:latin typeface="Plus Jakarta Sans"/>
                        </a:rPr>
                        <a:t>PIC</a:t>
                      </a:r>
                    </a:p>
                  </a:txBody>
                  <a:tcPr marL="45720" marR="45720" marT="18288" marB="18288" anchor="ctr">
                    <a:solidFill>
                      <a:srgbClr val="007200"/>
                    </a:solidFill>
                  </a:tcPr>
                </a:tc>
                <a:tc>
                  <a:txBody>
                    <a:bodyPr wrap="square"/>
                    <a:lstStyle/>
                    <a:p>
                      <a:pPr algn="l"/>
                      <a:r>
                        <a:rPr sz="700" b="1">
                          <a:solidFill>
                            <a:srgbClr val="FFFFFF"/>
                          </a:solidFill>
                          <a:latin typeface="Plus Jakarta Sans"/>
                        </a:rPr>
                        <a:t>Product asked</a:t>
                      </a:r>
                    </a:p>
                  </a:txBody>
                  <a:tcPr marL="45720" marR="45720" marT="18288" marB="18288" anchor="ctr">
                    <a:solidFill>
                      <a:srgbClr val="007200"/>
                    </a:solidFill>
                  </a:tcPr>
                </a:tc>
                <a:tc>
                  <a:txBody>
                    <a:bodyPr wrap="square"/>
                    <a:lstStyle/>
                    <a:p>
                      <a:pPr algn="r"/>
                      <a:r>
                        <a:rPr sz="700" b="1">
                          <a:solidFill>
                            <a:srgbClr val="FFFFFF"/>
                          </a:solidFill>
                          <a:latin typeface="Plus Jakarta Sans"/>
                        </a:rPr>
                        <a:t>Potential sales</a:t>
                      </a:r>
                    </a:p>
                  </a:txBody>
                  <a:tcPr marL="45720" marR="45720" marT="18288" marB="18288" anchor="ctr">
                    <a:solidFill>
                      <a:srgbClr val="007200"/>
                    </a:solidFill>
                  </a:tcPr>
                </a:tc>
                <a:tc>
                  <a:txBody>
                    <a:bodyPr wrap="square"/>
                    <a:lstStyle/>
                    <a:p>
                      <a:pPr algn="l"/>
                      <a:r>
                        <a:rPr sz="700" b="1">
                          <a:solidFill>
                            <a:srgbClr val="FFFFFF"/>
                          </a:solidFill>
                          <a:latin typeface="Plus Jakarta Sans"/>
                        </a:rPr>
                        <a:t>Need (as stated)</a:t>
                      </a:r>
                    </a:p>
                  </a:txBody>
                  <a:tcPr marL="45720" marR="45720" marT="18288" marB="18288" anchor="ctr">
                    <a:solidFill>
                      <a:srgbClr val="007200"/>
                    </a:solidFill>
                  </a:tcPr>
                </a:tc>
                <a:tc>
                  <a:txBody>
                    <a:bodyPr wrap="square"/>
                    <a:lstStyle/>
                    <a:p>
                      <a:pPr algn="l"/>
                      <a:r>
                        <a:rPr sz="700" b="1">
                          <a:solidFill>
                            <a:srgbClr val="FFFFFF"/>
                          </a:solidFill>
                          <a:latin typeface="Plus Jakarta Sans"/>
                        </a:rPr>
                        <a:t>What holds it back</a:t>
                      </a:r>
                    </a:p>
                  </a:txBody>
                  <a:tcPr marL="45720" marR="45720" marT="18288" marB="18288" anchor="ctr">
                    <a:solidFill>
                      <a:srgbClr val="007200"/>
                    </a:solidFill>
                  </a:tcPr>
                </a:tc>
                <a:tc>
                  <a:txBody>
                    <a:bodyPr wrap="square"/>
                    <a:lstStyle/>
                    <a:p>
                      <a:pPr algn="l"/>
                      <a:r>
                        <a:rPr sz="700" b="1">
                          <a:solidFill>
                            <a:srgbClr val="FFFFFF"/>
                          </a:solidFill>
                          <a:latin typeface="Plus Jakarta Sans"/>
                        </a:rPr>
                        <a:t>Context</a:t>
                      </a:r>
                    </a:p>
                  </a:txBody>
                  <a:tcPr marL="45720" marR="45720" marT="18288" marB="18288" anchor="ctr">
                    <a:solidFill>
                      <a:srgbClr val="007200"/>
                    </a:solidFill>
                  </a:tcPr>
                </a:tc>
              </a:tr>
              <a:tr h="283464">
                <a:tc>
                  <a:txBody>
                    <a:bodyPr wrap="square"/>
                    <a:lstStyle/>
                    <a:p>
                      <a:pPr algn="l"/>
                      <a:r>
                        <a:rPr sz="700" b="0">
                          <a:solidFill>
                            <a:srgbClr val="141414"/>
                          </a:solidFill>
                          <a:latin typeface="Plus Jakarta Sans"/>
                        </a:rPr>
                        <a:t>SMEN-42378</a:t>
                      </a:r>
                    </a:p>
                  </a:txBody>
                  <a:tcPr marL="45720" marR="45720" marT="18288" marB="18288" anchor="ctr">
                    <a:solidFill>
                      <a:srgbClr val="FFFFFF"/>
                    </a:solidFill>
                  </a:tcPr>
                </a:tc>
                <a:tc>
                  <a:txBody>
                    <a:bodyPr wrap="square"/>
                    <a:lstStyle/>
                    <a:p>
                      <a:pPr algn="l"/>
                      <a:r>
                        <a:rPr sz="700" b="0">
                          <a:solidFill>
                            <a:srgbClr val="141414"/>
                          </a:solidFill>
                          <a:latin typeface="Plus Jakarta Sans"/>
                        </a:rPr>
                        <a:t>Merita Syarif</a:t>
                      </a:r>
                    </a:p>
                  </a:txBody>
                  <a:tcPr marL="45720" marR="45720" marT="18288" marB="18288" anchor="ctr">
                    <a:solidFill>
                      <a:srgbClr val="FFFFFF"/>
                    </a:solidFill>
                  </a:tcPr>
                </a:tc>
                <a:tc>
                  <a:txBody>
                    <a:bodyPr wrap="square"/>
                    <a:lstStyle/>
                    <a:p>
                      <a:pPr algn="l"/>
                      <a:r>
                        <a:rPr sz="700" b="0">
                          <a:solidFill>
                            <a:srgbClr val="141414"/>
                          </a:solidFill>
                          <a:latin typeface="Plus Jakarta Sans"/>
                        </a:rPr>
                        <a:t>NPK Pak Tani 7-6-35</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Rp107M</a:t>
                      </a:r>
                    </a:p>
                  </a:txBody>
                  <a:tcPr marL="45720" marR="45720" marT="18288" marB="18288" anchor="ctr">
                    <a:solidFill>
                      <a:srgbClr val="FFFFFF"/>
                    </a:solidFill>
                  </a:tcPr>
                </a:tc>
                <a:tc>
                  <a:txBody>
                    <a:bodyPr wrap="square"/>
                    <a:lstStyle/>
                    <a:p>
                      <a:pPr algn="l"/>
                      <a:r>
                        <a:rPr sz="700" b="0">
                          <a:solidFill>
                            <a:srgbClr val="141414"/>
                          </a:solidFill>
                          <a:latin typeface="Plus Jakarta Sans"/>
                        </a:rPr>
                        <a:t>10 t every 6 months</a:t>
                      </a:r>
                    </a:p>
                  </a:txBody>
                  <a:tcPr marL="45720" marR="45720" marT="18288" marB="18288" anchor="ctr">
                    <a:solidFill>
                      <a:srgbClr val="FFFFFF"/>
                    </a:solidFill>
                  </a:tcPr>
                </a:tc>
                <a:tc>
                  <a:txBody>
                    <a:bodyPr wrap="square"/>
                    <a:lstStyle/>
                    <a:p>
                      <a:pPr algn="l"/>
                      <a:r>
                        <a:rPr sz="700" b="0">
                          <a:solidFill>
                            <a:srgbClr val="141414"/>
                          </a:solidFill>
                          <a:latin typeface="Plus Jakarta Sans"/>
                        </a:rPr>
                        <a:t>Price or shipping cost</a:t>
                      </a:r>
                    </a:p>
                  </a:txBody>
                  <a:tcPr marL="45720" marR="45720" marT="18288" marB="18288" anchor="ctr">
                    <a:solidFill>
                      <a:srgbClr val="FFFFFF"/>
                    </a:solidFill>
                  </a:tcPr>
                </a:tc>
                <a:tc>
                  <a:txBody>
                    <a:bodyPr wrap="square"/>
                    <a:lstStyle/>
                    <a:p>
                      <a:pPr algn="l"/>
                      <a:r>
                        <a:rPr sz="700" b="0">
                          <a:solidFill>
                            <a:srgbClr val="141414"/>
                          </a:solidFill>
                          <a:latin typeface="Plus Jakarta Sans"/>
                        </a:rPr>
                        <a:t>Total quoted incl. shipping to Aceh Singkil</a:t>
                      </a:r>
                    </a:p>
                  </a:txBody>
                  <a:tcPr marL="45720" marR="45720" marT="18288" marB="18288" anchor="ctr">
                    <a:solidFill>
                      <a:srgbClr val="FFFFFF"/>
                    </a:solidFill>
                  </a:tcPr>
                </a:tc>
              </a:tr>
              <a:tr h="283464">
                <a:tc>
                  <a:txBody>
                    <a:bodyPr wrap="square"/>
                    <a:lstStyle/>
                    <a:p>
                      <a:pPr algn="l"/>
                      <a:r>
                        <a:rPr sz="700" b="0">
                          <a:solidFill>
                            <a:srgbClr val="141414"/>
                          </a:solidFill>
                          <a:latin typeface="Plus Jakarta Sans"/>
                        </a:rPr>
                        <a:t>SMEN-42734</a:t>
                      </a:r>
                    </a:p>
                  </a:txBody>
                  <a:tcPr marL="45720" marR="45720" marT="18288" marB="18288" anchor="ctr">
                    <a:solidFill>
                      <a:srgbClr val="F6F8F6"/>
                    </a:solidFill>
                  </a:tcPr>
                </a:tc>
                <a:tc>
                  <a:txBody>
                    <a:bodyPr wrap="square"/>
                    <a:lstStyle/>
                    <a:p>
                      <a:pPr algn="l"/>
                      <a:r>
                        <a:rPr sz="700" b="0">
                          <a:solidFill>
                            <a:srgbClr val="141414"/>
                          </a:solidFill>
                          <a:latin typeface="Plus Jakarta Sans"/>
                        </a:rPr>
                        <a:t>Merita Syarif</a:t>
                      </a:r>
                    </a:p>
                  </a:txBody>
                  <a:tcPr marL="45720" marR="45720" marT="18288" marB="18288" anchor="ctr">
                    <a:solidFill>
                      <a:srgbClr val="F6F8F6"/>
                    </a:solidFill>
                  </a:tcPr>
                </a:tc>
                <a:tc>
                  <a:txBody>
                    <a:bodyPr wrap="square"/>
                    <a:lstStyle/>
                    <a:p>
                      <a:pPr algn="l"/>
                      <a:r>
                        <a:rPr sz="700" b="0">
                          <a:solidFill>
                            <a:srgbClr val="141414"/>
                          </a:solidFill>
                          <a:latin typeface="Plus Jakarta Sans"/>
                        </a:rPr>
                        <a:t>NPK Yaramila 16-16-16</a:t>
                      </a:r>
                    </a:p>
                  </a:txBody>
                  <a:tcPr marL="45720" marR="45720" marT="18288" marB="18288" anchor="ctr">
                    <a:solidFill>
                      <a:srgbClr val="F6F8F6"/>
                    </a:solidFill>
                  </a:tcPr>
                </a:tc>
                <a:tc>
                  <a:txBody>
                    <a:bodyPr wrap="square"/>
                    <a:lstStyle/>
                    <a:p>
                      <a:pPr algn="r"/>
                      <a:r>
                        <a:rPr sz="700" b="0">
                          <a:solidFill>
                            <a:srgbClr val="141414"/>
                          </a:solidFill>
                          <a:latin typeface="Plus Jakarta Sans"/>
                        </a:rPr>
                        <a:t>Rp3.7M</a:t>
                      </a:r>
                    </a:p>
                  </a:txBody>
                  <a:tcPr marL="45720" marR="45720" marT="18288" marB="18288" anchor="ctr">
                    <a:solidFill>
                      <a:srgbClr val="F6F8F6"/>
                    </a:solidFill>
                  </a:tcPr>
                </a:tc>
                <a:tc>
                  <a:txBody>
                    <a:bodyPr wrap="square"/>
                    <a:lstStyle/>
                    <a:p>
                      <a:pPr algn="l"/>
                      <a:r>
                        <a:rPr sz="700" b="0">
                          <a:solidFill>
                            <a:srgbClr val="141414"/>
                          </a:solidFill>
                          <a:latin typeface="Plus Jakarta Sans"/>
                        </a:rPr>
                        <a:t>4 sacks</a:t>
                      </a:r>
                    </a:p>
                  </a:txBody>
                  <a:tcPr marL="45720" marR="45720" marT="18288" marB="18288" anchor="ctr">
                    <a:solidFill>
                      <a:srgbClr val="F6F8F6"/>
                    </a:solidFill>
                  </a:tcPr>
                </a:tc>
                <a:tc>
                  <a:txBody>
                    <a:bodyPr wrap="square"/>
                    <a:lstStyle/>
                    <a:p>
                      <a:pPr algn="l"/>
                      <a:r>
                        <a:rPr sz="700" b="0">
                          <a:solidFill>
                            <a:srgbClr val="141414"/>
                          </a:solidFill>
                          <a:latin typeface="Plus Jakarta Sans"/>
                        </a:rPr>
                        <a:t>Wants warehouse pick-up</a:t>
                      </a:r>
                    </a:p>
                  </a:txBody>
                  <a:tcPr marL="45720" marR="45720" marT="18288" marB="18288" anchor="ctr">
                    <a:solidFill>
                      <a:srgbClr val="F6F8F6"/>
                    </a:solidFill>
                  </a:tcPr>
                </a:tc>
                <a:tc>
                  <a:txBody>
                    <a:bodyPr wrap="square"/>
                    <a:lstStyle/>
                    <a:p>
                      <a:pPr algn="l"/>
                      <a:r>
                        <a:rPr sz="700" b="0">
                          <a:solidFill>
                            <a:srgbClr val="141414"/>
                          </a:solidFill>
                          <a:latin typeface="Plus Jakarta Sans"/>
                        </a:rPr>
                        <a:t>Stock confirmed ready; pick-up at warehouse</a:t>
                      </a:r>
                    </a:p>
                  </a:txBody>
                  <a:tcPr marL="45720" marR="45720" marT="18288" marB="18288" anchor="ctr">
                    <a:solidFill>
                      <a:srgbClr val="F6F8F6"/>
                    </a:solidFill>
                  </a:tcPr>
                </a:tc>
              </a:tr>
              <a:tr h="283464">
                <a:tc>
                  <a:txBody>
                    <a:bodyPr wrap="square"/>
                    <a:lstStyle/>
                    <a:p>
                      <a:pPr algn="l"/>
                      <a:r>
                        <a:rPr sz="700" b="0">
                          <a:solidFill>
                            <a:srgbClr val="141414"/>
                          </a:solidFill>
                          <a:latin typeface="Plus Jakarta Sans"/>
                        </a:rPr>
                        <a:t>SMEN-42745</a:t>
                      </a:r>
                    </a:p>
                  </a:txBody>
                  <a:tcPr marL="45720" marR="45720" marT="18288" marB="18288" anchor="ctr">
                    <a:solidFill>
                      <a:srgbClr val="FFFFFF"/>
                    </a:solidFill>
                  </a:tcPr>
                </a:tc>
                <a:tc>
                  <a:txBody>
                    <a:bodyPr wrap="square"/>
                    <a:lstStyle/>
                    <a:p>
                      <a:pPr algn="l"/>
                      <a:r>
                        <a:rPr sz="700" b="0">
                          <a:solidFill>
                            <a:srgbClr val="141414"/>
                          </a:solidFill>
                          <a:latin typeface="Plus Jakarta Sans"/>
                        </a:rPr>
                        <a:t>Alyssa Fauzia Putri</a:t>
                      </a:r>
                    </a:p>
                  </a:txBody>
                  <a:tcPr marL="45720" marR="45720" marT="18288" marB="18288" anchor="ctr">
                    <a:solidFill>
                      <a:srgbClr val="FFFFFF"/>
                    </a:solidFill>
                  </a:tcPr>
                </a:tc>
                <a:tc>
                  <a:txBody>
                    <a:bodyPr wrap="square"/>
                    <a:lstStyle/>
                    <a:p>
                      <a:pPr algn="l"/>
                      <a:r>
                        <a:rPr sz="700" b="0">
                          <a:solidFill>
                            <a:srgbClr val="141414"/>
                          </a:solidFill>
                          <a:latin typeface="Plus Jakarta Sans"/>
                        </a:rPr>
                        <a:t>NPK Pak Tani 13-8-27</a:t>
                      </a:r>
                    </a:p>
                  </a:txBody>
                  <a:tcPr marL="45720" marR="45720" marT="18288" marB="18288" anchor="ctr">
                    <a:solidFill>
                      <a:srgbClr val="FFFFFF"/>
                    </a:solidFill>
                  </a:tcPr>
                </a:tc>
                <a:tc>
                  <a:txBody>
                    <a:bodyPr wrap="square"/>
                    <a:lstStyle/>
                    <a:p>
                      <a:pPr algn="r"/>
                      <a:r>
                        <a:rPr sz="700" b="0">
                          <a:solidFill>
                            <a:srgbClr val="141414"/>
                          </a:solidFill>
                          <a:latin typeface="Plus Jakarta Sans"/>
                        </a:rPr>
                        <a:t>–</a:t>
                      </a:r>
                    </a:p>
                  </a:txBody>
                  <a:tcPr marL="45720" marR="45720" marT="18288" marB="18288" anchor="ctr">
                    <a:solidFill>
                      <a:srgbClr val="FFFFFF"/>
                    </a:solidFill>
                  </a:tcPr>
                </a:tc>
                <a:tc>
                  <a:txBody>
                    <a:bodyPr wrap="square"/>
                    <a:lstStyle/>
                    <a:p>
                      <a:pPr algn="l"/>
                      <a:r>
                        <a:rPr sz="700" b="0">
                          <a:solidFill>
                            <a:srgbClr val="141414"/>
                          </a:solidFill>
                          <a:latin typeface="Plus Jakarta Sans"/>
                        </a:rPr>
                        <a:t>20,000 kg (400 sacks)</a:t>
                      </a:r>
                    </a:p>
                  </a:txBody>
                  <a:tcPr marL="45720" marR="45720" marT="18288" marB="18288" anchor="ctr">
                    <a:solidFill>
                      <a:srgbClr val="FFFFFF"/>
                    </a:solidFill>
                  </a:tcPr>
                </a:tc>
                <a:tc>
                  <a:txBody>
                    <a:bodyPr wrap="square"/>
                    <a:lstStyle/>
                    <a:p>
                      <a:pPr algn="l"/>
                      <a:r>
                        <a:rPr sz="700" b="0">
                          <a:solidFill>
                            <a:srgbClr val="141414"/>
                          </a:solidFill>
                          <a:latin typeface="Plus Jakarta Sans"/>
                        </a:rPr>
                        <a:t>Just asking / catalogue sent</a:t>
                      </a:r>
                    </a:p>
                  </a:txBody>
                  <a:tcPr marL="45720" marR="45720" marT="18288" marB="18288" anchor="ctr">
                    <a:solidFill>
                      <a:srgbClr val="FFFFFF"/>
                    </a:solidFill>
                  </a:tcPr>
                </a:tc>
                <a:tc>
                  <a:txBody>
                    <a:bodyPr wrap="square"/>
                    <a:lstStyle/>
                    <a:p>
                      <a:pPr algn="l"/>
                      <a:r>
                        <a:rPr sz="700" b="0">
                          <a:solidFill>
                            <a:srgbClr val="141414"/>
                          </a:solidFill>
                          <a:latin typeface="Plus Jakarta Sans"/>
                        </a:rPr>
                        <a:t>Purchase plan being followed up</a:t>
                      </a:r>
                    </a:p>
                  </a:txBody>
                  <a:tcPr marL="45720" marR="45720" marT="18288" marB="18288" anchor="ctr">
                    <a:solidFill>
                      <a:srgbClr val="FFFFFF"/>
                    </a:solidFill>
                  </a:tcPr>
                </a:tc>
              </a:tr>
              <a:tr h="283464">
                <a:tc>
                  <a:txBody>
                    <a:bodyPr wrap="square"/>
                    <a:lstStyle/>
                    <a:p>
                      <a:pPr algn="l"/>
                      <a:r>
                        <a:rPr sz="700" b="0">
                          <a:solidFill>
                            <a:srgbClr val="141414"/>
                          </a:solidFill>
                          <a:latin typeface="Plus Jakarta Sans"/>
                        </a:rPr>
                        <a:t>SMEN-42381</a:t>
                      </a:r>
                    </a:p>
                  </a:txBody>
                  <a:tcPr marL="45720" marR="45720" marT="18288" marB="18288" anchor="ctr">
                    <a:solidFill>
                      <a:srgbClr val="F6F8F6"/>
                    </a:solidFill>
                  </a:tcPr>
                </a:tc>
                <a:tc>
                  <a:txBody>
                    <a:bodyPr wrap="square"/>
                    <a:lstStyle/>
                    <a:p>
                      <a:pPr algn="l"/>
                      <a:r>
                        <a:rPr sz="700" b="0">
                          <a:solidFill>
                            <a:srgbClr val="141414"/>
                          </a:solidFill>
                          <a:latin typeface="Plus Jakarta Sans"/>
                        </a:rPr>
                        <a:t>Merita Syarif</a:t>
                      </a:r>
                    </a:p>
                  </a:txBody>
                  <a:tcPr marL="45720" marR="45720" marT="18288" marB="18288" anchor="ctr">
                    <a:solidFill>
                      <a:srgbClr val="F6F8F6"/>
                    </a:solidFill>
                  </a:tcPr>
                </a:tc>
                <a:tc>
                  <a:txBody>
                    <a:bodyPr wrap="square"/>
                    <a:lstStyle/>
                    <a:p>
                      <a:pPr algn="l"/>
                      <a:r>
                        <a:rPr sz="700" b="0">
                          <a:solidFill>
                            <a:srgbClr val="141414"/>
                          </a:solidFill>
                          <a:latin typeface="Plus Jakarta Sans"/>
                        </a:rPr>
                        <a:t>NPK Mutiara 16-16-16 + mix</a:t>
                      </a:r>
                    </a:p>
                  </a:txBody>
                  <a:tcPr marL="45720" marR="45720" marT="18288" marB="18288" anchor="ctr">
                    <a:solidFill>
                      <a:srgbClr val="F6F8F6"/>
                    </a:solidFill>
                  </a:tcPr>
                </a:tc>
                <a:tc>
                  <a:txBody>
                    <a:bodyPr wrap="square"/>
                    <a:lstStyle/>
                    <a:p>
                      <a:pPr algn="r"/>
                      <a:r>
                        <a:rPr sz="700" b="0">
                          <a:solidFill>
                            <a:srgbClr val="141414"/>
                          </a:solidFill>
                          <a:latin typeface="Plus Jakarta Sans"/>
                        </a:rPr>
                        <a:t>–</a:t>
                      </a:r>
                    </a:p>
                  </a:txBody>
                  <a:tcPr marL="45720" marR="45720" marT="18288" marB="18288" anchor="ctr">
                    <a:solidFill>
                      <a:srgbClr val="F6F8F6"/>
                    </a:solidFill>
                  </a:tcPr>
                </a:tc>
                <a:tc>
                  <a:txBody>
                    <a:bodyPr wrap="square"/>
                    <a:lstStyle/>
                    <a:p>
                      <a:pPr algn="l"/>
                      <a:r>
                        <a:rPr sz="700" b="0">
                          <a:solidFill>
                            <a:srgbClr val="141414"/>
                          </a:solidFill>
                          <a:latin typeface="Plus Jakarta Sans"/>
                        </a:rPr>
                        <a:t>~10 t per order</a:t>
                      </a:r>
                    </a:p>
                  </a:txBody>
                  <a:tcPr marL="45720" marR="45720" marT="18288" marB="18288" anchor="ctr">
                    <a:solidFill>
                      <a:srgbClr val="F6F8F6"/>
                    </a:solidFill>
                  </a:tcPr>
                </a:tc>
                <a:tc>
                  <a:txBody>
                    <a:bodyPr wrap="square"/>
                    <a:lstStyle/>
                    <a:p>
                      <a:pPr algn="l"/>
                      <a:r>
                        <a:rPr sz="700" b="0">
                          <a:solidFill>
                            <a:srgbClr val="141414"/>
                          </a:solidFill>
                          <a:latin typeface="Plus Jakarta Sans"/>
                        </a:rPr>
                        <a:t>Payment terms (COD / tempo)</a:t>
                      </a:r>
                    </a:p>
                  </a:txBody>
                  <a:tcPr marL="45720" marR="45720" marT="18288" marB="18288" anchor="ctr">
                    <a:solidFill>
                      <a:srgbClr val="F6F8F6"/>
                    </a:solidFill>
                  </a:tcPr>
                </a:tc>
                <a:tc>
                  <a:txBody>
                    <a:bodyPr wrap="square"/>
                    <a:lstStyle/>
                    <a:p>
                      <a:pPr algn="l"/>
                      <a:r>
                        <a:rPr sz="700" b="0">
                          <a:solidFill>
                            <a:srgbClr val="141414"/>
                          </a:solidFill>
                          <a:latin typeface="Plus Jakarta Sans"/>
                        </a:rPr>
                        <a:t>Farm shop in Bengkulu; wants COD</a:t>
                      </a:r>
                    </a:p>
                  </a:txBody>
                  <a:tcPr marL="45720" marR="45720" marT="18288" marB="18288" anchor="ctr">
                    <a:solidFill>
                      <a:srgbClr val="F6F8F6"/>
                    </a:solidFill>
                  </a:tcPr>
                </a:tc>
              </a:tr>
              <a:tr h="283464">
                <a:tc>
                  <a:txBody>
                    <a:bodyPr wrap="square"/>
                    <a:lstStyle/>
                    <a:p>
                      <a:pPr algn="l"/>
                      <a:r>
                        <a:rPr sz="700" b="0">
                          <a:solidFill>
                            <a:srgbClr val="141414"/>
                          </a:solidFill>
                          <a:latin typeface="Plus Jakarta Sans"/>
                        </a:rPr>
                        <a:t>SMEN-42310</a:t>
                      </a:r>
                    </a:p>
                  </a:txBody>
                  <a:tcPr marL="45720" marR="45720" marT="18288" marB="18288" anchor="ctr">
                    <a:solidFill>
                      <a:srgbClr val="FFFFFF"/>
                    </a:solidFill>
                  </a:tcPr>
                </a:tc>
                <a:tc>
                  <a:txBody>
                    <a:bodyPr wrap="square"/>
                    <a:lstStyle/>
                    <a:p>
                      <a:pPr algn="l"/>
                      <a:r>
                        <a:rPr sz="700" b="0">
                          <a:solidFill>
                            <a:srgbClr val="141414"/>
                          </a:solidFill>
                          <a:latin typeface="Plus Jakarta Sans"/>
                        </a:rPr>
                        <a:t>Merita Syarif</a:t>
                      </a:r>
                    </a:p>
                  </a:txBody>
                  <a:tcPr marL="45720" marR="45720" marT="18288" marB="18288" anchor="ctr">
                    <a:solidFill>
                      <a:srgbClr val="FFFFFF"/>
                    </a:solidFill>
                  </a:tcPr>
                </a:tc>
                <a:tc>
                  <a:txBody>
                    <a:bodyPr wrap="square"/>
                    <a:lstStyle/>
                    <a:p>
                      <a:pPr algn="l"/>
                      <a:r>
                        <a:rPr sz="700" b="0">
                          <a:solidFill>
                            <a:srgbClr val="141414"/>
                          </a:solidFill>
                          <a:latin typeface="Plus Jakarta Sans"/>
                        </a:rPr>
                        <a:t>KCL Mahkota, RP Egypt, Urea</a:t>
                      </a:r>
                    </a:p>
                  </a:txBody>
                  <a:tcPr marL="45720" marR="45720" marT="18288" marB="18288" anchor="ctr">
                    <a:solidFill>
                      <a:srgbClr val="FFFFFF"/>
                    </a:solidFill>
                  </a:tcPr>
                </a:tc>
                <a:tc>
                  <a:txBody>
                    <a:bodyPr wrap="square"/>
                    <a:lstStyle/>
                    <a:p>
                      <a:pPr algn="r"/>
                      <a:r>
                        <a:rPr sz="700" b="0">
                          <a:solidFill>
                            <a:srgbClr val="141414"/>
                          </a:solidFill>
                          <a:latin typeface="Plus Jakarta Sans"/>
                        </a:rPr>
                        <a:t>–</a:t>
                      </a:r>
                    </a:p>
                  </a:txBody>
                  <a:tcPr marL="45720" marR="45720" marT="18288" marB="18288" anchor="ctr">
                    <a:solidFill>
                      <a:srgbClr val="FFFFFF"/>
                    </a:solidFill>
                  </a:tcPr>
                </a:tc>
                <a:tc>
                  <a:txBody>
                    <a:bodyPr wrap="square"/>
                    <a:lstStyle/>
                    <a:p>
                      <a:pPr algn="l"/>
                      <a:r>
                        <a:rPr sz="700" b="0">
                          <a:solidFill>
                            <a:srgbClr val="141414"/>
                          </a:solidFill>
                          <a:latin typeface="Plus Jakarta Sans"/>
                        </a:rPr>
                        <a:t>30 sacks each (90 sacks)</a:t>
                      </a:r>
                    </a:p>
                  </a:txBody>
                  <a:tcPr marL="45720" marR="45720" marT="18288" marB="18288" anchor="ctr">
                    <a:solidFill>
                      <a:srgbClr val="FFFFFF"/>
                    </a:solidFill>
                  </a:tcPr>
                </a:tc>
                <a:tc>
                  <a:txBody>
                    <a:bodyPr wrap="square"/>
                    <a:lstStyle/>
                    <a:p>
                      <a:pPr algn="l"/>
                      <a:r>
                        <a:rPr sz="700" b="0">
                          <a:solidFill>
                            <a:srgbClr val="141414"/>
                          </a:solidFill>
                          <a:latin typeface="Plus Jakarta Sans"/>
                        </a:rPr>
                        <a:t>Payment terms (COD / tempo)</a:t>
                      </a:r>
                    </a:p>
                  </a:txBody>
                  <a:tcPr marL="45720" marR="45720" marT="18288" marB="18288" anchor="ctr">
                    <a:solidFill>
                      <a:srgbClr val="FFFFFF"/>
                    </a:solidFill>
                  </a:tcPr>
                </a:tc>
                <a:tc>
                  <a:txBody>
                    <a:bodyPr wrap="square"/>
                    <a:lstStyle/>
                    <a:p>
                      <a:pPr algn="l"/>
                      <a:r>
                        <a:rPr sz="700" b="0">
                          <a:solidFill>
                            <a:srgbClr val="141414"/>
                          </a:solidFill>
                          <a:latin typeface="Plus Jakarta Sans"/>
                        </a:rPr>
                        <a:t>Wants COD and delivery to Rokan Hilir</a:t>
                      </a:r>
                    </a:p>
                  </a:txBody>
                  <a:tcPr marL="45720" marR="45720" marT="18288" marB="18288" anchor="ctr">
                    <a:solidFill>
                      <a:srgbClr val="FFFFFF"/>
                    </a:solidFill>
                  </a:tcPr>
                </a:tc>
              </a:tr>
              <a:tr h="283464">
                <a:tc>
                  <a:txBody>
                    <a:bodyPr wrap="square"/>
                    <a:lstStyle/>
                    <a:p>
                      <a:pPr algn="l"/>
                      <a:r>
                        <a:rPr sz="700" b="0">
                          <a:solidFill>
                            <a:srgbClr val="141414"/>
                          </a:solidFill>
                          <a:latin typeface="Plus Jakarta Sans"/>
                        </a:rPr>
                        <a:t>SMEN-42436</a:t>
                      </a:r>
                    </a:p>
                  </a:txBody>
                  <a:tcPr marL="45720" marR="45720" marT="18288" marB="18288" anchor="ctr">
                    <a:solidFill>
                      <a:srgbClr val="F6F8F6"/>
                    </a:solidFill>
                  </a:tcPr>
                </a:tc>
                <a:tc>
                  <a:txBody>
                    <a:bodyPr wrap="square"/>
                    <a:lstStyle/>
                    <a:p>
                      <a:pPr algn="l"/>
                      <a:r>
                        <a:rPr sz="700" b="0">
                          <a:solidFill>
                            <a:srgbClr val="141414"/>
                          </a:solidFill>
                          <a:latin typeface="Plus Jakarta Sans"/>
                        </a:rPr>
                        <a:t>Aisyah Haifa</a:t>
                      </a:r>
                    </a:p>
                  </a:txBody>
                  <a:tcPr marL="45720" marR="45720" marT="18288" marB="18288" anchor="ctr">
                    <a:solidFill>
                      <a:srgbClr val="F6F8F6"/>
                    </a:solidFill>
                  </a:tcPr>
                </a:tc>
                <a:tc>
                  <a:txBody>
                    <a:bodyPr wrap="square"/>
                    <a:lstStyle/>
                    <a:p>
                      <a:pPr algn="l"/>
                      <a:r>
                        <a:rPr sz="700" b="0">
                          <a:solidFill>
                            <a:srgbClr val="141414"/>
                          </a:solidFill>
                          <a:latin typeface="Plus Jakarta Sans"/>
                        </a:rPr>
                        <a:t>KCL + NPK (4 products)</a:t>
                      </a:r>
                    </a:p>
                  </a:txBody>
                  <a:tcPr marL="45720" marR="45720" marT="18288" marB="18288" anchor="ctr">
                    <a:solidFill>
                      <a:srgbClr val="F6F8F6"/>
                    </a:solidFill>
                  </a:tcPr>
                </a:tc>
                <a:tc>
                  <a:txBody>
                    <a:bodyPr wrap="square"/>
                    <a:lstStyle/>
                    <a:p>
                      <a:pPr algn="r"/>
                      <a:r>
                        <a:rPr sz="700" b="0">
                          <a:solidFill>
                            <a:srgbClr val="141414"/>
                          </a:solidFill>
                          <a:latin typeface="Plus Jakarta Sans"/>
                        </a:rPr>
                        <a:t>–</a:t>
                      </a:r>
                    </a:p>
                  </a:txBody>
                  <a:tcPr marL="45720" marR="45720" marT="18288" marB="18288" anchor="ctr">
                    <a:solidFill>
                      <a:srgbClr val="F6F8F6"/>
                    </a:solidFill>
                  </a:tcPr>
                </a:tc>
                <a:tc>
                  <a:txBody>
                    <a:bodyPr wrap="square"/>
                    <a:lstStyle/>
                    <a:p>
                      <a:pPr algn="l"/>
                      <a:r>
                        <a:rPr sz="700" b="0">
                          <a:solidFill>
                            <a:srgbClr val="141414"/>
                          </a:solidFill>
                          <a:latin typeface="Plus Jakarta Sans"/>
                        </a:rPr>
                        <a:t>1,000 kg (20 sacks)</a:t>
                      </a:r>
                    </a:p>
                  </a:txBody>
                  <a:tcPr marL="45720" marR="45720" marT="18288" marB="18288" anchor="ctr">
                    <a:solidFill>
                      <a:srgbClr val="F6F8F6"/>
                    </a:solidFill>
                  </a:tcPr>
                </a:tc>
                <a:tc>
                  <a:txBody>
                    <a:bodyPr wrap="square"/>
                    <a:lstStyle/>
                    <a:p>
                      <a:pPr algn="l"/>
                      <a:r>
                        <a:rPr sz="700" b="0">
                          <a:solidFill>
                            <a:srgbClr val="141414"/>
                          </a:solidFill>
                          <a:latin typeface="Plus Jakarta Sans"/>
                        </a:rPr>
                        <a:t>No mobile-shop route or long wait</a:t>
                      </a:r>
                    </a:p>
                  </a:txBody>
                  <a:tcPr marL="45720" marR="45720" marT="18288" marB="18288" anchor="ctr">
                    <a:solidFill>
                      <a:srgbClr val="F6F8F6"/>
                    </a:solidFill>
                  </a:tcPr>
                </a:tc>
                <a:tc>
                  <a:txBody>
                    <a:bodyPr wrap="square"/>
                    <a:lstStyle/>
                    <a:p>
                      <a:pPr algn="l"/>
                      <a:r>
                        <a:rPr sz="700" b="0">
                          <a:solidFill>
                            <a:srgbClr val="141414"/>
                          </a:solidFill>
                          <a:latin typeface="Plus Jakarta Sans"/>
                        </a:rPr>
                        <a:t>Waiting for the mobile shop in Gunung Sahilan</a:t>
                      </a:r>
                    </a:p>
                  </a:txBody>
                  <a:tcPr marL="45720" marR="45720" marT="18288" marB="18288" anchor="ctr">
                    <a:solidFill>
                      <a:srgbClr val="F6F8F6"/>
                    </a:solidFill>
                  </a:tcPr>
                </a:tc>
              </a:tr>
              <a:tr h="283464">
                <a:tc>
                  <a:txBody>
                    <a:bodyPr wrap="square"/>
                    <a:lstStyle/>
                    <a:p>
                      <a:pPr algn="l"/>
                      <a:r>
                        <a:rPr sz="700" b="0">
                          <a:solidFill>
                            <a:srgbClr val="141414"/>
                          </a:solidFill>
                          <a:latin typeface="Plus Jakarta Sans"/>
                        </a:rPr>
                        <a:t>SMEN-42259</a:t>
                      </a:r>
                    </a:p>
                  </a:txBody>
                  <a:tcPr marL="45720" marR="45720" marT="18288" marB="18288" anchor="ctr">
                    <a:solidFill>
                      <a:srgbClr val="FFFFFF"/>
                    </a:solidFill>
                  </a:tcPr>
                </a:tc>
                <a:tc>
                  <a:txBody>
                    <a:bodyPr wrap="square"/>
                    <a:lstStyle/>
                    <a:p>
                      <a:pPr algn="l"/>
                      <a:r>
                        <a:rPr sz="700" b="0">
                          <a:solidFill>
                            <a:srgbClr val="141414"/>
                          </a:solidFill>
                          <a:latin typeface="Plus Jakarta Sans"/>
                        </a:rPr>
                        <a:t>Deby Zea Efendi</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FFFFF"/>
                    </a:solidFill>
                  </a:tcPr>
                </a:tc>
                <a:tc>
                  <a:txBody>
                    <a:bodyPr wrap="square"/>
                    <a:lstStyle/>
                    <a:p>
                      <a:pPr algn="r"/>
                      <a:r>
                        <a:rPr sz="700" b="0">
                          <a:solidFill>
                            <a:srgbClr val="141414"/>
                          </a:solidFill>
                          <a:latin typeface="Plus Jakarta Sans"/>
                        </a:rPr>
                        <a:t>–</a:t>
                      </a:r>
                    </a:p>
                  </a:txBody>
                  <a:tcPr marL="45720" marR="45720" marT="18288" marB="18288" anchor="ctr">
                    <a:solidFill>
                      <a:srgbClr val="FFFFFF"/>
                    </a:solidFill>
                  </a:tcPr>
                </a:tc>
                <a:tc>
                  <a:txBody>
                    <a:bodyPr wrap="square"/>
                    <a:lstStyle/>
                    <a:p>
                      <a:pPr algn="l"/>
                      <a:r>
                        <a:rPr sz="700" b="0">
                          <a:solidFill>
                            <a:srgbClr val="141414"/>
                          </a:solidFill>
                          <a:latin typeface="Plus Jakarta Sans"/>
                        </a:rPr>
                        <a:t>300 seeds</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rules or documents</a:t>
                      </a:r>
                    </a:p>
                  </a:txBody>
                  <a:tcPr marL="45720" marR="45720" marT="18288" marB="18288" anchor="ctr">
                    <a:solidFill>
                      <a:srgbClr val="FFFFFF"/>
                    </a:solidFill>
                  </a:tcPr>
                </a:tc>
                <a:tc>
                  <a:txBody>
                    <a:bodyPr wrap="square"/>
                    <a:lstStyle/>
                    <a:p>
                      <a:pPr algn="l"/>
                      <a:r>
                        <a:rPr sz="700" b="0">
                          <a:solidFill>
                            <a:srgbClr val="141414"/>
                          </a:solidFill>
                          <a:latin typeface="Plus Jakarta Sans"/>
                        </a:rPr>
                        <a:t>1.4 ha own land; seeds must be in own name</a:t>
                      </a:r>
                    </a:p>
                  </a:txBody>
                  <a:tcPr marL="45720" marR="45720" marT="18288" marB="18288" anchor="ctr">
                    <a:solidFill>
                      <a:srgbClr val="FFFFFF"/>
                    </a:solidFill>
                  </a:tcPr>
                </a:tc>
              </a:tr>
            </a:tbl>
          </a:graphicData>
        </a:graphic>
      </p:graphicFrame>
      <p:sp>
        <p:nvSpPr>
          <p:cNvPr id="17" name="TextBox 16"/>
          <p:cNvSpPr txBox="1"/>
          <p:nvPr/>
        </p:nvSpPr>
        <p:spPr>
          <a:xfrm>
            <a:off x="384048" y="4251960"/>
            <a:ext cx="8302752" cy="320040"/>
          </a:xfrm>
          <a:prstGeom prst="rect">
            <a:avLst/>
          </a:prstGeom>
          <a:noFill/>
        </p:spPr>
        <p:txBody>
          <a:bodyPr wrap="square" anchor="t" lIns="0" rIns="0" tIns="0" bIns="0">
            <a:spAutoFit/>
          </a:bodyPr>
          <a:lstStyle/>
          <a:p>
            <a:pPr algn="l"/>
            <a:r>
              <a:rPr sz="750" b="0">
                <a:solidFill>
                  <a:srgbClr val="5C665C"/>
                </a:solidFill>
                <a:latin typeface="Plus Jakarta Sans"/>
              </a:rPr>
              <a:t>Potential sales are shown only where the PIC logged it; otherwise the need is shown as the lead stated it (sacks, kg, tonnes or seeds). No value is estimated.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Payment terms, routes and shipping cost hold real leads back</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SMALLHOLDER · WHAT WOULD UNLOCK THE LEADS</a:t>
            </a:r>
          </a:p>
        </p:txBody>
      </p:sp>
      <p:sp>
        <p:nvSpPr>
          <p:cNvPr id="4" name="Rounded Rectangle 3"/>
          <p:cNvSpPr/>
          <p:nvPr/>
        </p:nvSpPr>
        <p:spPr>
          <a:xfrm>
            <a:off x="384048" y="987552"/>
            <a:ext cx="4096512" cy="1261872"/>
          </a:xfrm>
          <a:prstGeom prst="roundRect">
            <a:avLst>
              <a:gd name="adj" fmla="val 4347"/>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1078992"/>
            <a:ext cx="2743200" cy="201168"/>
          </a:xfrm>
          <a:prstGeom prst="rect">
            <a:avLst/>
          </a:prstGeom>
          <a:noFill/>
        </p:spPr>
        <p:txBody>
          <a:bodyPr wrap="square" anchor="t" lIns="0" rIns="0" tIns="0" bIns="0">
            <a:spAutoFit/>
          </a:bodyPr>
          <a:lstStyle/>
          <a:p>
            <a:pPr algn="l"/>
            <a:r>
              <a:rPr sz="1000" b="1">
                <a:solidFill>
                  <a:srgbClr val="141414"/>
                </a:solidFill>
                <a:latin typeface="Plus Jakarta Sans"/>
              </a:rPr>
              <a:t>Payment terms (COD / tempo)</a:t>
            </a:r>
          </a:p>
        </p:txBody>
      </p:sp>
      <p:sp>
        <p:nvSpPr>
          <p:cNvPr id="6" name="Rounded Rectangle 5"/>
          <p:cNvSpPr/>
          <p:nvPr/>
        </p:nvSpPr>
        <p:spPr>
          <a:xfrm>
            <a:off x="3493008" y="1078992"/>
            <a:ext cx="859536" cy="219456"/>
          </a:xfrm>
          <a:prstGeom prst="roundRect">
            <a:avLst>
              <a:gd name="adj" fmla="val 12000"/>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93008" y="1078992"/>
            <a:ext cx="859536" cy="219456"/>
          </a:xfrm>
          <a:prstGeom prst="rect">
            <a:avLst/>
          </a:prstGeom>
          <a:noFill/>
        </p:spPr>
        <p:txBody>
          <a:bodyPr wrap="square" anchor="ctr" lIns="0" rIns="0" tIns="0" bIns="0">
            <a:spAutoFit/>
          </a:bodyPr>
          <a:lstStyle/>
          <a:p>
            <a:pPr algn="ctr"/>
            <a:r>
              <a:rPr sz="800" b="1">
                <a:solidFill>
                  <a:srgbClr val="141414"/>
                </a:solidFill>
                <a:latin typeface="Plus Jakarta Sans"/>
              </a:rPr>
              <a:t>3 leads</a:t>
            </a:r>
          </a:p>
        </p:txBody>
      </p:sp>
      <p:sp>
        <p:nvSpPr>
          <p:cNvPr id="8" name="TextBox 7"/>
          <p:cNvSpPr txBox="1"/>
          <p:nvPr/>
        </p:nvSpPr>
        <p:spPr>
          <a:xfrm>
            <a:off x="530352" y="1353312"/>
            <a:ext cx="3794760" cy="566928"/>
          </a:xfrm>
          <a:prstGeom prst="rect">
            <a:avLst/>
          </a:prstGeom>
          <a:noFill/>
        </p:spPr>
        <p:txBody>
          <a:bodyPr wrap="square" anchor="t" lIns="0" rIns="0" tIns="0" bIns="0">
            <a:spAutoFit/>
          </a:bodyPr>
          <a:lstStyle/>
          <a:p>
            <a:pPr algn="l"/>
            <a:r>
              <a:rPr sz="819" b="0">
                <a:solidFill>
                  <a:srgbClr val="5C665C"/>
                </a:solidFill>
                <a:latin typeface="Plus Jakarta Sans"/>
              </a:rPr>
              <a:t>A farm shop in Bengkulu (~10 t per order) and a 90-sack order to Rokan Hilir both asked for cash on delivery; one asked for tempo.</a:t>
            </a:r>
          </a:p>
        </p:txBody>
      </p:sp>
      <p:sp>
        <p:nvSpPr>
          <p:cNvPr id="9" name="TextBox 8"/>
          <p:cNvSpPr txBox="1"/>
          <p:nvPr/>
        </p:nvSpPr>
        <p:spPr>
          <a:xfrm>
            <a:off x="530352" y="1956816"/>
            <a:ext cx="3794760" cy="201168"/>
          </a:xfrm>
          <a:prstGeom prst="rect">
            <a:avLst/>
          </a:prstGeom>
          <a:noFill/>
        </p:spPr>
        <p:txBody>
          <a:bodyPr wrap="square" anchor="t" lIns="0" rIns="0" tIns="0" bIns="0">
            <a:spAutoFit/>
          </a:bodyPr>
          <a:lstStyle/>
          <a:p>
            <a:pPr algn="l"/>
            <a:r>
              <a:rPr sz="819" b="1">
                <a:solidFill>
                  <a:srgbClr val="007200"/>
                </a:solidFill>
                <a:latin typeface="Plus Jakarta Sans"/>
              </a:rPr>
              <a:t>→ Decide a COD / tempo rule with finance</a:t>
            </a:r>
          </a:p>
        </p:txBody>
      </p:sp>
      <p:sp>
        <p:nvSpPr>
          <p:cNvPr id="10" name="Rounded Rectangle 9"/>
          <p:cNvSpPr/>
          <p:nvPr/>
        </p:nvSpPr>
        <p:spPr>
          <a:xfrm>
            <a:off x="4590288" y="987552"/>
            <a:ext cx="4096512" cy="1261872"/>
          </a:xfrm>
          <a:prstGeom prst="roundRect">
            <a:avLst>
              <a:gd name="adj" fmla="val 4347"/>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36592" y="1078992"/>
            <a:ext cx="2743200" cy="201168"/>
          </a:xfrm>
          <a:prstGeom prst="rect">
            <a:avLst/>
          </a:prstGeom>
          <a:noFill/>
        </p:spPr>
        <p:txBody>
          <a:bodyPr wrap="square" anchor="t" lIns="0" rIns="0" tIns="0" bIns="0">
            <a:spAutoFit/>
          </a:bodyPr>
          <a:lstStyle/>
          <a:p>
            <a:pPr algn="l"/>
            <a:r>
              <a:rPr sz="1000" b="1">
                <a:solidFill>
                  <a:srgbClr val="141414"/>
                </a:solidFill>
                <a:latin typeface="Plus Jakarta Sans"/>
              </a:rPr>
              <a:t>Mobile shop not on their route</a:t>
            </a:r>
          </a:p>
        </p:txBody>
      </p:sp>
      <p:sp>
        <p:nvSpPr>
          <p:cNvPr id="12" name="Rounded Rectangle 11"/>
          <p:cNvSpPr/>
          <p:nvPr/>
        </p:nvSpPr>
        <p:spPr>
          <a:xfrm>
            <a:off x="7699248" y="1078992"/>
            <a:ext cx="859536" cy="219456"/>
          </a:xfrm>
          <a:prstGeom prst="roundRect">
            <a:avLst>
              <a:gd name="adj" fmla="val 12000"/>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99248" y="1078992"/>
            <a:ext cx="859536" cy="219456"/>
          </a:xfrm>
          <a:prstGeom prst="rect">
            <a:avLst/>
          </a:prstGeom>
          <a:noFill/>
        </p:spPr>
        <p:txBody>
          <a:bodyPr wrap="square" anchor="ctr" lIns="0" rIns="0" tIns="0" bIns="0">
            <a:spAutoFit/>
          </a:bodyPr>
          <a:lstStyle/>
          <a:p>
            <a:pPr algn="ctr"/>
            <a:r>
              <a:rPr sz="800" b="1">
                <a:solidFill>
                  <a:srgbClr val="141414"/>
                </a:solidFill>
                <a:latin typeface="Plus Jakarta Sans"/>
              </a:rPr>
              <a:t>4 leads</a:t>
            </a:r>
          </a:p>
        </p:txBody>
      </p:sp>
      <p:sp>
        <p:nvSpPr>
          <p:cNvPr id="14" name="TextBox 13"/>
          <p:cNvSpPr txBox="1"/>
          <p:nvPr/>
        </p:nvSpPr>
        <p:spPr>
          <a:xfrm>
            <a:off x="4736592" y="1353312"/>
            <a:ext cx="3794760" cy="566928"/>
          </a:xfrm>
          <a:prstGeom prst="rect">
            <a:avLst/>
          </a:prstGeom>
          <a:noFill/>
        </p:spPr>
        <p:txBody>
          <a:bodyPr wrap="square" anchor="t" lIns="0" rIns="0" tIns="0" bIns="0">
            <a:spAutoFit/>
          </a:bodyPr>
          <a:lstStyle/>
          <a:p>
            <a:pPr algn="l"/>
            <a:r>
              <a:rPr sz="819" b="0">
                <a:solidFill>
                  <a:srgbClr val="5C665C"/>
                </a:solidFill>
                <a:latin typeface="Plus Jakarta Sans"/>
              </a:rPr>
              <a:t>Gunung Sahilan (1,000 kg ready to buy), Labuhanbatu Utara and another village asked when the toko keliling comes; one asked about the Topaz queue.</a:t>
            </a:r>
          </a:p>
        </p:txBody>
      </p:sp>
      <p:sp>
        <p:nvSpPr>
          <p:cNvPr id="15" name="TextBox 14"/>
          <p:cNvSpPr txBox="1"/>
          <p:nvPr/>
        </p:nvSpPr>
        <p:spPr>
          <a:xfrm>
            <a:off x="4736592" y="1956816"/>
            <a:ext cx="3794760" cy="201168"/>
          </a:xfrm>
          <a:prstGeom prst="rect">
            <a:avLst/>
          </a:prstGeom>
          <a:noFill/>
        </p:spPr>
        <p:txBody>
          <a:bodyPr wrap="square" anchor="t" lIns="0" rIns="0" tIns="0" bIns="0">
            <a:spAutoFit/>
          </a:bodyPr>
          <a:lstStyle/>
          <a:p>
            <a:pPr algn="l"/>
            <a:r>
              <a:rPr sz="819" b="1">
                <a:solidFill>
                  <a:srgbClr val="007200"/>
                </a:solidFill>
                <a:latin typeface="Plus Jakarta Sans"/>
              </a:rPr>
              <a:t>→ Add these villages to next month's route</a:t>
            </a:r>
          </a:p>
        </p:txBody>
      </p:sp>
      <p:sp>
        <p:nvSpPr>
          <p:cNvPr id="16" name="Rounded Rectangle 15"/>
          <p:cNvSpPr/>
          <p:nvPr/>
        </p:nvSpPr>
        <p:spPr>
          <a:xfrm>
            <a:off x="384048" y="2359152"/>
            <a:ext cx="4096512" cy="1261872"/>
          </a:xfrm>
          <a:prstGeom prst="roundRect">
            <a:avLst>
              <a:gd name="adj" fmla="val 4347"/>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0352" y="2450592"/>
            <a:ext cx="2743200" cy="201168"/>
          </a:xfrm>
          <a:prstGeom prst="rect">
            <a:avLst/>
          </a:prstGeom>
          <a:noFill/>
        </p:spPr>
        <p:txBody>
          <a:bodyPr wrap="square" anchor="t" lIns="0" rIns="0" tIns="0" bIns="0">
            <a:spAutoFit/>
          </a:bodyPr>
          <a:lstStyle/>
          <a:p>
            <a:pPr algn="l"/>
            <a:r>
              <a:rPr sz="1000" b="1">
                <a:solidFill>
                  <a:srgbClr val="141414"/>
                </a:solidFill>
                <a:latin typeface="Plus Jakarta Sans"/>
              </a:rPr>
              <a:t>Price or shipping cost</a:t>
            </a:r>
          </a:p>
        </p:txBody>
      </p:sp>
      <p:sp>
        <p:nvSpPr>
          <p:cNvPr id="18" name="Rounded Rectangle 17"/>
          <p:cNvSpPr/>
          <p:nvPr/>
        </p:nvSpPr>
        <p:spPr>
          <a:xfrm>
            <a:off x="3493008" y="2450592"/>
            <a:ext cx="859536" cy="219456"/>
          </a:xfrm>
          <a:prstGeom prst="roundRect">
            <a:avLst>
              <a:gd name="adj" fmla="val 12000"/>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93008" y="2450592"/>
            <a:ext cx="859536" cy="219456"/>
          </a:xfrm>
          <a:prstGeom prst="rect">
            <a:avLst/>
          </a:prstGeom>
          <a:noFill/>
        </p:spPr>
        <p:txBody>
          <a:bodyPr wrap="square" anchor="ctr" lIns="0" rIns="0" tIns="0" bIns="0">
            <a:spAutoFit/>
          </a:bodyPr>
          <a:lstStyle/>
          <a:p>
            <a:pPr algn="ctr"/>
            <a:r>
              <a:rPr sz="800" b="1">
                <a:solidFill>
                  <a:srgbClr val="141414"/>
                </a:solidFill>
                <a:latin typeface="Plus Jakarta Sans"/>
              </a:rPr>
              <a:t>7 leads</a:t>
            </a:r>
          </a:p>
        </p:txBody>
      </p:sp>
      <p:sp>
        <p:nvSpPr>
          <p:cNvPr id="20" name="TextBox 19"/>
          <p:cNvSpPr txBox="1"/>
          <p:nvPr/>
        </p:nvSpPr>
        <p:spPr>
          <a:xfrm>
            <a:off x="530352" y="2724912"/>
            <a:ext cx="3794760" cy="566928"/>
          </a:xfrm>
          <a:prstGeom prst="rect">
            <a:avLst/>
          </a:prstGeom>
          <a:noFill/>
        </p:spPr>
        <p:txBody>
          <a:bodyPr wrap="square" anchor="t" lIns="0" rIns="0" tIns="0" bIns="0">
            <a:spAutoFit/>
          </a:bodyPr>
          <a:lstStyle/>
          <a:p>
            <a:pPr algn="l"/>
            <a:r>
              <a:rPr sz="819" b="0">
                <a:solidFill>
                  <a:srgbClr val="5C665C"/>
                </a:solidFill>
                <a:latin typeface="Plus Jakarta Sans"/>
              </a:rPr>
              <a:t>One lead buys NPK Pak Tani at Rp580k elsewhere vs our Rp593k (+2%). Others ask shipping to Siak, Kuansing, Kalimantan and Aceh Singkil.</a:t>
            </a:r>
          </a:p>
        </p:txBody>
      </p:sp>
      <p:sp>
        <p:nvSpPr>
          <p:cNvPr id="21" name="TextBox 20"/>
          <p:cNvSpPr txBox="1"/>
          <p:nvPr/>
        </p:nvSpPr>
        <p:spPr>
          <a:xfrm>
            <a:off x="530352" y="3328416"/>
            <a:ext cx="3794760" cy="201168"/>
          </a:xfrm>
          <a:prstGeom prst="rect">
            <a:avLst/>
          </a:prstGeom>
          <a:noFill/>
        </p:spPr>
        <p:txBody>
          <a:bodyPr wrap="square" anchor="t" lIns="0" rIns="0" tIns="0" bIns="0">
            <a:spAutoFit/>
          </a:bodyPr>
          <a:lstStyle/>
          <a:p>
            <a:pPr algn="l"/>
            <a:r>
              <a:rPr sz="819" b="1">
                <a:solidFill>
                  <a:srgbClr val="007200"/>
                </a:solidFill>
                <a:latin typeface="Plus Jakarta Sans"/>
              </a:rPr>
              <a:t>→ Quote landed price incl. shipping up front</a:t>
            </a:r>
          </a:p>
        </p:txBody>
      </p:sp>
      <p:sp>
        <p:nvSpPr>
          <p:cNvPr id="22" name="Rounded Rectangle 21"/>
          <p:cNvSpPr/>
          <p:nvPr/>
        </p:nvSpPr>
        <p:spPr>
          <a:xfrm>
            <a:off x="4590288" y="2359152"/>
            <a:ext cx="4096512" cy="1261872"/>
          </a:xfrm>
          <a:prstGeom prst="roundRect">
            <a:avLst>
              <a:gd name="adj" fmla="val 4347"/>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36592" y="2450592"/>
            <a:ext cx="2743200" cy="201168"/>
          </a:xfrm>
          <a:prstGeom prst="rect">
            <a:avLst/>
          </a:prstGeom>
          <a:noFill/>
        </p:spPr>
        <p:txBody>
          <a:bodyPr wrap="square" anchor="t" lIns="0" rIns="0" tIns="0" bIns="0">
            <a:spAutoFit/>
          </a:bodyPr>
          <a:lstStyle/>
          <a:p>
            <a:pPr algn="l"/>
            <a:r>
              <a:rPr sz="1000" b="1">
                <a:solidFill>
                  <a:srgbClr val="141414"/>
                </a:solidFill>
                <a:latin typeface="Plus Jakarta Sans"/>
              </a:rPr>
              <a:t>Wants warehouse pick-up</a:t>
            </a:r>
          </a:p>
        </p:txBody>
      </p:sp>
      <p:sp>
        <p:nvSpPr>
          <p:cNvPr id="24" name="Rounded Rectangle 23"/>
          <p:cNvSpPr/>
          <p:nvPr/>
        </p:nvSpPr>
        <p:spPr>
          <a:xfrm>
            <a:off x="7699248" y="2450592"/>
            <a:ext cx="859536" cy="219456"/>
          </a:xfrm>
          <a:prstGeom prst="roundRect">
            <a:avLst>
              <a:gd name="adj" fmla="val 12000"/>
            </a:avLst>
          </a:prstGeom>
          <a:solidFill>
            <a:srgbClr val="FCD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9248" y="2450592"/>
            <a:ext cx="859536" cy="219456"/>
          </a:xfrm>
          <a:prstGeom prst="rect">
            <a:avLst/>
          </a:prstGeom>
          <a:noFill/>
        </p:spPr>
        <p:txBody>
          <a:bodyPr wrap="square" anchor="ctr" lIns="0" rIns="0" tIns="0" bIns="0">
            <a:spAutoFit/>
          </a:bodyPr>
          <a:lstStyle/>
          <a:p>
            <a:pPr algn="ctr"/>
            <a:r>
              <a:rPr sz="800" b="1">
                <a:solidFill>
                  <a:srgbClr val="141414"/>
                </a:solidFill>
                <a:latin typeface="Plus Jakarta Sans"/>
              </a:rPr>
              <a:t>4 leads</a:t>
            </a:r>
          </a:p>
        </p:txBody>
      </p:sp>
      <p:sp>
        <p:nvSpPr>
          <p:cNvPr id="26" name="TextBox 25"/>
          <p:cNvSpPr txBox="1"/>
          <p:nvPr/>
        </p:nvSpPr>
        <p:spPr>
          <a:xfrm>
            <a:off x="4736592" y="2724912"/>
            <a:ext cx="3794760" cy="566928"/>
          </a:xfrm>
          <a:prstGeom prst="rect">
            <a:avLst/>
          </a:prstGeom>
          <a:noFill/>
        </p:spPr>
        <p:txBody>
          <a:bodyPr wrap="square" anchor="t" lIns="0" rIns="0" tIns="0" bIns="0">
            <a:spAutoFit/>
          </a:bodyPr>
          <a:lstStyle/>
          <a:p>
            <a:pPr algn="l"/>
            <a:r>
              <a:rPr sz="819" b="0">
                <a:solidFill>
                  <a:srgbClr val="5C665C"/>
                </a:solidFill>
                <a:latin typeface="Plus Jakarta Sans"/>
              </a:rPr>
              <a:t>Asked for the warehouse address to collect themselves; one has 4 sacks confirmed in stock and only needs a reply.</a:t>
            </a:r>
          </a:p>
        </p:txBody>
      </p:sp>
      <p:sp>
        <p:nvSpPr>
          <p:cNvPr id="27" name="TextBox 26"/>
          <p:cNvSpPr txBox="1"/>
          <p:nvPr/>
        </p:nvSpPr>
        <p:spPr>
          <a:xfrm>
            <a:off x="4736592" y="3328416"/>
            <a:ext cx="3794760" cy="201168"/>
          </a:xfrm>
          <a:prstGeom prst="rect">
            <a:avLst/>
          </a:prstGeom>
          <a:noFill/>
        </p:spPr>
        <p:txBody>
          <a:bodyPr wrap="square" anchor="t" lIns="0" rIns="0" tIns="0" bIns="0">
            <a:spAutoFit/>
          </a:bodyPr>
          <a:lstStyle/>
          <a:p>
            <a:pPr algn="l"/>
            <a:r>
              <a:rPr sz="819" b="1">
                <a:solidFill>
                  <a:srgbClr val="007200"/>
                </a:solidFill>
                <a:latin typeface="Plus Jakarta Sans"/>
              </a:rPr>
              <a:t>→ Send address and pick-up slot the same day</a:t>
            </a:r>
          </a:p>
        </p:txBody>
      </p:sp>
      <p:sp>
        <p:nvSpPr>
          <p:cNvPr id="28" name="Rounded Rectangle 27"/>
          <p:cNvSpPr/>
          <p:nvPr/>
        </p:nvSpPr>
        <p:spPr>
          <a:xfrm>
            <a:off x="384048" y="3749039"/>
            <a:ext cx="8302752" cy="822960"/>
          </a:xfrm>
          <a:prstGeom prst="roundRect">
            <a:avLst>
              <a:gd name="adj" fmla="val 6666"/>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840479"/>
            <a:ext cx="8010144" cy="676656"/>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8 more entries were customers chasing an order, not leads:</a:t>
            </a:r>
            <a:r>
              <a:rPr sz="850" b="0">
                <a:solidFill>
                  <a:srgbClr val="141414"/>
                </a:solidFill>
                <a:latin typeface="Plus Jakarta Sans"/>
              </a:rPr>
              <a:t> a 20-sack KCL shortfall on three September orders (promised for 22 Oct), a refund query, delivery-location requests and a Topaz pick-up.</a:t>
            </a:r>
          </a:p>
          <a:p>
            <a:pPr algn="l">
              <a:spcAft>
                <a:spcPts val="300"/>
              </a:spcAft>
            </a:pPr>
            <a:r>
              <a:rPr sz="850" b="1">
                <a:solidFill>
                  <a:srgbClr val="141414"/>
                </a:solidFill>
                <a:latin typeface="Plus Jakarta Sans"/>
              </a:rPr>
              <a:t>Tied to a KUD or agent (4) and family decisions (2)</a:t>
            </a:r>
            <a:r>
              <a:rPr sz="850" b="0">
                <a:solidFill>
                  <a:srgbClr val="141414"/>
                </a:solidFill>
                <a:latin typeface="Plus Jakarta Sans"/>
              </a:rPr>
              <a:t> are not ours to fix this week; move them to a later call list.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Plantation ▲ 259% to Rp140M; one Topaz buyer is Rp95M</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PLANTATION · SALES VS THE WEEK BEFORE</a:t>
            </a:r>
          </a:p>
        </p:txBody>
      </p:sp>
      <p:sp>
        <p:nvSpPr>
          <p:cNvPr id="4" name="Rounded Rectangle 3"/>
          <p:cNvSpPr/>
          <p:nvPr/>
        </p:nvSpPr>
        <p:spPr>
          <a:xfrm>
            <a:off x="384048" y="987552"/>
            <a:ext cx="4206240" cy="2514600"/>
          </a:xfrm>
          <a:prstGeom prst="roundRect">
            <a:avLst>
              <a:gd name="adj" fmla="val 2181"/>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3950207" cy="201168"/>
          </a:xfrm>
          <a:prstGeom prst="rect">
            <a:avLst/>
          </a:prstGeom>
          <a:noFill/>
        </p:spPr>
        <p:txBody>
          <a:bodyPr wrap="square" anchor="t" lIns="0" rIns="0" tIns="0" bIns="0">
            <a:spAutoFit/>
          </a:bodyPr>
          <a:lstStyle/>
          <a:p>
            <a:pPr algn="l"/>
            <a:r>
              <a:rPr sz="1000" b="1">
                <a:solidFill>
                  <a:srgbClr val="141414"/>
                </a:solidFill>
                <a:latin typeface="Plus Jakarta Sans"/>
              </a:rPr>
              <a:t>Week of 19 Oct vs week of 12 Oct</a:t>
            </a:r>
          </a:p>
        </p:txBody>
      </p:sp>
      <p:sp>
        <p:nvSpPr>
          <p:cNvPr id="6" name="TextBox 5"/>
          <p:cNvSpPr txBox="1"/>
          <p:nvPr/>
        </p:nvSpPr>
        <p:spPr>
          <a:xfrm>
            <a:off x="512064" y="1271016"/>
            <a:ext cx="3950207" cy="182880"/>
          </a:xfrm>
          <a:prstGeom prst="rect">
            <a:avLst/>
          </a:prstGeom>
          <a:noFill/>
        </p:spPr>
        <p:txBody>
          <a:bodyPr wrap="square" anchor="t" lIns="0" rIns="0" tIns="0" bIns="0">
            <a:spAutoFit/>
          </a:bodyPr>
          <a:lstStyle/>
          <a:p>
            <a:pPr algn="l"/>
            <a:r>
              <a:rPr sz="750" b="0">
                <a:solidFill>
                  <a:srgbClr val="5C665C"/>
                </a:solidFill>
                <a:latin typeface="Plus Jakarta Sans"/>
              </a:rPr>
              <a:t>Each pair scaled on its own</a:t>
            </a:r>
          </a:p>
        </p:txBody>
      </p:sp>
      <p:sp>
        <p:nvSpPr>
          <p:cNvPr id="7" name="Rectangle 6"/>
          <p:cNvSpPr/>
          <p:nvPr/>
        </p:nvSpPr>
        <p:spPr>
          <a:xfrm>
            <a:off x="858011" y="2776081"/>
            <a:ext cx="310896" cy="351166"/>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9411" y="2593201"/>
            <a:ext cx="768096" cy="164592"/>
          </a:xfrm>
          <a:prstGeom prst="rect">
            <a:avLst/>
          </a:prstGeom>
          <a:noFill/>
        </p:spPr>
        <p:txBody>
          <a:bodyPr wrap="square" anchor="t" lIns="0" rIns="0" tIns="0" bIns="0">
            <a:spAutoFit/>
          </a:bodyPr>
          <a:lstStyle/>
          <a:p>
            <a:pPr algn="ctr"/>
            <a:r>
              <a:rPr sz="750" b="1">
                <a:solidFill>
                  <a:srgbClr val="141414"/>
                </a:solidFill>
                <a:latin typeface="Plus Jakarta Sans"/>
              </a:rPr>
              <a:t>Rp39.1M</a:t>
            </a:r>
          </a:p>
        </p:txBody>
      </p:sp>
      <p:sp>
        <p:nvSpPr>
          <p:cNvPr id="9" name="Rectangle 8"/>
          <p:cNvSpPr/>
          <p:nvPr/>
        </p:nvSpPr>
        <p:spPr>
          <a:xfrm>
            <a:off x="1223772" y="1865376"/>
            <a:ext cx="310896" cy="126187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5172" y="1682496"/>
            <a:ext cx="768096" cy="164592"/>
          </a:xfrm>
          <a:prstGeom prst="rect">
            <a:avLst/>
          </a:prstGeom>
          <a:noFill/>
        </p:spPr>
        <p:txBody>
          <a:bodyPr wrap="square" anchor="t" lIns="0" rIns="0" tIns="0" bIns="0">
            <a:spAutoFit/>
          </a:bodyPr>
          <a:lstStyle/>
          <a:p>
            <a:pPr algn="ctr"/>
            <a:r>
              <a:rPr sz="750" b="1">
                <a:solidFill>
                  <a:srgbClr val="141414"/>
                </a:solidFill>
                <a:latin typeface="Plus Jakarta Sans"/>
              </a:rPr>
              <a:t>Rp140M</a:t>
            </a:r>
          </a:p>
        </p:txBody>
      </p:sp>
      <p:sp>
        <p:nvSpPr>
          <p:cNvPr id="11" name="TextBox 10"/>
          <p:cNvSpPr txBox="1"/>
          <p:nvPr/>
        </p:nvSpPr>
        <p:spPr>
          <a:xfrm>
            <a:off x="548640" y="3172968"/>
            <a:ext cx="1295400" cy="164592"/>
          </a:xfrm>
          <a:prstGeom prst="rect">
            <a:avLst/>
          </a:prstGeom>
          <a:noFill/>
        </p:spPr>
        <p:txBody>
          <a:bodyPr wrap="square" anchor="t" lIns="0" rIns="0" tIns="0" bIns="0">
            <a:spAutoFit/>
          </a:bodyPr>
          <a:lstStyle/>
          <a:p>
            <a:pPr algn="ctr"/>
            <a:r>
              <a:rPr sz="800" b="0">
                <a:solidFill>
                  <a:srgbClr val="5C665C"/>
                </a:solidFill>
                <a:latin typeface="Plus Jakarta Sans"/>
              </a:rPr>
              <a:t>Sales</a:t>
            </a:r>
          </a:p>
        </p:txBody>
      </p:sp>
      <p:sp>
        <p:nvSpPr>
          <p:cNvPr id="12" name="TextBox 11"/>
          <p:cNvSpPr txBox="1"/>
          <p:nvPr/>
        </p:nvSpPr>
        <p:spPr>
          <a:xfrm>
            <a:off x="548640" y="3310128"/>
            <a:ext cx="1295400" cy="146304"/>
          </a:xfrm>
          <a:prstGeom prst="rect">
            <a:avLst/>
          </a:prstGeom>
          <a:noFill/>
        </p:spPr>
        <p:txBody>
          <a:bodyPr wrap="square" anchor="t" lIns="0" rIns="0" tIns="0" bIns="0">
            <a:spAutoFit/>
          </a:bodyPr>
          <a:lstStyle/>
          <a:p>
            <a:pPr algn="ctr"/>
            <a:r>
              <a:rPr sz="750" b="1">
                <a:solidFill>
                  <a:srgbClr val="007200"/>
                </a:solidFill>
                <a:latin typeface="Plus Jakarta Sans"/>
              </a:rPr>
              <a:t>▲ 259%</a:t>
            </a:r>
          </a:p>
        </p:txBody>
      </p:sp>
      <p:sp>
        <p:nvSpPr>
          <p:cNvPr id="13" name="Rectangle 12"/>
          <p:cNvSpPr/>
          <p:nvPr/>
        </p:nvSpPr>
        <p:spPr>
          <a:xfrm>
            <a:off x="2153412" y="2426208"/>
            <a:ext cx="310896" cy="701040"/>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4812" y="2243328"/>
            <a:ext cx="768096" cy="164592"/>
          </a:xfrm>
          <a:prstGeom prst="rect">
            <a:avLst/>
          </a:prstGeom>
          <a:noFill/>
        </p:spPr>
        <p:txBody>
          <a:bodyPr wrap="square" anchor="t" lIns="0" rIns="0" tIns="0" bIns="0">
            <a:spAutoFit/>
          </a:bodyPr>
          <a:lstStyle/>
          <a:p>
            <a:pPr algn="ctr"/>
            <a:r>
              <a:rPr sz="750" b="1">
                <a:solidFill>
                  <a:srgbClr val="141414"/>
                </a:solidFill>
                <a:latin typeface="Plus Jakarta Sans"/>
              </a:rPr>
              <a:t>5</a:t>
            </a:r>
          </a:p>
        </p:txBody>
      </p:sp>
      <p:sp>
        <p:nvSpPr>
          <p:cNvPr id="15" name="Rectangle 14"/>
          <p:cNvSpPr/>
          <p:nvPr/>
        </p:nvSpPr>
        <p:spPr>
          <a:xfrm>
            <a:off x="2519172" y="1865376"/>
            <a:ext cx="310896" cy="126187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90572" y="1682496"/>
            <a:ext cx="768096" cy="164592"/>
          </a:xfrm>
          <a:prstGeom prst="rect">
            <a:avLst/>
          </a:prstGeom>
          <a:noFill/>
        </p:spPr>
        <p:txBody>
          <a:bodyPr wrap="square" anchor="t" lIns="0" rIns="0" tIns="0" bIns="0">
            <a:spAutoFit/>
          </a:bodyPr>
          <a:lstStyle/>
          <a:p>
            <a:pPr algn="ctr"/>
            <a:r>
              <a:rPr sz="750" b="1">
                <a:solidFill>
                  <a:srgbClr val="141414"/>
                </a:solidFill>
                <a:latin typeface="Plus Jakarta Sans"/>
              </a:rPr>
              <a:t>9</a:t>
            </a:r>
          </a:p>
        </p:txBody>
      </p:sp>
      <p:sp>
        <p:nvSpPr>
          <p:cNvPr id="17" name="TextBox 16"/>
          <p:cNvSpPr txBox="1"/>
          <p:nvPr/>
        </p:nvSpPr>
        <p:spPr>
          <a:xfrm>
            <a:off x="1844040" y="3172968"/>
            <a:ext cx="1295400" cy="164592"/>
          </a:xfrm>
          <a:prstGeom prst="rect">
            <a:avLst/>
          </a:prstGeom>
          <a:noFill/>
        </p:spPr>
        <p:txBody>
          <a:bodyPr wrap="square" anchor="t" lIns="0" rIns="0" tIns="0" bIns="0">
            <a:spAutoFit/>
          </a:bodyPr>
          <a:lstStyle/>
          <a:p>
            <a:pPr algn="ctr"/>
            <a:r>
              <a:rPr sz="800" b="0">
                <a:solidFill>
                  <a:srgbClr val="5C665C"/>
                </a:solidFill>
                <a:latin typeface="Plus Jakarta Sans"/>
              </a:rPr>
              <a:t>Orders</a:t>
            </a:r>
          </a:p>
        </p:txBody>
      </p:sp>
      <p:sp>
        <p:nvSpPr>
          <p:cNvPr id="18" name="TextBox 17"/>
          <p:cNvSpPr txBox="1"/>
          <p:nvPr/>
        </p:nvSpPr>
        <p:spPr>
          <a:xfrm>
            <a:off x="1844040" y="3310128"/>
            <a:ext cx="1295400" cy="146304"/>
          </a:xfrm>
          <a:prstGeom prst="rect">
            <a:avLst/>
          </a:prstGeom>
          <a:noFill/>
        </p:spPr>
        <p:txBody>
          <a:bodyPr wrap="square" anchor="t" lIns="0" rIns="0" tIns="0" bIns="0">
            <a:spAutoFit/>
          </a:bodyPr>
          <a:lstStyle/>
          <a:p>
            <a:pPr algn="ctr"/>
            <a:r>
              <a:rPr sz="750" b="1">
                <a:solidFill>
                  <a:srgbClr val="007200"/>
                </a:solidFill>
                <a:latin typeface="Plus Jakarta Sans"/>
              </a:rPr>
              <a:t>▲ 80%</a:t>
            </a:r>
          </a:p>
        </p:txBody>
      </p:sp>
      <p:sp>
        <p:nvSpPr>
          <p:cNvPr id="19" name="Rectangle 18"/>
          <p:cNvSpPr/>
          <p:nvPr/>
        </p:nvSpPr>
        <p:spPr>
          <a:xfrm>
            <a:off x="3448812" y="2225910"/>
            <a:ext cx="310896" cy="901337"/>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20212" y="2043030"/>
            <a:ext cx="768096" cy="164592"/>
          </a:xfrm>
          <a:prstGeom prst="rect">
            <a:avLst/>
          </a:prstGeom>
          <a:noFill/>
        </p:spPr>
        <p:txBody>
          <a:bodyPr wrap="square" anchor="t" lIns="0" rIns="0" tIns="0" bIns="0">
            <a:spAutoFit/>
          </a:bodyPr>
          <a:lstStyle/>
          <a:p>
            <a:pPr algn="ctr"/>
            <a:r>
              <a:rPr sz="750" b="1">
                <a:solidFill>
                  <a:srgbClr val="141414"/>
                </a:solidFill>
                <a:latin typeface="Plus Jakarta Sans"/>
              </a:rPr>
              <a:t>5</a:t>
            </a:r>
          </a:p>
        </p:txBody>
      </p:sp>
      <p:sp>
        <p:nvSpPr>
          <p:cNvPr id="21" name="Rectangle 20"/>
          <p:cNvSpPr/>
          <p:nvPr/>
        </p:nvSpPr>
        <p:spPr>
          <a:xfrm>
            <a:off x="3814572" y="1865376"/>
            <a:ext cx="310896" cy="1261872"/>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585972" y="1682496"/>
            <a:ext cx="768096" cy="164592"/>
          </a:xfrm>
          <a:prstGeom prst="rect">
            <a:avLst/>
          </a:prstGeom>
          <a:noFill/>
        </p:spPr>
        <p:txBody>
          <a:bodyPr wrap="square" anchor="t" lIns="0" rIns="0" tIns="0" bIns="0">
            <a:spAutoFit/>
          </a:bodyPr>
          <a:lstStyle/>
          <a:p>
            <a:pPr algn="ctr"/>
            <a:r>
              <a:rPr sz="750" b="1">
                <a:solidFill>
                  <a:srgbClr val="141414"/>
                </a:solidFill>
                <a:latin typeface="Plus Jakarta Sans"/>
              </a:rPr>
              <a:t>7</a:t>
            </a:r>
          </a:p>
        </p:txBody>
      </p:sp>
      <p:sp>
        <p:nvSpPr>
          <p:cNvPr id="23" name="TextBox 22"/>
          <p:cNvSpPr txBox="1"/>
          <p:nvPr/>
        </p:nvSpPr>
        <p:spPr>
          <a:xfrm>
            <a:off x="3139440" y="3172968"/>
            <a:ext cx="1295400" cy="164592"/>
          </a:xfrm>
          <a:prstGeom prst="rect">
            <a:avLst/>
          </a:prstGeom>
          <a:noFill/>
        </p:spPr>
        <p:txBody>
          <a:bodyPr wrap="square" anchor="t" lIns="0" rIns="0" tIns="0" bIns="0">
            <a:spAutoFit/>
          </a:bodyPr>
          <a:lstStyle/>
          <a:p>
            <a:pPr algn="ctr"/>
            <a:r>
              <a:rPr sz="800" b="0">
                <a:solidFill>
                  <a:srgbClr val="5C665C"/>
                </a:solidFill>
                <a:latin typeface="Plus Jakarta Sans"/>
              </a:rPr>
              <a:t>Customers</a:t>
            </a:r>
          </a:p>
        </p:txBody>
      </p:sp>
      <p:sp>
        <p:nvSpPr>
          <p:cNvPr id="24" name="TextBox 23"/>
          <p:cNvSpPr txBox="1"/>
          <p:nvPr/>
        </p:nvSpPr>
        <p:spPr>
          <a:xfrm>
            <a:off x="3139440" y="3310128"/>
            <a:ext cx="1295400" cy="146304"/>
          </a:xfrm>
          <a:prstGeom prst="rect">
            <a:avLst/>
          </a:prstGeom>
          <a:noFill/>
        </p:spPr>
        <p:txBody>
          <a:bodyPr wrap="square" anchor="t" lIns="0" rIns="0" tIns="0" bIns="0">
            <a:spAutoFit/>
          </a:bodyPr>
          <a:lstStyle/>
          <a:p>
            <a:pPr algn="ctr"/>
            <a:r>
              <a:rPr sz="750" b="1">
                <a:solidFill>
                  <a:srgbClr val="007200"/>
                </a:solidFill>
                <a:latin typeface="Plus Jakarta Sans"/>
              </a:rPr>
              <a:t>▲ 40%</a:t>
            </a:r>
          </a:p>
        </p:txBody>
      </p:sp>
      <p:sp>
        <p:nvSpPr>
          <p:cNvPr id="25" name="Rectangle 24"/>
          <p:cNvSpPr/>
          <p:nvPr/>
        </p:nvSpPr>
        <p:spPr>
          <a:xfrm>
            <a:off x="548640" y="1499616"/>
            <a:ext cx="109728" cy="109728"/>
          </a:xfrm>
          <a:prstGeom prst="rect">
            <a:avLst/>
          </a:prstGeom>
          <a:solidFill>
            <a:srgbClr val="B9D7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4088" y="1481328"/>
            <a:ext cx="1188720" cy="146304"/>
          </a:xfrm>
          <a:prstGeom prst="rect">
            <a:avLst/>
          </a:prstGeom>
          <a:noFill/>
        </p:spPr>
        <p:txBody>
          <a:bodyPr wrap="square" anchor="t" lIns="0" rIns="0" tIns="0" bIns="0">
            <a:spAutoFit/>
          </a:bodyPr>
          <a:lstStyle/>
          <a:p>
            <a:pPr algn="l"/>
            <a:r>
              <a:rPr sz="750" b="0">
                <a:solidFill>
                  <a:srgbClr val="5C665C"/>
                </a:solidFill>
                <a:latin typeface="Plus Jakarta Sans"/>
              </a:rPr>
              <a:t>Week of 12 Oct</a:t>
            </a:r>
          </a:p>
        </p:txBody>
      </p:sp>
      <p:sp>
        <p:nvSpPr>
          <p:cNvPr id="27" name="Rectangle 26"/>
          <p:cNvSpPr/>
          <p:nvPr/>
        </p:nvSpPr>
        <p:spPr>
          <a:xfrm>
            <a:off x="1874519" y="1499616"/>
            <a:ext cx="109728" cy="109728"/>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29967" y="1481328"/>
            <a:ext cx="1188720" cy="146304"/>
          </a:xfrm>
          <a:prstGeom prst="rect">
            <a:avLst/>
          </a:prstGeom>
          <a:noFill/>
        </p:spPr>
        <p:txBody>
          <a:bodyPr wrap="square" anchor="t" lIns="0" rIns="0" tIns="0" bIns="0">
            <a:spAutoFit/>
          </a:bodyPr>
          <a:lstStyle/>
          <a:p>
            <a:pPr algn="l"/>
            <a:r>
              <a:rPr sz="750" b="0">
                <a:solidFill>
                  <a:srgbClr val="5C665C"/>
                </a:solidFill>
                <a:latin typeface="Plus Jakarta Sans"/>
              </a:rPr>
              <a:t>Week of 19 Oct</a:t>
            </a:r>
          </a:p>
        </p:txBody>
      </p:sp>
      <p:sp>
        <p:nvSpPr>
          <p:cNvPr id="29" name="Rounded Rectangle 28"/>
          <p:cNvSpPr/>
          <p:nvPr/>
        </p:nvSpPr>
        <p:spPr>
          <a:xfrm>
            <a:off x="4727448" y="987552"/>
            <a:ext cx="3959352" cy="2514600"/>
          </a:xfrm>
          <a:prstGeom prst="roundRect">
            <a:avLst>
              <a:gd name="adj" fmla="val 2181"/>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55464" y="1078992"/>
            <a:ext cx="3703320" cy="201168"/>
          </a:xfrm>
          <a:prstGeom prst="rect">
            <a:avLst/>
          </a:prstGeom>
          <a:noFill/>
        </p:spPr>
        <p:txBody>
          <a:bodyPr wrap="square" anchor="t" lIns="0" rIns="0" tIns="0" bIns="0">
            <a:spAutoFit/>
          </a:bodyPr>
          <a:lstStyle/>
          <a:p>
            <a:pPr algn="l"/>
            <a:r>
              <a:rPr sz="1000" b="1">
                <a:solidFill>
                  <a:srgbClr val="141414"/>
                </a:solidFill>
                <a:latin typeface="Plus Jakarta Sans"/>
              </a:rPr>
              <a:t>What moved sales</a:t>
            </a:r>
          </a:p>
        </p:txBody>
      </p:sp>
      <p:sp>
        <p:nvSpPr>
          <p:cNvPr id="31" name="TextBox 30"/>
          <p:cNvSpPr txBox="1"/>
          <p:nvPr/>
        </p:nvSpPr>
        <p:spPr>
          <a:xfrm>
            <a:off x="4855464" y="1271016"/>
            <a:ext cx="3703320" cy="182880"/>
          </a:xfrm>
          <a:prstGeom prst="rect">
            <a:avLst/>
          </a:prstGeom>
          <a:noFill/>
        </p:spPr>
        <p:txBody>
          <a:bodyPr wrap="square" anchor="t" lIns="0" rIns="0" tIns="0" bIns="0">
            <a:spAutoFit/>
          </a:bodyPr>
          <a:lstStyle/>
          <a:p>
            <a:pPr algn="l"/>
            <a:r>
              <a:rPr sz="750" b="0">
                <a:solidFill>
                  <a:srgbClr val="5C665C"/>
                </a:solidFill>
                <a:latin typeface="Plus Jakarta Sans"/>
              </a:rPr>
              <a:t>Change by product category</a:t>
            </a:r>
          </a:p>
        </p:txBody>
      </p:sp>
      <p:sp>
        <p:nvSpPr>
          <p:cNvPr id="32" name="Rectangle 31"/>
          <p:cNvSpPr/>
          <p:nvPr/>
        </p:nvSpPr>
        <p:spPr>
          <a:xfrm>
            <a:off x="7232903" y="1499616"/>
            <a:ext cx="9144" cy="1463040"/>
          </a:xfrm>
          <a:prstGeom prst="rect">
            <a:avLst/>
          </a:prstGeom>
          <a:solidFill>
            <a:srgbClr val="9AA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55464" y="1499616"/>
            <a:ext cx="978407" cy="365760"/>
          </a:xfrm>
          <a:prstGeom prst="rect">
            <a:avLst/>
          </a:prstGeom>
          <a:noFill/>
        </p:spPr>
        <p:txBody>
          <a:bodyPr wrap="square" anchor="ctr" lIns="0" rIns="0" tIns="0" bIns="0">
            <a:spAutoFit/>
          </a:bodyPr>
          <a:lstStyle/>
          <a:p>
            <a:pPr algn="l"/>
            <a:r>
              <a:rPr sz="800" b="0">
                <a:solidFill>
                  <a:srgbClr val="141414"/>
                </a:solidFill>
                <a:latin typeface="Plus Jakarta Sans"/>
              </a:rPr>
              <a:t>Benih</a:t>
            </a:r>
          </a:p>
        </p:txBody>
      </p:sp>
      <p:sp>
        <p:nvSpPr>
          <p:cNvPr id="34" name="Rectangle 33"/>
          <p:cNvSpPr/>
          <p:nvPr/>
        </p:nvSpPr>
        <p:spPr>
          <a:xfrm>
            <a:off x="7232903" y="1591056"/>
            <a:ext cx="822959" cy="18288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01583" y="1499616"/>
            <a:ext cx="548640" cy="365760"/>
          </a:xfrm>
          <a:prstGeom prst="rect">
            <a:avLst/>
          </a:prstGeom>
          <a:noFill/>
        </p:spPr>
        <p:txBody>
          <a:bodyPr wrap="square" anchor="ctr" lIns="0" rIns="0" tIns="0" bIns="0">
            <a:spAutoFit/>
          </a:bodyPr>
          <a:lstStyle/>
          <a:p>
            <a:pPr algn="l"/>
            <a:r>
              <a:rPr sz="750" b="1">
                <a:solidFill>
                  <a:srgbClr val="007200"/>
                </a:solidFill>
                <a:latin typeface="Plus Jakarta Sans"/>
              </a:rPr>
              <a:t>+Rp106M</a:t>
            </a:r>
          </a:p>
        </p:txBody>
      </p:sp>
      <p:sp>
        <p:nvSpPr>
          <p:cNvPr id="36" name="TextBox 35"/>
          <p:cNvSpPr txBox="1"/>
          <p:nvPr/>
        </p:nvSpPr>
        <p:spPr>
          <a:xfrm>
            <a:off x="4855464" y="1865376"/>
            <a:ext cx="978407" cy="365760"/>
          </a:xfrm>
          <a:prstGeom prst="rect">
            <a:avLst/>
          </a:prstGeom>
          <a:noFill/>
        </p:spPr>
        <p:txBody>
          <a:bodyPr wrap="square" anchor="ctr" lIns="0" rIns="0" tIns="0" bIns="0">
            <a:spAutoFit/>
          </a:bodyPr>
          <a:lstStyle/>
          <a:p>
            <a:pPr algn="l"/>
            <a:r>
              <a:rPr sz="800" b="0">
                <a:solidFill>
                  <a:srgbClr val="141414"/>
                </a:solidFill>
                <a:latin typeface="Plus Jakarta Sans"/>
              </a:rPr>
              <a:t>Pemetaan Kebun</a:t>
            </a:r>
          </a:p>
        </p:txBody>
      </p:sp>
      <p:sp>
        <p:nvSpPr>
          <p:cNvPr id="37" name="Rectangle 36"/>
          <p:cNvSpPr/>
          <p:nvPr/>
        </p:nvSpPr>
        <p:spPr>
          <a:xfrm>
            <a:off x="7232903" y="1956816"/>
            <a:ext cx="139104" cy="18288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17728" y="1865376"/>
            <a:ext cx="548640" cy="365760"/>
          </a:xfrm>
          <a:prstGeom prst="rect">
            <a:avLst/>
          </a:prstGeom>
          <a:noFill/>
        </p:spPr>
        <p:txBody>
          <a:bodyPr wrap="square" anchor="ctr" lIns="0" rIns="0" tIns="0" bIns="0">
            <a:spAutoFit/>
          </a:bodyPr>
          <a:lstStyle/>
          <a:p>
            <a:pPr algn="l"/>
            <a:r>
              <a:rPr sz="750" b="1">
                <a:solidFill>
                  <a:srgbClr val="007200"/>
                </a:solidFill>
                <a:latin typeface="Plus Jakarta Sans"/>
              </a:rPr>
              <a:t>+Rp18M</a:t>
            </a:r>
          </a:p>
        </p:txBody>
      </p:sp>
      <p:sp>
        <p:nvSpPr>
          <p:cNvPr id="39" name="TextBox 38"/>
          <p:cNvSpPr txBox="1"/>
          <p:nvPr/>
        </p:nvSpPr>
        <p:spPr>
          <a:xfrm>
            <a:off x="4855464" y="2231136"/>
            <a:ext cx="978407" cy="365760"/>
          </a:xfrm>
          <a:prstGeom prst="rect">
            <a:avLst/>
          </a:prstGeom>
          <a:noFill/>
        </p:spPr>
        <p:txBody>
          <a:bodyPr wrap="square" anchor="ctr" lIns="0" rIns="0" tIns="0" bIns="0">
            <a:spAutoFit/>
          </a:bodyPr>
          <a:lstStyle/>
          <a:p>
            <a:pPr algn="l"/>
            <a:r>
              <a:rPr sz="800" b="0">
                <a:solidFill>
                  <a:srgbClr val="141414"/>
                </a:solidFill>
                <a:latin typeface="Plus Jakarta Sans"/>
              </a:rPr>
              <a:t>Dokter Sawit</a:t>
            </a:r>
          </a:p>
        </p:txBody>
      </p:sp>
      <p:sp>
        <p:nvSpPr>
          <p:cNvPr id="40" name="Rectangle 39"/>
          <p:cNvSpPr/>
          <p:nvPr/>
        </p:nvSpPr>
        <p:spPr>
          <a:xfrm>
            <a:off x="7186535" y="2322576"/>
            <a:ext cx="46368" cy="18288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92175" y="2231136"/>
            <a:ext cx="548640" cy="365760"/>
          </a:xfrm>
          <a:prstGeom prst="rect">
            <a:avLst/>
          </a:prstGeom>
          <a:noFill/>
        </p:spPr>
        <p:txBody>
          <a:bodyPr wrap="square" anchor="ctr" lIns="0" rIns="0" tIns="0" bIns="0">
            <a:spAutoFit/>
          </a:bodyPr>
          <a:lstStyle/>
          <a:p>
            <a:pPr algn="r"/>
            <a:r>
              <a:rPr sz="750" b="1">
                <a:solidFill>
                  <a:srgbClr val="B23A3A"/>
                </a:solidFill>
                <a:latin typeface="Plus Jakarta Sans"/>
              </a:rPr>
              <a:t>−Rp6M</a:t>
            </a:r>
          </a:p>
        </p:txBody>
      </p:sp>
      <p:sp>
        <p:nvSpPr>
          <p:cNvPr id="42" name="TextBox 41"/>
          <p:cNvSpPr txBox="1"/>
          <p:nvPr/>
        </p:nvSpPr>
        <p:spPr>
          <a:xfrm>
            <a:off x="4855464" y="2596896"/>
            <a:ext cx="978407" cy="365760"/>
          </a:xfrm>
          <a:prstGeom prst="rect">
            <a:avLst/>
          </a:prstGeom>
          <a:noFill/>
        </p:spPr>
        <p:txBody>
          <a:bodyPr wrap="square" anchor="ctr" lIns="0" rIns="0" tIns="0" bIns="0">
            <a:spAutoFit/>
          </a:bodyPr>
          <a:lstStyle/>
          <a:p>
            <a:pPr algn="l"/>
            <a:r>
              <a:rPr sz="800" b="0">
                <a:solidFill>
                  <a:srgbClr val="141414"/>
                </a:solidFill>
                <a:latin typeface="Plus Jakarta Sans"/>
              </a:rPr>
              <a:t>Khusus Petani</a:t>
            </a:r>
          </a:p>
        </p:txBody>
      </p:sp>
      <p:sp>
        <p:nvSpPr>
          <p:cNvPr id="43" name="Rectangle 42"/>
          <p:cNvSpPr/>
          <p:nvPr/>
        </p:nvSpPr>
        <p:spPr>
          <a:xfrm>
            <a:off x="7100197" y="2688336"/>
            <a:ext cx="132706" cy="182880"/>
          </a:xfrm>
          <a:prstGeom prst="rect">
            <a:avLst/>
          </a:prstGeom>
          <a:solidFill>
            <a:srgbClr val="B2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05837" y="2596896"/>
            <a:ext cx="548640" cy="365760"/>
          </a:xfrm>
          <a:prstGeom prst="rect">
            <a:avLst/>
          </a:prstGeom>
          <a:noFill/>
        </p:spPr>
        <p:txBody>
          <a:bodyPr wrap="square" anchor="ctr" lIns="0" rIns="0" tIns="0" bIns="0">
            <a:spAutoFit/>
          </a:bodyPr>
          <a:lstStyle/>
          <a:p>
            <a:pPr algn="r"/>
            <a:r>
              <a:rPr sz="750" b="1">
                <a:solidFill>
                  <a:srgbClr val="B23A3A"/>
                </a:solidFill>
                <a:latin typeface="Plus Jakarta Sans"/>
              </a:rPr>
              <a:t>−Rp17.2M</a:t>
            </a:r>
          </a:p>
        </p:txBody>
      </p:sp>
      <p:sp>
        <p:nvSpPr>
          <p:cNvPr id="45" name="Rounded Rectangle 44"/>
          <p:cNvSpPr/>
          <p:nvPr/>
        </p:nvSpPr>
        <p:spPr>
          <a:xfrm>
            <a:off x="384048" y="3611880"/>
            <a:ext cx="8302752" cy="960120"/>
          </a:xfrm>
          <a:prstGeom prst="roundRect">
            <a:avLst>
              <a:gd name="adj" fmla="val 5714"/>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3703320"/>
            <a:ext cx="8010144" cy="813816"/>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Check a possible duplicate:</a:t>
            </a:r>
            <a:r>
              <a:rPr sz="850" b="0">
                <a:solidFill>
                  <a:srgbClr val="141414"/>
                </a:solidFill>
                <a:latin typeface="Plus Jakarta Sans"/>
              </a:rPr>
              <a:t> #B2C26771 and #B2C26772 are the same customer, same day, 50 Topaz packs each (Rp47.5M each) by Eko Prastyo.</a:t>
            </a:r>
          </a:p>
          <a:p>
            <a:pPr algn="l">
              <a:spcAft>
                <a:spcPts val="300"/>
              </a:spcAft>
            </a:pPr>
            <a:r>
              <a:rPr sz="850" b="1">
                <a:solidFill>
                  <a:srgbClr val="141414"/>
                </a:solidFill>
                <a:latin typeface="Plus Jakarta Sans"/>
              </a:rPr>
              <a:t>Without that buyer, Plantation is</a:t>
            </a:r>
            <a:r>
              <a:rPr sz="850" b="0">
                <a:solidFill>
                  <a:srgbClr val="141414"/>
                </a:solidFill>
                <a:latin typeface="Plus Jakarta Sans"/>
              </a:rPr>
              <a:t> Rp45.4M (vs Rp39.1M the week before). Mapping (Pemetaan Kebun) is new: 2 orders, Rp18M.</a:t>
            </a:r>
          </a:p>
          <a:p>
            <a:pPr algn="l">
              <a:spcAft>
                <a:spcPts val="300"/>
              </a:spcAft>
            </a:pPr>
            <a:r>
              <a:rPr sz="850" b="1">
                <a:solidFill>
                  <a:srgbClr val="141414"/>
                </a:solidFill>
                <a:latin typeface="Plus Jakarta Sans"/>
              </a:rPr>
              <a:t>Nothing is completed yet:</a:t>
            </a:r>
            <a:r>
              <a:rPr sz="850" b="0">
                <a:solidFill>
                  <a:srgbClr val="141414"/>
                </a:solidFill>
                <a:latin typeface="Plus Jakarta Sans"/>
              </a:rPr>
              <a:t> all 9 orders are still NEW, though all are paid.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1 Plantation success is in sales; 1 closing isn't reflected yet</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PLANTATION · SUCCESS STORY</a:t>
            </a:r>
          </a:p>
        </p:txBody>
      </p:sp>
      <p:sp>
        <p:nvSpPr>
          <p:cNvPr id="4" name="Rounded Rectangle 3"/>
          <p:cNvSpPr/>
          <p:nvPr/>
        </p:nvSpPr>
        <p:spPr>
          <a:xfrm>
            <a:off x="384048" y="987552"/>
            <a:ext cx="4892040" cy="2560320"/>
          </a:xfrm>
          <a:prstGeom prst="roundRect">
            <a:avLst>
              <a:gd name="adj" fmla="val 2142"/>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4636007" cy="201168"/>
          </a:xfrm>
          <a:prstGeom prst="rect">
            <a:avLst/>
          </a:prstGeom>
          <a:noFill/>
        </p:spPr>
        <p:txBody>
          <a:bodyPr wrap="square" anchor="t" lIns="0" rIns="0" tIns="0" bIns="0">
            <a:spAutoFit/>
          </a:bodyPr>
          <a:lstStyle/>
          <a:p>
            <a:pPr algn="l"/>
            <a:r>
              <a:rPr sz="1000" b="1">
                <a:solidFill>
                  <a:srgbClr val="141414"/>
                </a:solidFill>
                <a:latin typeface="Plus Jakarta Sans"/>
              </a:rPr>
              <a:t>CRM success stories (5)</a:t>
            </a:r>
          </a:p>
        </p:txBody>
      </p:sp>
      <p:sp>
        <p:nvSpPr>
          <p:cNvPr id="6" name="TextBox 5"/>
          <p:cNvSpPr txBox="1"/>
          <p:nvPr/>
        </p:nvSpPr>
        <p:spPr>
          <a:xfrm>
            <a:off x="512064" y="1271016"/>
            <a:ext cx="4636007" cy="182880"/>
          </a:xfrm>
          <a:prstGeom prst="rect">
            <a:avLst/>
          </a:prstGeom>
          <a:noFill/>
        </p:spPr>
        <p:txBody>
          <a:bodyPr wrap="square" anchor="t" lIns="0" rIns="0" tIns="0" bIns="0">
            <a:spAutoFit/>
          </a:bodyPr>
          <a:lstStyle/>
          <a:p>
            <a:pPr algn="l"/>
            <a:r>
              <a:rPr sz="750" b="0">
                <a:solidFill>
                  <a:srgbClr val="5C665C"/>
                </a:solidFill>
                <a:latin typeface="Plus Jakarta Sans"/>
              </a:rPr>
              <a:t>Checked against the sales export</a:t>
            </a:r>
          </a:p>
        </p:txBody>
      </p:sp>
      <p:graphicFrame>
        <p:nvGraphicFramePr>
          <p:cNvPr id="7" name="Table 6"/>
          <p:cNvGraphicFramePr>
            <a:graphicFrameLocks noGrp="1"/>
          </p:cNvGraphicFramePr>
          <p:nvPr/>
        </p:nvGraphicFramePr>
        <p:xfrm>
          <a:off x="512064" y="1499616"/>
          <a:ext cx="4636005" cy="1755648"/>
        </p:xfrm>
        <a:graphic>
          <a:graphicData uri="http://schemas.openxmlformats.org/drawingml/2006/table">
            <a:tbl>
              <a:tblPr firstRow="1" bandRow="1">
                <a:tableStyleId>{5C22544A-7EE6-4342-B048-85BDC9FD1C3A}</a:tableStyleId>
              </a:tblPr>
              <a:tblGrid>
                <a:gridCol w="637982"/>
                <a:gridCol w="978240"/>
                <a:gridCol w="637982"/>
                <a:gridCol w="680514"/>
                <a:gridCol w="1701287"/>
              </a:tblGrid>
              <a:tr h="292608">
                <a:tc>
                  <a:txBody>
                    <a:bodyPr wrap="square"/>
                    <a:lstStyle/>
                    <a:p>
                      <a:pPr algn="l"/>
                      <a:r>
                        <a:rPr sz="700" b="1">
                          <a:solidFill>
                            <a:srgbClr val="FFFFFF"/>
                          </a:solidFill>
                          <a:latin typeface="Plus Jakarta Sans"/>
                        </a:rPr>
                        <a:t>CRM ID</a:t>
                      </a:r>
                    </a:p>
                  </a:txBody>
                  <a:tcPr marL="45720" marR="45720" marT="18288" marB="18288" anchor="ctr">
                    <a:solidFill>
                      <a:srgbClr val="007200"/>
                    </a:solidFill>
                  </a:tcPr>
                </a:tc>
                <a:tc>
                  <a:txBody>
                    <a:bodyPr wrap="square"/>
                    <a:lstStyle/>
                    <a:p>
                      <a:pPr algn="l"/>
                      <a:r>
                        <a:rPr sz="700" b="1">
                          <a:solidFill>
                            <a:srgbClr val="FFFFFF"/>
                          </a:solidFill>
                          <a:latin typeface="Plus Jakarta Sans"/>
                        </a:rPr>
                        <a:t>Logged</a:t>
                      </a:r>
                    </a:p>
                  </a:txBody>
                  <a:tcPr marL="45720" marR="45720" marT="18288" marB="18288" anchor="ctr">
                    <a:solidFill>
                      <a:srgbClr val="007200"/>
                    </a:solidFill>
                  </a:tcPr>
                </a:tc>
                <a:tc>
                  <a:txBody>
                    <a:bodyPr wrap="square"/>
                    <a:lstStyle/>
                    <a:p>
                      <a:pPr algn="r"/>
                      <a:r>
                        <a:rPr sz="700" b="1">
                          <a:solidFill>
                            <a:srgbClr val="FFFFFF"/>
                          </a:solidFill>
                          <a:latin typeface="Plus Jakarta Sans"/>
                        </a:rPr>
                        <a:t>Value in CRM</a:t>
                      </a:r>
                    </a:p>
                  </a:txBody>
                  <a:tcPr marL="45720" marR="45720" marT="18288" marB="18288" anchor="ctr">
                    <a:solidFill>
                      <a:srgbClr val="007200"/>
                    </a:solidFill>
                  </a:tcPr>
                </a:tc>
                <a:tc>
                  <a:txBody>
                    <a:bodyPr wrap="square"/>
                    <a:lstStyle/>
                    <a:p>
                      <a:pPr algn="l"/>
                      <a:r>
                        <a:rPr sz="700" b="1">
                          <a:solidFill>
                            <a:srgbClr val="FFFFFF"/>
                          </a:solidFill>
                          <a:latin typeface="Plus Jakarta Sans"/>
                        </a:rPr>
                        <a:t>Order</a:t>
                      </a:r>
                    </a:p>
                  </a:txBody>
                  <a:tcPr marL="45720" marR="45720" marT="18288" marB="18288" anchor="ctr">
                    <a:solidFill>
                      <a:srgbClr val="007200"/>
                    </a:solidFill>
                  </a:tcPr>
                </a:tc>
                <a:tc>
                  <a:txBody>
                    <a:bodyPr wrap="square"/>
                    <a:lstStyle/>
                    <a:p>
                      <a:pPr algn="l"/>
                      <a:r>
                        <a:rPr sz="700" b="1">
                          <a:solidFill>
                            <a:srgbClr val="FFFFFF"/>
                          </a:solidFill>
                          <a:latin typeface="Plus Jakarta Sans"/>
                        </a:rPr>
                        <a:t>Note</a:t>
                      </a:r>
                    </a:p>
                  </a:txBody>
                  <a:tcPr marL="45720" marR="45720" marT="18288" marB="18288" anchor="ctr">
                    <a:solidFill>
                      <a:srgbClr val="007200"/>
                    </a:solidFill>
                  </a:tcPr>
                </a:tc>
              </a:tr>
              <a:tr h="292608">
                <a:tc>
                  <a:txBody>
                    <a:bodyPr wrap="square"/>
                    <a:lstStyle/>
                    <a:p>
                      <a:pPr algn="l"/>
                      <a:r>
                        <a:rPr sz="700" b="0">
                          <a:solidFill>
                            <a:srgbClr val="141414"/>
                          </a:solidFill>
                          <a:latin typeface="Plus Jakarta Sans"/>
                        </a:rPr>
                        <a:t>PSEN-2293</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Rp5.4M</a:t>
                      </a:r>
                    </a:p>
                  </a:txBody>
                  <a:tcPr marL="45720" marR="45720" marT="18288" marB="18288" anchor="ctr">
                    <a:solidFill>
                      <a:srgbClr val="FFFFFF"/>
                    </a:solidFill>
                  </a:tcPr>
                </a:tc>
                <a:tc>
                  <a:txBody>
                    <a:bodyPr wrap="square"/>
                    <a:lstStyle/>
                    <a:p>
                      <a:pPr algn="l"/>
                      <a:r>
                        <a:rPr sz="700" b="0">
                          <a:solidFill>
                            <a:srgbClr val="141414"/>
                          </a:solidFill>
                          <a:latin typeface="Plus Jakarta Sans"/>
                        </a:rPr>
                        <a:t>#B2C26748</a:t>
                      </a:r>
                    </a:p>
                  </a:txBody>
                  <a:tcPr marL="45720" marR="45720" marT="18288" marB="18288" anchor="ctr">
                    <a:solidFill>
                      <a:srgbClr val="FFFFFF"/>
                    </a:solidFill>
                  </a:tcPr>
                </a:tc>
                <a:tc>
                  <a:txBody>
                    <a:bodyPr wrap="square"/>
                    <a:lstStyle/>
                    <a:p>
                      <a:pPr algn="l"/>
                      <a:r>
                        <a:rPr sz="700" b="0">
                          <a:solidFill>
                            <a:srgbClr val="141414"/>
                          </a:solidFill>
                          <a:latin typeface="Plus Jakarta Sans"/>
                        </a:rPr>
                        <a:t>Matched in sales (same lead and region; phone differs)</a:t>
                      </a:r>
                    </a:p>
                  </a:txBody>
                  <a:tcPr marL="45720" marR="45720" marT="18288" marB="18288" anchor="ctr">
                    <a:solidFill>
                      <a:srgbClr val="FFFFFF"/>
                    </a:solidFill>
                  </a:tcPr>
                </a:tc>
              </a:tr>
              <a:tr h="292608">
                <a:tc>
                  <a:txBody>
                    <a:bodyPr wrap="square"/>
                    <a:lstStyle/>
                    <a:p>
                      <a:pPr algn="l"/>
                      <a:r>
                        <a:rPr sz="700" b="0">
                          <a:solidFill>
                            <a:srgbClr val="141414"/>
                          </a:solidFill>
                          <a:latin typeface="Plus Jakarta Sans"/>
                        </a:rPr>
                        <a:t>PSEN-2153</a:t>
                      </a:r>
                    </a:p>
                  </a:txBody>
                  <a:tcPr marL="45720" marR="45720" marT="18288" marB="18288" anchor="ctr">
                    <a:solidFill>
                      <a:srgbClr val="F6F8F6"/>
                    </a:solidFill>
                  </a:tcPr>
                </a:tc>
                <a:tc>
                  <a:txBody>
                    <a:bodyPr wrap="square"/>
                    <a:lstStyle/>
                    <a:p>
                      <a:pPr algn="l"/>
                      <a:r>
                        <a:rPr sz="700" b="0">
                          <a:solidFill>
                            <a:srgbClr val="141414"/>
                          </a:solidFill>
                          <a:latin typeface="Plus Jakarta Sans"/>
                        </a:rPr>
                        <a:t>4 leaf + 4 soil tests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Rp6.4M</a:t>
                      </a:r>
                    </a:p>
                  </a:txBody>
                  <a:tcPr marL="45720" marR="45720" marT="18288" marB="18288" anchor="ctr">
                    <a:solidFill>
                      <a:srgbClr val="F6F8F6"/>
                    </a:solidFill>
                  </a:tcPr>
                </a:tc>
                <a:tc>
                  <a:txBody>
                    <a:bodyPr wrap="square"/>
                    <a:lstStyle/>
                    <a:p>
                      <a:pPr algn="l"/>
                      <a:r>
                        <a:rPr sz="700" b="0">
                          <a:solidFill>
                            <a:srgbClr val="141414"/>
                          </a:solidFill>
                          <a:latin typeface="Plus Jakarta Sans"/>
                        </a:rPr>
                        <a:t>–</a:t>
                      </a:r>
                    </a:p>
                  </a:txBody>
                  <a:tcPr marL="45720" marR="45720" marT="18288" marB="18288" anchor="ctr">
                    <a:solidFill>
                      <a:srgbClr val="F6F8F6"/>
                    </a:solidFill>
                  </a:tcPr>
                </a:tc>
                <a:tc>
                  <a:txBody>
                    <a:bodyPr wrap="square"/>
                    <a:lstStyle/>
                    <a:p>
                      <a:pPr algn="l"/>
                      <a:r>
                        <a:rPr sz="700" b="0">
                          <a:solidFill>
                            <a:srgbClr val="141414"/>
                          </a:solidFill>
                          <a:latin typeface="Plus Jakarta Sans"/>
                        </a:rPr>
                        <a:t>Team put on CRM however sales not reflected yet</a:t>
                      </a:r>
                    </a:p>
                  </a:txBody>
                  <a:tcPr marL="45720" marR="45720" marT="18288" marB="18288" anchor="ctr">
                    <a:solidFill>
                      <a:srgbClr val="FFF6D6"/>
                    </a:solidFill>
                  </a:tcPr>
                </a:tc>
              </a:tr>
              <a:tr h="292608">
                <a:tc>
                  <a:txBody>
                    <a:bodyPr wrap="square"/>
                    <a:lstStyle/>
                    <a:p>
                      <a:pPr algn="l"/>
                      <a:r>
                        <a:rPr sz="700" b="0">
                          <a:solidFill>
                            <a:srgbClr val="141414"/>
                          </a:solidFill>
                          <a:latin typeface="Plus Jakarta Sans"/>
                        </a:rPr>
                        <a:t>PSEN-2149</a:t>
                      </a:r>
                    </a:p>
                  </a:txBody>
                  <a:tcPr marL="45720" marR="45720" marT="18288" marB="18288" anchor="ctr">
                    <a:solidFill>
                      <a:srgbClr val="FFFFFF"/>
                    </a:solidFill>
                  </a:tcPr>
                </a:tc>
                <a:tc>
                  <a:txBody>
                    <a:bodyPr wrap="square"/>
                    <a:lstStyle/>
                    <a:p>
                      <a:pPr algn="l"/>
                      <a:r>
                        <a:rPr sz="700" b="0">
                          <a:solidFill>
                            <a:srgbClr val="141414"/>
                          </a:solidFill>
                          <a:latin typeface="Plus Jakarta Sans"/>
                        </a:rPr>
                        <a:t>KebunPRO</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Rp16.8M</a:t>
                      </a:r>
                    </a:p>
                  </a:txBody>
                  <a:tcPr marL="45720" marR="45720" marT="18288" marB="18288" anchor="ctr">
                    <a:solidFill>
                      <a:srgbClr val="FFFFFF"/>
                    </a:solidFill>
                  </a:tcPr>
                </a:tc>
                <a:tc>
                  <a:txBody>
                    <a:bodyPr wrap="square"/>
                    <a:lstStyle/>
                    <a:p>
                      <a:pPr algn="l"/>
                      <a:r>
                        <a:rPr sz="700" b="0">
                          <a:solidFill>
                            <a:srgbClr val="141414"/>
                          </a:solidFill>
                          <a:latin typeface="Plus Jakarta Sans"/>
                        </a:rPr>
                        <a:t>–</a:t>
                      </a:r>
                    </a:p>
                  </a:txBody>
                  <a:tcPr marL="45720" marR="45720" marT="18288" marB="18288" anchor="ctr">
                    <a:solidFill>
                      <a:srgbClr val="FFFFFF"/>
                    </a:solidFill>
                  </a:tcPr>
                </a:tc>
                <a:tc>
                  <a:txBody>
                    <a:bodyPr wrap="square"/>
                    <a:lstStyle/>
                    <a:p>
                      <a:pPr algn="l"/>
                      <a:r>
                        <a:rPr sz="700" b="0">
                          <a:solidFill>
                            <a:srgbClr val="141414"/>
                          </a:solidFill>
                          <a:latin typeface="Plus Jakarta Sans"/>
                        </a:rPr>
                        <a:t>Prospect, closing est. 31 Dec; not a sale yet</a:t>
                      </a:r>
                    </a:p>
                  </a:txBody>
                  <a:tcPr marL="45720" marR="45720" marT="18288" marB="18288" anchor="ctr">
                    <a:solidFill>
                      <a:srgbClr val="FFFFFF"/>
                    </a:solidFill>
                  </a:tcPr>
                </a:tc>
              </a:tr>
              <a:tr h="292608">
                <a:tc>
                  <a:txBody>
                    <a:bodyPr wrap="square"/>
                    <a:lstStyle/>
                    <a:p>
                      <a:pPr algn="l"/>
                      <a:r>
                        <a:rPr sz="700" b="0">
                          <a:solidFill>
                            <a:srgbClr val="141414"/>
                          </a:solidFill>
                          <a:latin typeface="Plus Jakarta Sans"/>
                        </a:rPr>
                        <a:t>PSEN-2150</a:t>
                      </a:r>
                    </a:p>
                  </a:txBody>
                  <a:tcPr marL="45720" marR="45720" marT="18288" marB="18288" anchor="ctr">
                    <a:solidFill>
                      <a:srgbClr val="F6F8F6"/>
                    </a:solidFill>
                  </a:tcPr>
                </a:tc>
                <a:tc>
                  <a:txBody>
                    <a:bodyPr wrap="square"/>
                    <a:lstStyle/>
                    <a:p>
                      <a:pPr algn="l"/>
                      <a:r>
                        <a:rPr sz="700" b="0">
                          <a:solidFill>
                            <a:srgbClr val="141414"/>
                          </a:solidFill>
                          <a:latin typeface="Plus Jakarta Sans"/>
                        </a:rPr>
                        <a:t>KebunPRO</a:t>
                      </a:r>
                    </a:p>
                  </a:txBody>
                  <a:tcPr marL="45720" marR="45720" marT="18288" marB="18288" anchor="ctr">
                    <a:solidFill>
                      <a:srgbClr val="F6F8F6"/>
                    </a:solidFill>
                  </a:tcPr>
                </a:tc>
                <a:tc>
                  <a:txBody>
                    <a:bodyPr wrap="square"/>
                    <a:lstStyle/>
                    <a:p>
                      <a:pPr algn="r"/>
                      <a:r>
                        <a:rPr sz="700" b="0">
                          <a:solidFill>
                            <a:srgbClr val="141414"/>
                          </a:solidFill>
                          <a:latin typeface="Plus Jakarta Sans"/>
                        </a:rPr>
                        <a:t>Rp16M</a:t>
                      </a:r>
                    </a:p>
                  </a:txBody>
                  <a:tcPr marL="45720" marR="45720" marT="18288" marB="18288" anchor="ctr">
                    <a:solidFill>
                      <a:srgbClr val="F6F8F6"/>
                    </a:solidFill>
                  </a:tcPr>
                </a:tc>
                <a:tc>
                  <a:txBody>
                    <a:bodyPr wrap="square"/>
                    <a:lstStyle/>
                    <a:p>
                      <a:pPr algn="l"/>
                      <a:r>
                        <a:rPr sz="700" b="0">
                          <a:solidFill>
                            <a:srgbClr val="141414"/>
                          </a:solidFill>
                          <a:latin typeface="Plus Jakarta Sans"/>
                        </a:rPr>
                        <a:t>–</a:t>
                      </a:r>
                    </a:p>
                  </a:txBody>
                  <a:tcPr marL="45720" marR="45720" marT="18288" marB="18288" anchor="ctr">
                    <a:solidFill>
                      <a:srgbClr val="F6F8F6"/>
                    </a:solidFill>
                  </a:tcPr>
                </a:tc>
                <a:tc>
                  <a:txBody>
                    <a:bodyPr wrap="square"/>
                    <a:lstStyle/>
                    <a:p>
                      <a:pPr algn="l"/>
                      <a:r>
                        <a:rPr sz="700" b="0">
                          <a:solidFill>
                            <a:srgbClr val="141414"/>
                          </a:solidFill>
                          <a:latin typeface="Plus Jakarta Sans"/>
                        </a:rPr>
                        <a:t>Prospect, closing est. 31 Dec; not a sale yet</a:t>
                      </a:r>
                    </a:p>
                  </a:txBody>
                  <a:tcPr marL="45720" marR="45720" marT="18288" marB="18288" anchor="ctr">
                    <a:solidFill>
                      <a:srgbClr val="F6F8F6"/>
                    </a:solidFill>
                  </a:tcPr>
                </a:tc>
              </a:tr>
              <a:tr h="292608">
                <a:tc>
                  <a:txBody>
                    <a:bodyPr wrap="square"/>
                    <a:lstStyle/>
                    <a:p>
                      <a:pPr algn="l"/>
                      <a:r>
                        <a:rPr sz="700" b="0">
                          <a:solidFill>
                            <a:srgbClr val="141414"/>
                          </a:solidFill>
                          <a:latin typeface="Plus Jakarta Sans"/>
                        </a:rPr>
                        <a:t>PSEN-2223</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FFFFF"/>
                    </a:solidFill>
                  </a:tcPr>
                </a:tc>
                <a:tc>
                  <a:txBody>
                    <a:bodyPr wrap="square"/>
                    <a:lstStyle/>
                    <a:p>
                      <a:pPr algn="r"/>
                      <a:r>
                        <a:rPr sz="700" b="0">
                          <a:solidFill>
                            <a:srgbClr val="141414"/>
                          </a:solidFill>
                          <a:latin typeface="Plus Jakarta Sans"/>
                        </a:rPr>
                        <a:t>–</a:t>
                      </a:r>
                    </a:p>
                  </a:txBody>
                  <a:tcPr marL="45720" marR="45720" marT="18288" marB="18288" anchor="ctr">
                    <a:solidFill>
                      <a:srgbClr val="FFFFFF"/>
                    </a:solidFill>
                  </a:tcPr>
                </a:tc>
                <a:tc>
                  <a:txBody>
                    <a:bodyPr wrap="square"/>
                    <a:lstStyle/>
                    <a:p>
                      <a:pPr algn="l"/>
                      <a:r>
                        <a:rPr sz="700" b="0">
                          <a:solidFill>
                            <a:srgbClr val="141414"/>
                          </a:solidFill>
                          <a:latin typeface="Plus Jakarta Sans"/>
                        </a:rPr>
                        <a:t>–</a:t>
                      </a:r>
                    </a:p>
                  </a:txBody>
                  <a:tcPr marL="45720" marR="45720" marT="18288" marB="18288" anchor="ctr">
                    <a:solidFill>
                      <a:srgbClr val="FFFFFF"/>
                    </a:solidFill>
                  </a:tcPr>
                </a:tc>
                <a:tc>
                  <a:txBody>
                    <a:bodyPr wrap="square"/>
                    <a:lstStyle/>
                    <a:p>
                      <a:pPr algn="l"/>
                      <a:r>
                        <a:rPr sz="700" b="0">
                          <a:solidFill>
                            <a:srgbClr val="141414"/>
                          </a:solidFill>
                          <a:latin typeface="Plus Jakarta Sans"/>
                        </a:rPr>
                        <a:t>Prospect, no value logged</a:t>
                      </a:r>
                    </a:p>
                  </a:txBody>
                  <a:tcPr marL="45720" marR="45720" marT="18288" marB="18288" anchor="ctr">
                    <a:solidFill>
                      <a:srgbClr val="FFFFFF"/>
                    </a:solidFill>
                  </a:tcPr>
                </a:tc>
              </a:tr>
            </a:tbl>
          </a:graphicData>
        </a:graphic>
      </p:graphicFrame>
      <p:sp>
        <p:nvSpPr>
          <p:cNvPr id="8" name="Rounded Rectangle 7"/>
          <p:cNvSpPr/>
          <p:nvPr/>
        </p:nvSpPr>
        <p:spPr>
          <a:xfrm>
            <a:off x="5394960" y="987552"/>
            <a:ext cx="3291840" cy="2560320"/>
          </a:xfrm>
          <a:prstGeom prst="roundRect">
            <a:avLst>
              <a:gd name="adj" fmla="val 2142"/>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522976" y="1078992"/>
            <a:ext cx="3035808" cy="201168"/>
          </a:xfrm>
          <a:prstGeom prst="rect">
            <a:avLst/>
          </a:prstGeom>
          <a:noFill/>
        </p:spPr>
        <p:txBody>
          <a:bodyPr wrap="square" anchor="t" lIns="0" rIns="0" tIns="0" bIns="0">
            <a:spAutoFit/>
          </a:bodyPr>
          <a:lstStyle/>
          <a:p>
            <a:pPr algn="l"/>
            <a:r>
              <a:rPr sz="1000" b="1">
                <a:solidFill>
                  <a:srgbClr val="141414"/>
                </a:solidFill>
                <a:latin typeface="Plus Jakarta Sans"/>
              </a:rPr>
              <a:t>In sales, not in the CRM (8)</a:t>
            </a:r>
          </a:p>
        </p:txBody>
      </p:sp>
      <p:sp>
        <p:nvSpPr>
          <p:cNvPr id="10" name="TextBox 9"/>
          <p:cNvSpPr txBox="1"/>
          <p:nvPr/>
        </p:nvSpPr>
        <p:spPr>
          <a:xfrm>
            <a:off x="5522976" y="1271016"/>
            <a:ext cx="3035808" cy="182880"/>
          </a:xfrm>
          <a:prstGeom prst="rect">
            <a:avLst/>
          </a:prstGeom>
          <a:noFill/>
        </p:spPr>
        <p:txBody>
          <a:bodyPr wrap="square" anchor="t" lIns="0" rIns="0" tIns="0" bIns="0">
            <a:spAutoFit/>
          </a:bodyPr>
          <a:lstStyle/>
          <a:p>
            <a:pPr algn="l"/>
            <a:r>
              <a:rPr sz="750" b="0">
                <a:solidFill>
                  <a:srgbClr val="5C665C"/>
                </a:solidFill>
                <a:latin typeface="Plus Jakarta Sans"/>
              </a:rPr>
              <a:t>Sales recorded; no CRM engagement logged</a:t>
            </a:r>
          </a:p>
        </p:txBody>
      </p:sp>
      <p:graphicFrame>
        <p:nvGraphicFramePr>
          <p:cNvPr id="11" name="Table 10"/>
          <p:cNvGraphicFramePr>
            <a:graphicFrameLocks noGrp="1"/>
          </p:cNvGraphicFramePr>
          <p:nvPr/>
        </p:nvGraphicFramePr>
        <p:xfrm>
          <a:off x="5522976" y="1499616"/>
          <a:ext cx="3035806" cy="1975104"/>
        </p:xfrm>
        <a:graphic>
          <a:graphicData uri="http://schemas.openxmlformats.org/drawingml/2006/table">
            <a:tbl>
              <a:tblPr firstRow="1" bandRow="1">
                <a:tableStyleId>{5C22544A-7EE6-4342-B048-85BDC9FD1C3A}</a:tableStyleId>
              </a:tblPr>
              <a:tblGrid>
                <a:gridCol w="840685"/>
                <a:gridCol w="653866"/>
                <a:gridCol w="980799"/>
                <a:gridCol w="560456"/>
              </a:tblGrid>
              <a:tr h="219456">
                <a:tc>
                  <a:txBody>
                    <a:bodyPr wrap="square"/>
                    <a:lstStyle/>
                    <a:p>
                      <a:pPr algn="l"/>
                      <a:r>
                        <a:rPr sz="700" b="1">
                          <a:solidFill>
                            <a:srgbClr val="FFFFFF"/>
                          </a:solidFill>
                          <a:latin typeface="Plus Jakarta Sans"/>
                        </a:rPr>
                        <a:t>Order</a:t>
                      </a:r>
                    </a:p>
                  </a:txBody>
                  <a:tcPr marL="45720" marR="45720" marT="18288" marB="18288" anchor="ctr">
                    <a:solidFill>
                      <a:srgbClr val="007200"/>
                    </a:solidFill>
                  </a:tcPr>
                </a:tc>
                <a:tc>
                  <a:txBody>
                    <a:bodyPr wrap="square"/>
                    <a:lstStyle/>
                    <a:p>
                      <a:pPr algn="l"/>
                      <a:r>
                        <a:rPr sz="700" b="1">
                          <a:solidFill>
                            <a:srgbClr val="FFFFFF"/>
                          </a:solidFill>
                          <a:latin typeface="Plus Jakarta Sans"/>
                        </a:rPr>
                        <a:t>PIC</a:t>
                      </a:r>
                    </a:p>
                  </a:txBody>
                  <a:tcPr marL="45720" marR="45720" marT="18288" marB="18288" anchor="ctr">
                    <a:solidFill>
                      <a:srgbClr val="007200"/>
                    </a:solidFill>
                  </a:tcPr>
                </a:tc>
                <a:tc>
                  <a:txBody>
                    <a:bodyPr wrap="square"/>
                    <a:lstStyle/>
                    <a:p>
                      <a:pPr algn="l"/>
                      <a:r>
                        <a:rPr sz="700" b="1">
                          <a:solidFill>
                            <a:srgbClr val="FFFFFF"/>
                          </a:solidFill>
                          <a:latin typeface="Plus Jakarta Sans"/>
                        </a:rPr>
                        <a:t>Product</a:t>
                      </a:r>
                    </a:p>
                  </a:txBody>
                  <a:tcPr marL="45720" marR="45720" marT="18288" marB="18288" anchor="ctr">
                    <a:solidFill>
                      <a:srgbClr val="007200"/>
                    </a:solidFill>
                  </a:tcPr>
                </a:tc>
                <a:tc>
                  <a:txBody>
                    <a:bodyPr wrap="square"/>
                    <a:lstStyle/>
                    <a:p>
                      <a:pPr algn="r"/>
                      <a:r>
                        <a:rPr sz="700" b="1">
                          <a:solidFill>
                            <a:srgbClr val="FFFFFF"/>
                          </a:solidFill>
                          <a:latin typeface="Plus Jakarta Sans"/>
                        </a:rPr>
                        <a:t>Sales</a:t>
                      </a:r>
                    </a:p>
                  </a:txBody>
                  <a:tcPr marL="45720" marR="45720" marT="18288" marB="18288" anchor="ctr">
                    <a:solidFill>
                      <a:srgbClr val="007200"/>
                    </a:solidFill>
                  </a:tcPr>
                </a:tc>
              </a:tr>
              <a:tr h="219456">
                <a:tc>
                  <a:txBody>
                    <a:bodyPr wrap="square"/>
                    <a:lstStyle/>
                    <a:p>
                      <a:pPr algn="l"/>
                      <a:r>
                        <a:rPr sz="700" b="0">
                          <a:solidFill>
                            <a:srgbClr val="141414"/>
                          </a:solidFill>
                          <a:latin typeface="Plus Jakarta Sans"/>
                        </a:rPr>
                        <a:t>#B2C26771</a:t>
                      </a:r>
                    </a:p>
                  </a:txBody>
                  <a:tcPr marL="45720" marR="45720" marT="18288" marB="18288" anchor="ctr">
                    <a:solidFill>
                      <a:srgbClr val="FFFFFF"/>
                    </a:solidFill>
                  </a:tcPr>
                </a:tc>
                <a:tc>
                  <a:txBody>
                    <a:bodyPr wrap="square"/>
                    <a:lstStyle/>
                    <a:p>
                      <a:pPr algn="l"/>
                      <a:r>
                        <a:rPr sz="700" b="0">
                          <a:solidFill>
                            <a:srgbClr val="141414"/>
                          </a:solidFill>
                          <a:latin typeface="Plus Jakarta Sans"/>
                        </a:rPr>
                        <a:t>Eko</a:t>
                      </a:r>
                    </a:p>
                  </a:txBody>
                  <a:tcPr marL="45720" marR="45720" marT="18288" marB="18288" anchor="ctr">
                    <a:solidFill>
                      <a:srgbClr val="FFFFFF"/>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FFFFF"/>
                    </a:solidFill>
                  </a:tcPr>
                </a:tc>
                <a:tc>
                  <a:txBody>
                    <a:bodyPr wrap="square"/>
                    <a:lstStyle/>
                    <a:p>
                      <a:pPr algn="r"/>
                      <a:r>
                        <a:rPr sz="700" b="0">
                          <a:solidFill>
                            <a:srgbClr val="141414"/>
                          </a:solidFill>
                          <a:latin typeface="Plus Jakarta Sans"/>
                        </a:rPr>
                        <a:t>Rp47.5M</a:t>
                      </a:r>
                    </a:p>
                  </a:txBody>
                  <a:tcPr marL="45720" marR="45720" marT="18288" marB="18288" anchor="ctr">
                    <a:solidFill>
                      <a:srgbClr val="FFFFFF"/>
                    </a:solidFill>
                  </a:tcPr>
                </a:tc>
              </a:tr>
              <a:tr h="219456">
                <a:tc>
                  <a:txBody>
                    <a:bodyPr wrap="square"/>
                    <a:lstStyle/>
                    <a:p>
                      <a:pPr algn="l"/>
                      <a:r>
                        <a:rPr sz="700" b="0">
                          <a:solidFill>
                            <a:srgbClr val="141414"/>
                          </a:solidFill>
                          <a:latin typeface="Plus Jakarta Sans"/>
                        </a:rPr>
                        <a:t>#B2C26772</a:t>
                      </a:r>
                    </a:p>
                  </a:txBody>
                  <a:tcPr marL="45720" marR="45720" marT="18288" marB="18288" anchor="ctr">
                    <a:solidFill>
                      <a:srgbClr val="F6F8F6"/>
                    </a:solidFill>
                  </a:tcPr>
                </a:tc>
                <a:tc>
                  <a:txBody>
                    <a:bodyPr wrap="square"/>
                    <a:lstStyle/>
                    <a:p>
                      <a:pPr algn="l"/>
                      <a:r>
                        <a:rPr sz="700" b="0">
                          <a:solidFill>
                            <a:srgbClr val="141414"/>
                          </a:solidFill>
                          <a:latin typeface="Plus Jakarta Sans"/>
                        </a:rPr>
                        <a:t>Eko</a:t>
                      </a:r>
                    </a:p>
                  </a:txBody>
                  <a:tcPr marL="45720" marR="45720" marT="18288" marB="18288" anchor="ctr">
                    <a:solidFill>
                      <a:srgbClr val="F6F8F6"/>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Rp47.5M</a:t>
                      </a:r>
                    </a:p>
                  </a:txBody>
                  <a:tcPr marL="45720" marR="45720" marT="18288" marB="18288" anchor="ctr">
                    <a:solidFill>
                      <a:srgbClr val="F6F8F6"/>
                    </a:solidFill>
                  </a:tcPr>
                </a:tc>
              </a:tr>
              <a:tr h="219456">
                <a:tc>
                  <a:txBody>
                    <a:bodyPr wrap="square"/>
                    <a:lstStyle/>
                    <a:p>
                      <a:pPr algn="l"/>
                      <a:r>
                        <a:rPr sz="700" b="0">
                          <a:solidFill>
                            <a:srgbClr val="141414"/>
                          </a:solidFill>
                          <a:latin typeface="Plus Jakarta Sans"/>
                        </a:rPr>
                        <a:t>#B2C26875</a:t>
                      </a:r>
                    </a:p>
                  </a:txBody>
                  <a:tcPr marL="45720" marR="45720" marT="18288" marB="18288" anchor="ctr">
                    <a:solidFill>
                      <a:srgbClr val="FFFFFF"/>
                    </a:solidFill>
                  </a:tcPr>
                </a:tc>
                <a:tc>
                  <a:txBody>
                    <a:bodyPr wrap="square"/>
                    <a:lstStyle/>
                    <a:p>
                      <a:pPr algn="l"/>
                      <a:r>
                        <a:rPr sz="700" b="0">
                          <a:solidFill>
                            <a:srgbClr val="141414"/>
                          </a:solidFill>
                          <a:latin typeface="Plus Jakarta Sans"/>
                        </a:rPr>
                        <a:t>Khoirul</a:t>
                      </a:r>
                    </a:p>
                  </a:txBody>
                  <a:tcPr marL="45720" marR="45720" marT="18288" marB="18288" anchor="ctr">
                    <a:solidFill>
                      <a:srgbClr val="FFFFFF"/>
                    </a:solidFill>
                  </a:tcPr>
                </a:tc>
                <a:tc>
                  <a:txBody>
                    <a:bodyPr wrap="square"/>
                    <a:lstStyle/>
                    <a:p>
                      <a:pPr algn="l"/>
                      <a:r>
                        <a:rPr sz="700" b="0">
                          <a:solidFill>
                            <a:srgbClr val="141414"/>
                          </a:solidFill>
                          <a:latin typeface="Plus Jakarta Sans"/>
                        </a:rPr>
                        <a:t>Field mapping</a:t>
                      </a:r>
                    </a:p>
                  </a:txBody>
                  <a:tcPr marL="45720" marR="45720" marT="18288" marB="18288" anchor="ctr">
                    <a:solidFill>
                      <a:srgbClr val="FFFFFF"/>
                    </a:solidFill>
                  </a:tcPr>
                </a:tc>
                <a:tc>
                  <a:txBody>
                    <a:bodyPr wrap="square"/>
                    <a:lstStyle/>
                    <a:p>
                      <a:pPr algn="r"/>
                      <a:r>
                        <a:rPr sz="700" b="0">
                          <a:solidFill>
                            <a:srgbClr val="141414"/>
                          </a:solidFill>
                          <a:latin typeface="Plus Jakarta Sans"/>
                        </a:rPr>
                        <a:t>Rp12M</a:t>
                      </a:r>
                    </a:p>
                  </a:txBody>
                  <a:tcPr marL="45720" marR="45720" marT="18288" marB="18288" anchor="ctr">
                    <a:solidFill>
                      <a:srgbClr val="FFFFFF"/>
                    </a:solidFill>
                  </a:tcPr>
                </a:tc>
              </a:tr>
              <a:tr h="219456">
                <a:tc>
                  <a:txBody>
                    <a:bodyPr wrap="square"/>
                    <a:lstStyle/>
                    <a:p>
                      <a:pPr algn="l"/>
                      <a:r>
                        <a:rPr sz="700" b="0">
                          <a:solidFill>
                            <a:srgbClr val="141414"/>
                          </a:solidFill>
                          <a:latin typeface="Plus Jakarta Sans"/>
                        </a:rPr>
                        <a:t>#B2C26736</a:t>
                      </a:r>
                    </a:p>
                  </a:txBody>
                  <a:tcPr marL="45720" marR="45720" marT="18288" marB="18288" anchor="ctr">
                    <a:solidFill>
                      <a:srgbClr val="F6F8F6"/>
                    </a:solidFill>
                  </a:tcPr>
                </a:tc>
                <a:tc>
                  <a:txBody>
                    <a:bodyPr wrap="square"/>
                    <a:lstStyle/>
                    <a:p>
                      <a:pPr algn="l"/>
                      <a:r>
                        <a:rPr sz="700" b="0">
                          <a:solidFill>
                            <a:srgbClr val="141414"/>
                          </a:solidFill>
                          <a:latin typeface="Plus Jakarta Sans"/>
                        </a:rPr>
                        <a:t>Devi</a:t>
                      </a:r>
                    </a:p>
                  </a:txBody>
                  <a:tcPr marL="45720" marR="45720" marT="18288" marB="18288" anchor="ctr">
                    <a:solidFill>
                      <a:srgbClr val="F6F8F6"/>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Rp9.5M</a:t>
                      </a:r>
                    </a:p>
                  </a:txBody>
                  <a:tcPr marL="45720" marR="45720" marT="18288" marB="18288" anchor="ctr">
                    <a:solidFill>
                      <a:srgbClr val="F6F8F6"/>
                    </a:solidFill>
                  </a:tcPr>
                </a:tc>
              </a:tr>
              <a:tr h="219456">
                <a:tc>
                  <a:txBody>
                    <a:bodyPr wrap="square"/>
                    <a:lstStyle/>
                    <a:p>
                      <a:pPr algn="l"/>
                      <a:r>
                        <a:rPr sz="700" b="0">
                          <a:solidFill>
                            <a:srgbClr val="141414"/>
                          </a:solidFill>
                          <a:latin typeface="Plus Jakarta Sans"/>
                        </a:rPr>
                        <a:t>#B2C26886</a:t>
                      </a:r>
                    </a:p>
                  </a:txBody>
                  <a:tcPr marL="45720" marR="45720" marT="18288" marB="18288" anchor="ctr">
                    <a:solidFill>
                      <a:srgbClr val="FFFFFF"/>
                    </a:solidFill>
                  </a:tcPr>
                </a:tc>
                <a:tc>
                  <a:txBody>
                    <a:bodyPr wrap="square"/>
                    <a:lstStyle/>
                    <a:p>
                      <a:pPr algn="l"/>
                      <a:r>
                        <a:rPr sz="700" b="0">
                          <a:solidFill>
                            <a:srgbClr val="141414"/>
                          </a:solidFill>
                          <a:latin typeface="Plus Jakarta Sans"/>
                        </a:rPr>
                        <a:t>Emima</a:t>
                      </a:r>
                    </a:p>
                  </a:txBody>
                  <a:tcPr marL="45720" marR="45720" marT="18288" marB="18288" anchor="ctr">
                    <a:solidFill>
                      <a:srgbClr val="FFFFFF"/>
                    </a:solidFill>
                  </a:tcPr>
                </a:tc>
                <a:tc>
                  <a:txBody>
                    <a:bodyPr wrap="square"/>
                    <a:lstStyle/>
                    <a:p>
                      <a:pPr algn="l"/>
                      <a:r>
                        <a:rPr sz="700" b="0">
                          <a:solidFill>
                            <a:srgbClr val="141414"/>
                          </a:solidFill>
                          <a:latin typeface="Plus Jakarta Sans"/>
                        </a:rPr>
                        <a:t>Field mapping</a:t>
                      </a:r>
                    </a:p>
                  </a:txBody>
                  <a:tcPr marL="45720" marR="45720" marT="18288" marB="18288" anchor="ctr">
                    <a:solidFill>
                      <a:srgbClr val="FFFFFF"/>
                    </a:solidFill>
                  </a:tcPr>
                </a:tc>
                <a:tc>
                  <a:txBody>
                    <a:bodyPr wrap="square"/>
                    <a:lstStyle/>
                    <a:p>
                      <a:pPr algn="r"/>
                      <a:r>
                        <a:rPr sz="700" b="0">
                          <a:solidFill>
                            <a:srgbClr val="141414"/>
                          </a:solidFill>
                          <a:latin typeface="Plus Jakarta Sans"/>
                        </a:rPr>
                        <a:t>Rp6M</a:t>
                      </a:r>
                    </a:p>
                  </a:txBody>
                  <a:tcPr marL="45720" marR="45720" marT="18288" marB="18288" anchor="ctr">
                    <a:solidFill>
                      <a:srgbClr val="FFFFFF"/>
                    </a:solidFill>
                  </a:tcPr>
                </a:tc>
              </a:tr>
              <a:tr h="219456">
                <a:tc>
                  <a:txBody>
                    <a:bodyPr wrap="square"/>
                    <a:lstStyle/>
                    <a:p>
                      <a:pPr algn="l"/>
                      <a:r>
                        <a:rPr sz="700" b="0">
                          <a:solidFill>
                            <a:srgbClr val="141414"/>
                          </a:solidFill>
                          <a:latin typeface="Plus Jakarta Sans"/>
                        </a:rPr>
                        <a:t>#B2C26873</a:t>
                      </a:r>
                    </a:p>
                  </a:txBody>
                  <a:tcPr marL="45720" marR="45720" marT="18288" marB="18288" anchor="ctr">
                    <a:solidFill>
                      <a:srgbClr val="F6F8F6"/>
                    </a:solidFill>
                  </a:tcPr>
                </a:tc>
                <a:tc>
                  <a:txBody>
                    <a:bodyPr wrap="square"/>
                    <a:lstStyle/>
                    <a:p>
                      <a:pPr algn="l"/>
                      <a:r>
                        <a:rPr sz="700" b="0">
                          <a:solidFill>
                            <a:srgbClr val="141414"/>
                          </a:solidFill>
                          <a:latin typeface="Plus Jakarta Sans"/>
                        </a:rPr>
                        <a:t>Karliadi</a:t>
                      </a:r>
                    </a:p>
                  </a:txBody>
                  <a:tcPr marL="45720" marR="45720" marT="18288" marB="18288" anchor="ctr">
                    <a:solidFill>
                      <a:srgbClr val="F6F8F6"/>
                    </a:solidFill>
                  </a:tcPr>
                </a:tc>
                <a:tc>
                  <a:txBody>
                    <a:bodyPr wrap="square"/>
                    <a:lstStyle/>
                    <a:p>
                      <a:pPr algn="l"/>
                      <a:r>
                        <a:rPr sz="700" b="0">
                          <a:solidFill>
                            <a:srgbClr val="141414"/>
                          </a:solidFill>
                          <a:latin typeface="Plus Jakarta Sans"/>
                        </a:rPr>
                        <a:t>Topaz seeds</a:t>
                      </a:r>
                    </a:p>
                  </a:txBody>
                  <a:tcPr marL="45720" marR="45720" marT="18288" marB="18288" anchor="ctr">
                    <a:solidFill>
                      <a:srgbClr val="F6F8F6"/>
                    </a:solidFill>
                  </a:tcPr>
                </a:tc>
                <a:tc>
                  <a:txBody>
                    <a:bodyPr wrap="square"/>
                    <a:lstStyle/>
                    <a:p>
                      <a:pPr algn="r"/>
                      <a:r>
                        <a:rPr sz="700" b="0">
                          <a:solidFill>
                            <a:srgbClr val="141414"/>
                          </a:solidFill>
                          <a:latin typeface="Plus Jakarta Sans"/>
                        </a:rPr>
                        <a:t>Rp5.4M</a:t>
                      </a:r>
                    </a:p>
                  </a:txBody>
                  <a:tcPr marL="45720" marR="45720" marT="18288" marB="18288" anchor="ctr">
                    <a:solidFill>
                      <a:srgbClr val="F6F8F6"/>
                    </a:solidFill>
                  </a:tcPr>
                </a:tc>
              </a:tr>
              <a:tr h="219456">
                <a:tc>
                  <a:txBody>
                    <a:bodyPr wrap="square"/>
                    <a:lstStyle/>
                    <a:p>
                      <a:pPr algn="l"/>
                      <a:r>
                        <a:rPr sz="700" b="0">
                          <a:solidFill>
                            <a:srgbClr val="141414"/>
                          </a:solidFill>
                          <a:latin typeface="Plus Jakarta Sans"/>
                        </a:rPr>
                        <a:t>#B2B2583</a:t>
                      </a:r>
                    </a:p>
                  </a:txBody>
                  <a:tcPr marL="45720" marR="45720" marT="18288" marB="18288" anchor="ctr">
                    <a:solidFill>
                      <a:srgbClr val="FFFFFF"/>
                    </a:solidFill>
                  </a:tcPr>
                </a:tc>
                <a:tc>
                  <a:txBody>
                    <a:bodyPr wrap="square"/>
                    <a:lstStyle/>
                    <a:p>
                      <a:pPr algn="l"/>
                      <a:r>
                        <a:rPr sz="700" b="0">
                          <a:solidFill>
                            <a:srgbClr val="141414"/>
                          </a:solidFill>
                          <a:latin typeface="Plus Jakarta Sans"/>
                        </a:rPr>
                        <a:t>Khoirul</a:t>
                      </a:r>
                    </a:p>
                  </a:txBody>
                  <a:tcPr marL="45720" marR="45720" marT="18288" marB="18288" anchor="ctr">
                    <a:solidFill>
                      <a:srgbClr val="FFFFFF"/>
                    </a:solidFill>
                  </a:tcPr>
                </a:tc>
                <a:tc>
                  <a:txBody>
                    <a:bodyPr wrap="square"/>
                    <a:lstStyle/>
                    <a:p>
                      <a:pPr algn="l"/>
                      <a:r>
                        <a:rPr sz="700" b="0">
                          <a:solidFill>
                            <a:srgbClr val="141414"/>
                          </a:solidFill>
                          <a:latin typeface="Plus Jakarta Sans"/>
                        </a:rPr>
                        <a:t>Leaf &amp; soil test</a:t>
                      </a:r>
                    </a:p>
                  </a:txBody>
                  <a:tcPr marL="45720" marR="45720" marT="18288" marB="18288" anchor="ctr">
                    <a:solidFill>
                      <a:srgbClr val="FFFFFF"/>
                    </a:solidFill>
                  </a:tcPr>
                </a:tc>
                <a:tc>
                  <a:txBody>
                    <a:bodyPr wrap="square"/>
                    <a:lstStyle/>
                    <a:p>
                      <a:pPr algn="r"/>
                      <a:r>
                        <a:rPr sz="700" b="0">
                          <a:solidFill>
                            <a:srgbClr val="141414"/>
                          </a:solidFill>
                          <a:latin typeface="Plus Jakarta Sans"/>
                        </a:rPr>
                        <a:t>Rp4.8M</a:t>
                      </a:r>
                    </a:p>
                  </a:txBody>
                  <a:tcPr marL="45720" marR="45720" marT="18288" marB="18288" anchor="ctr">
                    <a:solidFill>
                      <a:srgbClr val="FFFFFF"/>
                    </a:solidFill>
                  </a:tcPr>
                </a:tc>
              </a:tr>
              <a:tr h="219456">
                <a:tc>
                  <a:txBody>
                    <a:bodyPr wrap="square"/>
                    <a:lstStyle/>
                    <a:p>
                      <a:pPr algn="l"/>
                      <a:r>
                        <a:rPr sz="700" b="0">
                          <a:solidFill>
                            <a:srgbClr val="141414"/>
                          </a:solidFill>
                          <a:latin typeface="Plus Jakarta Sans"/>
                        </a:rPr>
                        <a:t>#B2C26729</a:t>
                      </a:r>
                    </a:p>
                  </a:txBody>
                  <a:tcPr marL="45720" marR="45720" marT="18288" marB="18288" anchor="ctr">
                    <a:solidFill>
                      <a:srgbClr val="F6F8F6"/>
                    </a:solidFill>
                  </a:tcPr>
                </a:tc>
                <a:tc>
                  <a:txBody>
                    <a:bodyPr wrap="square"/>
                    <a:lstStyle/>
                    <a:p>
                      <a:pPr algn="l"/>
                      <a:r>
                        <a:rPr sz="700" b="0">
                          <a:solidFill>
                            <a:srgbClr val="141414"/>
                          </a:solidFill>
                          <a:latin typeface="Plus Jakarta Sans"/>
                        </a:rPr>
                        <a:t>Alen</a:t>
                      </a:r>
                    </a:p>
                  </a:txBody>
                  <a:tcPr marL="45720" marR="45720" marT="18288" marB="18288" anchor="ctr">
                    <a:solidFill>
                      <a:srgbClr val="F6F8F6"/>
                    </a:solidFill>
                  </a:tcPr>
                </a:tc>
                <a:tc>
                  <a:txBody>
                    <a:bodyPr wrap="square"/>
                    <a:lstStyle/>
                    <a:p>
                      <a:pPr algn="l"/>
                      <a:r>
                        <a:rPr sz="700" b="0">
                          <a:solidFill>
                            <a:srgbClr val="141414"/>
                          </a:solidFill>
                          <a:latin typeface="Plus Jakarta Sans"/>
                        </a:rPr>
                        <a:t>Leaf &amp; soil test</a:t>
                      </a:r>
                    </a:p>
                  </a:txBody>
                  <a:tcPr marL="45720" marR="45720" marT="18288" marB="18288" anchor="ctr">
                    <a:solidFill>
                      <a:srgbClr val="F6F8F6"/>
                    </a:solidFill>
                  </a:tcPr>
                </a:tc>
                <a:tc>
                  <a:txBody>
                    <a:bodyPr wrap="square"/>
                    <a:lstStyle/>
                    <a:p>
                      <a:pPr algn="r"/>
                      <a:r>
                        <a:rPr sz="700" b="0">
                          <a:solidFill>
                            <a:srgbClr val="141414"/>
                          </a:solidFill>
                          <a:latin typeface="Plus Jakarta Sans"/>
                        </a:rPr>
                        <a:t>Rp1.6M</a:t>
                      </a:r>
                    </a:p>
                  </a:txBody>
                  <a:tcPr marL="45720" marR="45720" marT="18288" marB="18288" anchor="ctr">
                    <a:solidFill>
                      <a:srgbClr val="F6F8F6"/>
                    </a:solidFill>
                  </a:tcPr>
                </a:tc>
              </a:tr>
            </a:tbl>
          </a:graphicData>
        </a:graphic>
      </p:graphicFrame>
      <p:sp>
        <p:nvSpPr>
          <p:cNvPr id="12" name="Rounded Rectangle 11"/>
          <p:cNvSpPr/>
          <p:nvPr/>
        </p:nvSpPr>
        <p:spPr>
          <a:xfrm>
            <a:off x="384048" y="3657600"/>
            <a:ext cx="8302752" cy="914400"/>
          </a:xfrm>
          <a:prstGeom prst="roundRect">
            <a:avLst>
              <a:gd name="adj" fmla="val 6000"/>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3749039"/>
            <a:ext cx="8010144" cy="768096"/>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PSEN-2153 (4 leaf + 4 soil tests, Rp6.4M):</a:t>
            </a:r>
            <a:r>
              <a:rPr sz="850" b="0">
                <a:solidFill>
                  <a:srgbClr val="141414"/>
                </a:solidFill>
                <a:latin typeface="Plus Jakarta Sans"/>
              </a:rPr>
              <a:t> team put on CRM however sales not reflected yet. Enter the order or correct the CRM.</a:t>
            </a:r>
          </a:p>
          <a:p>
            <a:pPr algn="l">
              <a:spcAft>
                <a:spcPts val="300"/>
              </a:spcAft>
            </a:pPr>
            <a:r>
              <a:rPr sz="850" b="1">
                <a:solidFill>
                  <a:srgbClr val="141414"/>
                </a:solidFill>
                <a:latin typeface="Plus Jakarta Sans"/>
              </a:rPr>
              <a:t>The CRM sees 4% of Plantation sales:</a:t>
            </a:r>
            <a:r>
              <a:rPr sz="850" b="0">
                <a:solidFill>
                  <a:srgbClr val="141414"/>
                </a:solidFill>
                <a:latin typeface="Plus Jakarta Sans"/>
              </a:rPr>
              <a:t> Rp134M of Rp140M has no engagement, including Eko Prastyo's Rp95M Topaz buyer. KebunPRO prospects worth Rp32.8M are dated to close by 31 Dec.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All 96 Plantation “rejections” are one template, no potential</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PLANTATION · REJECTION REASONS</a:t>
            </a:r>
          </a:p>
        </p:txBody>
      </p:sp>
      <p:sp>
        <p:nvSpPr>
          <p:cNvPr id="4" name="Rounded Rectangle 3"/>
          <p:cNvSpPr/>
          <p:nvPr/>
        </p:nvSpPr>
        <p:spPr>
          <a:xfrm>
            <a:off x="384048" y="987552"/>
            <a:ext cx="4023360" cy="2606040"/>
          </a:xfrm>
          <a:prstGeom prst="roundRect">
            <a:avLst>
              <a:gd name="adj" fmla="val 2105"/>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1078992"/>
            <a:ext cx="3767328" cy="201168"/>
          </a:xfrm>
          <a:prstGeom prst="rect">
            <a:avLst/>
          </a:prstGeom>
          <a:noFill/>
        </p:spPr>
        <p:txBody>
          <a:bodyPr wrap="square" anchor="t" lIns="0" rIns="0" tIns="0" bIns="0">
            <a:spAutoFit/>
          </a:bodyPr>
          <a:lstStyle/>
          <a:p>
            <a:pPr algn="l"/>
            <a:r>
              <a:rPr sz="1000" b="1">
                <a:solidFill>
                  <a:srgbClr val="141414"/>
                </a:solidFill>
                <a:latin typeface="Plus Jakarta Sans"/>
              </a:rPr>
              <a:t>Every entry is the same</a:t>
            </a:r>
          </a:p>
        </p:txBody>
      </p:sp>
      <p:sp>
        <p:nvSpPr>
          <p:cNvPr id="6" name="TextBox 5"/>
          <p:cNvSpPr txBox="1"/>
          <p:nvPr/>
        </p:nvSpPr>
        <p:spPr>
          <a:xfrm>
            <a:off x="512064" y="1271016"/>
            <a:ext cx="3767328" cy="182880"/>
          </a:xfrm>
          <a:prstGeom prst="rect">
            <a:avLst/>
          </a:prstGeom>
          <a:noFill/>
        </p:spPr>
        <p:txBody>
          <a:bodyPr wrap="square" anchor="t" lIns="0" rIns="0" tIns="0" bIns="0">
            <a:spAutoFit/>
          </a:bodyPr>
          <a:lstStyle/>
          <a:p>
            <a:pPr algn="l"/>
            <a:r>
              <a:rPr sz="750" b="0">
                <a:solidFill>
                  <a:srgbClr val="5C665C"/>
                </a:solidFill>
                <a:latin typeface="Plus Jakarta Sans"/>
              </a:rPr>
              <a:t>96 entries by Naya Huwaidah and Devi Mariana Naibaho</a:t>
            </a:r>
          </a:p>
        </p:txBody>
      </p:sp>
      <p:graphicFrame>
        <p:nvGraphicFramePr>
          <p:cNvPr id="7" name="Table 6"/>
          <p:cNvGraphicFramePr>
            <a:graphicFrameLocks noGrp="1"/>
          </p:cNvGraphicFramePr>
          <p:nvPr/>
        </p:nvGraphicFramePr>
        <p:xfrm>
          <a:off x="512064" y="1499616"/>
          <a:ext cx="3767327" cy="1755648"/>
        </p:xfrm>
        <a:graphic>
          <a:graphicData uri="http://schemas.openxmlformats.org/drawingml/2006/table">
            <a:tbl>
              <a:tblPr firstRow="1" bandRow="1">
                <a:tableStyleId>{5C22544A-7EE6-4342-B048-85BDC9FD1C3A}</a:tableStyleId>
              </a:tblPr>
              <a:tblGrid>
                <a:gridCol w="991402"/>
                <a:gridCol w="1883664"/>
                <a:gridCol w="892261"/>
              </a:tblGrid>
              <a:tr h="292608">
                <a:tc>
                  <a:txBody>
                    <a:bodyPr wrap="square"/>
                    <a:lstStyle/>
                    <a:p>
                      <a:pPr algn="l"/>
                      <a:r>
                        <a:rPr sz="750" b="1">
                          <a:solidFill>
                            <a:srgbClr val="FFFFFF"/>
                          </a:solidFill>
                          <a:latin typeface="Plus Jakarta Sans"/>
                        </a:rPr>
                        <a:t>Field</a:t>
                      </a:r>
                    </a:p>
                  </a:txBody>
                  <a:tcPr marL="45720" marR="45720" marT="18288" marB="18288" anchor="ctr">
                    <a:solidFill>
                      <a:srgbClr val="007200"/>
                    </a:solidFill>
                  </a:tcPr>
                </a:tc>
                <a:tc>
                  <a:txBody>
                    <a:bodyPr wrap="square"/>
                    <a:lstStyle/>
                    <a:p>
                      <a:pPr algn="l"/>
                      <a:r>
                        <a:rPr sz="750" b="1">
                          <a:solidFill>
                            <a:srgbClr val="FFFFFF"/>
                          </a:solidFill>
                          <a:latin typeface="Plus Jakarta Sans"/>
                        </a:rPr>
                        <a:t>Value logged</a:t>
                      </a:r>
                    </a:p>
                  </a:txBody>
                  <a:tcPr marL="45720" marR="45720" marT="18288" marB="18288" anchor="ctr">
                    <a:solidFill>
                      <a:srgbClr val="007200"/>
                    </a:solidFill>
                  </a:tcPr>
                </a:tc>
                <a:tc>
                  <a:txBody>
                    <a:bodyPr wrap="square"/>
                    <a:lstStyle/>
                    <a:p>
                      <a:pPr algn="r"/>
                      <a:r>
                        <a:rPr sz="750" b="1">
                          <a:solidFill>
                            <a:srgbClr val="FFFFFF"/>
                          </a:solidFill>
                          <a:latin typeface="Plus Jakarta Sans"/>
                        </a:rPr>
                        <a:t>Entries</a:t>
                      </a:r>
                    </a:p>
                  </a:txBody>
                  <a:tcPr marL="45720" marR="45720" marT="18288" marB="18288" anchor="ctr">
                    <a:solidFill>
                      <a:srgbClr val="007200"/>
                    </a:solidFill>
                  </a:tcPr>
                </a:tc>
              </a:tr>
              <a:tr h="292608">
                <a:tc>
                  <a:txBody>
                    <a:bodyPr wrap="square"/>
                    <a:lstStyle/>
                    <a:p>
                      <a:pPr algn="l"/>
                      <a:r>
                        <a:rPr sz="750" b="0">
                          <a:solidFill>
                            <a:srgbClr val="141414"/>
                          </a:solidFill>
                          <a:latin typeface="Plus Jakarta Sans"/>
                        </a:rPr>
                        <a:t>Status</a:t>
                      </a:r>
                    </a:p>
                  </a:txBody>
                  <a:tcPr marL="45720" marR="45720" marT="18288" marB="18288" anchor="ctr">
                    <a:solidFill>
                      <a:srgbClr val="FFFFFF"/>
                    </a:solidFill>
                  </a:tcPr>
                </a:tc>
                <a:tc>
                  <a:txBody>
                    <a:bodyPr wrap="square"/>
                    <a:lstStyle/>
                    <a:p>
                      <a:pPr algn="l"/>
                      <a:r>
                        <a:rPr sz="750" b="0">
                          <a:solidFill>
                            <a:srgbClr val="141414"/>
                          </a:solidFill>
                          <a:latin typeface="Plus Jakarta Sans"/>
                        </a:rPr>
                        <a:t>Not interested</a:t>
                      </a:r>
                    </a:p>
                  </a:txBody>
                  <a:tcPr marL="45720" marR="45720" marT="18288" marB="18288" anchor="ctr">
                    <a:solidFill>
                      <a:srgbClr val="FFFFFF"/>
                    </a:solidFill>
                  </a:tcPr>
                </a:tc>
                <a:tc>
                  <a:txBody>
                    <a:bodyPr wrap="square"/>
                    <a:lstStyle/>
                    <a:p>
                      <a:pPr algn="r"/>
                      <a:r>
                        <a:rPr sz="750" b="0">
                          <a:solidFill>
                            <a:srgbClr val="141414"/>
                          </a:solidFill>
                          <a:latin typeface="Plus Jakarta Sans"/>
                        </a:rPr>
                        <a:t>96 of 96</a:t>
                      </a:r>
                    </a:p>
                  </a:txBody>
                  <a:tcPr marL="45720" marR="45720" marT="18288" marB="18288" anchor="ctr">
                    <a:solidFill>
                      <a:srgbClr val="FFFFFF"/>
                    </a:solidFill>
                  </a:tcPr>
                </a:tc>
              </a:tr>
              <a:tr h="292608">
                <a:tc>
                  <a:txBody>
                    <a:bodyPr wrap="square"/>
                    <a:lstStyle/>
                    <a:p>
                      <a:pPr algn="l"/>
                      <a:r>
                        <a:rPr sz="750" b="0">
                          <a:solidFill>
                            <a:srgbClr val="141414"/>
                          </a:solidFill>
                          <a:latin typeface="Plus Jakarta Sans"/>
                        </a:rPr>
                        <a:t>Reason</a:t>
                      </a:r>
                    </a:p>
                  </a:txBody>
                  <a:tcPr marL="45720" marR="45720" marT="18288" marB="18288" anchor="ctr">
                    <a:solidFill>
                      <a:srgbClr val="F6F8F6"/>
                    </a:solidFill>
                  </a:tcPr>
                </a:tc>
                <a:tc>
                  <a:txBody>
                    <a:bodyPr wrap="square"/>
                    <a:lstStyle/>
                    <a:p>
                      <a:pPr algn="l"/>
                      <a:r>
                        <a:rPr sz="750" b="0">
                          <a:solidFill>
                            <a:srgbClr val="141414"/>
                          </a:solidFill>
                          <a:latin typeface="Plus Jakarta Sans"/>
                        </a:rPr>
                        <a:t>No clear interest yet</a:t>
                      </a:r>
                    </a:p>
                  </a:txBody>
                  <a:tcPr marL="45720" marR="45720" marT="18288" marB="18288" anchor="ctr">
                    <a:solidFill>
                      <a:srgbClr val="F6F8F6"/>
                    </a:solidFill>
                  </a:tcPr>
                </a:tc>
                <a:tc>
                  <a:txBody>
                    <a:bodyPr wrap="square"/>
                    <a:lstStyle/>
                    <a:p>
                      <a:pPr algn="r"/>
                      <a:r>
                        <a:rPr sz="750" b="0">
                          <a:solidFill>
                            <a:srgbClr val="141414"/>
                          </a:solidFill>
                          <a:latin typeface="Plus Jakarta Sans"/>
                        </a:rPr>
                        <a:t>96 of 96</a:t>
                      </a:r>
                    </a:p>
                  </a:txBody>
                  <a:tcPr marL="45720" marR="45720" marT="18288" marB="18288" anchor="ctr">
                    <a:solidFill>
                      <a:srgbClr val="F6F8F6"/>
                    </a:solidFill>
                  </a:tcPr>
                </a:tc>
              </a:tr>
              <a:tr h="292608">
                <a:tc>
                  <a:txBody>
                    <a:bodyPr wrap="square"/>
                    <a:lstStyle/>
                    <a:p>
                      <a:pPr algn="l"/>
                      <a:r>
                        <a:rPr sz="750" b="0">
                          <a:solidFill>
                            <a:srgbClr val="141414"/>
                          </a:solidFill>
                          <a:latin typeface="Plus Jakarta Sans"/>
                        </a:rPr>
                        <a:t>Location</a:t>
                      </a:r>
                    </a:p>
                  </a:txBody>
                  <a:tcPr marL="45720" marR="45720" marT="18288" marB="18288" anchor="ctr">
                    <a:solidFill>
                      <a:srgbClr val="FFFFFF"/>
                    </a:solidFill>
                  </a:tcPr>
                </a:tc>
                <a:tc>
                  <a:txBody>
                    <a:bodyPr wrap="square"/>
                    <a:lstStyle/>
                    <a:p>
                      <a:pPr algn="l"/>
                      <a:r>
                        <a:rPr sz="750" b="0">
                          <a:solidFill>
                            <a:srgbClr val="141414"/>
                          </a:solidFill>
                          <a:latin typeface="Plus Jakarta Sans"/>
                        </a:rPr>
                        <a:t>Pekanbaru – Payung Sekaki</a:t>
                      </a:r>
                    </a:p>
                  </a:txBody>
                  <a:tcPr marL="45720" marR="45720" marT="18288" marB="18288" anchor="ctr">
                    <a:solidFill>
                      <a:srgbClr val="FFFFFF"/>
                    </a:solidFill>
                  </a:tcPr>
                </a:tc>
                <a:tc>
                  <a:txBody>
                    <a:bodyPr wrap="square"/>
                    <a:lstStyle/>
                    <a:p>
                      <a:pPr algn="r"/>
                      <a:r>
                        <a:rPr sz="750" b="0">
                          <a:solidFill>
                            <a:srgbClr val="141414"/>
                          </a:solidFill>
                          <a:latin typeface="Plus Jakarta Sans"/>
                        </a:rPr>
                        <a:t>96 of 96</a:t>
                      </a:r>
                    </a:p>
                  </a:txBody>
                  <a:tcPr marL="45720" marR="45720" marT="18288" marB="18288" anchor="ctr">
                    <a:solidFill>
                      <a:srgbClr val="FFFFFF"/>
                    </a:solidFill>
                  </a:tcPr>
                </a:tc>
              </a:tr>
              <a:tr h="292608">
                <a:tc>
                  <a:txBody>
                    <a:bodyPr wrap="square"/>
                    <a:lstStyle/>
                    <a:p>
                      <a:pPr algn="l"/>
                      <a:r>
                        <a:rPr sz="750" b="0">
                          <a:solidFill>
                            <a:srgbClr val="141414"/>
                          </a:solidFill>
                          <a:latin typeface="Plus Jakarta Sans"/>
                        </a:rPr>
                        <a:t>Notes</a:t>
                      </a:r>
                    </a:p>
                  </a:txBody>
                  <a:tcPr marL="45720" marR="45720" marT="18288" marB="18288" anchor="ctr">
                    <a:solidFill>
                      <a:srgbClr val="F6F8F6"/>
                    </a:solidFill>
                  </a:tcPr>
                </a:tc>
                <a:tc>
                  <a:txBody>
                    <a:bodyPr wrap="square"/>
                    <a:lstStyle/>
                    <a:p>
                      <a:pPr algn="l"/>
                      <a:r>
                        <a:rPr sz="750" b="0">
                          <a:solidFill>
                            <a:srgbClr val="141414"/>
                          </a:solidFill>
                          <a:latin typeface="Plus Jakarta Sans"/>
                        </a:rPr>
                        <a:t>Empty</a:t>
                      </a:r>
                    </a:p>
                  </a:txBody>
                  <a:tcPr marL="45720" marR="45720" marT="18288" marB="18288" anchor="ctr">
                    <a:solidFill>
                      <a:srgbClr val="F6F8F6"/>
                    </a:solidFill>
                  </a:tcPr>
                </a:tc>
                <a:tc>
                  <a:txBody>
                    <a:bodyPr wrap="square"/>
                    <a:lstStyle/>
                    <a:p>
                      <a:pPr algn="r"/>
                      <a:r>
                        <a:rPr sz="750" b="0">
                          <a:solidFill>
                            <a:srgbClr val="141414"/>
                          </a:solidFill>
                          <a:latin typeface="Plus Jakarta Sans"/>
                        </a:rPr>
                        <a:t>96 of 96</a:t>
                      </a:r>
                    </a:p>
                  </a:txBody>
                  <a:tcPr marL="45720" marR="45720" marT="18288" marB="18288" anchor="ctr">
                    <a:solidFill>
                      <a:srgbClr val="F6F8F6"/>
                    </a:solidFill>
                  </a:tcPr>
                </a:tc>
              </a:tr>
              <a:tr h="292608">
                <a:tc>
                  <a:txBody>
                    <a:bodyPr wrap="square"/>
                    <a:lstStyle/>
                    <a:p>
                      <a:pPr algn="l"/>
                      <a:r>
                        <a:rPr sz="750" b="0">
                          <a:solidFill>
                            <a:srgbClr val="141414"/>
                          </a:solidFill>
                          <a:latin typeface="Plus Jakarta Sans"/>
                        </a:rPr>
                        <a:t>Potential sales</a:t>
                      </a:r>
                    </a:p>
                  </a:txBody>
                  <a:tcPr marL="45720" marR="45720" marT="18288" marB="18288" anchor="ctr">
                    <a:solidFill>
                      <a:srgbClr val="FFFFFF"/>
                    </a:solidFill>
                  </a:tcPr>
                </a:tc>
                <a:tc>
                  <a:txBody>
                    <a:bodyPr wrap="square"/>
                    <a:lstStyle/>
                    <a:p>
                      <a:pPr algn="l"/>
                      <a:r>
                        <a:rPr sz="750" b="0">
                          <a:solidFill>
                            <a:srgbClr val="141414"/>
                          </a:solidFill>
                          <a:latin typeface="Plus Jakarta Sans"/>
                        </a:rPr>
                        <a:t>Empty or Rp0</a:t>
                      </a:r>
                    </a:p>
                  </a:txBody>
                  <a:tcPr marL="45720" marR="45720" marT="18288" marB="18288" anchor="ctr">
                    <a:solidFill>
                      <a:srgbClr val="FFFFFF"/>
                    </a:solidFill>
                  </a:tcPr>
                </a:tc>
                <a:tc>
                  <a:txBody>
                    <a:bodyPr wrap="square"/>
                    <a:lstStyle/>
                    <a:p>
                      <a:pPr algn="r"/>
                      <a:r>
                        <a:rPr sz="750" b="0">
                          <a:solidFill>
                            <a:srgbClr val="141414"/>
                          </a:solidFill>
                          <a:latin typeface="Plus Jakarta Sans"/>
                        </a:rPr>
                        <a:t>96 of 96</a:t>
                      </a:r>
                    </a:p>
                  </a:txBody>
                  <a:tcPr marL="45720" marR="45720" marT="18288" marB="18288" anchor="ctr">
                    <a:solidFill>
                      <a:srgbClr val="FFFFFF"/>
                    </a:solidFill>
                  </a:tcPr>
                </a:tc>
              </a:tr>
            </a:tbl>
          </a:graphicData>
        </a:graphic>
      </p:graphicFrame>
      <p:sp>
        <p:nvSpPr>
          <p:cNvPr id="8" name="Rounded Rectangle 7"/>
          <p:cNvSpPr/>
          <p:nvPr/>
        </p:nvSpPr>
        <p:spPr>
          <a:xfrm>
            <a:off x="4526280" y="987552"/>
            <a:ext cx="4160520" cy="2606040"/>
          </a:xfrm>
          <a:prstGeom prst="roundRect">
            <a:avLst>
              <a:gd name="adj" fmla="val 2105"/>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078992"/>
            <a:ext cx="3904487" cy="201168"/>
          </a:xfrm>
          <a:prstGeom prst="rect">
            <a:avLst/>
          </a:prstGeom>
          <a:noFill/>
        </p:spPr>
        <p:txBody>
          <a:bodyPr wrap="square" anchor="t" lIns="0" rIns="0" tIns="0" bIns="0">
            <a:spAutoFit/>
          </a:bodyPr>
          <a:lstStyle/>
          <a:p>
            <a:pPr algn="l"/>
            <a:r>
              <a:rPr sz="1000" b="1">
                <a:solidFill>
                  <a:srgbClr val="141414"/>
                </a:solidFill>
                <a:latin typeface="Plus Jakarta Sans"/>
              </a:rPr>
              <a:t>Who logged them, and for what</a:t>
            </a:r>
          </a:p>
        </p:txBody>
      </p:sp>
      <p:sp>
        <p:nvSpPr>
          <p:cNvPr id="10" name="TextBox 9"/>
          <p:cNvSpPr txBox="1"/>
          <p:nvPr/>
        </p:nvSpPr>
        <p:spPr>
          <a:xfrm>
            <a:off x="4654296" y="1271016"/>
            <a:ext cx="3904487" cy="182880"/>
          </a:xfrm>
          <a:prstGeom prst="rect">
            <a:avLst/>
          </a:prstGeom>
          <a:noFill/>
        </p:spPr>
        <p:txBody>
          <a:bodyPr wrap="square" anchor="t" lIns="0" rIns="0" tIns="0" bIns="0">
            <a:spAutoFit/>
          </a:bodyPr>
          <a:lstStyle/>
          <a:p>
            <a:pPr algn="l"/>
            <a:r>
              <a:rPr sz="750" b="0">
                <a:solidFill>
                  <a:srgbClr val="5C665C"/>
                </a:solidFill>
                <a:latin typeface="Plus Jakarta Sans"/>
              </a:rPr>
              <a:t>Entries by PIC and lead source; product offered</a:t>
            </a:r>
          </a:p>
        </p:txBody>
      </p:sp>
      <p:sp>
        <p:nvSpPr>
          <p:cNvPr id="11" name="TextBox 10"/>
          <p:cNvSpPr txBox="1"/>
          <p:nvPr/>
        </p:nvSpPr>
        <p:spPr>
          <a:xfrm>
            <a:off x="4654296" y="1499616"/>
            <a:ext cx="2304288" cy="274320"/>
          </a:xfrm>
          <a:prstGeom prst="rect">
            <a:avLst/>
          </a:prstGeom>
          <a:noFill/>
        </p:spPr>
        <p:txBody>
          <a:bodyPr wrap="square" anchor="ctr" lIns="0" rIns="0" tIns="0" bIns="0">
            <a:spAutoFit/>
          </a:bodyPr>
          <a:lstStyle/>
          <a:p>
            <a:pPr algn="l"/>
            <a:r>
              <a:rPr sz="800" b="0">
                <a:solidFill>
                  <a:srgbClr val="141414"/>
                </a:solidFill>
                <a:latin typeface="Plus Jakarta Sans"/>
              </a:rPr>
              <a:t>Naya Huwaidah · Ads</a:t>
            </a:r>
          </a:p>
        </p:txBody>
      </p:sp>
      <p:sp>
        <p:nvSpPr>
          <p:cNvPr id="12" name="Rectangle 11"/>
          <p:cNvSpPr/>
          <p:nvPr/>
        </p:nvSpPr>
        <p:spPr>
          <a:xfrm>
            <a:off x="7031736" y="1576425"/>
            <a:ext cx="1207007" cy="12070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031736" y="1576425"/>
            <a:ext cx="1207007" cy="12070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8" y="1499616"/>
            <a:ext cx="265176" cy="274320"/>
          </a:xfrm>
          <a:prstGeom prst="rect">
            <a:avLst/>
          </a:prstGeom>
          <a:noFill/>
        </p:spPr>
        <p:txBody>
          <a:bodyPr wrap="square" anchor="ctr" lIns="0" rIns="0" tIns="0" bIns="0">
            <a:spAutoFit/>
          </a:bodyPr>
          <a:lstStyle/>
          <a:p>
            <a:pPr algn="l"/>
            <a:r>
              <a:rPr sz="800" b="1">
                <a:solidFill>
                  <a:srgbClr val="141414"/>
                </a:solidFill>
                <a:latin typeface="Plus Jakarta Sans"/>
              </a:rPr>
              <a:t>39</a:t>
            </a:r>
          </a:p>
        </p:txBody>
      </p:sp>
      <p:sp>
        <p:nvSpPr>
          <p:cNvPr id="15" name="TextBox 14"/>
          <p:cNvSpPr txBox="1"/>
          <p:nvPr/>
        </p:nvSpPr>
        <p:spPr>
          <a:xfrm>
            <a:off x="4654296" y="1773936"/>
            <a:ext cx="2304288" cy="274320"/>
          </a:xfrm>
          <a:prstGeom prst="rect">
            <a:avLst/>
          </a:prstGeom>
          <a:noFill/>
        </p:spPr>
        <p:txBody>
          <a:bodyPr wrap="square" anchor="ctr" lIns="0" rIns="0" tIns="0" bIns="0">
            <a:spAutoFit/>
          </a:bodyPr>
          <a:lstStyle/>
          <a:p>
            <a:pPr algn="l"/>
            <a:r>
              <a:rPr sz="800" b="0">
                <a:solidFill>
                  <a:srgbClr val="141414"/>
                </a:solidFill>
                <a:latin typeface="Plus Jakarta Sans"/>
              </a:rPr>
              <a:t>Devi Mariana Naibaho · Ads</a:t>
            </a:r>
          </a:p>
        </p:txBody>
      </p:sp>
      <p:sp>
        <p:nvSpPr>
          <p:cNvPr id="16" name="Rectangle 15"/>
          <p:cNvSpPr/>
          <p:nvPr/>
        </p:nvSpPr>
        <p:spPr>
          <a:xfrm>
            <a:off x="7031736" y="1850745"/>
            <a:ext cx="1207007" cy="12070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031736" y="1850745"/>
            <a:ext cx="1052263" cy="12070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1773936"/>
            <a:ext cx="265176" cy="274320"/>
          </a:xfrm>
          <a:prstGeom prst="rect">
            <a:avLst/>
          </a:prstGeom>
          <a:noFill/>
        </p:spPr>
        <p:txBody>
          <a:bodyPr wrap="square" anchor="ctr" lIns="0" rIns="0" tIns="0" bIns="0">
            <a:spAutoFit/>
          </a:bodyPr>
          <a:lstStyle/>
          <a:p>
            <a:pPr algn="l"/>
            <a:r>
              <a:rPr sz="800" b="1">
                <a:solidFill>
                  <a:srgbClr val="141414"/>
                </a:solidFill>
                <a:latin typeface="Plus Jakarta Sans"/>
              </a:rPr>
              <a:t>34</a:t>
            </a:r>
          </a:p>
        </p:txBody>
      </p:sp>
      <p:sp>
        <p:nvSpPr>
          <p:cNvPr id="19" name="TextBox 18"/>
          <p:cNvSpPr txBox="1"/>
          <p:nvPr/>
        </p:nvSpPr>
        <p:spPr>
          <a:xfrm>
            <a:off x="4654296" y="2048256"/>
            <a:ext cx="2304288" cy="274320"/>
          </a:xfrm>
          <a:prstGeom prst="rect">
            <a:avLst/>
          </a:prstGeom>
          <a:noFill/>
        </p:spPr>
        <p:txBody>
          <a:bodyPr wrap="square" anchor="ctr" lIns="0" rIns="0" tIns="0" bIns="0">
            <a:spAutoFit/>
          </a:bodyPr>
          <a:lstStyle/>
          <a:p>
            <a:pPr algn="l"/>
            <a:r>
              <a:rPr sz="800" b="0">
                <a:solidFill>
                  <a:srgbClr val="141414"/>
                </a:solidFill>
                <a:latin typeface="Plus Jakarta Sans"/>
              </a:rPr>
              <a:t>Naya Huwaidah · Event</a:t>
            </a:r>
          </a:p>
        </p:txBody>
      </p:sp>
      <p:sp>
        <p:nvSpPr>
          <p:cNvPr id="20" name="Rectangle 19"/>
          <p:cNvSpPr/>
          <p:nvPr/>
        </p:nvSpPr>
        <p:spPr>
          <a:xfrm>
            <a:off x="7031736" y="2125065"/>
            <a:ext cx="1207007" cy="12070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31736" y="2125065"/>
            <a:ext cx="371387" cy="12070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93608" y="2048256"/>
            <a:ext cx="265176" cy="274320"/>
          </a:xfrm>
          <a:prstGeom prst="rect">
            <a:avLst/>
          </a:prstGeom>
          <a:noFill/>
        </p:spPr>
        <p:txBody>
          <a:bodyPr wrap="square" anchor="ctr" lIns="0" rIns="0" tIns="0" bIns="0">
            <a:spAutoFit/>
          </a:bodyPr>
          <a:lstStyle/>
          <a:p>
            <a:pPr algn="l"/>
            <a:r>
              <a:rPr sz="800" b="1">
                <a:solidFill>
                  <a:srgbClr val="141414"/>
                </a:solidFill>
                <a:latin typeface="Plus Jakarta Sans"/>
              </a:rPr>
              <a:t>12</a:t>
            </a:r>
          </a:p>
        </p:txBody>
      </p:sp>
      <p:sp>
        <p:nvSpPr>
          <p:cNvPr id="23" name="TextBox 22"/>
          <p:cNvSpPr txBox="1"/>
          <p:nvPr/>
        </p:nvSpPr>
        <p:spPr>
          <a:xfrm>
            <a:off x="4654296" y="2322576"/>
            <a:ext cx="2304288" cy="274320"/>
          </a:xfrm>
          <a:prstGeom prst="rect">
            <a:avLst/>
          </a:prstGeom>
          <a:noFill/>
        </p:spPr>
        <p:txBody>
          <a:bodyPr wrap="square" anchor="ctr" lIns="0" rIns="0" tIns="0" bIns="0">
            <a:spAutoFit/>
          </a:bodyPr>
          <a:lstStyle/>
          <a:p>
            <a:pPr algn="l"/>
            <a:r>
              <a:rPr sz="800" b="0">
                <a:solidFill>
                  <a:srgbClr val="141414"/>
                </a:solidFill>
                <a:latin typeface="Plus Jakarta Sans"/>
              </a:rPr>
              <a:t>Devi Mariana Naibaho · Event</a:t>
            </a:r>
          </a:p>
        </p:txBody>
      </p:sp>
      <p:sp>
        <p:nvSpPr>
          <p:cNvPr id="24" name="Rectangle 23"/>
          <p:cNvSpPr/>
          <p:nvPr/>
        </p:nvSpPr>
        <p:spPr>
          <a:xfrm>
            <a:off x="7031736" y="2399385"/>
            <a:ext cx="1207007" cy="120700"/>
          </a:xfrm>
          <a:prstGeom prst="rect">
            <a:avLst/>
          </a:prstGeom>
          <a:solidFill>
            <a:srgbClr val="EE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031736" y="2399385"/>
            <a:ext cx="340438" cy="120700"/>
          </a:xfrm>
          <a:prstGeom prst="rect">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2322576"/>
            <a:ext cx="265176" cy="274320"/>
          </a:xfrm>
          <a:prstGeom prst="rect">
            <a:avLst/>
          </a:prstGeom>
          <a:noFill/>
        </p:spPr>
        <p:txBody>
          <a:bodyPr wrap="square" anchor="ctr" lIns="0" rIns="0" tIns="0" bIns="0">
            <a:spAutoFit/>
          </a:bodyPr>
          <a:lstStyle/>
          <a:p>
            <a:pPr algn="l"/>
            <a:r>
              <a:rPr sz="800" b="1">
                <a:solidFill>
                  <a:srgbClr val="141414"/>
                </a:solidFill>
                <a:latin typeface="Plus Jakarta Sans"/>
              </a:rPr>
              <a:t>11</a:t>
            </a:r>
          </a:p>
        </p:txBody>
      </p:sp>
      <p:sp>
        <p:nvSpPr>
          <p:cNvPr id="27" name="TextBox 26"/>
          <p:cNvSpPr txBox="1"/>
          <p:nvPr/>
        </p:nvSpPr>
        <p:spPr>
          <a:xfrm>
            <a:off x="4654296" y="2715768"/>
            <a:ext cx="3904487" cy="731520"/>
          </a:xfrm>
          <a:prstGeom prst="rect">
            <a:avLst/>
          </a:prstGeom>
          <a:noFill/>
        </p:spPr>
        <p:txBody>
          <a:bodyPr wrap="square" anchor="t" lIns="0" rIns="0" tIns="0" bIns="0">
            <a:spAutoFit/>
          </a:bodyPr>
          <a:lstStyle/>
          <a:p>
            <a:pPr algn="l"/>
            <a:r>
              <a:rPr sz="780" b="1">
                <a:solidFill>
                  <a:srgbClr val="5C665C"/>
                </a:solidFill>
                <a:latin typeface="Plus Jakarta Sans"/>
              </a:rPr>
              <a:t>Offered: </a:t>
            </a:r>
            <a:r>
              <a:rPr sz="780" b="0">
                <a:solidFill>
                  <a:srgbClr val="5C665C"/>
                </a:solidFill>
                <a:latin typeface="Plus Jakarta Sans"/>
              </a:rPr>
              <a:t>Bibit Topaz 51, KebunPRO 34, Seeds 11. About 10 entries per PIC per day.</a:t>
            </a:r>
          </a:p>
        </p:txBody>
      </p:sp>
      <p:sp>
        <p:nvSpPr>
          <p:cNvPr id="28" name="Rounded Rectangle 27"/>
          <p:cNvSpPr/>
          <p:nvPr/>
        </p:nvSpPr>
        <p:spPr>
          <a:xfrm>
            <a:off x="384048" y="3703320"/>
            <a:ext cx="8302752" cy="868680"/>
          </a:xfrm>
          <a:prstGeom prst="roundRect">
            <a:avLst>
              <a:gd name="adj" fmla="val 6315"/>
            </a:avLst>
          </a:prstGeom>
          <a:solidFill>
            <a:srgbClr val="FFF8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0352" y="3794759"/>
            <a:ext cx="8010144" cy="722375"/>
          </a:xfrm>
          <a:prstGeom prst="rect">
            <a:avLst/>
          </a:prstGeom>
          <a:noFill/>
        </p:spPr>
        <p:txBody>
          <a:bodyPr wrap="square" anchor="t" lIns="0" rIns="0" tIns="0" bIns="0">
            <a:spAutoFit/>
          </a:bodyPr>
          <a:lstStyle/>
          <a:p>
            <a:pPr algn="l">
              <a:spcAft>
                <a:spcPts val="300"/>
              </a:spcAft>
            </a:pPr>
            <a:r>
              <a:rPr sz="850" b="1">
                <a:solidFill>
                  <a:srgbClr val="141414"/>
                </a:solidFill>
                <a:latin typeface="Plus Jakarta Sans"/>
              </a:rPr>
              <a:t>Potential can't be shown:</a:t>
            </a:r>
            <a:r>
              <a:rPr sz="850" b="0">
                <a:solidFill>
                  <a:srgbClr val="141414"/>
                </a:solidFill>
                <a:latin typeface="Plus Jakarta Sans"/>
              </a:rPr>
              <a:t> no entry has a potential sales value, an FFB volume or a stated need, so the size of what was lost is unknown.</a:t>
            </a:r>
          </a:p>
          <a:p>
            <a:pPr algn="l">
              <a:spcAft>
                <a:spcPts val="300"/>
              </a:spcAft>
            </a:pPr>
            <a:r>
              <a:rPr sz="850" b="1">
                <a:solidFill>
                  <a:srgbClr val="141414"/>
                </a:solidFill>
                <a:latin typeface="Plus Jakarta Sans"/>
              </a:rPr>
              <a:t>Yet Topaz sells:</a:t>
            </a:r>
            <a:r>
              <a:rPr sz="850" b="0">
                <a:solidFill>
                  <a:srgbClr val="141414"/>
                </a:solidFill>
                <a:latin typeface="Plus Jakarta Sans"/>
              </a:rPr>
              <a:t> Topaz is 83% of Plantation sales this week, while 51 Topaz ad leads are logged as not interested. Devi Mariana Naibaho sold a Rp9.5M Topaz order that has no CRM entry.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24128" y="182880"/>
            <a:ext cx="7680960" cy="420624"/>
          </a:xfrm>
          <a:prstGeom prst="rect">
            <a:avLst/>
          </a:prstGeom>
          <a:noFill/>
        </p:spPr>
        <p:txBody>
          <a:bodyPr wrap="square" anchor="b" lIns="0" rIns="0" tIns="0" bIns="0">
            <a:spAutoFit/>
          </a:bodyPr>
          <a:lstStyle/>
          <a:p>
            <a:pPr algn="l"/>
            <a:r>
              <a:rPr sz="1600" b="1">
                <a:solidFill>
                  <a:srgbClr val="141414"/>
                </a:solidFill>
                <a:latin typeface="Plus Jakarta Sans ExtraBold"/>
              </a:rPr>
              <a:t>Six actions for the coming week</a:t>
            </a:r>
          </a:p>
        </p:txBody>
      </p:sp>
      <p:sp>
        <p:nvSpPr>
          <p:cNvPr id="3" name="Kicker"/>
          <p:cNvSpPr txBox="1"/>
          <p:nvPr/>
        </p:nvSpPr>
        <p:spPr>
          <a:xfrm>
            <a:off x="384048" y="749808"/>
            <a:ext cx="8321040" cy="182880"/>
          </a:xfrm>
          <a:prstGeom prst="rect">
            <a:avLst/>
          </a:prstGeom>
          <a:noFill/>
        </p:spPr>
        <p:txBody>
          <a:bodyPr wrap="square" anchor="t" lIns="0" rIns="0" tIns="0" bIns="0">
            <a:spAutoFit/>
          </a:bodyPr>
          <a:lstStyle/>
          <a:p>
            <a:pPr algn="l"/>
            <a:r>
              <a:rPr sz="750" b="1">
                <a:solidFill>
                  <a:srgbClr val="007200"/>
                </a:solidFill>
                <a:latin typeface="Plus Jakarta Sans"/>
              </a:rPr>
              <a:t>NEXT STEPS</a:t>
            </a:r>
          </a:p>
        </p:txBody>
      </p:sp>
      <p:sp>
        <p:nvSpPr>
          <p:cNvPr id="4" name="Rounded Rectangle 3"/>
          <p:cNvSpPr/>
          <p:nvPr/>
        </p:nvSpPr>
        <p:spPr>
          <a:xfrm>
            <a:off x="384048" y="987552"/>
            <a:ext cx="2679192" cy="1673352"/>
          </a:xfrm>
          <a:prstGeom prst="roundRect">
            <a:avLst>
              <a:gd name="adj" fmla="val 3278"/>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12064" y="1115568"/>
            <a:ext cx="292608" cy="292608"/>
          </a:xfrm>
          <a:prstGeom prst="roundRect">
            <a:avLst>
              <a:gd name="adj" fmla="val 12000"/>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12064" y="1115568"/>
            <a:ext cx="292608" cy="292608"/>
          </a:xfrm>
          <a:prstGeom prst="rect">
            <a:avLst/>
          </a:prstGeom>
          <a:noFill/>
        </p:spPr>
        <p:txBody>
          <a:bodyPr wrap="square" anchor="ctr" lIns="0" rIns="0" tIns="0" bIns="0">
            <a:spAutoFit/>
          </a:bodyPr>
          <a:lstStyle/>
          <a:p>
            <a:pPr algn="ctr"/>
            <a:r>
              <a:rPr sz="1000" b="1">
                <a:solidFill>
                  <a:srgbClr val="FFFFFF"/>
                </a:solidFill>
                <a:latin typeface="Plus Jakarta Sans"/>
              </a:rPr>
              <a:t>1</a:t>
            </a:r>
          </a:p>
        </p:txBody>
      </p:sp>
      <p:sp>
        <p:nvSpPr>
          <p:cNvPr id="7" name="TextBox 6"/>
          <p:cNvSpPr txBox="1"/>
          <p:nvPr/>
        </p:nvSpPr>
        <p:spPr>
          <a:xfrm>
            <a:off x="896112" y="1097280"/>
            <a:ext cx="2057400" cy="365760"/>
          </a:xfrm>
          <a:prstGeom prst="rect">
            <a:avLst/>
          </a:prstGeom>
          <a:noFill/>
        </p:spPr>
        <p:txBody>
          <a:bodyPr wrap="square" anchor="t" lIns="0" rIns="0" tIns="0" bIns="0">
            <a:spAutoFit/>
          </a:bodyPr>
          <a:lstStyle/>
          <a:p>
            <a:pPr algn="l"/>
            <a:r>
              <a:rPr sz="950" b="1">
                <a:solidFill>
                  <a:srgbClr val="141414"/>
                </a:solidFill>
                <a:latin typeface="Plus Jakarta Sans"/>
              </a:rPr>
              <a:t>Work the 7 leads with named demand</a:t>
            </a:r>
          </a:p>
        </p:txBody>
      </p:sp>
      <p:sp>
        <p:nvSpPr>
          <p:cNvPr id="8" name="TextBox 7"/>
          <p:cNvSpPr txBox="1"/>
          <p:nvPr/>
        </p:nvSpPr>
        <p:spPr>
          <a:xfrm>
            <a:off x="512064" y="1536192"/>
            <a:ext cx="2423160" cy="777240"/>
          </a:xfrm>
          <a:prstGeom prst="rect">
            <a:avLst/>
          </a:prstGeom>
          <a:noFill/>
        </p:spPr>
        <p:txBody>
          <a:bodyPr wrap="square" anchor="t" lIns="0" rIns="0" tIns="0" bIns="0">
            <a:spAutoFit/>
          </a:bodyPr>
          <a:lstStyle/>
          <a:p>
            <a:pPr algn="l"/>
            <a:r>
              <a:rPr sz="800" b="0">
                <a:solidFill>
                  <a:srgbClr val="5C665C"/>
                </a:solidFill>
                <a:latin typeface="Plus Jakarta Sans"/>
              </a:rPr>
              <a:t>Rp111M logged + ~36 t stated (table on slide 7). Call each this week; send the warehouse slot to the 4-sack pick-up today.</a:t>
            </a:r>
          </a:p>
        </p:txBody>
      </p:sp>
      <p:sp>
        <p:nvSpPr>
          <p:cNvPr id="9" name="Rounded Rectangle 8"/>
          <p:cNvSpPr/>
          <p:nvPr/>
        </p:nvSpPr>
        <p:spPr>
          <a:xfrm>
            <a:off x="512064" y="2313432"/>
            <a:ext cx="2423160" cy="2377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313432"/>
            <a:ext cx="2331720" cy="237744"/>
          </a:xfrm>
          <a:prstGeom prst="rect">
            <a:avLst/>
          </a:prstGeom>
          <a:noFill/>
        </p:spPr>
        <p:txBody>
          <a:bodyPr wrap="square" anchor="ctr" lIns="0" rIns="0" tIns="0" bIns="0">
            <a:spAutoFit/>
          </a:bodyPr>
          <a:lstStyle/>
          <a:p>
            <a:pPr algn="l"/>
            <a:r>
              <a:rPr sz="750" b="1">
                <a:solidFill>
                  <a:srgbClr val="007200"/>
                </a:solidFill>
                <a:latin typeface="Plus Jakarta Sans"/>
              </a:rPr>
              <a:t>Owner: </a:t>
            </a:r>
            <a:r>
              <a:rPr sz="750" b="0">
                <a:solidFill>
                  <a:srgbClr val="007200"/>
                </a:solidFill>
                <a:latin typeface="Plus Jakarta Sans"/>
              </a:rPr>
              <a:t>Merita, Alyssa, Aisyah, Deby</a:t>
            </a:r>
          </a:p>
        </p:txBody>
      </p:sp>
      <p:sp>
        <p:nvSpPr>
          <p:cNvPr id="11" name="Rounded Rectangle 10"/>
          <p:cNvSpPr/>
          <p:nvPr/>
        </p:nvSpPr>
        <p:spPr>
          <a:xfrm>
            <a:off x="3172968" y="987552"/>
            <a:ext cx="2679192" cy="1673352"/>
          </a:xfrm>
          <a:prstGeom prst="roundRect">
            <a:avLst>
              <a:gd name="adj" fmla="val 3278"/>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00984" y="1115568"/>
            <a:ext cx="292608" cy="292608"/>
          </a:xfrm>
          <a:prstGeom prst="roundRect">
            <a:avLst>
              <a:gd name="adj" fmla="val 12000"/>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00984" y="1115568"/>
            <a:ext cx="292608" cy="292608"/>
          </a:xfrm>
          <a:prstGeom prst="rect">
            <a:avLst/>
          </a:prstGeom>
          <a:noFill/>
        </p:spPr>
        <p:txBody>
          <a:bodyPr wrap="square" anchor="ctr" lIns="0" rIns="0" tIns="0" bIns="0">
            <a:spAutoFit/>
          </a:bodyPr>
          <a:lstStyle/>
          <a:p>
            <a:pPr algn="ctr"/>
            <a:r>
              <a:rPr sz="1000" b="1">
                <a:solidFill>
                  <a:srgbClr val="FFFFFF"/>
                </a:solidFill>
                <a:latin typeface="Plus Jakarta Sans"/>
              </a:rPr>
              <a:t>2</a:t>
            </a:r>
          </a:p>
        </p:txBody>
      </p:sp>
      <p:sp>
        <p:nvSpPr>
          <p:cNvPr id="14" name="TextBox 13"/>
          <p:cNvSpPr txBox="1"/>
          <p:nvPr/>
        </p:nvSpPr>
        <p:spPr>
          <a:xfrm>
            <a:off x="3685031" y="1097280"/>
            <a:ext cx="2057400" cy="365760"/>
          </a:xfrm>
          <a:prstGeom prst="rect">
            <a:avLst/>
          </a:prstGeom>
          <a:noFill/>
        </p:spPr>
        <p:txBody>
          <a:bodyPr wrap="square" anchor="t" lIns="0" rIns="0" tIns="0" bIns="0">
            <a:spAutoFit/>
          </a:bodyPr>
          <a:lstStyle/>
          <a:p>
            <a:pPr algn="l"/>
            <a:r>
              <a:rPr sz="950" b="1">
                <a:solidFill>
                  <a:srgbClr val="141414"/>
                </a:solidFill>
                <a:latin typeface="Plus Jakarta Sans"/>
              </a:rPr>
              <a:t>Decide COD / tempo with finance</a:t>
            </a:r>
          </a:p>
        </p:txBody>
      </p:sp>
      <p:sp>
        <p:nvSpPr>
          <p:cNvPr id="15" name="TextBox 14"/>
          <p:cNvSpPr txBox="1"/>
          <p:nvPr/>
        </p:nvSpPr>
        <p:spPr>
          <a:xfrm>
            <a:off x="3300984" y="1536192"/>
            <a:ext cx="2423160" cy="777240"/>
          </a:xfrm>
          <a:prstGeom prst="rect">
            <a:avLst/>
          </a:prstGeom>
          <a:noFill/>
        </p:spPr>
        <p:txBody>
          <a:bodyPr wrap="square" anchor="t" lIns="0" rIns="0" tIns="0" bIns="0">
            <a:spAutoFit/>
          </a:bodyPr>
          <a:lstStyle/>
          <a:p>
            <a:pPr algn="l"/>
            <a:r>
              <a:rPr sz="800" b="0">
                <a:solidFill>
                  <a:srgbClr val="5C665C"/>
                </a:solidFill>
                <a:latin typeface="Plus Jakarta Sans"/>
              </a:rPr>
              <a:t>Two volume buyers (~10 t store in Bengkulu, 90 sacks to Rokan Hilir) wait on cash on delivery. Agree a rule and reply.</a:t>
            </a:r>
          </a:p>
        </p:txBody>
      </p:sp>
      <p:sp>
        <p:nvSpPr>
          <p:cNvPr id="16" name="Rounded Rectangle 15"/>
          <p:cNvSpPr/>
          <p:nvPr/>
        </p:nvSpPr>
        <p:spPr>
          <a:xfrm>
            <a:off x="3300984" y="2313432"/>
            <a:ext cx="2423160" cy="2377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55848" y="2313432"/>
            <a:ext cx="2331720" cy="237744"/>
          </a:xfrm>
          <a:prstGeom prst="rect">
            <a:avLst/>
          </a:prstGeom>
          <a:noFill/>
        </p:spPr>
        <p:txBody>
          <a:bodyPr wrap="square" anchor="ctr" lIns="0" rIns="0" tIns="0" bIns="0">
            <a:spAutoFit/>
          </a:bodyPr>
          <a:lstStyle/>
          <a:p>
            <a:pPr algn="l"/>
            <a:r>
              <a:rPr sz="750" b="1">
                <a:solidFill>
                  <a:srgbClr val="007200"/>
                </a:solidFill>
                <a:latin typeface="Plus Jakarta Sans"/>
              </a:rPr>
              <a:t>Owner: </a:t>
            </a:r>
            <a:r>
              <a:rPr sz="750" b="0">
                <a:solidFill>
                  <a:srgbClr val="007200"/>
                </a:solidFill>
                <a:latin typeface="Plus Jakarta Sans"/>
              </a:rPr>
              <a:t>Sales lead + Finance</a:t>
            </a:r>
          </a:p>
        </p:txBody>
      </p:sp>
      <p:sp>
        <p:nvSpPr>
          <p:cNvPr id="18" name="Rounded Rectangle 17"/>
          <p:cNvSpPr/>
          <p:nvPr/>
        </p:nvSpPr>
        <p:spPr>
          <a:xfrm>
            <a:off x="5961888" y="987552"/>
            <a:ext cx="2679192" cy="1673352"/>
          </a:xfrm>
          <a:prstGeom prst="roundRect">
            <a:avLst>
              <a:gd name="adj" fmla="val 3278"/>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89903" y="1115568"/>
            <a:ext cx="292608" cy="292608"/>
          </a:xfrm>
          <a:prstGeom prst="roundRect">
            <a:avLst>
              <a:gd name="adj" fmla="val 12000"/>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9903" y="1115568"/>
            <a:ext cx="292608" cy="292608"/>
          </a:xfrm>
          <a:prstGeom prst="rect">
            <a:avLst/>
          </a:prstGeom>
          <a:noFill/>
        </p:spPr>
        <p:txBody>
          <a:bodyPr wrap="square" anchor="ctr" lIns="0" rIns="0" tIns="0" bIns="0">
            <a:spAutoFit/>
          </a:bodyPr>
          <a:lstStyle/>
          <a:p>
            <a:pPr algn="ctr"/>
            <a:r>
              <a:rPr sz="1000" b="1">
                <a:solidFill>
                  <a:srgbClr val="FFFFFF"/>
                </a:solidFill>
                <a:latin typeface="Plus Jakarta Sans"/>
              </a:rPr>
              <a:t>3</a:t>
            </a:r>
          </a:p>
        </p:txBody>
      </p:sp>
      <p:sp>
        <p:nvSpPr>
          <p:cNvPr id="21" name="TextBox 20"/>
          <p:cNvSpPr txBox="1"/>
          <p:nvPr/>
        </p:nvSpPr>
        <p:spPr>
          <a:xfrm>
            <a:off x="6473952" y="1097280"/>
            <a:ext cx="2057400" cy="365760"/>
          </a:xfrm>
          <a:prstGeom prst="rect">
            <a:avLst/>
          </a:prstGeom>
          <a:noFill/>
        </p:spPr>
        <p:txBody>
          <a:bodyPr wrap="square" anchor="t" lIns="0" rIns="0" tIns="0" bIns="0">
            <a:spAutoFit/>
          </a:bodyPr>
          <a:lstStyle/>
          <a:p>
            <a:pPr algn="l"/>
            <a:r>
              <a:rPr sz="950" b="1">
                <a:solidFill>
                  <a:srgbClr val="141414"/>
                </a:solidFill>
                <a:latin typeface="Plus Jakarta Sans"/>
              </a:rPr>
              <a:t>Collect Rp179M still unpaid</a:t>
            </a:r>
          </a:p>
        </p:txBody>
      </p:sp>
      <p:sp>
        <p:nvSpPr>
          <p:cNvPr id="22" name="TextBox 21"/>
          <p:cNvSpPr txBox="1"/>
          <p:nvPr/>
        </p:nvSpPr>
        <p:spPr>
          <a:xfrm>
            <a:off x="6089903" y="1536192"/>
            <a:ext cx="2423160" cy="777240"/>
          </a:xfrm>
          <a:prstGeom prst="rect">
            <a:avLst/>
          </a:prstGeom>
          <a:noFill/>
        </p:spPr>
        <p:txBody>
          <a:bodyPr wrap="square" anchor="t" lIns="0" rIns="0" tIns="0" bIns="0">
            <a:spAutoFit/>
          </a:bodyPr>
          <a:lstStyle/>
          <a:p>
            <a:pPr algn="l"/>
            <a:r>
              <a:rPr sz="800" b="0">
                <a:solidFill>
                  <a:srgbClr val="5C665C"/>
                </a:solidFill>
                <a:latin typeface="Plus Jakarta Sans"/>
              </a:rPr>
              <a:t>3 Smallholder orders are partly paid, led by the Rp267M wholesale KCL order.</a:t>
            </a:r>
          </a:p>
        </p:txBody>
      </p:sp>
      <p:sp>
        <p:nvSpPr>
          <p:cNvPr id="23" name="Rounded Rectangle 22"/>
          <p:cNvSpPr/>
          <p:nvPr/>
        </p:nvSpPr>
        <p:spPr>
          <a:xfrm>
            <a:off x="6089903" y="2313432"/>
            <a:ext cx="2423160" cy="2377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44768" y="2313432"/>
            <a:ext cx="2331720" cy="237744"/>
          </a:xfrm>
          <a:prstGeom prst="rect">
            <a:avLst/>
          </a:prstGeom>
          <a:noFill/>
        </p:spPr>
        <p:txBody>
          <a:bodyPr wrap="square" anchor="ctr" lIns="0" rIns="0" tIns="0" bIns="0">
            <a:spAutoFit/>
          </a:bodyPr>
          <a:lstStyle/>
          <a:p>
            <a:pPr algn="l"/>
            <a:r>
              <a:rPr sz="750" b="1">
                <a:solidFill>
                  <a:srgbClr val="007200"/>
                </a:solidFill>
                <a:latin typeface="Plus Jakarta Sans"/>
              </a:rPr>
              <a:t>Owner: </a:t>
            </a:r>
            <a:r>
              <a:rPr sz="750" b="0">
                <a:solidFill>
                  <a:srgbClr val="007200"/>
                </a:solidFill>
                <a:latin typeface="Plus Jakarta Sans"/>
              </a:rPr>
              <a:t>Wahab, Joko, Rudi + Finance</a:t>
            </a:r>
          </a:p>
        </p:txBody>
      </p:sp>
      <p:sp>
        <p:nvSpPr>
          <p:cNvPr id="25" name="Rounded Rectangle 24"/>
          <p:cNvSpPr/>
          <p:nvPr/>
        </p:nvSpPr>
        <p:spPr>
          <a:xfrm>
            <a:off x="384048" y="2770632"/>
            <a:ext cx="2679192" cy="1673352"/>
          </a:xfrm>
          <a:prstGeom prst="roundRect">
            <a:avLst>
              <a:gd name="adj" fmla="val 3278"/>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12064" y="2898648"/>
            <a:ext cx="292608" cy="292608"/>
          </a:xfrm>
          <a:prstGeom prst="roundRect">
            <a:avLst>
              <a:gd name="adj" fmla="val 12000"/>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 y="2898648"/>
            <a:ext cx="292608" cy="292608"/>
          </a:xfrm>
          <a:prstGeom prst="rect">
            <a:avLst/>
          </a:prstGeom>
          <a:noFill/>
        </p:spPr>
        <p:txBody>
          <a:bodyPr wrap="square" anchor="ctr" lIns="0" rIns="0" tIns="0" bIns="0">
            <a:spAutoFit/>
          </a:bodyPr>
          <a:lstStyle/>
          <a:p>
            <a:pPr algn="ctr"/>
            <a:r>
              <a:rPr sz="1000" b="1">
                <a:solidFill>
                  <a:srgbClr val="FFFFFF"/>
                </a:solidFill>
                <a:latin typeface="Plus Jakarta Sans"/>
              </a:rPr>
              <a:t>4</a:t>
            </a:r>
          </a:p>
        </p:txBody>
      </p:sp>
      <p:sp>
        <p:nvSpPr>
          <p:cNvPr id="28" name="TextBox 27"/>
          <p:cNvSpPr txBox="1"/>
          <p:nvPr/>
        </p:nvSpPr>
        <p:spPr>
          <a:xfrm>
            <a:off x="896112" y="2880360"/>
            <a:ext cx="2057400" cy="365760"/>
          </a:xfrm>
          <a:prstGeom prst="rect">
            <a:avLst/>
          </a:prstGeom>
          <a:noFill/>
        </p:spPr>
        <p:txBody>
          <a:bodyPr wrap="square" anchor="t" lIns="0" rIns="0" tIns="0" bIns="0">
            <a:spAutoFit/>
          </a:bodyPr>
          <a:lstStyle/>
          <a:p>
            <a:pPr algn="l"/>
            <a:r>
              <a:rPr sz="950" b="1">
                <a:solidFill>
                  <a:srgbClr val="141414"/>
                </a:solidFill>
                <a:latin typeface="Plus Jakarta Sans"/>
              </a:rPr>
              <a:t>Log leads, not live viewers</a:t>
            </a:r>
          </a:p>
        </p:txBody>
      </p:sp>
      <p:sp>
        <p:nvSpPr>
          <p:cNvPr id="29" name="TextBox 28"/>
          <p:cNvSpPr txBox="1"/>
          <p:nvPr/>
        </p:nvSpPr>
        <p:spPr>
          <a:xfrm>
            <a:off x="512064" y="3319272"/>
            <a:ext cx="2423160" cy="777240"/>
          </a:xfrm>
          <a:prstGeom prst="rect">
            <a:avLst/>
          </a:prstGeom>
          <a:noFill/>
        </p:spPr>
        <p:txBody>
          <a:bodyPr wrap="square" anchor="t" lIns="0" rIns="0" tIns="0" bIns="0">
            <a:spAutoFit/>
          </a:bodyPr>
          <a:lstStyle/>
          <a:p>
            <a:pPr algn="l"/>
            <a:r>
              <a:rPr sz="800" b="0">
                <a:solidFill>
                  <a:srgbClr val="5C665C"/>
                </a:solidFill>
                <a:latin typeface="Plus Jakarta Sans"/>
              </a:rPr>
              <a:t>Keep TikTok live viewers in a separate count; log a lead only with a phone number and a stated need (kg or sacks).</a:t>
            </a:r>
          </a:p>
        </p:txBody>
      </p:sp>
      <p:sp>
        <p:nvSpPr>
          <p:cNvPr id="30" name="Rounded Rectangle 29"/>
          <p:cNvSpPr/>
          <p:nvPr/>
        </p:nvSpPr>
        <p:spPr>
          <a:xfrm>
            <a:off x="512064" y="4096512"/>
            <a:ext cx="2423160" cy="2377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4096512"/>
            <a:ext cx="2331720" cy="237744"/>
          </a:xfrm>
          <a:prstGeom prst="rect">
            <a:avLst/>
          </a:prstGeom>
          <a:noFill/>
        </p:spPr>
        <p:txBody>
          <a:bodyPr wrap="square" anchor="ctr" lIns="0" rIns="0" tIns="0" bIns="0">
            <a:spAutoFit/>
          </a:bodyPr>
          <a:lstStyle/>
          <a:p>
            <a:pPr algn="l"/>
            <a:r>
              <a:rPr sz="750" b="1">
                <a:solidFill>
                  <a:srgbClr val="007200"/>
                </a:solidFill>
                <a:latin typeface="Plus Jakarta Sans"/>
              </a:rPr>
              <a:t>Owner: </a:t>
            </a:r>
            <a:r>
              <a:rPr sz="750" b="0">
                <a:solidFill>
                  <a:srgbClr val="007200"/>
                </a:solidFill>
                <a:latin typeface="Plus Jakarta Sans"/>
              </a:rPr>
              <a:t>Merita, Deby, Alyssa · Sales ops</a:t>
            </a:r>
          </a:p>
        </p:txBody>
      </p:sp>
      <p:sp>
        <p:nvSpPr>
          <p:cNvPr id="32" name="Rounded Rectangle 31"/>
          <p:cNvSpPr/>
          <p:nvPr/>
        </p:nvSpPr>
        <p:spPr>
          <a:xfrm>
            <a:off x="3172968" y="2770632"/>
            <a:ext cx="2679192" cy="1673352"/>
          </a:xfrm>
          <a:prstGeom prst="roundRect">
            <a:avLst>
              <a:gd name="adj" fmla="val 3278"/>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3300984" y="2898648"/>
            <a:ext cx="292608" cy="292608"/>
          </a:xfrm>
          <a:prstGeom prst="roundRect">
            <a:avLst>
              <a:gd name="adj" fmla="val 12000"/>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00984" y="2898648"/>
            <a:ext cx="292608" cy="292608"/>
          </a:xfrm>
          <a:prstGeom prst="rect">
            <a:avLst/>
          </a:prstGeom>
          <a:noFill/>
        </p:spPr>
        <p:txBody>
          <a:bodyPr wrap="square" anchor="ctr" lIns="0" rIns="0" tIns="0" bIns="0">
            <a:spAutoFit/>
          </a:bodyPr>
          <a:lstStyle/>
          <a:p>
            <a:pPr algn="ctr"/>
            <a:r>
              <a:rPr sz="1000" b="1">
                <a:solidFill>
                  <a:srgbClr val="FFFFFF"/>
                </a:solidFill>
                <a:latin typeface="Plus Jakarta Sans"/>
              </a:rPr>
              <a:t>5</a:t>
            </a:r>
          </a:p>
        </p:txBody>
      </p:sp>
      <p:sp>
        <p:nvSpPr>
          <p:cNvPr id="35" name="TextBox 34"/>
          <p:cNvSpPr txBox="1"/>
          <p:nvPr/>
        </p:nvSpPr>
        <p:spPr>
          <a:xfrm>
            <a:off x="3685031" y="2880360"/>
            <a:ext cx="2057400" cy="365760"/>
          </a:xfrm>
          <a:prstGeom prst="rect">
            <a:avLst/>
          </a:prstGeom>
          <a:noFill/>
        </p:spPr>
        <p:txBody>
          <a:bodyPr wrap="square" anchor="t" lIns="0" rIns="0" tIns="0" bIns="0">
            <a:spAutoFit/>
          </a:bodyPr>
          <a:lstStyle/>
          <a:p>
            <a:pPr algn="l"/>
            <a:r>
              <a:rPr sz="950" b="1">
                <a:solidFill>
                  <a:srgbClr val="141414"/>
                </a:solidFill>
                <a:latin typeface="Plus Jakarta Sans"/>
              </a:rPr>
              <a:t>Put every sale in the CRM</a:t>
            </a:r>
          </a:p>
        </p:txBody>
      </p:sp>
      <p:sp>
        <p:nvSpPr>
          <p:cNvPr id="36" name="TextBox 35"/>
          <p:cNvSpPr txBox="1"/>
          <p:nvPr/>
        </p:nvSpPr>
        <p:spPr>
          <a:xfrm>
            <a:off x="3300984" y="3319272"/>
            <a:ext cx="2423160" cy="777240"/>
          </a:xfrm>
          <a:prstGeom prst="rect">
            <a:avLst/>
          </a:prstGeom>
          <a:noFill/>
        </p:spPr>
        <p:txBody>
          <a:bodyPr wrap="square" anchor="t" lIns="0" rIns="0" tIns="0" bIns="0">
            <a:spAutoFit/>
          </a:bodyPr>
          <a:lstStyle/>
          <a:p>
            <a:pPr algn="l"/>
            <a:r>
              <a:rPr sz="800" b="0">
                <a:solidFill>
                  <a:srgbClr val="5C665C"/>
                </a:solidFill>
                <a:latin typeface="Plus Jakarta Sans"/>
              </a:rPr>
              <a:t>Rp432M (Smallholder) and Rp134M (Plantation) has no engagement. Enter PSEN-2153's order; check the duplicate Topaz order.</a:t>
            </a:r>
          </a:p>
        </p:txBody>
      </p:sp>
      <p:sp>
        <p:nvSpPr>
          <p:cNvPr id="37" name="Rounded Rectangle 36"/>
          <p:cNvSpPr/>
          <p:nvPr/>
        </p:nvSpPr>
        <p:spPr>
          <a:xfrm>
            <a:off x="3300984" y="4096512"/>
            <a:ext cx="2423160" cy="2377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55848" y="4096512"/>
            <a:ext cx="2331720" cy="237744"/>
          </a:xfrm>
          <a:prstGeom prst="rect">
            <a:avLst/>
          </a:prstGeom>
          <a:noFill/>
        </p:spPr>
        <p:txBody>
          <a:bodyPr wrap="square" anchor="ctr" lIns="0" rIns="0" tIns="0" bIns="0">
            <a:spAutoFit/>
          </a:bodyPr>
          <a:lstStyle/>
          <a:p>
            <a:pPr algn="l"/>
            <a:r>
              <a:rPr sz="750" b="1">
                <a:solidFill>
                  <a:srgbClr val="007200"/>
                </a:solidFill>
                <a:latin typeface="Plus Jakarta Sans"/>
              </a:rPr>
              <a:t>Owner: </a:t>
            </a:r>
            <a:r>
              <a:rPr sz="750" b="0">
                <a:solidFill>
                  <a:srgbClr val="007200"/>
                </a:solidFill>
                <a:latin typeface="Plus Jakarta Sans"/>
              </a:rPr>
              <a:t>All PICs · Sales ops</a:t>
            </a:r>
          </a:p>
        </p:txBody>
      </p:sp>
      <p:sp>
        <p:nvSpPr>
          <p:cNvPr id="39" name="Rounded Rectangle 38"/>
          <p:cNvSpPr/>
          <p:nvPr/>
        </p:nvSpPr>
        <p:spPr>
          <a:xfrm>
            <a:off x="5961888" y="2770632"/>
            <a:ext cx="2679192" cy="1673352"/>
          </a:xfrm>
          <a:prstGeom prst="roundRect">
            <a:avLst>
              <a:gd name="adj" fmla="val 3278"/>
            </a:avLst>
          </a:prstGeom>
          <a:solidFill>
            <a:srgbClr val="FFFFFF"/>
          </a:solidFill>
          <a:ln w="9525">
            <a:solidFill>
              <a:srgbClr val="DFDF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089903" y="2898648"/>
            <a:ext cx="292608" cy="292608"/>
          </a:xfrm>
          <a:prstGeom prst="roundRect">
            <a:avLst>
              <a:gd name="adj" fmla="val 12000"/>
            </a:avLst>
          </a:prstGeom>
          <a:solidFill>
            <a:srgbClr val="007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89903" y="2898648"/>
            <a:ext cx="292608" cy="292608"/>
          </a:xfrm>
          <a:prstGeom prst="rect">
            <a:avLst/>
          </a:prstGeom>
          <a:noFill/>
        </p:spPr>
        <p:txBody>
          <a:bodyPr wrap="square" anchor="ctr" lIns="0" rIns="0" tIns="0" bIns="0">
            <a:spAutoFit/>
          </a:bodyPr>
          <a:lstStyle/>
          <a:p>
            <a:pPr algn="ctr"/>
            <a:r>
              <a:rPr sz="1000" b="1">
                <a:solidFill>
                  <a:srgbClr val="FFFFFF"/>
                </a:solidFill>
                <a:latin typeface="Plus Jakarta Sans"/>
              </a:rPr>
              <a:t>6</a:t>
            </a:r>
          </a:p>
        </p:txBody>
      </p:sp>
      <p:sp>
        <p:nvSpPr>
          <p:cNvPr id="42" name="TextBox 41"/>
          <p:cNvSpPr txBox="1"/>
          <p:nvPr/>
        </p:nvSpPr>
        <p:spPr>
          <a:xfrm>
            <a:off x="6473952" y="2880360"/>
            <a:ext cx="2057400" cy="365760"/>
          </a:xfrm>
          <a:prstGeom prst="rect">
            <a:avLst/>
          </a:prstGeom>
          <a:noFill/>
        </p:spPr>
        <p:txBody>
          <a:bodyPr wrap="square" anchor="t" lIns="0" rIns="0" tIns="0" bIns="0">
            <a:spAutoFit/>
          </a:bodyPr>
          <a:lstStyle/>
          <a:p>
            <a:pPr algn="l"/>
            <a:r>
              <a:rPr sz="950" b="1">
                <a:solidFill>
                  <a:srgbClr val="141414"/>
                </a:solidFill>
                <a:latin typeface="Plus Jakarta Sans"/>
              </a:rPr>
              <a:t>Replace Plantation's templated entries</a:t>
            </a:r>
          </a:p>
        </p:txBody>
      </p:sp>
      <p:sp>
        <p:nvSpPr>
          <p:cNvPr id="43" name="TextBox 42"/>
          <p:cNvSpPr txBox="1"/>
          <p:nvPr/>
        </p:nvSpPr>
        <p:spPr>
          <a:xfrm>
            <a:off x="6089903" y="3319272"/>
            <a:ext cx="2423160" cy="777240"/>
          </a:xfrm>
          <a:prstGeom prst="rect">
            <a:avLst/>
          </a:prstGeom>
          <a:noFill/>
        </p:spPr>
        <p:txBody>
          <a:bodyPr wrap="square" anchor="t" lIns="0" rIns="0" tIns="0" bIns="0">
            <a:spAutoFit/>
          </a:bodyPr>
          <a:lstStyle/>
          <a:p>
            <a:pPr algn="l"/>
            <a:r>
              <a:rPr sz="800" b="0">
                <a:solidFill>
                  <a:srgbClr val="5C665C"/>
                </a:solidFill>
                <a:latin typeface="Plus Jakarta Sans"/>
              </a:rPr>
              <a:t>Record the real reason, location and need for ads and event leads, starting with the 51 Topaz leads.</a:t>
            </a:r>
          </a:p>
        </p:txBody>
      </p:sp>
      <p:sp>
        <p:nvSpPr>
          <p:cNvPr id="44" name="Rounded Rectangle 43"/>
          <p:cNvSpPr/>
          <p:nvPr/>
        </p:nvSpPr>
        <p:spPr>
          <a:xfrm>
            <a:off x="6089903" y="4096512"/>
            <a:ext cx="2423160" cy="237744"/>
          </a:xfrm>
          <a:prstGeom prst="roundRect">
            <a:avLst>
              <a:gd name="adj" fmla="val 12000"/>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44768" y="4096512"/>
            <a:ext cx="2331720" cy="237744"/>
          </a:xfrm>
          <a:prstGeom prst="rect">
            <a:avLst/>
          </a:prstGeom>
          <a:noFill/>
        </p:spPr>
        <p:txBody>
          <a:bodyPr wrap="square" anchor="ctr" lIns="0" rIns="0" tIns="0" bIns="0">
            <a:spAutoFit/>
          </a:bodyPr>
          <a:lstStyle/>
          <a:p>
            <a:pPr algn="l"/>
            <a:r>
              <a:rPr sz="750" b="1">
                <a:solidFill>
                  <a:srgbClr val="007200"/>
                </a:solidFill>
                <a:latin typeface="Plus Jakarta Sans"/>
              </a:rPr>
              <a:t>Owner: </a:t>
            </a:r>
            <a:r>
              <a:rPr sz="750" b="0">
                <a:solidFill>
                  <a:srgbClr val="007200"/>
                </a:solidFill>
                <a:latin typeface="Plus Jakarta Sans"/>
              </a:rPr>
              <a:t>Naya, Devi</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62"/>
          <p:cNvSpPr txBox="1"/>
          <p:nvPr/>
        </p:nvSpPr>
        <p:spPr>
          <a:xfrm>
            <a:off x="336450" y="2803154"/>
            <a:ext cx="3576900" cy="797100"/>
          </a:xfrm>
          <a:prstGeom prst="rect">
            <a:avLst/>
          </a:prstGeom>
          <a:noFill/>
          <a:ln>
            <a:noFill/>
          </a:ln>
        </p:spPr>
        <p:txBody>
          <a:bodyPr anchorCtr="0" anchor="t" bIns="115475" lIns="115475" spcFirstLastPara="1" rIns="115475" wrap="square" tIns="115475">
            <a:spAutoFit/>
          </a:bodyPr>
          <a:lstStyle/>
          <a:p>
            <a:pPr indent="0" lvl="0" marL="0" rtl="0" algn="l">
              <a:lnSpc>
                <a:spcPct val="115000"/>
              </a:lnSpc>
              <a:spcBef>
                <a:spcPts val="0"/>
              </a:spcBef>
              <a:spcAft>
                <a:spcPts val="0"/>
              </a:spcAft>
              <a:buNone/>
            </a:pPr>
            <a:r>
              <a:rPr lang="en-GB" sz="3664">
                <a:solidFill>
                  <a:srgbClr val="141414"/>
                </a:solidFill>
                <a:latin typeface="Plus Jakarta Sans ExtraBold"/>
                <a:ea typeface="Plus Jakarta Sans ExtraBold"/>
                <a:cs typeface="Plus Jakarta Sans ExtraBold"/>
                <a:sym typeface="Plus Jakarta Sans ExtraBold"/>
              </a:rPr>
              <a:t>Terima Kasih</a:t>
            </a:r>
            <a:endParaRPr sz="3664">
              <a:solidFill>
                <a:srgbClr val="141414"/>
              </a:solidFill>
              <a:latin typeface="Plus Jakarta Sans ExtraBold"/>
              <a:ea typeface="Plus Jakarta Sans ExtraBold"/>
              <a:cs typeface="Plus Jakarta Sans ExtraBold"/>
              <a:sym typeface="Plus Jakarta Sans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name="SawitPRO New Theme - 2026">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FFCCDD"/>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